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21.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4" r:id="rId2"/>
    <p:sldMasterId id="2147483734" r:id="rId3"/>
    <p:sldMasterId id="2147483754" r:id="rId4"/>
    <p:sldMasterId id="2147483773" r:id="rId5"/>
  </p:sldMasterIdLst>
  <p:notesMasterIdLst>
    <p:notesMasterId r:id="rId62"/>
  </p:notesMasterIdLst>
  <p:handoutMasterIdLst>
    <p:handoutMasterId r:id="rId63"/>
  </p:handoutMasterIdLst>
  <p:sldIdLst>
    <p:sldId id="881" r:id="rId6"/>
    <p:sldId id="880" r:id="rId7"/>
    <p:sldId id="897" r:id="rId8"/>
    <p:sldId id="896" r:id="rId9"/>
    <p:sldId id="962" r:id="rId10"/>
    <p:sldId id="963" r:id="rId11"/>
    <p:sldId id="964" r:id="rId12"/>
    <p:sldId id="907" r:id="rId13"/>
    <p:sldId id="958" r:id="rId14"/>
    <p:sldId id="946" r:id="rId15"/>
    <p:sldId id="949" r:id="rId16"/>
    <p:sldId id="950" r:id="rId17"/>
    <p:sldId id="965" r:id="rId18"/>
    <p:sldId id="906" r:id="rId19"/>
    <p:sldId id="951" r:id="rId20"/>
    <p:sldId id="908" r:id="rId21"/>
    <p:sldId id="959" r:id="rId22"/>
    <p:sldId id="905" r:id="rId23"/>
    <p:sldId id="953" r:id="rId24"/>
    <p:sldId id="960" r:id="rId25"/>
    <p:sldId id="956" r:id="rId26"/>
    <p:sldId id="952" r:id="rId27"/>
    <p:sldId id="955" r:id="rId28"/>
    <p:sldId id="954" r:id="rId29"/>
    <p:sldId id="961" r:id="rId30"/>
    <p:sldId id="942" r:id="rId31"/>
    <p:sldId id="900" r:id="rId32"/>
    <p:sldId id="853" r:id="rId33"/>
    <p:sldId id="957" r:id="rId34"/>
    <p:sldId id="909" r:id="rId35"/>
    <p:sldId id="911" r:id="rId36"/>
    <p:sldId id="918" r:id="rId37"/>
    <p:sldId id="920" r:id="rId38"/>
    <p:sldId id="945" r:id="rId39"/>
    <p:sldId id="943" r:id="rId40"/>
    <p:sldId id="919" r:id="rId41"/>
    <p:sldId id="944" r:id="rId42"/>
    <p:sldId id="922" r:id="rId43"/>
    <p:sldId id="923" r:id="rId44"/>
    <p:sldId id="924" r:id="rId45"/>
    <p:sldId id="925" r:id="rId46"/>
    <p:sldId id="926" r:id="rId47"/>
    <p:sldId id="927" r:id="rId48"/>
    <p:sldId id="928" r:id="rId49"/>
    <p:sldId id="929" r:id="rId50"/>
    <p:sldId id="930" r:id="rId51"/>
    <p:sldId id="931" r:id="rId52"/>
    <p:sldId id="932" r:id="rId53"/>
    <p:sldId id="933" r:id="rId54"/>
    <p:sldId id="934" r:id="rId55"/>
    <p:sldId id="935" r:id="rId56"/>
    <p:sldId id="936" r:id="rId57"/>
    <p:sldId id="937" r:id="rId58"/>
    <p:sldId id="938" r:id="rId59"/>
    <p:sldId id="939" r:id="rId60"/>
    <p:sldId id="898" r:id="rId61"/>
  </p:sldIdLst>
  <p:sldSz cx="9144000" cy="5143500" type="screen16x9"/>
  <p:notesSz cx="6997700" cy="92837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6" userDrawn="1">
          <p15:clr>
            <a:srgbClr val="A4A3A4"/>
          </p15:clr>
        </p15:guide>
        <p15:guide id="2" pos="2903" userDrawn="1">
          <p15:clr>
            <a:srgbClr val="A4A3A4"/>
          </p15:clr>
        </p15:guide>
        <p15:guide id="3" pos="2086" userDrawn="1">
          <p15:clr>
            <a:srgbClr val="A4A3A4"/>
          </p15:clr>
        </p15:guide>
      </p15:sldGuideLst>
    </p:ext>
    <p:ext uri="{2D200454-40CA-4A62-9FC3-DE9A4176ACB9}">
      <p15:notesGuideLst xmlns:p15="http://schemas.microsoft.com/office/powerpoint/2012/main">
        <p15:guide id="1" orient="horz" pos="2909">
          <p15:clr>
            <a:srgbClr val="A4A3A4"/>
          </p15:clr>
        </p15:guide>
        <p15:guide id="2" orient="horz" pos="91">
          <p15:clr>
            <a:srgbClr val="A4A3A4"/>
          </p15:clr>
        </p15:guide>
        <p15:guide id="3" orient="horz" pos="5723">
          <p15:clr>
            <a:srgbClr val="A4A3A4"/>
          </p15:clr>
        </p15:guide>
        <p15:guide id="4" pos="2208">
          <p15:clr>
            <a:srgbClr val="A4A3A4"/>
          </p15:clr>
        </p15:guide>
        <p15:guide id="5" pos="102">
          <p15:clr>
            <a:srgbClr val="A4A3A4"/>
          </p15:clr>
        </p15:guide>
        <p15:guide id="6" pos="4317">
          <p15:clr>
            <a:srgbClr val="A4A3A4"/>
          </p15:clr>
        </p15:guide>
        <p15:guide id="7" orient="horz" pos="2924">
          <p15:clr>
            <a:srgbClr val="A4A3A4"/>
          </p15:clr>
        </p15:guide>
        <p15:guide id="8" orient="horz" pos="5753">
          <p15:clr>
            <a:srgbClr val="A4A3A4"/>
          </p15:clr>
        </p15:guide>
        <p15:guide id="9" pos="2204">
          <p15:clr>
            <a:srgbClr val="A4A3A4"/>
          </p15:clr>
        </p15:guide>
        <p15:guide id="10" pos="430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3C3"/>
    <a:srgbClr val="2190FF"/>
    <a:srgbClr val="CBD3E9"/>
    <a:srgbClr val="EFEFEF"/>
    <a:srgbClr val="005380"/>
    <a:srgbClr val="E7EAF5"/>
    <a:srgbClr val="E18335"/>
    <a:srgbClr val="E5924D"/>
    <a:srgbClr val="D9D9D9"/>
    <a:srgbClr val="A7B9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03" autoAdjust="0"/>
    <p:restoredTop sz="96259" autoAdjust="0"/>
  </p:normalViewPr>
  <p:slideViewPr>
    <p:cSldViewPr snapToGrid="0" snapToObjects="1" showGuides="1">
      <p:cViewPr varScale="1">
        <p:scale>
          <a:sx n="158" d="100"/>
          <a:sy n="158" d="100"/>
        </p:scale>
        <p:origin x="1056" y="184"/>
      </p:cViewPr>
      <p:guideLst>
        <p:guide orient="horz" pos="396"/>
        <p:guide pos="2903"/>
        <p:guide pos="2086"/>
      </p:guideLst>
    </p:cSldViewPr>
  </p:slideViewPr>
  <p:notesTextViewPr>
    <p:cViewPr>
      <p:scale>
        <a:sx n="100" d="100"/>
        <a:sy n="100" d="100"/>
      </p:scale>
      <p:origin x="0" y="0"/>
    </p:cViewPr>
  </p:notesTextViewPr>
  <p:sorterViewPr>
    <p:cViewPr>
      <p:scale>
        <a:sx n="90" d="100"/>
        <a:sy n="90" d="100"/>
      </p:scale>
      <p:origin x="0" y="0"/>
    </p:cViewPr>
  </p:sorterViewPr>
  <p:notesViewPr>
    <p:cSldViewPr snapToGrid="0" snapToObjects="1">
      <p:cViewPr varScale="1">
        <p:scale>
          <a:sx n="83" d="100"/>
          <a:sy n="83" d="100"/>
        </p:scale>
        <p:origin x="-2808" y="-84"/>
      </p:cViewPr>
      <p:guideLst>
        <p:guide orient="horz" pos="2909"/>
        <p:guide orient="horz" pos="91"/>
        <p:guide orient="horz" pos="5723"/>
        <p:guide pos="2208"/>
        <p:guide pos="102"/>
        <p:guide pos="4317"/>
        <p:guide orient="horz" pos="2924"/>
        <p:guide orient="horz" pos="5753"/>
        <p:guide pos="2204"/>
        <p:guide pos="430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1.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4.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commentAuthors" Target="commentAuthors.xml"/><Relationship Id="rId4" Type="http://schemas.openxmlformats.org/officeDocument/2006/relationships/slideMaster" Target="slideMasters/slideMaster3.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57CF1C-A789-C341-8AD5-85D531DA5342}"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US"/>
        </a:p>
      </dgm:t>
    </dgm:pt>
    <dgm:pt modelId="{39BA2D96-9411-F04D-9F1E-6B4F79BF3FAB}">
      <dgm:prSet phldrT="[Text]"/>
      <dgm:spPr/>
      <dgm:t>
        <a:bodyPr/>
        <a:lstStyle/>
        <a:p>
          <a:r>
            <a:rPr lang="en-US" dirty="0"/>
            <a:t>Standardization</a:t>
          </a:r>
        </a:p>
      </dgm:t>
    </dgm:pt>
    <dgm:pt modelId="{627BAB83-FADE-4846-B5F7-E0228E7424EF}" type="parTrans" cxnId="{FB6A1DB7-E491-AB43-9B6D-75A6D93E197E}">
      <dgm:prSet/>
      <dgm:spPr/>
      <dgm:t>
        <a:bodyPr/>
        <a:lstStyle/>
        <a:p>
          <a:endParaRPr lang="en-US"/>
        </a:p>
      </dgm:t>
    </dgm:pt>
    <dgm:pt modelId="{EA9043BA-6717-174E-9E3E-F296629EC779}" type="sibTrans" cxnId="{FB6A1DB7-E491-AB43-9B6D-75A6D93E197E}">
      <dgm:prSet/>
      <dgm:spPr/>
      <dgm:t>
        <a:bodyPr/>
        <a:lstStyle/>
        <a:p>
          <a:endParaRPr lang="en-US"/>
        </a:p>
      </dgm:t>
    </dgm:pt>
    <dgm:pt modelId="{2E016C7E-1091-6F4F-A803-8DE405012F01}">
      <dgm:prSet phldrT="[Text]"/>
      <dgm:spPr/>
      <dgm:t>
        <a:bodyPr/>
        <a:lstStyle/>
        <a:p>
          <a:r>
            <a:rPr lang="en-US" dirty="0"/>
            <a:t>Enterprise Hardening</a:t>
          </a:r>
        </a:p>
      </dgm:t>
    </dgm:pt>
    <dgm:pt modelId="{741A34A9-6451-EB45-B496-AAEB1C0B39EE}" type="parTrans" cxnId="{25CFB23C-CA04-B843-83A8-BA3296F6EAC2}">
      <dgm:prSet/>
      <dgm:spPr/>
      <dgm:t>
        <a:bodyPr/>
        <a:lstStyle/>
        <a:p>
          <a:endParaRPr lang="en-US"/>
        </a:p>
      </dgm:t>
    </dgm:pt>
    <dgm:pt modelId="{D6122D6B-46C1-D94C-BA7F-934DA2444D8D}" type="sibTrans" cxnId="{25CFB23C-CA04-B843-83A8-BA3296F6EAC2}">
      <dgm:prSet/>
      <dgm:spPr/>
      <dgm:t>
        <a:bodyPr/>
        <a:lstStyle/>
        <a:p>
          <a:endParaRPr lang="en-US"/>
        </a:p>
      </dgm:t>
    </dgm:pt>
    <dgm:pt modelId="{90EE4FA2-2CE7-7F4E-97F8-4A89C53C9E7F}">
      <dgm:prSet phldrT="[Text]"/>
      <dgm:spPr/>
      <dgm:t>
        <a:bodyPr/>
        <a:lstStyle/>
        <a:p>
          <a:r>
            <a:rPr lang="en-US" dirty="0"/>
            <a:t>Productivity Gain</a:t>
          </a:r>
        </a:p>
      </dgm:t>
    </dgm:pt>
    <dgm:pt modelId="{53642B23-E5D4-3D41-8202-AD6F10A3E6C8}" type="parTrans" cxnId="{822E0462-BBE3-E644-A411-EC42F087B211}">
      <dgm:prSet/>
      <dgm:spPr/>
      <dgm:t>
        <a:bodyPr/>
        <a:lstStyle/>
        <a:p>
          <a:endParaRPr lang="en-US"/>
        </a:p>
      </dgm:t>
    </dgm:pt>
    <dgm:pt modelId="{D2E8E94E-BA50-BB47-8A35-4E079E5DAF73}" type="sibTrans" cxnId="{822E0462-BBE3-E644-A411-EC42F087B211}">
      <dgm:prSet/>
      <dgm:spPr/>
      <dgm:t>
        <a:bodyPr/>
        <a:lstStyle/>
        <a:p>
          <a:endParaRPr lang="en-US"/>
        </a:p>
      </dgm:t>
    </dgm:pt>
    <dgm:pt modelId="{5C8ADC17-D8ED-6A4A-8239-3655CE4D3344}">
      <dgm:prSet phldrT="[Text]"/>
      <dgm:spPr/>
      <dgm:t>
        <a:bodyPr/>
        <a:lstStyle/>
        <a:p>
          <a:r>
            <a:rPr lang="en-US" dirty="0"/>
            <a:t>Capability Driven</a:t>
          </a:r>
        </a:p>
      </dgm:t>
    </dgm:pt>
    <dgm:pt modelId="{B0877341-E014-0142-9B12-AC532EAE4DDA}" type="parTrans" cxnId="{27B215F9-6D04-1541-8519-ABA10BF6BB9E}">
      <dgm:prSet/>
      <dgm:spPr/>
      <dgm:t>
        <a:bodyPr/>
        <a:lstStyle/>
        <a:p>
          <a:endParaRPr lang="en-US"/>
        </a:p>
      </dgm:t>
    </dgm:pt>
    <dgm:pt modelId="{6462EC4B-A732-AA42-BE57-C5D965CF0DB4}" type="sibTrans" cxnId="{27B215F9-6D04-1541-8519-ABA10BF6BB9E}">
      <dgm:prSet/>
      <dgm:spPr/>
      <dgm:t>
        <a:bodyPr/>
        <a:lstStyle/>
        <a:p>
          <a:endParaRPr lang="en-US"/>
        </a:p>
      </dgm:t>
    </dgm:pt>
    <dgm:pt modelId="{6AAE4F4F-CEC0-7D47-BC50-2807FA073DA5}">
      <dgm:prSet phldrT="[Text]"/>
      <dgm:spPr/>
      <dgm:t>
        <a:bodyPr/>
        <a:lstStyle/>
        <a:p>
          <a:r>
            <a:rPr lang="en-US" dirty="0"/>
            <a:t>Codeless / Low Code</a:t>
          </a:r>
        </a:p>
      </dgm:t>
    </dgm:pt>
    <dgm:pt modelId="{FBC1171D-CB75-DB4C-9BC0-BBFA9A75FDBB}" type="parTrans" cxnId="{0F82A5D6-40AB-EF40-AD7F-293A34702667}">
      <dgm:prSet/>
      <dgm:spPr/>
      <dgm:t>
        <a:bodyPr/>
        <a:lstStyle/>
        <a:p>
          <a:endParaRPr lang="en-US"/>
        </a:p>
      </dgm:t>
    </dgm:pt>
    <dgm:pt modelId="{8C37D358-4DB9-A945-80EB-E7E4AF6D9E0F}" type="sibTrans" cxnId="{0F82A5D6-40AB-EF40-AD7F-293A34702667}">
      <dgm:prSet/>
      <dgm:spPr/>
      <dgm:t>
        <a:bodyPr/>
        <a:lstStyle/>
        <a:p>
          <a:endParaRPr lang="en-US"/>
        </a:p>
      </dgm:t>
    </dgm:pt>
    <dgm:pt modelId="{D85D8B2D-5B5D-CE46-8A5D-070A8EC36DE9}" type="pres">
      <dgm:prSet presAssocID="{FB57CF1C-A789-C341-8AD5-85D531DA5342}" presName="cycle" presStyleCnt="0">
        <dgm:presLayoutVars>
          <dgm:dir/>
          <dgm:resizeHandles val="exact"/>
        </dgm:presLayoutVars>
      </dgm:prSet>
      <dgm:spPr/>
    </dgm:pt>
    <dgm:pt modelId="{CB214CC0-D945-4A4A-AA82-DDE2156FAC21}" type="pres">
      <dgm:prSet presAssocID="{39BA2D96-9411-F04D-9F1E-6B4F79BF3FAB}" presName="node" presStyleLbl="node1" presStyleIdx="0" presStyleCnt="5">
        <dgm:presLayoutVars>
          <dgm:bulletEnabled val="1"/>
        </dgm:presLayoutVars>
      </dgm:prSet>
      <dgm:spPr/>
    </dgm:pt>
    <dgm:pt modelId="{4DF31A04-B3BF-C042-9C23-2EF6A7FF3F3A}" type="pres">
      <dgm:prSet presAssocID="{39BA2D96-9411-F04D-9F1E-6B4F79BF3FAB}" presName="spNode" presStyleCnt="0"/>
      <dgm:spPr/>
    </dgm:pt>
    <dgm:pt modelId="{31E6B0B2-1756-AA4C-A58F-0D6222F72E9D}" type="pres">
      <dgm:prSet presAssocID="{EA9043BA-6717-174E-9E3E-F296629EC779}" presName="sibTrans" presStyleLbl="sibTrans1D1" presStyleIdx="0" presStyleCnt="5"/>
      <dgm:spPr/>
    </dgm:pt>
    <dgm:pt modelId="{79B3CFCE-E7F7-F149-8BA8-AB3BDE28E787}" type="pres">
      <dgm:prSet presAssocID="{2E016C7E-1091-6F4F-A803-8DE405012F01}" presName="node" presStyleLbl="node1" presStyleIdx="1" presStyleCnt="5">
        <dgm:presLayoutVars>
          <dgm:bulletEnabled val="1"/>
        </dgm:presLayoutVars>
      </dgm:prSet>
      <dgm:spPr/>
    </dgm:pt>
    <dgm:pt modelId="{A225871D-14D7-EA42-88AA-3B21DA6DDE6F}" type="pres">
      <dgm:prSet presAssocID="{2E016C7E-1091-6F4F-A803-8DE405012F01}" presName="spNode" presStyleCnt="0"/>
      <dgm:spPr/>
    </dgm:pt>
    <dgm:pt modelId="{A431E2FB-5A2C-BE4F-8286-7EE5103B7B4E}" type="pres">
      <dgm:prSet presAssocID="{D6122D6B-46C1-D94C-BA7F-934DA2444D8D}" presName="sibTrans" presStyleLbl="sibTrans1D1" presStyleIdx="1" presStyleCnt="5"/>
      <dgm:spPr/>
    </dgm:pt>
    <dgm:pt modelId="{0EA65D10-BFFA-0C46-832E-686DB7CBE9C2}" type="pres">
      <dgm:prSet presAssocID="{90EE4FA2-2CE7-7F4E-97F8-4A89C53C9E7F}" presName="node" presStyleLbl="node1" presStyleIdx="2" presStyleCnt="5">
        <dgm:presLayoutVars>
          <dgm:bulletEnabled val="1"/>
        </dgm:presLayoutVars>
      </dgm:prSet>
      <dgm:spPr/>
    </dgm:pt>
    <dgm:pt modelId="{5E5B21C9-6F27-DF41-BC4C-7253FC59232D}" type="pres">
      <dgm:prSet presAssocID="{90EE4FA2-2CE7-7F4E-97F8-4A89C53C9E7F}" presName="spNode" presStyleCnt="0"/>
      <dgm:spPr/>
    </dgm:pt>
    <dgm:pt modelId="{1AC6645E-5F2A-F349-A206-7AD58479FA82}" type="pres">
      <dgm:prSet presAssocID="{D2E8E94E-BA50-BB47-8A35-4E079E5DAF73}" presName="sibTrans" presStyleLbl="sibTrans1D1" presStyleIdx="2" presStyleCnt="5"/>
      <dgm:spPr/>
    </dgm:pt>
    <dgm:pt modelId="{B10EF2FA-787C-9449-83E6-7596BB700720}" type="pres">
      <dgm:prSet presAssocID="{5C8ADC17-D8ED-6A4A-8239-3655CE4D3344}" presName="node" presStyleLbl="node1" presStyleIdx="3" presStyleCnt="5">
        <dgm:presLayoutVars>
          <dgm:bulletEnabled val="1"/>
        </dgm:presLayoutVars>
      </dgm:prSet>
      <dgm:spPr/>
    </dgm:pt>
    <dgm:pt modelId="{34B37EC2-2C3B-ED43-97E3-C865337262F1}" type="pres">
      <dgm:prSet presAssocID="{5C8ADC17-D8ED-6A4A-8239-3655CE4D3344}" presName="spNode" presStyleCnt="0"/>
      <dgm:spPr/>
    </dgm:pt>
    <dgm:pt modelId="{FF0159B9-A387-2C4B-AE56-9AF30EE798D8}" type="pres">
      <dgm:prSet presAssocID="{6462EC4B-A732-AA42-BE57-C5D965CF0DB4}" presName="sibTrans" presStyleLbl="sibTrans1D1" presStyleIdx="3" presStyleCnt="5"/>
      <dgm:spPr/>
    </dgm:pt>
    <dgm:pt modelId="{F45256E1-7B20-974A-B8A6-5150E1173D26}" type="pres">
      <dgm:prSet presAssocID="{6AAE4F4F-CEC0-7D47-BC50-2807FA073DA5}" presName="node" presStyleLbl="node1" presStyleIdx="4" presStyleCnt="5">
        <dgm:presLayoutVars>
          <dgm:bulletEnabled val="1"/>
        </dgm:presLayoutVars>
      </dgm:prSet>
      <dgm:spPr/>
    </dgm:pt>
    <dgm:pt modelId="{772597D0-4B2C-A541-846A-34655790CCFA}" type="pres">
      <dgm:prSet presAssocID="{6AAE4F4F-CEC0-7D47-BC50-2807FA073DA5}" presName="spNode" presStyleCnt="0"/>
      <dgm:spPr/>
    </dgm:pt>
    <dgm:pt modelId="{C0806733-12EB-CD48-B73A-7594ECEF8AFC}" type="pres">
      <dgm:prSet presAssocID="{8C37D358-4DB9-A945-80EB-E7E4AF6D9E0F}" presName="sibTrans" presStyleLbl="sibTrans1D1" presStyleIdx="4" presStyleCnt="5"/>
      <dgm:spPr/>
    </dgm:pt>
  </dgm:ptLst>
  <dgm:cxnLst>
    <dgm:cxn modelId="{7615B507-5DC8-5F4A-8D18-E262C2EE92F2}" type="presOf" srcId="{6462EC4B-A732-AA42-BE57-C5D965CF0DB4}" destId="{FF0159B9-A387-2C4B-AE56-9AF30EE798D8}" srcOrd="0" destOrd="0" presId="urn:microsoft.com/office/officeart/2005/8/layout/cycle5"/>
    <dgm:cxn modelId="{9671BC0C-C0F5-3740-AE4F-FE17AC9E781E}" type="presOf" srcId="{39BA2D96-9411-F04D-9F1E-6B4F79BF3FAB}" destId="{CB214CC0-D945-4A4A-AA82-DDE2156FAC21}" srcOrd="0" destOrd="0" presId="urn:microsoft.com/office/officeart/2005/8/layout/cycle5"/>
    <dgm:cxn modelId="{2B3A2419-36AD-FD44-8319-2BE0D8CE9BE7}" type="presOf" srcId="{6AAE4F4F-CEC0-7D47-BC50-2807FA073DA5}" destId="{F45256E1-7B20-974A-B8A6-5150E1173D26}" srcOrd="0" destOrd="0" presId="urn:microsoft.com/office/officeart/2005/8/layout/cycle5"/>
    <dgm:cxn modelId="{BC896B1E-D4AD-714C-8385-95416BDE1B37}" type="presOf" srcId="{FB57CF1C-A789-C341-8AD5-85D531DA5342}" destId="{D85D8B2D-5B5D-CE46-8A5D-070A8EC36DE9}" srcOrd="0" destOrd="0" presId="urn:microsoft.com/office/officeart/2005/8/layout/cycle5"/>
    <dgm:cxn modelId="{0E0BC72E-FF88-8A45-B7FB-CBA763C79293}" type="presOf" srcId="{8C37D358-4DB9-A945-80EB-E7E4AF6D9E0F}" destId="{C0806733-12EB-CD48-B73A-7594ECEF8AFC}" srcOrd="0" destOrd="0" presId="urn:microsoft.com/office/officeart/2005/8/layout/cycle5"/>
    <dgm:cxn modelId="{25CFB23C-CA04-B843-83A8-BA3296F6EAC2}" srcId="{FB57CF1C-A789-C341-8AD5-85D531DA5342}" destId="{2E016C7E-1091-6F4F-A803-8DE405012F01}" srcOrd="1" destOrd="0" parTransId="{741A34A9-6451-EB45-B496-AAEB1C0B39EE}" sibTransId="{D6122D6B-46C1-D94C-BA7F-934DA2444D8D}"/>
    <dgm:cxn modelId="{5B31243F-9F73-E440-8BBC-BAD6C5215AEF}" type="presOf" srcId="{5C8ADC17-D8ED-6A4A-8239-3655CE4D3344}" destId="{B10EF2FA-787C-9449-83E6-7596BB700720}" srcOrd="0" destOrd="0" presId="urn:microsoft.com/office/officeart/2005/8/layout/cycle5"/>
    <dgm:cxn modelId="{22CC6A51-3F55-534A-BF2E-390CD0137888}" type="presOf" srcId="{D6122D6B-46C1-D94C-BA7F-934DA2444D8D}" destId="{A431E2FB-5A2C-BE4F-8286-7EE5103B7B4E}" srcOrd="0" destOrd="0" presId="urn:microsoft.com/office/officeart/2005/8/layout/cycle5"/>
    <dgm:cxn modelId="{822E0462-BBE3-E644-A411-EC42F087B211}" srcId="{FB57CF1C-A789-C341-8AD5-85D531DA5342}" destId="{90EE4FA2-2CE7-7F4E-97F8-4A89C53C9E7F}" srcOrd="2" destOrd="0" parTransId="{53642B23-E5D4-3D41-8202-AD6F10A3E6C8}" sibTransId="{D2E8E94E-BA50-BB47-8A35-4E079E5DAF73}"/>
    <dgm:cxn modelId="{F2C1079D-43BC-A640-9001-1A848E331C52}" type="presOf" srcId="{D2E8E94E-BA50-BB47-8A35-4E079E5DAF73}" destId="{1AC6645E-5F2A-F349-A206-7AD58479FA82}" srcOrd="0" destOrd="0" presId="urn:microsoft.com/office/officeart/2005/8/layout/cycle5"/>
    <dgm:cxn modelId="{FB6A1DB7-E491-AB43-9B6D-75A6D93E197E}" srcId="{FB57CF1C-A789-C341-8AD5-85D531DA5342}" destId="{39BA2D96-9411-F04D-9F1E-6B4F79BF3FAB}" srcOrd="0" destOrd="0" parTransId="{627BAB83-FADE-4846-B5F7-E0228E7424EF}" sibTransId="{EA9043BA-6717-174E-9E3E-F296629EC779}"/>
    <dgm:cxn modelId="{D80E74B9-5091-2C45-ABB2-89144810691F}" type="presOf" srcId="{2E016C7E-1091-6F4F-A803-8DE405012F01}" destId="{79B3CFCE-E7F7-F149-8BA8-AB3BDE28E787}" srcOrd="0" destOrd="0" presId="urn:microsoft.com/office/officeart/2005/8/layout/cycle5"/>
    <dgm:cxn modelId="{0F82A5D6-40AB-EF40-AD7F-293A34702667}" srcId="{FB57CF1C-A789-C341-8AD5-85D531DA5342}" destId="{6AAE4F4F-CEC0-7D47-BC50-2807FA073DA5}" srcOrd="4" destOrd="0" parTransId="{FBC1171D-CB75-DB4C-9BC0-BBFA9A75FDBB}" sibTransId="{8C37D358-4DB9-A945-80EB-E7E4AF6D9E0F}"/>
    <dgm:cxn modelId="{FCF5EFD7-0188-BA45-A7FB-B5A84E7AD5DC}" type="presOf" srcId="{EA9043BA-6717-174E-9E3E-F296629EC779}" destId="{31E6B0B2-1756-AA4C-A58F-0D6222F72E9D}" srcOrd="0" destOrd="0" presId="urn:microsoft.com/office/officeart/2005/8/layout/cycle5"/>
    <dgm:cxn modelId="{9CAA84F4-50D4-FC40-8D77-DB98B585F70E}" type="presOf" srcId="{90EE4FA2-2CE7-7F4E-97F8-4A89C53C9E7F}" destId="{0EA65D10-BFFA-0C46-832E-686DB7CBE9C2}" srcOrd="0" destOrd="0" presId="urn:microsoft.com/office/officeart/2005/8/layout/cycle5"/>
    <dgm:cxn modelId="{27B215F9-6D04-1541-8519-ABA10BF6BB9E}" srcId="{FB57CF1C-A789-C341-8AD5-85D531DA5342}" destId="{5C8ADC17-D8ED-6A4A-8239-3655CE4D3344}" srcOrd="3" destOrd="0" parTransId="{B0877341-E014-0142-9B12-AC532EAE4DDA}" sibTransId="{6462EC4B-A732-AA42-BE57-C5D965CF0DB4}"/>
    <dgm:cxn modelId="{BCEF3629-E944-EC45-B0A9-2FDD3D183C8F}" type="presParOf" srcId="{D85D8B2D-5B5D-CE46-8A5D-070A8EC36DE9}" destId="{CB214CC0-D945-4A4A-AA82-DDE2156FAC21}" srcOrd="0" destOrd="0" presId="urn:microsoft.com/office/officeart/2005/8/layout/cycle5"/>
    <dgm:cxn modelId="{F837A4FE-52B4-EE4E-8D8A-1F0C3175973E}" type="presParOf" srcId="{D85D8B2D-5B5D-CE46-8A5D-070A8EC36DE9}" destId="{4DF31A04-B3BF-C042-9C23-2EF6A7FF3F3A}" srcOrd="1" destOrd="0" presId="urn:microsoft.com/office/officeart/2005/8/layout/cycle5"/>
    <dgm:cxn modelId="{80D23D9B-F7DE-7043-BEC8-536D2F945EFC}" type="presParOf" srcId="{D85D8B2D-5B5D-CE46-8A5D-070A8EC36DE9}" destId="{31E6B0B2-1756-AA4C-A58F-0D6222F72E9D}" srcOrd="2" destOrd="0" presId="urn:microsoft.com/office/officeart/2005/8/layout/cycle5"/>
    <dgm:cxn modelId="{2E3AFF9F-88CE-7448-AA52-A8A9A02717AE}" type="presParOf" srcId="{D85D8B2D-5B5D-CE46-8A5D-070A8EC36DE9}" destId="{79B3CFCE-E7F7-F149-8BA8-AB3BDE28E787}" srcOrd="3" destOrd="0" presId="urn:microsoft.com/office/officeart/2005/8/layout/cycle5"/>
    <dgm:cxn modelId="{9B876392-21A3-5347-B30A-398CDF4C7397}" type="presParOf" srcId="{D85D8B2D-5B5D-CE46-8A5D-070A8EC36DE9}" destId="{A225871D-14D7-EA42-88AA-3B21DA6DDE6F}" srcOrd="4" destOrd="0" presId="urn:microsoft.com/office/officeart/2005/8/layout/cycle5"/>
    <dgm:cxn modelId="{11894A2C-8A9D-2245-9FD5-C0A5DACAF568}" type="presParOf" srcId="{D85D8B2D-5B5D-CE46-8A5D-070A8EC36DE9}" destId="{A431E2FB-5A2C-BE4F-8286-7EE5103B7B4E}" srcOrd="5" destOrd="0" presId="urn:microsoft.com/office/officeart/2005/8/layout/cycle5"/>
    <dgm:cxn modelId="{734C4471-748A-3141-886E-0309B234F083}" type="presParOf" srcId="{D85D8B2D-5B5D-CE46-8A5D-070A8EC36DE9}" destId="{0EA65D10-BFFA-0C46-832E-686DB7CBE9C2}" srcOrd="6" destOrd="0" presId="urn:microsoft.com/office/officeart/2005/8/layout/cycle5"/>
    <dgm:cxn modelId="{8E498149-92B2-0244-84E9-F6051C0BB6CC}" type="presParOf" srcId="{D85D8B2D-5B5D-CE46-8A5D-070A8EC36DE9}" destId="{5E5B21C9-6F27-DF41-BC4C-7253FC59232D}" srcOrd="7" destOrd="0" presId="urn:microsoft.com/office/officeart/2005/8/layout/cycle5"/>
    <dgm:cxn modelId="{B4F55D39-1E49-2446-8CB8-4857850AFED4}" type="presParOf" srcId="{D85D8B2D-5B5D-CE46-8A5D-070A8EC36DE9}" destId="{1AC6645E-5F2A-F349-A206-7AD58479FA82}" srcOrd="8" destOrd="0" presId="urn:microsoft.com/office/officeart/2005/8/layout/cycle5"/>
    <dgm:cxn modelId="{2FBCF95C-F377-EF48-ACA3-C33898DF2FE8}" type="presParOf" srcId="{D85D8B2D-5B5D-CE46-8A5D-070A8EC36DE9}" destId="{B10EF2FA-787C-9449-83E6-7596BB700720}" srcOrd="9" destOrd="0" presId="urn:microsoft.com/office/officeart/2005/8/layout/cycle5"/>
    <dgm:cxn modelId="{E9508360-04EB-DD44-BE43-BED14593BAAB}" type="presParOf" srcId="{D85D8B2D-5B5D-CE46-8A5D-070A8EC36DE9}" destId="{34B37EC2-2C3B-ED43-97E3-C865337262F1}" srcOrd="10" destOrd="0" presId="urn:microsoft.com/office/officeart/2005/8/layout/cycle5"/>
    <dgm:cxn modelId="{4AADA37E-BDCF-7246-A90A-156AF75C65CF}" type="presParOf" srcId="{D85D8B2D-5B5D-CE46-8A5D-070A8EC36DE9}" destId="{FF0159B9-A387-2C4B-AE56-9AF30EE798D8}" srcOrd="11" destOrd="0" presId="urn:microsoft.com/office/officeart/2005/8/layout/cycle5"/>
    <dgm:cxn modelId="{AE5D230A-5424-1F42-8C9C-C63289BE0399}" type="presParOf" srcId="{D85D8B2D-5B5D-CE46-8A5D-070A8EC36DE9}" destId="{F45256E1-7B20-974A-B8A6-5150E1173D26}" srcOrd="12" destOrd="0" presId="urn:microsoft.com/office/officeart/2005/8/layout/cycle5"/>
    <dgm:cxn modelId="{CE3FA620-E68C-D049-A50A-20F553A8C2C4}" type="presParOf" srcId="{D85D8B2D-5B5D-CE46-8A5D-070A8EC36DE9}" destId="{772597D0-4B2C-A541-846A-34655790CCFA}" srcOrd="13" destOrd="0" presId="urn:microsoft.com/office/officeart/2005/8/layout/cycle5"/>
    <dgm:cxn modelId="{FD4C2B92-1CB0-3F42-8762-C743148FE9C4}" type="presParOf" srcId="{D85D8B2D-5B5D-CE46-8A5D-070A8EC36DE9}" destId="{C0806733-12EB-CD48-B73A-7594ECEF8AFC}"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14CC0-D945-4A4A-AA82-DDE2156FAC21}">
      <dsp:nvSpPr>
        <dsp:cNvPr id="0" name=""/>
        <dsp:cNvSpPr/>
      </dsp:nvSpPr>
      <dsp:spPr>
        <a:xfrm>
          <a:off x="2297459" y="1127"/>
          <a:ext cx="1062065" cy="69034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Standardization</a:t>
          </a:r>
        </a:p>
      </dsp:txBody>
      <dsp:txXfrm>
        <a:off x="2331159" y="34827"/>
        <a:ext cx="994665" cy="622942"/>
      </dsp:txXfrm>
    </dsp:sp>
    <dsp:sp modelId="{31E6B0B2-1756-AA4C-A58F-0D6222F72E9D}">
      <dsp:nvSpPr>
        <dsp:cNvPr id="0" name=""/>
        <dsp:cNvSpPr/>
      </dsp:nvSpPr>
      <dsp:spPr>
        <a:xfrm>
          <a:off x="1450224" y="346298"/>
          <a:ext cx="2756534" cy="2756534"/>
        </a:xfrm>
        <a:custGeom>
          <a:avLst/>
          <a:gdLst/>
          <a:ahLst/>
          <a:cxnLst/>
          <a:rect l="0" t="0" r="0" b="0"/>
          <a:pathLst>
            <a:path>
              <a:moveTo>
                <a:pt x="2051345" y="175526"/>
              </a:moveTo>
              <a:arcTo wR="1378267" hR="1378267" stAng="17953936" swAng="1210744"/>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9B3CFCE-E7F7-F149-8BA8-AB3BDE28E787}">
      <dsp:nvSpPr>
        <dsp:cNvPr id="0" name=""/>
        <dsp:cNvSpPr/>
      </dsp:nvSpPr>
      <dsp:spPr>
        <a:xfrm>
          <a:off x="3608269" y="953486"/>
          <a:ext cx="1062065" cy="69034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Enterprise Hardening</a:t>
          </a:r>
        </a:p>
      </dsp:txBody>
      <dsp:txXfrm>
        <a:off x="3641969" y="987186"/>
        <a:ext cx="994665" cy="622942"/>
      </dsp:txXfrm>
    </dsp:sp>
    <dsp:sp modelId="{A431E2FB-5A2C-BE4F-8286-7EE5103B7B4E}">
      <dsp:nvSpPr>
        <dsp:cNvPr id="0" name=""/>
        <dsp:cNvSpPr/>
      </dsp:nvSpPr>
      <dsp:spPr>
        <a:xfrm>
          <a:off x="1450224" y="346298"/>
          <a:ext cx="2756534" cy="2756534"/>
        </a:xfrm>
        <a:custGeom>
          <a:avLst/>
          <a:gdLst/>
          <a:ahLst/>
          <a:cxnLst/>
          <a:rect l="0" t="0" r="0" b="0"/>
          <a:pathLst>
            <a:path>
              <a:moveTo>
                <a:pt x="2753221" y="1473779"/>
              </a:moveTo>
              <a:arcTo wR="1378267" hR="1378267" stAng="21838424" swAng="1359112"/>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EA65D10-BFFA-0C46-832E-686DB7CBE9C2}">
      <dsp:nvSpPr>
        <dsp:cNvPr id="0" name=""/>
        <dsp:cNvSpPr/>
      </dsp:nvSpPr>
      <dsp:spPr>
        <a:xfrm>
          <a:off x="3107584" y="2494436"/>
          <a:ext cx="1062065" cy="69034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Productivity Gain</a:t>
          </a:r>
        </a:p>
      </dsp:txBody>
      <dsp:txXfrm>
        <a:off x="3141284" y="2528136"/>
        <a:ext cx="994665" cy="622942"/>
      </dsp:txXfrm>
    </dsp:sp>
    <dsp:sp modelId="{1AC6645E-5F2A-F349-A206-7AD58479FA82}">
      <dsp:nvSpPr>
        <dsp:cNvPr id="0" name=""/>
        <dsp:cNvSpPr/>
      </dsp:nvSpPr>
      <dsp:spPr>
        <a:xfrm>
          <a:off x="1450224" y="346298"/>
          <a:ext cx="2756534" cy="2756534"/>
        </a:xfrm>
        <a:custGeom>
          <a:avLst/>
          <a:gdLst/>
          <a:ahLst/>
          <a:cxnLst/>
          <a:rect l="0" t="0" r="0" b="0"/>
          <a:pathLst>
            <a:path>
              <a:moveTo>
                <a:pt x="1547239" y="2746137"/>
              </a:moveTo>
              <a:arcTo wR="1378267" hR="1378267" stAng="4977477" swAng="84504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10EF2FA-787C-9449-83E6-7596BB700720}">
      <dsp:nvSpPr>
        <dsp:cNvPr id="0" name=""/>
        <dsp:cNvSpPr/>
      </dsp:nvSpPr>
      <dsp:spPr>
        <a:xfrm>
          <a:off x="1487334" y="2494436"/>
          <a:ext cx="1062065" cy="69034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Capability Driven</a:t>
          </a:r>
        </a:p>
      </dsp:txBody>
      <dsp:txXfrm>
        <a:off x="1521034" y="2528136"/>
        <a:ext cx="994665" cy="622942"/>
      </dsp:txXfrm>
    </dsp:sp>
    <dsp:sp modelId="{FF0159B9-A387-2C4B-AE56-9AF30EE798D8}">
      <dsp:nvSpPr>
        <dsp:cNvPr id="0" name=""/>
        <dsp:cNvSpPr/>
      </dsp:nvSpPr>
      <dsp:spPr>
        <a:xfrm>
          <a:off x="1450224" y="346298"/>
          <a:ext cx="2756534" cy="2756534"/>
        </a:xfrm>
        <a:custGeom>
          <a:avLst/>
          <a:gdLst/>
          <a:ahLst/>
          <a:cxnLst/>
          <a:rect l="0" t="0" r="0" b="0"/>
          <a:pathLst>
            <a:path>
              <a:moveTo>
                <a:pt x="146159" y="1995949"/>
              </a:moveTo>
              <a:arcTo wR="1378267" hR="1378267" stAng="9202464" swAng="1359112"/>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45256E1-7B20-974A-B8A6-5150E1173D26}">
      <dsp:nvSpPr>
        <dsp:cNvPr id="0" name=""/>
        <dsp:cNvSpPr/>
      </dsp:nvSpPr>
      <dsp:spPr>
        <a:xfrm>
          <a:off x="986649" y="953486"/>
          <a:ext cx="1062065" cy="69034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Codeless / Low Code</a:t>
          </a:r>
        </a:p>
      </dsp:txBody>
      <dsp:txXfrm>
        <a:off x="1020349" y="987186"/>
        <a:ext cx="994665" cy="622942"/>
      </dsp:txXfrm>
    </dsp:sp>
    <dsp:sp modelId="{C0806733-12EB-CD48-B73A-7594ECEF8AFC}">
      <dsp:nvSpPr>
        <dsp:cNvPr id="0" name=""/>
        <dsp:cNvSpPr/>
      </dsp:nvSpPr>
      <dsp:spPr>
        <a:xfrm>
          <a:off x="1450224" y="346298"/>
          <a:ext cx="2756534" cy="2756534"/>
        </a:xfrm>
        <a:custGeom>
          <a:avLst/>
          <a:gdLst/>
          <a:ahLst/>
          <a:cxnLst/>
          <a:rect l="0" t="0" r="0" b="0"/>
          <a:pathLst>
            <a:path>
              <a:moveTo>
                <a:pt x="331611" y="481533"/>
              </a:moveTo>
              <a:arcTo wR="1378267" hR="1378267" stAng="13235320" swAng="1210744"/>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Line 9"/>
          <p:cNvSpPr>
            <a:spLocks noChangeShapeType="1"/>
          </p:cNvSpPr>
          <p:nvPr/>
        </p:nvSpPr>
        <p:spPr bwMode="auto">
          <a:xfrm>
            <a:off x="160365" y="8909773"/>
            <a:ext cx="6676972" cy="0"/>
          </a:xfrm>
          <a:prstGeom prst="line">
            <a:avLst/>
          </a:prstGeom>
          <a:noFill/>
          <a:ln w="9525">
            <a:solidFill>
              <a:schemeClr val="tx1"/>
            </a:solidFill>
            <a:round/>
            <a:headEnd/>
            <a:tailEnd/>
          </a:ln>
          <a:effectLst/>
        </p:spPr>
        <p:txBody>
          <a:bodyPr lIns="92830" tIns="46415" rIns="92830" bIns="46415"/>
          <a:lstStyle/>
          <a:p>
            <a:pPr>
              <a:defRPr/>
            </a:pPr>
            <a:endParaRPr lang="en-US" dirty="0"/>
          </a:p>
        </p:txBody>
      </p:sp>
      <p:sp>
        <p:nvSpPr>
          <p:cNvPr id="7" name="Rectangle 6"/>
          <p:cNvSpPr>
            <a:spLocks noGrp="1" noChangeArrowheads="1"/>
          </p:cNvSpPr>
          <p:nvPr/>
        </p:nvSpPr>
        <p:spPr bwMode="auto">
          <a:xfrm>
            <a:off x="158616" y="8944910"/>
            <a:ext cx="3098749" cy="233704"/>
          </a:xfrm>
          <a:prstGeom prst="rect">
            <a:avLst/>
          </a:prstGeom>
          <a:noFill/>
          <a:ln w="9525">
            <a:noFill/>
            <a:miter lim="800000"/>
            <a:headEnd/>
            <a:tailEnd/>
          </a:ln>
          <a:effectLst/>
        </p:spPr>
        <p:txBody>
          <a:bodyPr vert="horz" wrap="square" lIns="94587" tIns="47294" rIns="94587" bIns="47294" numCol="1" anchor="b" anchorCtr="0" compatLnSpc="1">
            <a:prstTxWarp prst="textNoShape">
              <a:avLst/>
            </a:prstTxWarp>
          </a:bodyPr>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algn="l" defTabSz="946027">
              <a:defRPr/>
            </a:pPr>
            <a:r>
              <a:rPr lang="en-US" sz="1000" b="0" dirty="0"/>
              <a:t>Amgen</a:t>
            </a:r>
          </a:p>
        </p:txBody>
      </p:sp>
      <p:sp>
        <p:nvSpPr>
          <p:cNvPr id="8" name="Rectangle 7"/>
          <p:cNvSpPr>
            <a:spLocks noGrp="1" noChangeArrowheads="1"/>
          </p:cNvSpPr>
          <p:nvPr/>
        </p:nvSpPr>
        <p:spPr bwMode="auto">
          <a:xfrm>
            <a:off x="3738716" y="8944910"/>
            <a:ext cx="3100370" cy="233704"/>
          </a:xfrm>
          <a:prstGeom prst="rect">
            <a:avLst/>
          </a:prstGeom>
          <a:noFill/>
          <a:ln w="9525">
            <a:noFill/>
            <a:miter lim="800000"/>
            <a:headEnd/>
            <a:tailEnd/>
          </a:ln>
          <a:effectLst/>
        </p:spPr>
        <p:txBody>
          <a:bodyPr vert="horz" wrap="square" lIns="94587" tIns="47294" rIns="94587" bIns="47294" numCol="1" anchor="b" anchorCtr="0" compatLnSpc="1">
            <a:prstTxWarp prst="textNoShape">
              <a:avLst/>
            </a:prstTxWarp>
          </a:bodyPr>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algn="r" defTabSz="946027">
              <a:defRPr/>
            </a:pPr>
            <a:fld id="{15AE3C97-AED3-4AEE-8471-1C50047147DC}" type="slidenum">
              <a:rPr lang="en-US" sz="1000" b="0"/>
              <a:pPr algn="r" defTabSz="946027">
                <a:defRPr/>
              </a:pPr>
              <a:t>‹#›</a:t>
            </a:fld>
            <a:endParaRPr lang="en-US" sz="1000" b="0" dirty="0"/>
          </a:p>
        </p:txBody>
      </p:sp>
    </p:spTree>
    <p:extLst>
      <p:ext uri="{BB962C8B-B14F-4D97-AF65-F5344CB8AC3E}">
        <p14:creationId xmlns:p14="http://schemas.microsoft.com/office/powerpoint/2010/main" val="9377586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36525" y="230188"/>
            <a:ext cx="6724650" cy="3783012"/>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158615" y="4380746"/>
            <a:ext cx="6680471" cy="4467781"/>
          </a:xfrm>
          <a:prstGeom prst="rect">
            <a:avLst/>
          </a:prstGeom>
          <a:noFill/>
          <a:ln w="9525" algn="ctr">
            <a:noFill/>
            <a:miter lim="800000"/>
            <a:headEnd/>
            <a:tailEnd/>
          </a:ln>
        </p:spPr>
        <p:txBody>
          <a:bodyPr vert="horz" wrap="square" lIns="92830" tIns="46415" rIns="92830" bIns="46415"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Line 9"/>
          <p:cNvSpPr>
            <a:spLocks noChangeShapeType="1"/>
          </p:cNvSpPr>
          <p:nvPr/>
        </p:nvSpPr>
        <p:spPr bwMode="auto">
          <a:xfrm>
            <a:off x="160365" y="8909773"/>
            <a:ext cx="6676972" cy="0"/>
          </a:xfrm>
          <a:prstGeom prst="line">
            <a:avLst/>
          </a:prstGeom>
          <a:noFill/>
          <a:ln w="9525">
            <a:solidFill>
              <a:schemeClr val="tx1"/>
            </a:solidFill>
            <a:round/>
            <a:headEnd/>
            <a:tailEnd/>
          </a:ln>
          <a:effectLst/>
        </p:spPr>
        <p:txBody>
          <a:bodyPr lIns="92830" tIns="46415" rIns="92830" bIns="46415"/>
          <a:lstStyle/>
          <a:p>
            <a:pPr>
              <a:defRPr/>
            </a:pPr>
            <a:endParaRPr lang="en-US" dirty="0"/>
          </a:p>
        </p:txBody>
      </p:sp>
      <p:sp>
        <p:nvSpPr>
          <p:cNvPr id="8" name="Rectangle 7"/>
          <p:cNvSpPr>
            <a:spLocks noGrp="1" noChangeArrowheads="1"/>
          </p:cNvSpPr>
          <p:nvPr/>
        </p:nvSpPr>
        <p:spPr bwMode="auto">
          <a:xfrm>
            <a:off x="158616" y="8944910"/>
            <a:ext cx="3098749" cy="233704"/>
          </a:xfrm>
          <a:prstGeom prst="rect">
            <a:avLst/>
          </a:prstGeom>
          <a:noFill/>
          <a:ln w="9525">
            <a:noFill/>
            <a:miter lim="800000"/>
            <a:headEnd/>
            <a:tailEnd/>
          </a:ln>
          <a:effectLst/>
        </p:spPr>
        <p:txBody>
          <a:bodyPr vert="horz" wrap="square" lIns="94587" tIns="47294" rIns="94587" bIns="47294" numCol="1" anchor="b" anchorCtr="0" compatLnSpc="1">
            <a:prstTxWarp prst="textNoShape">
              <a:avLst/>
            </a:prstTxWarp>
          </a:bodyPr>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algn="l" defTabSz="946027">
              <a:defRPr/>
            </a:pPr>
            <a:r>
              <a:rPr lang="en-US" sz="1000" b="0" dirty="0"/>
              <a:t>Amgen</a:t>
            </a:r>
          </a:p>
        </p:txBody>
      </p:sp>
      <p:sp>
        <p:nvSpPr>
          <p:cNvPr id="9" name="Rectangle 8"/>
          <p:cNvSpPr>
            <a:spLocks noGrp="1" noChangeArrowheads="1"/>
          </p:cNvSpPr>
          <p:nvPr/>
        </p:nvSpPr>
        <p:spPr bwMode="auto">
          <a:xfrm>
            <a:off x="3738716" y="8944910"/>
            <a:ext cx="3100370" cy="233704"/>
          </a:xfrm>
          <a:prstGeom prst="rect">
            <a:avLst/>
          </a:prstGeom>
          <a:noFill/>
          <a:ln w="9525">
            <a:noFill/>
            <a:miter lim="800000"/>
            <a:headEnd/>
            <a:tailEnd/>
          </a:ln>
          <a:effectLst/>
        </p:spPr>
        <p:txBody>
          <a:bodyPr vert="horz" wrap="square" lIns="94587" tIns="47294" rIns="94587" bIns="47294" numCol="1" anchor="b" anchorCtr="0" compatLnSpc="1">
            <a:prstTxWarp prst="textNoShape">
              <a:avLst/>
            </a:prstTxWarp>
          </a:bodyPr>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algn="r" defTabSz="946027" rtl="0" fontAlgn="base">
              <a:spcBef>
                <a:spcPct val="0"/>
              </a:spcBef>
              <a:spcAft>
                <a:spcPct val="0"/>
              </a:spcAft>
              <a:defRPr/>
            </a:pPr>
            <a:fld id="{15AE3C97-AED3-4AEE-8471-1C50047147DC}" type="slidenum">
              <a:rPr lang="en-US" sz="1000" b="0" kern="1200">
                <a:solidFill>
                  <a:schemeClr val="tx1"/>
                </a:solidFill>
                <a:latin typeface="Arial" charset="0"/>
                <a:ea typeface="+mn-ea"/>
                <a:cs typeface="+mn-cs"/>
              </a:rPr>
              <a:pPr algn="r" defTabSz="946027" rtl="0" fontAlgn="base">
                <a:spcBef>
                  <a:spcPct val="0"/>
                </a:spcBef>
                <a:spcAft>
                  <a:spcPct val="0"/>
                </a:spcAft>
                <a:defRPr/>
              </a:pPr>
              <a:t>‹#›</a:t>
            </a:fld>
            <a:endParaRPr lang="en-US" sz="1000" b="0" kern="1200" dirty="0">
              <a:solidFill>
                <a:schemeClr val="tx1"/>
              </a:solidFill>
              <a:latin typeface="Arial" charset="0"/>
              <a:ea typeface="+mn-ea"/>
              <a:cs typeface="+mn-cs"/>
            </a:endParaRPr>
          </a:p>
        </p:txBody>
      </p:sp>
    </p:spTree>
    <p:extLst>
      <p:ext uri="{BB962C8B-B14F-4D97-AF65-F5344CB8AC3E}">
        <p14:creationId xmlns:p14="http://schemas.microsoft.com/office/powerpoint/2010/main" val="380757160"/>
      </p:ext>
    </p:extLst>
  </p:cSld>
  <p:clrMap bg1="lt1" tx1="dk1" bg2="lt2" tx2="dk2" accent1="accent1" accent2="accent2" accent3="accent3" accent4="accent4" accent5="accent5" accent6="accent6" hlink="hlink" folHlink="folHlink"/>
  <p:hf dt="0"/>
  <p:notesStyle>
    <a:lvl1pPr marL="182880" indent="-182880" algn="l" defTabSz="914400" rtl="0" eaLnBrk="1" fontAlgn="base" latinLnBrk="0" hangingPunct="1">
      <a:lnSpc>
        <a:spcPct val="100000"/>
      </a:lnSpc>
      <a:spcBef>
        <a:spcPts val="600"/>
      </a:spcBef>
      <a:spcAft>
        <a:spcPct val="0"/>
      </a:spcAft>
      <a:buClrTx/>
      <a:buFont typeface="Arial" pitchFamily="34" charset="0"/>
      <a:buChar char="•"/>
      <a:defRPr lang="en-US" sz="1400" b="0" kern="1200" noProof="0" dirty="0" smtClean="0">
        <a:solidFill>
          <a:schemeClr val="tx1"/>
        </a:solidFill>
        <a:latin typeface="Arial" pitchFamily="34" charset="0"/>
        <a:ea typeface="+mn-ea"/>
        <a:cs typeface="Arial" pitchFamily="34" charset="0"/>
      </a:defRPr>
    </a:lvl1pPr>
    <a:lvl2pPr marL="457200" indent="-182880" algn="l" defTabSz="914400" rtl="0" eaLnBrk="1" fontAlgn="base" latinLnBrk="0" hangingPunct="1">
      <a:lnSpc>
        <a:spcPct val="100000"/>
      </a:lnSpc>
      <a:spcBef>
        <a:spcPts val="300"/>
      </a:spcBef>
      <a:spcAft>
        <a:spcPct val="0"/>
      </a:spcAft>
      <a:buClrTx/>
      <a:buFont typeface="Arial" pitchFamily="34" charset="0"/>
      <a:buChar char="–"/>
      <a:defRPr lang="en-US" sz="1200" b="0" kern="1200" noProof="0" dirty="0" smtClean="0">
        <a:solidFill>
          <a:schemeClr val="tx1"/>
        </a:solidFill>
        <a:latin typeface="Arial" pitchFamily="34" charset="0"/>
        <a:ea typeface="+mn-ea"/>
        <a:cs typeface="Arial" pitchFamily="34" charset="0"/>
      </a:defRPr>
    </a:lvl2pPr>
    <a:lvl3pPr marL="731520" indent="-182880" algn="l" defTabSz="914400" rtl="0" eaLnBrk="1" fontAlgn="base" latinLnBrk="0" hangingPunct="1">
      <a:lnSpc>
        <a:spcPct val="100000"/>
      </a:lnSpc>
      <a:spcBef>
        <a:spcPts val="300"/>
      </a:spcBef>
      <a:spcAft>
        <a:spcPct val="0"/>
      </a:spcAft>
      <a:buClrTx/>
      <a:buFont typeface="Arial" pitchFamily="34" charset="0"/>
      <a:buChar char="•"/>
      <a:defRPr lang="en-US" sz="1000" b="0" kern="1200" noProof="0" dirty="0" smtClean="0">
        <a:solidFill>
          <a:schemeClr val="tx1"/>
        </a:solidFill>
        <a:latin typeface="Arial" pitchFamily="34" charset="0"/>
        <a:ea typeface="+mn-ea"/>
        <a:cs typeface="Arial" pitchFamily="34" charset="0"/>
      </a:defRPr>
    </a:lvl3pPr>
    <a:lvl4pPr marL="1005840" indent="-182880" algn="l" defTabSz="914400" rtl="0" eaLnBrk="1" fontAlgn="base" latinLnBrk="0" hangingPunct="1">
      <a:lnSpc>
        <a:spcPct val="100000"/>
      </a:lnSpc>
      <a:spcBef>
        <a:spcPts val="300"/>
      </a:spcBef>
      <a:spcAft>
        <a:spcPct val="0"/>
      </a:spcAft>
      <a:buClrTx/>
      <a:buFont typeface="Arial" pitchFamily="34" charset="0"/>
      <a:buChar char="–"/>
      <a:defRPr lang="en-US" sz="900" b="0" kern="1200" noProof="0" dirty="0" smtClean="0">
        <a:solidFill>
          <a:schemeClr val="tx1"/>
        </a:solidFill>
        <a:latin typeface="Arial" pitchFamily="34" charset="0"/>
        <a:ea typeface="+mn-ea"/>
        <a:cs typeface="Arial" pitchFamily="34" charset="0"/>
      </a:defRPr>
    </a:lvl4pPr>
    <a:lvl5pPr marL="1280160" indent="-182880" algn="l" defTabSz="914400" rtl="0" eaLnBrk="1" fontAlgn="base" latinLnBrk="0" hangingPunct="1">
      <a:lnSpc>
        <a:spcPct val="100000"/>
      </a:lnSpc>
      <a:spcBef>
        <a:spcPts val="300"/>
      </a:spcBef>
      <a:spcAft>
        <a:spcPct val="0"/>
      </a:spcAft>
      <a:buClrTx/>
      <a:buFont typeface="Arial" pitchFamily="34" charset="0"/>
      <a:buChar char="•"/>
      <a:defRPr lang="en-US" sz="800" b="0" kern="1200" noProof="0" dirty="0" smtClean="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2682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p45:notes"/>
          <p:cNvSpPr txBox="1">
            <a:spLocks noGrp="1"/>
          </p:cNvSpPr>
          <p:nvPr>
            <p:ph type="body" idx="1"/>
          </p:nvPr>
        </p:nvSpPr>
        <p:spPr>
          <a:xfrm>
            <a:off x="933027" y="4409758"/>
            <a:ext cx="5131647" cy="4177665"/>
          </a:xfrm>
          <a:prstGeom prst="rect">
            <a:avLst/>
          </a:prstGeom>
        </p:spPr>
        <p:txBody>
          <a:bodyPr spcFirstLastPara="1" wrap="square" lIns="93016" tIns="46495" rIns="93016" bIns="46495" anchor="t" anchorCtr="0">
            <a:noAutofit/>
          </a:bodyPr>
          <a:lstStyle/>
          <a:p>
            <a:pPr marL="0" indent="0">
              <a:spcBef>
                <a:spcPts val="0"/>
              </a:spcBef>
              <a:spcAft>
                <a:spcPts val="0"/>
              </a:spcAft>
              <a:buNone/>
            </a:pPr>
            <a:endParaRPr dirty="0"/>
          </a:p>
        </p:txBody>
      </p:sp>
      <p:sp>
        <p:nvSpPr>
          <p:cNvPr id="1474" name="Google Shape;1474;p4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p45:notes"/>
          <p:cNvSpPr txBox="1">
            <a:spLocks noGrp="1"/>
          </p:cNvSpPr>
          <p:nvPr>
            <p:ph type="body" idx="1"/>
          </p:nvPr>
        </p:nvSpPr>
        <p:spPr>
          <a:xfrm>
            <a:off x="933027" y="4409758"/>
            <a:ext cx="5131647" cy="4177665"/>
          </a:xfrm>
          <a:prstGeom prst="rect">
            <a:avLst/>
          </a:prstGeom>
        </p:spPr>
        <p:txBody>
          <a:bodyPr spcFirstLastPara="1" wrap="square" lIns="93016" tIns="46495" rIns="93016" bIns="46495" anchor="t" anchorCtr="0">
            <a:noAutofit/>
          </a:bodyPr>
          <a:lstStyle/>
          <a:p>
            <a:pPr marL="0" indent="0">
              <a:spcBef>
                <a:spcPts val="0"/>
              </a:spcBef>
              <a:spcAft>
                <a:spcPts val="0"/>
              </a:spcAft>
              <a:buNone/>
            </a:pPr>
            <a:endParaRPr dirty="0"/>
          </a:p>
        </p:txBody>
      </p:sp>
      <p:sp>
        <p:nvSpPr>
          <p:cNvPr id="1474" name="Google Shape;1474;p4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543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Shape 2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27" name="Shape 227"/>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17999"/>
              </a:lnSpc>
              <a:spcBef>
                <a:spcPts val="0"/>
              </a:spcBef>
              <a:spcAft>
                <a:spcPts val="0"/>
              </a:spcAft>
              <a:buNone/>
            </a:pPr>
            <a:endParaRPr sz="2200" b="0" i="0" u="none" strike="noStrike" cap="none">
              <a:latin typeface="Helvetica Neue"/>
              <a:ea typeface="Helvetica Neue"/>
              <a:cs typeface="Helvetica Neue"/>
              <a:sym typeface="Helvetica Neue"/>
            </a:endParaRPr>
          </a:p>
        </p:txBody>
      </p:sp>
    </p:spTree>
    <p:extLst>
      <p:ext uri="{BB962C8B-B14F-4D97-AF65-F5344CB8AC3E}">
        <p14:creationId xmlns:p14="http://schemas.microsoft.com/office/powerpoint/2010/main" val="1329718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p45:notes"/>
          <p:cNvSpPr txBox="1">
            <a:spLocks noGrp="1"/>
          </p:cNvSpPr>
          <p:nvPr>
            <p:ph type="body" idx="1"/>
          </p:nvPr>
        </p:nvSpPr>
        <p:spPr>
          <a:xfrm>
            <a:off x="933027" y="4409758"/>
            <a:ext cx="5131647" cy="4177665"/>
          </a:xfrm>
          <a:prstGeom prst="rect">
            <a:avLst/>
          </a:prstGeom>
        </p:spPr>
        <p:txBody>
          <a:bodyPr spcFirstLastPara="1" wrap="square" lIns="93016" tIns="46495" rIns="93016" bIns="46495" anchor="t" anchorCtr="0">
            <a:noAutofit/>
          </a:bodyPr>
          <a:lstStyle/>
          <a:p>
            <a:pPr marL="0" indent="0">
              <a:spcBef>
                <a:spcPts val="0"/>
              </a:spcBef>
              <a:spcAft>
                <a:spcPts val="0"/>
              </a:spcAft>
              <a:buNone/>
            </a:pPr>
            <a:endParaRPr dirty="0"/>
          </a:p>
        </p:txBody>
      </p:sp>
      <p:sp>
        <p:nvSpPr>
          <p:cNvPr id="1474" name="Google Shape;1474;p4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7868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6297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5270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Thought:</a:t>
            </a:r>
          </a:p>
          <a:p>
            <a:pPr marL="228570" indent="-228570">
              <a:buAutoNum type="arabicPeriod"/>
            </a:pPr>
            <a:r>
              <a:rPr lang="en-US" dirty="0"/>
              <a:t>BPOs</a:t>
            </a:r>
            <a:r>
              <a:rPr lang="en-US" baseline="0" dirty="0"/>
              <a:t> are so last decade – do not use the word BPO</a:t>
            </a:r>
          </a:p>
          <a:p>
            <a:pPr marL="228570" indent="-228570">
              <a:buAutoNum type="arabicPeriod"/>
            </a:pPr>
            <a:r>
              <a:rPr lang="en-US" dirty="0"/>
              <a:t>Make sure questions are answered</a:t>
            </a:r>
          </a:p>
          <a:p>
            <a:pPr marL="228570" indent="-228570">
              <a:buAutoNum type="arabicPeriod"/>
            </a:pPr>
            <a:endParaRPr lang="en-US" dirty="0"/>
          </a:p>
          <a:p>
            <a:pPr marL="228570" indent="-228570">
              <a:buAutoNum type="arabicPeriod"/>
            </a:pPr>
            <a:endParaRPr lang="en-US" dirty="0"/>
          </a:p>
        </p:txBody>
      </p:sp>
      <p:sp>
        <p:nvSpPr>
          <p:cNvPr id="4" name="Slide Number Placeholder 3"/>
          <p:cNvSpPr>
            <a:spLocks noGrp="1"/>
          </p:cNvSpPr>
          <p:nvPr>
            <p:ph type="sldNum" sz="quarter" idx="10"/>
          </p:nvPr>
        </p:nvSpPr>
        <p:spPr>
          <a:xfrm>
            <a:off x="3970939" y="8772668"/>
            <a:ext cx="3037840" cy="461804"/>
          </a:xfrm>
          <a:prstGeom prst="rect">
            <a:avLst/>
          </a:prstGeom>
        </p:spPr>
        <p:txBody>
          <a:bodyPr/>
          <a:lstStyle/>
          <a:p>
            <a:fld id="{1F0C68D1-7DEA-4395-8BB0-BDA6E918E8AE}" type="slidenum">
              <a:rPr lang="en-US" smtClean="0"/>
              <a:pPr/>
              <a:t>26</a:t>
            </a:fld>
            <a:endParaRPr lang="en-US" dirty="0"/>
          </a:p>
        </p:txBody>
      </p:sp>
    </p:spTree>
    <p:extLst>
      <p:ext uri="{BB962C8B-B14F-4D97-AF65-F5344CB8AC3E}">
        <p14:creationId xmlns:p14="http://schemas.microsoft.com/office/powerpoint/2010/main" val="647905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16:notes"/>
          <p:cNvSpPr txBox="1">
            <a:spLocks noGrp="1"/>
          </p:cNvSpPr>
          <p:nvPr>
            <p:ph type="body" idx="1"/>
          </p:nvPr>
        </p:nvSpPr>
        <p:spPr>
          <a:xfrm>
            <a:off x="933027" y="4409758"/>
            <a:ext cx="5131647" cy="4177665"/>
          </a:xfrm>
          <a:prstGeom prst="rect">
            <a:avLst/>
          </a:prstGeom>
        </p:spPr>
        <p:txBody>
          <a:bodyPr spcFirstLastPara="1" wrap="square" lIns="93016" tIns="46495" rIns="93016" bIns="46495" anchor="t" anchorCtr="0">
            <a:noAutofit/>
          </a:bodyPr>
          <a:lstStyle/>
          <a:p>
            <a:pPr marL="0" indent="0">
              <a:spcBef>
                <a:spcPts val="0"/>
              </a:spcBef>
              <a:spcAft>
                <a:spcPts val="0"/>
              </a:spcAft>
              <a:buNone/>
            </a:pPr>
            <a:endParaRPr dirty="0"/>
          </a:p>
        </p:txBody>
      </p:sp>
      <p:sp>
        <p:nvSpPr>
          <p:cNvPr id="541" name="Google Shape;541;p16: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582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1755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5484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8135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2737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Placeholder 4"/>
          <p:cNvPicPr>
            <a:picLocks noChangeAspect="1"/>
          </p:cNvPicPr>
          <p:nvPr userDrawn="1"/>
        </p:nvPicPr>
        <p:blipFill>
          <a:blip r:embed="rId2" cstate="print">
            <a:extLst>
              <a:ext uri="{28A0092B-C50C-407E-A947-70E740481C1C}">
                <a14:useLocalDpi xmlns:a14="http://schemas.microsoft.com/office/drawing/2010/main" val="0"/>
              </a:ext>
            </a:extLst>
          </a:blip>
          <a:srcRect t="6250" b="6250"/>
          <a:stretch>
            <a:fillRect/>
          </a:stretch>
        </p:blipFill>
        <p:spPr>
          <a:xfrm>
            <a:off x="0" y="0"/>
            <a:ext cx="9144000" cy="4000500"/>
          </a:xfrm>
          <a:prstGeom prst="rect">
            <a:avLst/>
          </a:prstGeom>
        </p:spPr>
      </p:pic>
      <p:sp>
        <p:nvSpPr>
          <p:cNvPr id="7" name="Picture Placeholder 6"/>
          <p:cNvSpPr>
            <a:spLocks noGrp="1"/>
          </p:cNvSpPr>
          <p:nvPr>
            <p:ph type="pic" sz="quarter" idx="11"/>
          </p:nvPr>
        </p:nvSpPr>
        <p:spPr>
          <a:xfrm>
            <a:off x="0" y="0"/>
            <a:ext cx="9144000" cy="4000500"/>
          </a:xfrm>
          <a:noFill/>
        </p:spPr>
        <p:txBody>
          <a:bodyPr lIns="0"/>
          <a:lstStyle/>
          <a:p>
            <a:r>
              <a:rPr lang="en-US" dirty="0"/>
              <a:t>Click icon to add picture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3254" y="4592058"/>
            <a:ext cx="2081852" cy="380285"/>
          </a:xfrm>
          <a:prstGeom prst="rect">
            <a:avLst/>
          </a:prstGeom>
        </p:spPr>
      </p:pic>
      <p:sp>
        <p:nvSpPr>
          <p:cNvPr id="13" name="Text Placeholder 12"/>
          <p:cNvSpPr>
            <a:spLocks noGrp="1"/>
          </p:cNvSpPr>
          <p:nvPr>
            <p:ph type="body" sz="quarter" idx="13" hasCustomPrompt="1"/>
          </p:nvPr>
        </p:nvSpPr>
        <p:spPr>
          <a:xfrm>
            <a:off x="571500" y="4460430"/>
            <a:ext cx="7449344" cy="294856"/>
          </a:xfrm>
        </p:spPr>
        <p:txBody>
          <a:bodyPr tIns="0"/>
          <a:lstStyle>
            <a:lvl1pPr marL="0" indent="0" algn="l">
              <a:spcBef>
                <a:spcPts val="0"/>
              </a:spcBef>
              <a:spcAft>
                <a:spcPts val="0"/>
              </a:spcAft>
              <a:buNone/>
              <a:defRPr sz="2000" b="0"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6" name="Text Placeholder 5"/>
          <p:cNvSpPr>
            <a:spLocks noGrp="1"/>
          </p:cNvSpPr>
          <p:nvPr>
            <p:ph type="body" sz="quarter" idx="10" hasCustomPrompt="1"/>
          </p:nvPr>
        </p:nvSpPr>
        <p:spPr>
          <a:xfrm>
            <a:off x="571500" y="4102227"/>
            <a:ext cx="7449344" cy="346274"/>
          </a:xfrm>
        </p:spPr>
        <p:txBody>
          <a:bodyPr rIns="0" anchor="ctr"/>
          <a:lstStyle>
            <a:lvl1pPr marL="0" indent="0" algn="l">
              <a:buNone/>
              <a:defRPr sz="2400" b="1"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2" name="Title 1"/>
          <p:cNvSpPr>
            <a:spLocks noGrp="1"/>
          </p:cNvSpPr>
          <p:nvPr>
            <p:ph type="title" hasCustomPrompt="1"/>
          </p:nvPr>
        </p:nvSpPr>
        <p:spPr>
          <a:xfrm>
            <a:off x="571501" y="1743075"/>
            <a:ext cx="7441435" cy="514350"/>
          </a:xfrm>
          <a:prstGeom prst="rect">
            <a:avLst/>
          </a:prstGeom>
        </p:spPr>
        <p:txBody>
          <a:bodyPr vert="horz" lIns="0" tIns="0" rIns="0" bIns="0" anchor="ctr">
            <a:noAutofit/>
          </a:bodyPr>
          <a:lstStyle>
            <a:lvl1pPr algn="l">
              <a:defRPr sz="3600" b="1" spc="0" baseline="0">
                <a:solidFill>
                  <a:schemeClr val="bg1"/>
                </a:solidFill>
                <a:effectLst/>
                <a:latin typeface="Calibri" panose="020F0502020204030204" pitchFamily="34" charset="0"/>
              </a:defRPr>
            </a:lvl1pPr>
          </a:lstStyle>
          <a:p>
            <a:r>
              <a:rPr lang="en-US" dirty="0"/>
              <a:t>CLICK TO EDIT MASTER TITLE STYLE</a:t>
            </a:r>
          </a:p>
        </p:txBody>
      </p:sp>
      <p:pic>
        <p:nvPicPr>
          <p:cNvPr id="10" name="Picture 9">
            <a:extLst>
              <a:ext uri="{FF2B5EF4-FFF2-40B4-BE49-F238E27FC236}">
                <a16:creationId xmlns:a16="http://schemas.microsoft.com/office/drawing/2014/main" id="{DE1B8924-DF9F-46AD-84CA-1B80D25D8F5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18830930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299389713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Rectangle 4"/>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Content Placeholder 3"/>
          <p:cNvSpPr>
            <a:spLocks noGrp="1"/>
          </p:cNvSpPr>
          <p:nvPr>
            <p:ph sz="quarter" idx="14"/>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782" cy="492443"/>
          </a:xfrm>
        </p:spPr>
        <p:txBody>
          <a:bodyPr wrap="square" anchor="b">
            <a:spAutoFit/>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5517867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6" name="Rectangle 5"/>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Content Placeholder 3"/>
          <p:cNvSpPr>
            <a:spLocks noGrp="1"/>
          </p:cNvSpPr>
          <p:nvPr>
            <p:ph sz="quarter" idx="10"/>
          </p:nvPr>
        </p:nvSpPr>
        <p:spPr>
          <a:xfrm>
            <a:off x="363538" y="1554480"/>
            <a:ext cx="8416925" cy="292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7" y="440164"/>
            <a:ext cx="8416925" cy="492443"/>
          </a:xfrm>
        </p:spPr>
        <p:txBody>
          <a:bodyPr>
            <a:spAutoFit/>
          </a:bodyPr>
          <a:lstStyle>
            <a:lvl1pPr>
              <a:defRPr spc="0" baseline="0"/>
            </a:lvl1pPr>
          </a:lstStyle>
          <a:p>
            <a:r>
              <a:rPr lang="en-US" dirty="0"/>
              <a:t>CLICK TO EDIT MASTER TITLE STYLE</a:t>
            </a:r>
          </a:p>
        </p:txBody>
      </p:sp>
      <p:sp>
        <p:nvSpPr>
          <p:cNvPr id="5" name="Text Placeholder 4"/>
          <p:cNvSpPr>
            <a:spLocks noGrp="1"/>
          </p:cNvSpPr>
          <p:nvPr>
            <p:ph type="body" sz="quarter" idx="11"/>
          </p:nvPr>
        </p:nvSpPr>
        <p:spPr>
          <a:xfrm>
            <a:off x="363538" y="1146175"/>
            <a:ext cx="8416924" cy="352425"/>
          </a:xfrm>
        </p:spPr>
        <p:txBody>
          <a:bodyPr/>
          <a:lstStyle>
            <a:lvl1pPr marL="0" indent="0">
              <a:buNone/>
              <a:defRPr sz="2400">
                <a:solidFill>
                  <a:schemeClr val="accent1"/>
                </a:solidFill>
                <a:latin typeface="+mj-lt"/>
              </a:defRPr>
            </a:lvl1pPr>
            <a:lvl2pPr marL="231775" indent="0">
              <a:buNone/>
              <a:defRPr sz="2200">
                <a:solidFill>
                  <a:schemeClr val="accent1"/>
                </a:solidFill>
                <a:latin typeface="+mj-lt"/>
              </a:defRPr>
            </a:lvl2pPr>
            <a:lvl3pPr marL="457200" indent="0">
              <a:buNone/>
              <a:defRPr sz="2200">
                <a:solidFill>
                  <a:schemeClr val="accent1"/>
                </a:solidFill>
                <a:latin typeface="+mj-lt"/>
              </a:defRPr>
            </a:lvl3pPr>
            <a:lvl4pPr marL="688975" indent="0">
              <a:buNone/>
              <a:defRPr sz="2200">
                <a:solidFill>
                  <a:schemeClr val="accent1"/>
                </a:solidFill>
                <a:latin typeface="+mj-lt"/>
              </a:defRPr>
            </a:lvl4pPr>
            <a:lvl5pPr marL="914400" indent="0">
              <a:buNone/>
              <a:defRPr sz="22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80693536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Panel Imag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3121043" y="1007706"/>
            <a:ext cx="2909455" cy="3451562"/>
          </a:xfrm>
        </p:spPr>
        <p:txBody>
          <a:bodyPr/>
          <a:lstStyle/>
          <a:p>
            <a:r>
              <a:rPr lang="en-US" dirty="0"/>
              <a:t>Click icon to add picture</a:t>
            </a:r>
          </a:p>
        </p:txBody>
      </p:sp>
      <p:sp>
        <p:nvSpPr>
          <p:cNvPr id="13" name="Picture Placeholder 12"/>
          <p:cNvSpPr>
            <a:spLocks noGrp="1"/>
          </p:cNvSpPr>
          <p:nvPr>
            <p:ph type="pic" sz="quarter" idx="14"/>
          </p:nvPr>
        </p:nvSpPr>
        <p:spPr>
          <a:xfrm>
            <a:off x="6066253" y="1007706"/>
            <a:ext cx="3075709" cy="3451562"/>
          </a:xfrm>
        </p:spPr>
        <p:txBody>
          <a:bodyPr/>
          <a:lstStyle/>
          <a:p>
            <a:r>
              <a:rPr lang="en-US" dirty="0"/>
              <a:t>Click icon to add picture</a:t>
            </a:r>
          </a:p>
        </p:txBody>
      </p:sp>
      <p:sp>
        <p:nvSpPr>
          <p:cNvPr id="6" name="Picture Placeholder 5"/>
          <p:cNvSpPr>
            <a:spLocks noGrp="1"/>
          </p:cNvSpPr>
          <p:nvPr>
            <p:ph type="pic" sz="quarter" idx="15"/>
          </p:nvPr>
        </p:nvSpPr>
        <p:spPr>
          <a:xfrm>
            <a:off x="0" y="1007706"/>
            <a:ext cx="3075709" cy="3451562"/>
          </a:xfrm>
        </p:spPr>
        <p:txBody>
          <a:bodyPr/>
          <a:lstStyle/>
          <a:p>
            <a:r>
              <a:rPr lang="en-US" dirty="0"/>
              <a:t>Click icon to add picture</a:t>
            </a:r>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lnSpc>
                <a:spcPct val="100000"/>
              </a:lnSpc>
              <a:defRPr lang="en-US" sz="2600" b="1" kern="1200" spc="0" baseline="0" dirty="0">
                <a:solidFill>
                  <a:schemeClr val="accent1"/>
                </a:solidFill>
                <a:latin typeface="Calibri" panose="020F0502020204030204" pitchFamily="34" charset="0"/>
                <a:ea typeface="+mj-ea"/>
                <a:cs typeface="+mj-cs"/>
              </a:defRPr>
            </a:lvl1pPr>
          </a:lstStyle>
          <a:p>
            <a:r>
              <a:rPr lang="en-US" dirty="0"/>
              <a:t>CLICK TO EDIT MASTER TITLE STYLE</a:t>
            </a:r>
          </a:p>
        </p:txBody>
      </p:sp>
    </p:spTree>
    <p:extLst>
      <p:ext uri="{BB962C8B-B14F-4D97-AF65-F5344CB8AC3E}">
        <p14:creationId xmlns:p14="http://schemas.microsoft.com/office/powerpoint/2010/main" val="208555659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akeaway (righ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0" y="1007707"/>
            <a:ext cx="6026727" cy="3451551"/>
          </a:xfrm>
        </p:spPr>
        <p:txBody>
          <a:bodyPr/>
          <a:lstStyle/>
          <a:p>
            <a:r>
              <a:rPr lang="en-US" dirty="0"/>
              <a:t>Click icon to add picture</a:t>
            </a:r>
          </a:p>
        </p:txBody>
      </p:sp>
      <p:sp>
        <p:nvSpPr>
          <p:cNvPr id="4" name="Content Placeholder 3"/>
          <p:cNvSpPr>
            <a:spLocks noGrp="1"/>
          </p:cNvSpPr>
          <p:nvPr>
            <p:ph sz="quarter" idx="13"/>
          </p:nvPr>
        </p:nvSpPr>
        <p:spPr>
          <a:xfrm>
            <a:off x="6069991" y="1008064"/>
            <a:ext cx="3074009" cy="3451204"/>
          </a:xfrm>
          <a:solidFill>
            <a:schemeClr val="accent1"/>
          </a:solidFill>
        </p:spPr>
        <p:txBody>
          <a:bodyPr lIns="182880" rIns="274320" anchor="ctr"/>
          <a:lstStyle>
            <a:lvl1pPr marL="0" indent="0">
              <a:buNone/>
              <a:defRPr sz="2200">
                <a:solidFill>
                  <a:schemeClr val="bg1"/>
                </a:solidFill>
              </a:defRPr>
            </a:lvl1pPr>
            <a:lvl2pPr>
              <a:buClr>
                <a:schemeClr val="bg1"/>
              </a:buClr>
              <a:defRPr sz="2000">
                <a:solidFill>
                  <a:schemeClr val="bg1"/>
                </a:solidFill>
              </a:defRPr>
            </a:lvl2pPr>
            <a:lvl3pPr>
              <a:buClr>
                <a:schemeClr val="bg1"/>
              </a:buClr>
              <a:defRPr sz="1800">
                <a:solidFill>
                  <a:schemeClr val="bg1"/>
                </a:solidFill>
              </a:defRPr>
            </a:lvl3pPr>
            <a:lvl4pPr>
              <a:buClr>
                <a:schemeClr val="bg1"/>
              </a:buClr>
              <a:defRPr sz="16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defRPr sz="2600" b="1"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192013397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Takeaway (right)">
    <p:spTree>
      <p:nvGrpSpPr>
        <p:cNvPr id="1" name=""/>
        <p:cNvGrpSpPr/>
        <p:nvPr/>
      </p:nvGrpSpPr>
      <p:grpSpPr>
        <a:xfrm>
          <a:off x="0" y="0"/>
          <a:ext cx="0" cy="0"/>
          <a:chOff x="0" y="0"/>
          <a:chExt cx="0" cy="0"/>
        </a:xfrm>
      </p:grpSpPr>
      <p:sp>
        <p:nvSpPr>
          <p:cNvPr id="7" name="Rectangle 6"/>
          <p:cNvSpPr/>
          <p:nvPr userDrawn="1"/>
        </p:nvSpPr>
        <p:spPr>
          <a:xfrm>
            <a:off x="0" y="1007707"/>
            <a:ext cx="6053327" cy="34490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6053327" y="1005840"/>
            <a:ext cx="3099816" cy="3453427"/>
          </a:xfrm>
          <a:solidFill>
            <a:schemeClr val="accent1"/>
          </a:solidFill>
        </p:spPr>
        <p:txBody>
          <a:bodyPr lIns="182880" tIns="91440" rIns="274320" bIns="91440" anchor="ctr" anchorCtr="0"/>
          <a:lstStyle>
            <a:lvl1pPr marL="0" indent="0" algn="l">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5689600"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411750452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keaway (bottom)">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8416925" cy="242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54976847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and Takeaway">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8" name="Content Placeholder 3"/>
          <p:cNvSpPr>
            <a:spLocks noGrp="1"/>
          </p:cNvSpPr>
          <p:nvPr>
            <p:ph sz="quarter" idx="10"/>
          </p:nvPr>
        </p:nvSpPr>
        <p:spPr>
          <a:xfrm>
            <a:off x="363538" y="1554481"/>
            <a:ext cx="8416925" cy="2203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
        <p:nvSpPr>
          <p:cNvPr id="4" name="Text Placeholder 3"/>
          <p:cNvSpPr>
            <a:spLocks noGrp="1"/>
          </p:cNvSpPr>
          <p:nvPr>
            <p:ph type="body" sz="quarter" idx="15"/>
          </p:nvPr>
        </p:nvSpPr>
        <p:spPr>
          <a:xfrm>
            <a:off x="363538" y="1146175"/>
            <a:ext cx="8234362"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3139560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keaway (left)">
    <p:spTree>
      <p:nvGrpSpPr>
        <p:cNvPr id="1" name=""/>
        <p:cNvGrpSpPr/>
        <p:nvPr/>
      </p:nvGrpSpPr>
      <p:grpSpPr>
        <a:xfrm>
          <a:off x="0" y="0"/>
          <a:ext cx="0" cy="0"/>
          <a:chOff x="0" y="0"/>
          <a:chExt cx="0" cy="0"/>
        </a:xfrm>
      </p:grpSpPr>
      <p:sp>
        <p:nvSpPr>
          <p:cNvPr id="7" name="Rectangle 6"/>
          <p:cNvSpPr/>
          <p:nvPr userDrawn="1"/>
        </p:nvSpPr>
        <p:spPr>
          <a:xfrm>
            <a:off x="2589068" y="1007708"/>
            <a:ext cx="6554932"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1" name="Text Placeholder 10"/>
          <p:cNvSpPr>
            <a:spLocks noGrp="1"/>
          </p:cNvSpPr>
          <p:nvPr>
            <p:ph type="body" sz="quarter" idx="16"/>
          </p:nvPr>
        </p:nvSpPr>
        <p:spPr>
          <a:xfrm>
            <a:off x="0" y="1007708"/>
            <a:ext cx="2556164" cy="3451560"/>
          </a:xfrm>
          <a:solidFill>
            <a:schemeClr val="accent1"/>
          </a:solidFill>
        </p:spPr>
        <p:txBody>
          <a:bodyPr lIns="274320" tIns="137160" rIns="91440" bIns="182880" anchor="ctr"/>
          <a:lstStyle>
            <a:lvl1pPr marL="0" indent="0" algn="l">
              <a:buClr>
                <a:schemeClr val="bg1"/>
              </a:buClr>
              <a:buNone/>
              <a:defRPr sz="2000">
                <a:solidFill>
                  <a:schemeClr val="bg1"/>
                </a:solidFill>
              </a:defRPr>
            </a:lvl1pPr>
            <a:lvl2pPr marL="169863" indent="0" algn="ctr">
              <a:buClr>
                <a:schemeClr val="bg1"/>
              </a:buClr>
              <a:buNone/>
              <a:defRPr>
                <a:solidFill>
                  <a:schemeClr val="bg1"/>
                </a:solidFill>
              </a:defRPr>
            </a:lvl2pPr>
            <a:lvl3pPr marL="344487" indent="0" algn="ctr">
              <a:buClr>
                <a:schemeClr val="bg1"/>
              </a:buClr>
              <a:buNone/>
              <a:defRPr>
                <a:solidFill>
                  <a:schemeClr val="bg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p:txBody>
      </p:sp>
      <p:sp>
        <p:nvSpPr>
          <p:cNvPr id="4" name="Content Placeholder 3"/>
          <p:cNvSpPr>
            <a:spLocks noGrp="1"/>
          </p:cNvSpPr>
          <p:nvPr>
            <p:ph sz="quarter" idx="17"/>
          </p:nvPr>
        </p:nvSpPr>
        <p:spPr>
          <a:xfrm>
            <a:off x="2699359" y="1554480"/>
            <a:ext cx="6081104" cy="292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
        <p:nvSpPr>
          <p:cNvPr id="5" name="Text Placeholder 4"/>
          <p:cNvSpPr>
            <a:spLocks noGrp="1"/>
          </p:cNvSpPr>
          <p:nvPr>
            <p:ph type="body" sz="quarter" idx="18"/>
          </p:nvPr>
        </p:nvSpPr>
        <p:spPr>
          <a:xfrm>
            <a:off x="2699359" y="1146175"/>
            <a:ext cx="6001729"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pic>
        <p:nvPicPr>
          <p:cNvPr id="8" name="Picture 7">
            <a:extLst>
              <a:ext uri="{FF2B5EF4-FFF2-40B4-BE49-F238E27FC236}">
                <a16:creationId xmlns:a16="http://schemas.microsoft.com/office/drawing/2014/main" id="{3DB22EA7-1E14-42EF-8704-6F4F3DBDF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428928314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Picture Placeholder 13"/>
          <p:cNvSpPr>
            <a:spLocks noGrp="1"/>
          </p:cNvSpPr>
          <p:nvPr>
            <p:ph type="pic" sz="quarter" idx="16"/>
          </p:nvPr>
        </p:nvSpPr>
        <p:spPr>
          <a:xfrm>
            <a:off x="4613564" y="1007706"/>
            <a:ext cx="2244436" cy="3451561"/>
          </a:xfrm>
        </p:spPr>
        <p:txBody>
          <a:bodyPr/>
          <a:lstStyle/>
          <a:p>
            <a:r>
              <a:rPr lang="en-US" dirty="0"/>
              <a:t>Click icon to add picture</a:t>
            </a:r>
          </a:p>
        </p:txBody>
      </p:sp>
      <p:sp>
        <p:nvSpPr>
          <p:cNvPr id="6" name="Picture Placeholder 5"/>
          <p:cNvSpPr>
            <a:spLocks noGrp="1"/>
          </p:cNvSpPr>
          <p:nvPr>
            <p:ph type="pic" sz="quarter" idx="12"/>
          </p:nvPr>
        </p:nvSpPr>
        <p:spPr>
          <a:xfrm>
            <a:off x="0" y="2833068"/>
            <a:ext cx="2265218" cy="1626199"/>
          </a:xfrm>
        </p:spPr>
        <p:txBody>
          <a:bodyPr/>
          <a:lstStyle/>
          <a:p>
            <a:r>
              <a:rPr lang="en-US" dirty="0"/>
              <a:t>Click icon to add picture</a:t>
            </a:r>
          </a:p>
        </p:txBody>
      </p:sp>
      <p:sp>
        <p:nvSpPr>
          <p:cNvPr id="8" name="Picture Placeholder 7"/>
          <p:cNvSpPr>
            <a:spLocks noGrp="1"/>
          </p:cNvSpPr>
          <p:nvPr>
            <p:ph type="pic" sz="quarter" idx="13"/>
          </p:nvPr>
        </p:nvSpPr>
        <p:spPr>
          <a:xfrm>
            <a:off x="0" y="1007706"/>
            <a:ext cx="4572000" cy="1784480"/>
          </a:xfrm>
        </p:spPr>
        <p:txBody>
          <a:bodyPr/>
          <a:lstStyle/>
          <a:p>
            <a:r>
              <a:rPr lang="en-US" dirty="0"/>
              <a:t>Click icon to add picture</a:t>
            </a:r>
          </a:p>
        </p:txBody>
      </p:sp>
      <p:sp>
        <p:nvSpPr>
          <p:cNvPr id="10" name="Picture Placeholder 9"/>
          <p:cNvSpPr>
            <a:spLocks noGrp="1"/>
          </p:cNvSpPr>
          <p:nvPr>
            <p:ph type="pic" sz="quarter" idx="14"/>
          </p:nvPr>
        </p:nvSpPr>
        <p:spPr>
          <a:xfrm>
            <a:off x="6891543" y="2833068"/>
            <a:ext cx="2244436" cy="1626199"/>
          </a:xfrm>
        </p:spPr>
        <p:txBody>
          <a:bodyPr/>
          <a:lstStyle/>
          <a:p>
            <a:r>
              <a:rPr lang="en-US" dirty="0"/>
              <a:t>Click icon to add picture</a:t>
            </a:r>
          </a:p>
        </p:txBody>
      </p:sp>
      <p:sp>
        <p:nvSpPr>
          <p:cNvPr id="12" name="Picture Placeholder 11"/>
          <p:cNvSpPr>
            <a:spLocks noGrp="1"/>
          </p:cNvSpPr>
          <p:nvPr>
            <p:ph type="pic" sz="quarter" idx="15"/>
          </p:nvPr>
        </p:nvSpPr>
        <p:spPr>
          <a:xfrm>
            <a:off x="6889720" y="1007706"/>
            <a:ext cx="2244436" cy="1784480"/>
          </a:xfrm>
        </p:spPr>
        <p:txBody>
          <a:bodyPr/>
          <a:lstStyle/>
          <a:p>
            <a:r>
              <a:rPr lang="en-US" dirty="0"/>
              <a:t>Click icon to add picture</a:t>
            </a:r>
          </a:p>
        </p:txBody>
      </p:sp>
      <p:sp>
        <p:nvSpPr>
          <p:cNvPr id="16" name="Picture Placeholder 15"/>
          <p:cNvSpPr>
            <a:spLocks noGrp="1"/>
          </p:cNvSpPr>
          <p:nvPr>
            <p:ph type="pic" sz="quarter" idx="17"/>
          </p:nvPr>
        </p:nvSpPr>
        <p:spPr>
          <a:xfrm>
            <a:off x="2306782" y="2833068"/>
            <a:ext cx="2265218" cy="1626199"/>
          </a:xfrm>
        </p:spPr>
        <p:txBody>
          <a:bodyPr/>
          <a:lstStyle/>
          <a:p>
            <a:r>
              <a:rPr lang="en-US" dirty="0"/>
              <a:t>Click icon to add picture</a:t>
            </a:r>
          </a:p>
        </p:txBody>
      </p:sp>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pic>
        <p:nvPicPr>
          <p:cNvPr id="9" name="Picture 8">
            <a:extLst>
              <a:ext uri="{FF2B5EF4-FFF2-40B4-BE49-F238E27FC236}">
                <a16:creationId xmlns:a16="http://schemas.microsoft.com/office/drawing/2014/main" id="{CDE8804A-4E4B-493C-AA10-B77E1ED68D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18716511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Photo">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1007707"/>
            <a:ext cx="9144000" cy="3451560"/>
          </a:xfrm>
        </p:spPr>
        <p:txBody>
          <a:bodyPr lIns="0" tIns="0" rIns="0" bIns="0"/>
          <a:lstStyle/>
          <a:p>
            <a:r>
              <a:rPr lang="en-US" dirty="0"/>
              <a:t>Click icon to add picture</a:t>
            </a: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pic>
        <p:nvPicPr>
          <p:cNvPr id="4" name="Picture 3">
            <a:extLst>
              <a:ext uri="{FF2B5EF4-FFF2-40B4-BE49-F238E27FC236}">
                <a16:creationId xmlns:a16="http://schemas.microsoft.com/office/drawing/2014/main" id="{A76DC819-1B33-4DFD-9B65-9307CBF5A5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5712576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Photo w/Label">
    <p:spTree>
      <p:nvGrpSpPr>
        <p:cNvPr id="1" name=""/>
        <p:cNvGrpSpPr/>
        <p:nvPr/>
      </p:nvGrpSpPr>
      <p:grpSpPr>
        <a:xfrm>
          <a:off x="0" y="0"/>
          <a:ext cx="0" cy="0"/>
          <a:chOff x="0" y="0"/>
          <a:chExt cx="0" cy="0"/>
        </a:xfrm>
      </p:grpSpPr>
      <p:sp>
        <p:nvSpPr>
          <p:cNvPr id="7" name="Rectangle 6"/>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1739034" y="1117322"/>
            <a:ext cx="2763982" cy="2561253"/>
          </a:xfrm>
        </p:spPr>
        <p:txBody>
          <a:bodyPr/>
          <a:lstStyle/>
          <a:p>
            <a:r>
              <a:rPr lang="en-US" dirty="0"/>
              <a:t>Click icon to add picture</a:t>
            </a:r>
          </a:p>
        </p:txBody>
      </p:sp>
      <p:sp>
        <p:nvSpPr>
          <p:cNvPr id="11" name="Picture Placeholder 10"/>
          <p:cNvSpPr>
            <a:spLocks noGrp="1"/>
          </p:cNvSpPr>
          <p:nvPr>
            <p:ph type="pic" sz="quarter" idx="15"/>
          </p:nvPr>
        </p:nvSpPr>
        <p:spPr>
          <a:xfrm>
            <a:off x="4655127" y="1117322"/>
            <a:ext cx="2763982" cy="2561253"/>
          </a:xfrm>
        </p:spPr>
        <p:txBody>
          <a:bodyPr/>
          <a:lstStyle/>
          <a:p>
            <a:r>
              <a:rPr lang="en-US" dirty="0"/>
              <a:t>Click icon to add picture</a:t>
            </a:r>
          </a:p>
        </p:txBody>
      </p:sp>
      <p:sp>
        <p:nvSpPr>
          <p:cNvPr id="13" name="Text Placeholder 12"/>
          <p:cNvSpPr>
            <a:spLocks noGrp="1"/>
          </p:cNvSpPr>
          <p:nvPr>
            <p:ph type="body" sz="quarter" idx="16"/>
          </p:nvPr>
        </p:nvSpPr>
        <p:spPr>
          <a:xfrm>
            <a:off x="1739034" y="3678575"/>
            <a:ext cx="2763693" cy="671804"/>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14" name="Text Placeholder 12"/>
          <p:cNvSpPr>
            <a:spLocks noGrp="1"/>
          </p:cNvSpPr>
          <p:nvPr>
            <p:ph type="body" sz="quarter" idx="17"/>
          </p:nvPr>
        </p:nvSpPr>
        <p:spPr>
          <a:xfrm>
            <a:off x="4655416" y="3678575"/>
            <a:ext cx="2763693" cy="671804"/>
          </a:xfrm>
          <a:solidFill>
            <a:schemeClr val="accent1"/>
          </a:solidFill>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658B7936-045E-4D0C-9DB6-BCA595AE1D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5575662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Photos and Takeawa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1007707"/>
            <a:ext cx="3034145" cy="3451560"/>
          </a:xfrm>
        </p:spPr>
        <p:txBody>
          <a:bodyPr/>
          <a:lstStyle/>
          <a:p>
            <a:r>
              <a:rPr lang="en-US" dirty="0"/>
              <a:t>Click icon to add picture</a:t>
            </a:r>
          </a:p>
        </p:txBody>
      </p:sp>
      <p:sp>
        <p:nvSpPr>
          <p:cNvPr id="12" name="Picture Placeholder 7"/>
          <p:cNvSpPr>
            <a:spLocks noGrp="1"/>
          </p:cNvSpPr>
          <p:nvPr>
            <p:ph type="pic" sz="quarter" idx="15"/>
          </p:nvPr>
        </p:nvSpPr>
        <p:spPr>
          <a:xfrm>
            <a:off x="6109855" y="1007707"/>
            <a:ext cx="3034145" cy="3451560"/>
          </a:xfrm>
        </p:spPr>
        <p:txBody>
          <a:bodyPr/>
          <a:lstStyle/>
          <a:p>
            <a:r>
              <a:rPr lang="en-US" dirty="0"/>
              <a:t>Click icon to add picture</a:t>
            </a:r>
          </a:p>
        </p:txBody>
      </p:sp>
      <p:sp>
        <p:nvSpPr>
          <p:cNvPr id="9" name="Text Placeholder 8"/>
          <p:cNvSpPr>
            <a:spLocks noGrp="1"/>
          </p:cNvSpPr>
          <p:nvPr>
            <p:ph type="body" sz="quarter" idx="16"/>
          </p:nvPr>
        </p:nvSpPr>
        <p:spPr>
          <a:xfrm>
            <a:off x="3063240" y="1005840"/>
            <a:ext cx="3017520" cy="3453373"/>
          </a:xfrm>
          <a:solidFill>
            <a:schemeClr val="accent1"/>
          </a:solidFill>
        </p:spPr>
        <p:txBody>
          <a:bodyPr lIns="182880" tIns="182880" rIns="182880" bIns="182880" anchor="ctr" anchorCtr="0"/>
          <a:lstStyle>
            <a:lvl1pPr marL="0" indent="0" algn="l">
              <a:spcBef>
                <a:spcPts val="545"/>
              </a:spcBef>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6" name="Picture 5">
            <a:extLst>
              <a:ext uri="{FF2B5EF4-FFF2-40B4-BE49-F238E27FC236}">
                <a16:creationId xmlns:a16="http://schemas.microsoft.com/office/drawing/2014/main" id="{58E8909D-860F-4071-A10F-DD33A4CD0E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26052203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and Content (right)">
    <p:spTree>
      <p:nvGrpSpPr>
        <p:cNvPr id="1" name=""/>
        <p:cNvGrpSpPr/>
        <p:nvPr/>
      </p:nvGrpSpPr>
      <p:grpSpPr>
        <a:xfrm>
          <a:off x="0" y="0"/>
          <a:ext cx="0" cy="0"/>
          <a:chOff x="0" y="0"/>
          <a:chExt cx="0" cy="0"/>
        </a:xfrm>
      </p:grpSpPr>
      <p:sp>
        <p:nvSpPr>
          <p:cNvPr id="7" name="Rectangle 6"/>
          <p:cNvSpPr/>
          <p:nvPr userDrawn="1"/>
        </p:nvSpPr>
        <p:spPr>
          <a:xfrm>
            <a:off x="1" y="1007707"/>
            <a:ext cx="600445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6048299" y="1007415"/>
            <a:ext cx="3096491" cy="2863127"/>
          </a:xfrm>
        </p:spPr>
        <p:txBody>
          <a:bodyPr/>
          <a:lstStyle/>
          <a:p>
            <a:r>
              <a:rPr lang="en-US" dirty="0"/>
              <a:t>Click icon to add picture</a:t>
            </a:r>
          </a:p>
        </p:txBody>
      </p:sp>
      <p:sp>
        <p:nvSpPr>
          <p:cNvPr id="10" name="Text Placeholder 12"/>
          <p:cNvSpPr>
            <a:spLocks noGrp="1"/>
          </p:cNvSpPr>
          <p:nvPr>
            <p:ph type="body" sz="quarter" idx="16"/>
          </p:nvPr>
        </p:nvSpPr>
        <p:spPr>
          <a:xfrm>
            <a:off x="6048299" y="3870542"/>
            <a:ext cx="3096096" cy="582461"/>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63538" y="1280160"/>
            <a:ext cx="5640921" cy="3172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497CD10A-BB7E-4CB2-BF75-3F5382449F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63015733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and Content (left)">
    <p:spTree>
      <p:nvGrpSpPr>
        <p:cNvPr id="1" name=""/>
        <p:cNvGrpSpPr/>
        <p:nvPr/>
      </p:nvGrpSpPr>
      <p:grpSpPr>
        <a:xfrm>
          <a:off x="0" y="0"/>
          <a:ext cx="0" cy="0"/>
          <a:chOff x="0" y="0"/>
          <a:chExt cx="0" cy="0"/>
        </a:xfrm>
      </p:grpSpPr>
      <p:sp>
        <p:nvSpPr>
          <p:cNvPr id="7" name="Rectangle 6"/>
          <p:cNvSpPr/>
          <p:nvPr userDrawn="1"/>
        </p:nvSpPr>
        <p:spPr>
          <a:xfrm>
            <a:off x="3140023" y="1007707"/>
            <a:ext cx="600397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45"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310" y="1007415"/>
            <a:ext cx="3096491" cy="2866085"/>
          </a:xfrm>
        </p:spPr>
        <p:txBody>
          <a:bodyPr/>
          <a:lstStyle/>
          <a:p>
            <a:r>
              <a:rPr lang="en-US" dirty="0"/>
              <a:t>Click icon to add picture</a:t>
            </a:r>
          </a:p>
        </p:txBody>
      </p:sp>
      <p:sp>
        <p:nvSpPr>
          <p:cNvPr id="10" name="Text Placeholder 12"/>
          <p:cNvSpPr>
            <a:spLocks noGrp="1"/>
          </p:cNvSpPr>
          <p:nvPr>
            <p:ph type="body" sz="quarter" idx="16"/>
          </p:nvPr>
        </p:nvSpPr>
        <p:spPr>
          <a:xfrm>
            <a:off x="-310" y="3873500"/>
            <a:ext cx="3096096" cy="585767"/>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225451" y="1280160"/>
            <a:ext cx="5555011" cy="3222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027D2DA1-5E77-480E-8E79-0A03912F9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63705124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pic>
        <p:nvPicPr>
          <p:cNvPr id="3" name="Picture 2">
            <a:extLst>
              <a:ext uri="{FF2B5EF4-FFF2-40B4-BE49-F238E27FC236}">
                <a16:creationId xmlns:a16="http://schemas.microsoft.com/office/drawing/2014/main" id="{A1B24C64-5894-4CCF-977F-1551F292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38160434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AAE85D-D78D-4D66-839B-1F6B7BF324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09704874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efault Slide" type="title">
  <p:cSld name="Default Slide">
    <p:spTree>
      <p:nvGrpSpPr>
        <p:cNvPr id="1" name="Shape 14"/>
        <p:cNvGrpSpPr/>
        <p:nvPr/>
      </p:nvGrpSpPr>
      <p:grpSpPr>
        <a:xfrm>
          <a:off x="0" y="0"/>
          <a:ext cx="0" cy="0"/>
          <a:chOff x="0" y="0"/>
          <a:chExt cx="0" cy="0"/>
        </a:xfrm>
      </p:grpSpPr>
      <p:sp>
        <p:nvSpPr>
          <p:cNvPr id="15" name="Google Shape;15;p3"/>
          <p:cNvSpPr txBox="1">
            <a:spLocks noGrp="1"/>
          </p:cNvSpPr>
          <p:nvPr>
            <p:ph type="body" idx="1"/>
          </p:nvPr>
        </p:nvSpPr>
        <p:spPr>
          <a:xfrm>
            <a:off x="628650" y="685101"/>
            <a:ext cx="7886700" cy="183887"/>
          </a:xfrm>
          <a:prstGeom prst="rect">
            <a:avLst/>
          </a:prstGeom>
          <a:noFill/>
          <a:ln>
            <a:noFill/>
          </a:ln>
        </p:spPr>
        <p:txBody>
          <a:bodyPr spcFirstLastPara="1" wrap="square" lIns="0" tIns="0" rIns="0" bIns="0" anchor="ctr" anchorCtr="0"/>
          <a:lstStyle>
            <a:lvl1pPr marL="171450" marR="0" lvl="0" indent="-85725" algn="ctr" rtl="0">
              <a:lnSpc>
                <a:spcPct val="100000"/>
              </a:lnSpc>
              <a:spcBef>
                <a:spcPts val="0"/>
              </a:spcBef>
              <a:spcAft>
                <a:spcPts val="0"/>
              </a:spcAft>
              <a:buClr>
                <a:srgbClr val="050A19"/>
              </a:buClr>
              <a:buSzPts val="2800"/>
              <a:buFont typeface="Helvetica Neue"/>
              <a:buNone/>
              <a:defRPr sz="1100" b="0" i="0" u="none" strike="noStrike" cap="none">
                <a:solidFill>
                  <a:srgbClr val="050A19"/>
                </a:solidFill>
                <a:latin typeface="Helvetica Neue"/>
                <a:ea typeface="Helvetica Neue"/>
                <a:cs typeface="Helvetica Neue"/>
                <a:sym typeface="Helvetica Neue"/>
              </a:defRPr>
            </a:lvl1pPr>
            <a:lvl2pPr marL="342900" marR="0" lvl="1"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2pPr>
            <a:lvl3pPr marL="514350" marR="0" lvl="2"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3pPr>
            <a:lvl4pPr marL="685800" marR="0" lvl="3"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4pPr>
            <a:lvl5pPr marL="857250" marR="0" lvl="4"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5pPr>
            <a:lvl6pPr marL="1028700" marR="0" lvl="5"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6pPr>
            <a:lvl7pPr marL="1200150" marR="0" lvl="6"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7pPr>
            <a:lvl8pPr marL="1371600" marR="0" lvl="7"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8pPr>
            <a:lvl9pPr marL="1543050" marR="0" lvl="8" indent="-85725" algn="ctr" rtl="0">
              <a:lnSpc>
                <a:spcPct val="100000"/>
              </a:lnSpc>
              <a:spcBef>
                <a:spcPts val="0"/>
              </a:spcBef>
              <a:spcAft>
                <a:spcPts val="0"/>
              </a:spcAft>
              <a:buClr>
                <a:srgbClr val="000000"/>
              </a:buClr>
              <a:buSzPts val="5400"/>
              <a:buFont typeface="Helvetica Neue"/>
              <a:buNone/>
              <a:defRPr sz="2000" b="0" i="0" u="none" strike="noStrike" cap="none">
                <a:solidFill>
                  <a:srgbClr val="000000"/>
                </a:solidFill>
                <a:latin typeface="Helvetica Neue"/>
                <a:ea typeface="Helvetica Neue"/>
                <a:cs typeface="Helvetica Neue"/>
                <a:sym typeface="Helvetica Neue"/>
              </a:defRPr>
            </a:lvl9pPr>
          </a:lstStyle>
          <a:p>
            <a:endParaRPr/>
          </a:p>
        </p:txBody>
      </p:sp>
      <p:sp>
        <p:nvSpPr>
          <p:cNvPr id="16" name="Google Shape;16;p3"/>
          <p:cNvSpPr txBox="1">
            <a:spLocks noGrp="1"/>
          </p:cNvSpPr>
          <p:nvPr>
            <p:ph type="title"/>
          </p:nvPr>
        </p:nvSpPr>
        <p:spPr>
          <a:xfrm>
            <a:off x="625773" y="188069"/>
            <a:ext cx="7892455" cy="469359"/>
          </a:xfrm>
          <a:prstGeom prst="rect">
            <a:avLst/>
          </a:prstGeom>
          <a:noFill/>
          <a:ln>
            <a:noFill/>
          </a:ln>
        </p:spPr>
        <p:txBody>
          <a:bodyPr spcFirstLastPara="1" wrap="square" lIns="19050" tIns="19050" rIns="19050" bIns="19050" anchor="t" anchorCtr="0"/>
          <a:lstStyle>
            <a:lvl1pPr marR="0" lvl="0"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50A19"/>
              </a:buClr>
              <a:buSzPts val="7400"/>
              <a:buFont typeface="Helvetica Neue"/>
              <a:buNone/>
              <a:defRPr sz="2800" b="0" i="0" u="none" strike="noStrike" cap="none">
                <a:solidFill>
                  <a:srgbClr val="050A19"/>
                </a:solidFill>
                <a:latin typeface="Helvetica Neue"/>
                <a:ea typeface="Helvetica Neue"/>
                <a:cs typeface="Helvetica Neue"/>
                <a:sym typeface="Helvetica Neue"/>
              </a:defRPr>
            </a:lvl9pPr>
          </a:lstStyle>
          <a:p>
            <a:endParaRPr/>
          </a:p>
        </p:txBody>
      </p:sp>
      <p:sp>
        <p:nvSpPr>
          <p:cNvPr id="17" name="Google Shape;17;p3"/>
          <p:cNvSpPr txBox="1">
            <a:spLocks noGrp="1"/>
          </p:cNvSpPr>
          <p:nvPr>
            <p:ph type="sldNum" idx="12"/>
          </p:nvPr>
        </p:nvSpPr>
        <p:spPr>
          <a:xfrm>
            <a:off x="8304679" y="4720893"/>
            <a:ext cx="159404" cy="161925"/>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FFFFFF"/>
              </a:buClr>
              <a:buSzPts val="2200"/>
              <a:buFont typeface="Helvetica Neue"/>
              <a:buNone/>
              <a:defRPr sz="800" b="0" i="0" u="none" strike="noStrike" cap="none">
                <a:solidFill>
                  <a:srgbClr val="FFFFFF"/>
                </a:solidFill>
                <a:latin typeface="Helvetica Neue"/>
                <a:ea typeface="Helvetica Neue"/>
                <a:cs typeface="Helvetica Neue"/>
                <a:sym typeface="Helvetica Neue"/>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68985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0EA9-9BE8-504C-833B-74D03FD8E7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C37A66-719C-BD4A-AEF1-F84E881C785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47CA39-51C3-0D46-B553-ECDEC50CCD77}"/>
              </a:ext>
            </a:extLst>
          </p:cNvPr>
          <p:cNvSpPr>
            <a:spLocks noGrp="1"/>
          </p:cNvSpPr>
          <p:nvPr>
            <p:ph type="dt" sz="half" idx="10"/>
          </p:nvPr>
        </p:nvSpPr>
        <p:spPr>
          <a:xfrm>
            <a:off x="628650" y="4767263"/>
            <a:ext cx="2057400" cy="273844"/>
          </a:xfrm>
          <a:prstGeom prst="rect">
            <a:avLst/>
          </a:prstGeom>
        </p:spPr>
        <p:txBody>
          <a:bodyPr/>
          <a:lstStyle/>
          <a:p>
            <a:fld id="{BB0BAB4B-6426-1941-96B2-1DD8DA3791DB}" type="datetimeFigureOut">
              <a:rPr lang="en-US" smtClean="0"/>
              <a:t>8/15/22</a:t>
            </a:fld>
            <a:endParaRPr lang="en-US"/>
          </a:p>
        </p:txBody>
      </p:sp>
      <p:sp>
        <p:nvSpPr>
          <p:cNvPr id="5" name="Footer Placeholder 4">
            <a:extLst>
              <a:ext uri="{FF2B5EF4-FFF2-40B4-BE49-F238E27FC236}">
                <a16:creationId xmlns:a16="http://schemas.microsoft.com/office/drawing/2014/main" id="{562E6239-D0B2-EB42-97EA-9EF5AB2417B5}"/>
              </a:ext>
            </a:extLst>
          </p:cNvPr>
          <p:cNvSpPr>
            <a:spLocks noGrp="1"/>
          </p:cNvSpPr>
          <p:nvPr>
            <p:ph type="ftr" sz="quarter" idx="11"/>
          </p:nvPr>
        </p:nvSpPr>
        <p:spPr>
          <a:xfrm>
            <a:off x="3028950" y="4767263"/>
            <a:ext cx="3086100" cy="273844"/>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E3FF4E6-D094-4249-BB5F-4BC334C6D753}"/>
              </a:ext>
            </a:extLst>
          </p:cNvPr>
          <p:cNvSpPr>
            <a:spLocks noGrp="1"/>
          </p:cNvSpPr>
          <p:nvPr>
            <p:ph type="sldNum" sz="quarter" idx="12"/>
          </p:nvPr>
        </p:nvSpPr>
        <p:spPr>
          <a:xfrm>
            <a:off x="6457950" y="4767263"/>
            <a:ext cx="2057400" cy="273844"/>
          </a:xfrm>
          <a:prstGeom prst="rect">
            <a:avLst/>
          </a:prstGeom>
        </p:spPr>
        <p:txBody>
          <a:bodyPr/>
          <a:lstStyle/>
          <a:p>
            <a:fld id="{9FC2003A-D1E0-1F41-A1E9-4F4D10FFEC33}" type="slidenum">
              <a:rPr lang="en-US" smtClean="0"/>
              <a:t>‹#›</a:t>
            </a:fld>
            <a:endParaRPr lang="en-US"/>
          </a:p>
        </p:txBody>
      </p:sp>
    </p:spTree>
    <p:extLst>
      <p:ext uri="{BB962C8B-B14F-4D97-AF65-F5344CB8AC3E}">
        <p14:creationId xmlns:p14="http://schemas.microsoft.com/office/powerpoint/2010/main" val="100151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pic>
        <p:nvPicPr>
          <p:cNvPr id="3" name="Picture 2">
            <a:extLst>
              <a:ext uri="{FF2B5EF4-FFF2-40B4-BE49-F238E27FC236}">
                <a16:creationId xmlns:a16="http://schemas.microsoft.com/office/drawing/2014/main" id="{A1B24C64-5894-4CCF-977F-1551F292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53229113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 White">
  <p:cSld name="2_Title Only - White">
    <p:spTree>
      <p:nvGrpSpPr>
        <p:cNvPr id="1" name="Shape 18"/>
        <p:cNvGrpSpPr/>
        <p:nvPr/>
      </p:nvGrpSpPr>
      <p:grpSpPr>
        <a:xfrm>
          <a:off x="0" y="0"/>
          <a:ext cx="0" cy="0"/>
          <a:chOff x="0" y="0"/>
          <a:chExt cx="0" cy="0"/>
        </a:xfrm>
      </p:grpSpPr>
      <p:sp>
        <p:nvSpPr>
          <p:cNvPr id="19" name="Shape 19"/>
          <p:cNvSpPr txBox="1">
            <a:spLocks noGrp="1"/>
          </p:cNvSpPr>
          <p:nvPr>
            <p:ph type="title"/>
          </p:nvPr>
        </p:nvSpPr>
        <p:spPr>
          <a:xfrm>
            <a:off x="363538" y="497897"/>
            <a:ext cx="8416925" cy="434711"/>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Clr>
                <a:schemeClr val="accent1"/>
              </a:buClr>
              <a:buSzPts val="6933"/>
              <a:buFont typeface="Calibri"/>
              <a:buNone/>
              <a:defRPr sz="2600" b="1" i="0" u="none" strike="noStrike" cap="none">
                <a:solidFill>
                  <a:schemeClr val="accent1"/>
                </a:solidFill>
                <a:latin typeface="Calibri"/>
                <a:ea typeface="Calibri"/>
                <a:cs typeface="Calibri"/>
                <a:sym typeface="Calibri"/>
              </a:defRPr>
            </a:lvl1pPr>
            <a:lvl2pPr lvl="1">
              <a:spcBef>
                <a:spcPts val="0"/>
              </a:spcBef>
              <a:spcAft>
                <a:spcPts val="0"/>
              </a:spcAft>
              <a:buSzPts val="1400"/>
              <a:buNone/>
              <a:defRPr sz="675"/>
            </a:lvl2pPr>
            <a:lvl3pPr lvl="2">
              <a:spcBef>
                <a:spcPts val="0"/>
              </a:spcBef>
              <a:spcAft>
                <a:spcPts val="0"/>
              </a:spcAft>
              <a:buSzPts val="1400"/>
              <a:buNone/>
              <a:defRPr sz="675"/>
            </a:lvl3pPr>
            <a:lvl4pPr lvl="3">
              <a:spcBef>
                <a:spcPts val="0"/>
              </a:spcBef>
              <a:spcAft>
                <a:spcPts val="0"/>
              </a:spcAft>
              <a:buSzPts val="1400"/>
              <a:buNone/>
              <a:defRPr sz="675"/>
            </a:lvl4pPr>
            <a:lvl5pPr lvl="4">
              <a:spcBef>
                <a:spcPts val="0"/>
              </a:spcBef>
              <a:spcAft>
                <a:spcPts val="0"/>
              </a:spcAft>
              <a:buSzPts val="1400"/>
              <a:buNone/>
              <a:defRPr sz="675"/>
            </a:lvl5pPr>
            <a:lvl6pPr lvl="5">
              <a:spcBef>
                <a:spcPts val="0"/>
              </a:spcBef>
              <a:spcAft>
                <a:spcPts val="0"/>
              </a:spcAft>
              <a:buSzPts val="1400"/>
              <a:buNone/>
              <a:defRPr sz="675"/>
            </a:lvl6pPr>
            <a:lvl7pPr lvl="6">
              <a:spcBef>
                <a:spcPts val="0"/>
              </a:spcBef>
              <a:spcAft>
                <a:spcPts val="0"/>
              </a:spcAft>
              <a:buSzPts val="1400"/>
              <a:buNone/>
              <a:defRPr sz="675"/>
            </a:lvl7pPr>
            <a:lvl8pPr lvl="7">
              <a:spcBef>
                <a:spcPts val="0"/>
              </a:spcBef>
              <a:spcAft>
                <a:spcPts val="0"/>
              </a:spcAft>
              <a:buSzPts val="1400"/>
              <a:buNone/>
              <a:defRPr sz="675"/>
            </a:lvl8pPr>
            <a:lvl9pPr lvl="8">
              <a:spcBef>
                <a:spcPts val="0"/>
              </a:spcBef>
              <a:spcAft>
                <a:spcPts val="0"/>
              </a:spcAft>
              <a:buSzPts val="1400"/>
              <a:buNone/>
              <a:defRPr sz="675"/>
            </a:lvl9pPr>
          </a:lstStyle>
          <a:p>
            <a:endParaRPr/>
          </a:p>
        </p:txBody>
      </p:sp>
      <p:pic>
        <p:nvPicPr>
          <p:cNvPr id="20" name="Shape 20"/>
          <p:cNvPicPr preferRelativeResize="0"/>
          <p:nvPr/>
        </p:nvPicPr>
        <p:blipFill rotWithShape="1">
          <a:blip r:embed="rId2">
            <a:alphaModFix/>
          </a:blip>
          <a:srcRect/>
          <a:stretch/>
        </p:blipFill>
        <p:spPr>
          <a:xfrm>
            <a:off x="212429" y="4666125"/>
            <a:ext cx="692743" cy="323439"/>
          </a:xfrm>
          <a:prstGeom prst="rect">
            <a:avLst/>
          </a:prstGeom>
          <a:noFill/>
          <a:ln>
            <a:noFill/>
          </a:ln>
        </p:spPr>
      </p:pic>
    </p:spTree>
    <p:extLst>
      <p:ext uri="{BB962C8B-B14F-4D97-AF65-F5344CB8AC3E}">
        <p14:creationId xmlns:p14="http://schemas.microsoft.com/office/powerpoint/2010/main" val="180296877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415926" y="4916092"/>
            <a:ext cx="346075" cy="107156"/>
          </a:xfrm>
          <a:prstGeom prst="rect">
            <a:avLst/>
          </a:prstGeom>
        </p:spPr>
        <p:txBody>
          <a:bodyPr/>
          <a:lstStyle/>
          <a:p>
            <a:fld id="{BB3EB412-ADD0-4785-835D-74F14F7EE1C4}" type="slidenum">
              <a:rPr lang="en-US" smtClean="0">
                <a:solidFill>
                  <a:srgbClr val="002776"/>
                </a:solidFill>
              </a:rPr>
              <a:pPr/>
              <a:t>‹#›</a:t>
            </a:fld>
            <a:endParaRPr lang="en-US" dirty="0">
              <a:solidFill>
                <a:srgbClr val="002776"/>
              </a:solidFill>
            </a:endParaRPr>
          </a:p>
        </p:txBody>
      </p:sp>
      <p:sp>
        <p:nvSpPr>
          <p:cNvPr id="5" name="Title Placeholder 1"/>
          <p:cNvSpPr>
            <a:spLocks noGrp="1"/>
          </p:cNvSpPr>
          <p:nvPr>
            <p:ph type="title"/>
            <p:custDataLst>
              <p:tags r:id="rId1"/>
            </p:custDataLst>
          </p:nvPr>
        </p:nvSpPr>
        <p:spPr bwMode="auto">
          <a:xfrm>
            <a:off x="396875" y="179069"/>
            <a:ext cx="8350250" cy="492443"/>
          </a:xfrm>
          <a:prstGeom prst="rect">
            <a:avLst/>
          </a:prstGeom>
          <a:noFill/>
          <a:ln w="9525">
            <a:noFill/>
            <a:miter lim="800000"/>
            <a:headEnd/>
            <a:tailEnd/>
          </a:ln>
        </p:spPr>
        <p:txBody>
          <a:bodyPr/>
          <a:lstStyle/>
          <a:p>
            <a:pPr lvl="0"/>
            <a:r>
              <a:rPr lang="en-US" noProof="0"/>
              <a:t>Click to edit Master title style</a:t>
            </a:r>
            <a:endParaRPr lang="en-US" noProof="0" dirty="0"/>
          </a:p>
        </p:txBody>
      </p:sp>
    </p:spTree>
    <p:extLst>
      <p:ext uri="{BB962C8B-B14F-4D97-AF65-F5344CB8AC3E}">
        <p14:creationId xmlns:p14="http://schemas.microsoft.com/office/powerpoint/2010/main" val="1505526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Placeholder 4"/>
          <p:cNvPicPr>
            <a:picLocks noChangeAspect="1"/>
          </p:cNvPicPr>
          <p:nvPr userDrawn="1"/>
        </p:nvPicPr>
        <p:blipFill>
          <a:blip r:embed="rId2" cstate="print">
            <a:extLst>
              <a:ext uri="{28A0092B-C50C-407E-A947-70E740481C1C}">
                <a14:useLocalDpi xmlns:a14="http://schemas.microsoft.com/office/drawing/2010/main" val="0"/>
              </a:ext>
            </a:extLst>
          </a:blip>
          <a:srcRect t="6250" b="6250"/>
          <a:stretch>
            <a:fillRect/>
          </a:stretch>
        </p:blipFill>
        <p:spPr>
          <a:xfrm>
            <a:off x="0" y="0"/>
            <a:ext cx="9144000" cy="4000500"/>
          </a:xfrm>
          <a:prstGeom prst="rect">
            <a:avLst/>
          </a:prstGeom>
        </p:spPr>
      </p:pic>
      <p:sp>
        <p:nvSpPr>
          <p:cNvPr id="7" name="Picture Placeholder 6"/>
          <p:cNvSpPr>
            <a:spLocks noGrp="1"/>
          </p:cNvSpPr>
          <p:nvPr>
            <p:ph type="pic" sz="quarter" idx="11"/>
          </p:nvPr>
        </p:nvSpPr>
        <p:spPr>
          <a:xfrm>
            <a:off x="0" y="0"/>
            <a:ext cx="9144000" cy="4000500"/>
          </a:xfrm>
          <a:noFill/>
        </p:spPr>
        <p:txBody>
          <a:bodyPr lIns="0"/>
          <a:lstStyle/>
          <a:p>
            <a:r>
              <a:rPr lang="en-US" dirty="0"/>
              <a:t>Click icon to add picture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3255" y="4592059"/>
            <a:ext cx="2081852" cy="380285"/>
          </a:xfrm>
          <a:prstGeom prst="rect">
            <a:avLst/>
          </a:prstGeom>
        </p:spPr>
      </p:pic>
      <p:sp>
        <p:nvSpPr>
          <p:cNvPr id="13" name="Text Placeholder 12"/>
          <p:cNvSpPr>
            <a:spLocks noGrp="1"/>
          </p:cNvSpPr>
          <p:nvPr>
            <p:ph type="body" sz="quarter" idx="13" hasCustomPrompt="1"/>
          </p:nvPr>
        </p:nvSpPr>
        <p:spPr>
          <a:xfrm>
            <a:off x="571501" y="4460430"/>
            <a:ext cx="7449344" cy="294856"/>
          </a:xfrm>
        </p:spPr>
        <p:txBody>
          <a:bodyPr tIns="0"/>
          <a:lstStyle>
            <a:lvl1pPr marL="0" indent="0" algn="l">
              <a:spcBef>
                <a:spcPts val="0"/>
              </a:spcBef>
              <a:spcAft>
                <a:spcPts val="0"/>
              </a:spcAft>
              <a:buNone/>
              <a:defRPr sz="2000" b="0"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6" name="Text Placeholder 5"/>
          <p:cNvSpPr>
            <a:spLocks noGrp="1"/>
          </p:cNvSpPr>
          <p:nvPr>
            <p:ph type="body" sz="quarter" idx="10" hasCustomPrompt="1"/>
          </p:nvPr>
        </p:nvSpPr>
        <p:spPr>
          <a:xfrm>
            <a:off x="571501" y="4102228"/>
            <a:ext cx="7449344" cy="346274"/>
          </a:xfrm>
        </p:spPr>
        <p:txBody>
          <a:bodyPr rIns="0" anchor="ctr"/>
          <a:lstStyle>
            <a:lvl1pPr marL="0" indent="0" algn="l">
              <a:buNone/>
              <a:defRPr sz="2400" b="1"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2" name="Title 1"/>
          <p:cNvSpPr>
            <a:spLocks noGrp="1"/>
          </p:cNvSpPr>
          <p:nvPr>
            <p:ph type="title" hasCustomPrompt="1"/>
          </p:nvPr>
        </p:nvSpPr>
        <p:spPr>
          <a:xfrm>
            <a:off x="571502" y="1743075"/>
            <a:ext cx="7441435" cy="514350"/>
          </a:xfrm>
          <a:prstGeom prst="rect">
            <a:avLst/>
          </a:prstGeom>
        </p:spPr>
        <p:txBody>
          <a:bodyPr vert="horz" lIns="0" tIns="0" rIns="0" bIns="0" anchor="ctr">
            <a:noAutofit/>
          </a:bodyPr>
          <a:lstStyle>
            <a:lvl1pPr algn="l">
              <a:defRPr sz="3600" b="1" spc="0" baseline="0">
                <a:solidFill>
                  <a:schemeClr val="bg1"/>
                </a:solidFill>
                <a:effectLst/>
                <a:latin typeface="Calibri" panose="020F0502020204030204" pitchFamily="34" charset="0"/>
              </a:defRPr>
            </a:lvl1pPr>
          </a:lstStyle>
          <a:p>
            <a:r>
              <a:rPr lang="en-US" dirty="0"/>
              <a:t>CLICK TO EDIT MASTER TITLE STYLE</a:t>
            </a:r>
          </a:p>
        </p:txBody>
      </p:sp>
      <p:pic>
        <p:nvPicPr>
          <p:cNvPr id="10" name="Picture 9">
            <a:extLst>
              <a:ext uri="{FF2B5EF4-FFF2-40B4-BE49-F238E27FC236}">
                <a16:creationId xmlns:a16="http://schemas.microsoft.com/office/drawing/2014/main" id="{DE1B8924-DF9F-46AD-84CA-1B80D25D8F5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200332351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369459417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Rectangle 4"/>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Content Placeholder 3"/>
          <p:cNvSpPr>
            <a:spLocks noGrp="1"/>
          </p:cNvSpPr>
          <p:nvPr>
            <p:ph sz="quarter" idx="14"/>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7"/>
            <a:ext cx="8416782" cy="492443"/>
          </a:xfrm>
        </p:spPr>
        <p:txBody>
          <a:bodyPr wrap="square" anchor="b">
            <a:spAutoFit/>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218374159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6" name="Rectangle 5"/>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Content Placeholder 3"/>
          <p:cNvSpPr>
            <a:spLocks noGrp="1"/>
          </p:cNvSpPr>
          <p:nvPr>
            <p:ph sz="quarter" idx="10"/>
          </p:nvPr>
        </p:nvSpPr>
        <p:spPr>
          <a:xfrm>
            <a:off x="363539" y="1554481"/>
            <a:ext cx="8416925" cy="292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165"/>
            <a:ext cx="8416925" cy="492443"/>
          </a:xfrm>
        </p:spPr>
        <p:txBody>
          <a:bodyPr>
            <a:spAutoFit/>
          </a:bodyPr>
          <a:lstStyle>
            <a:lvl1pPr>
              <a:defRPr spc="0" baseline="0"/>
            </a:lvl1pPr>
          </a:lstStyle>
          <a:p>
            <a:r>
              <a:rPr lang="en-US" dirty="0"/>
              <a:t>CLICK TO EDIT MASTER TITLE STYLE</a:t>
            </a:r>
          </a:p>
        </p:txBody>
      </p:sp>
      <p:sp>
        <p:nvSpPr>
          <p:cNvPr id="5" name="Text Placeholder 4"/>
          <p:cNvSpPr>
            <a:spLocks noGrp="1"/>
          </p:cNvSpPr>
          <p:nvPr>
            <p:ph type="body" sz="quarter" idx="11"/>
          </p:nvPr>
        </p:nvSpPr>
        <p:spPr>
          <a:xfrm>
            <a:off x="363539" y="1146176"/>
            <a:ext cx="8416924" cy="352425"/>
          </a:xfrm>
        </p:spPr>
        <p:txBody>
          <a:bodyPr/>
          <a:lstStyle>
            <a:lvl1pPr marL="0" indent="0">
              <a:buNone/>
              <a:defRPr sz="2400">
                <a:solidFill>
                  <a:schemeClr val="accent1"/>
                </a:solidFill>
                <a:latin typeface="+mj-lt"/>
              </a:defRPr>
            </a:lvl1pPr>
            <a:lvl2pPr marL="231770" indent="0">
              <a:buNone/>
              <a:defRPr sz="2200">
                <a:solidFill>
                  <a:schemeClr val="accent1"/>
                </a:solidFill>
                <a:latin typeface="+mj-lt"/>
              </a:defRPr>
            </a:lvl2pPr>
            <a:lvl3pPr marL="457189" indent="0">
              <a:buNone/>
              <a:defRPr sz="2200">
                <a:solidFill>
                  <a:schemeClr val="accent1"/>
                </a:solidFill>
                <a:latin typeface="+mj-lt"/>
              </a:defRPr>
            </a:lvl3pPr>
            <a:lvl4pPr marL="688958" indent="0">
              <a:buNone/>
              <a:defRPr sz="2200">
                <a:solidFill>
                  <a:schemeClr val="accent1"/>
                </a:solidFill>
                <a:latin typeface="+mj-lt"/>
              </a:defRPr>
            </a:lvl4pPr>
            <a:lvl5pPr marL="914378" indent="0">
              <a:buNone/>
              <a:defRPr sz="22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180795810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anel Imag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3121044" y="1007707"/>
            <a:ext cx="2909455" cy="3451562"/>
          </a:xfrm>
        </p:spPr>
        <p:txBody>
          <a:bodyPr/>
          <a:lstStyle/>
          <a:p>
            <a:r>
              <a:rPr lang="en-US" dirty="0"/>
              <a:t>Click icon to add picture</a:t>
            </a:r>
          </a:p>
        </p:txBody>
      </p:sp>
      <p:sp>
        <p:nvSpPr>
          <p:cNvPr id="13" name="Picture Placeholder 12"/>
          <p:cNvSpPr>
            <a:spLocks noGrp="1"/>
          </p:cNvSpPr>
          <p:nvPr>
            <p:ph type="pic" sz="quarter" idx="14"/>
          </p:nvPr>
        </p:nvSpPr>
        <p:spPr>
          <a:xfrm>
            <a:off x="6066254" y="1007707"/>
            <a:ext cx="3075709" cy="3451562"/>
          </a:xfrm>
        </p:spPr>
        <p:txBody>
          <a:bodyPr/>
          <a:lstStyle/>
          <a:p>
            <a:r>
              <a:rPr lang="en-US" dirty="0"/>
              <a:t>Click icon to add picture</a:t>
            </a:r>
          </a:p>
        </p:txBody>
      </p:sp>
      <p:sp>
        <p:nvSpPr>
          <p:cNvPr id="6" name="Picture Placeholder 5"/>
          <p:cNvSpPr>
            <a:spLocks noGrp="1"/>
          </p:cNvSpPr>
          <p:nvPr>
            <p:ph type="pic" sz="quarter" idx="15"/>
          </p:nvPr>
        </p:nvSpPr>
        <p:spPr>
          <a:xfrm>
            <a:off x="1" y="1007707"/>
            <a:ext cx="3075709" cy="3451562"/>
          </a:xfrm>
        </p:spPr>
        <p:txBody>
          <a:bodyPr/>
          <a:lstStyle/>
          <a:p>
            <a:r>
              <a:rPr lang="en-US" dirty="0"/>
              <a:t>Click icon to add picture</a:t>
            </a:r>
          </a:p>
        </p:txBody>
      </p:sp>
      <p:sp>
        <p:nvSpPr>
          <p:cNvPr id="2" name="Title 1"/>
          <p:cNvSpPr>
            <a:spLocks noGrp="1"/>
          </p:cNvSpPr>
          <p:nvPr>
            <p:ph type="title" hasCustomPrompt="1"/>
          </p:nvPr>
        </p:nvSpPr>
        <p:spPr>
          <a:xfrm>
            <a:off x="363539" y="440247"/>
            <a:ext cx="8416925" cy="492443"/>
          </a:xfrm>
          <a:prstGeom prst="rect">
            <a:avLst/>
          </a:prstGeom>
        </p:spPr>
        <p:txBody>
          <a:bodyPr vert="horz" wrap="square" lIns="91440" tIns="45720" rIns="91440" bIns="45720" anchor="b" anchorCtr="0">
            <a:spAutoFit/>
          </a:bodyPr>
          <a:lstStyle>
            <a:lvl1pPr algn="l">
              <a:lnSpc>
                <a:spcPct val="100000"/>
              </a:lnSpc>
              <a:defRPr lang="en-US" sz="2600" b="1" kern="1200" spc="0" baseline="0" dirty="0">
                <a:solidFill>
                  <a:schemeClr val="accent1"/>
                </a:solidFill>
                <a:latin typeface="Calibri" panose="020F0502020204030204" pitchFamily="34" charset="0"/>
                <a:ea typeface="+mj-ea"/>
                <a:cs typeface="+mj-cs"/>
              </a:defRPr>
            </a:lvl1pPr>
          </a:lstStyle>
          <a:p>
            <a:r>
              <a:rPr lang="en-US" dirty="0"/>
              <a:t>CLICK TO EDIT MASTER TITLE STYLE</a:t>
            </a:r>
          </a:p>
        </p:txBody>
      </p:sp>
    </p:spTree>
    <p:extLst>
      <p:ext uri="{BB962C8B-B14F-4D97-AF65-F5344CB8AC3E}">
        <p14:creationId xmlns:p14="http://schemas.microsoft.com/office/powerpoint/2010/main" val="374005200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Takeaway (righ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1" y="1007708"/>
            <a:ext cx="6026727" cy="3451551"/>
          </a:xfrm>
        </p:spPr>
        <p:txBody>
          <a:bodyPr/>
          <a:lstStyle/>
          <a:p>
            <a:r>
              <a:rPr lang="en-US" dirty="0"/>
              <a:t>Click icon to add picture</a:t>
            </a:r>
          </a:p>
        </p:txBody>
      </p:sp>
      <p:sp>
        <p:nvSpPr>
          <p:cNvPr id="4" name="Content Placeholder 3"/>
          <p:cNvSpPr>
            <a:spLocks noGrp="1"/>
          </p:cNvSpPr>
          <p:nvPr>
            <p:ph sz="quarter" idx="13"/>
          </p:nvPr>
        </p:nvSpPr>
        <p:spPr>
          <a:xfrm>
            <a:off x="6069992" y="1008065"/>
            <a:ext cx="3074009" cy="3451204"/>
          </a:xfrm>
          <a:solidFill>
            <a:schemeClr val="accent1"/>
          </a:solidFill>
        </p:spPr>
        <p:txBody>
          <a:bodyPr lIns="182880" rIns="274320" anchor="ctr"/>
          <a:lstStyle>
            <a:lvl1pPr marL="0" indent="0">
              <a:buNone/>
              <a:defRPr sz="2200">
                <a:solidFill>
                  <a:schemeClr val="bg1"/>
                </a:solidFill>
              </a:defRPr>
            </a:lvl1pPr>
            <a:lvl2pPr>
              <a:buClr>
                <a:schemeClr val="bg1"/>
              </a:buClr>
              <a:defRPr sz="2000">
                <a:solidFill>
                  <a:schemeClr val="bg1"/>
                </a:solidFill>
              </a:defRPr>
            </a:lvl2pPr>
            <a:lvl3pPr>
              <a:buClr>
                <a:schemeClr val="bg1"/>
              </a:buClr>
              <a:defRPr sz="1800">
                <a:solidFill>
                  <a:schemeClr val="bg1"/>
                </a:solidFill>
              </a:defRPr>
            </a:lvl3pPr>
            <a:lvl4pPr>
              <a:buClr>
                <a:schemeClr val="bg1"/>
              </a:buClr>
              <a:defRPr sz="16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9" y="440247"/>
            <a:ext cx="8416925" cy="492443"/>
          </a:xfrm>
          <a:prstGeom prst="rect">
            <a:avLst/>
          </a:prstGeom>
        </p:spPr>
        <p:txBody>
          <a:bodyPr vert="horz" wrap="square" lIns="91440" tIns="45720" rIns="91440" bIns="45720" anchor="b" anchorCtr="0">
            <a:spAutoFit/>
          </a:bodyPr>
          <a:lstStyle>
            <a:lvl1pPr algn="l">
              <a:defRPr sz="2600" b="1"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1894780514"/>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Takeaway (right)">
    <p:spTree>
      <p:nvGrpSpPr>
        <p:cNvPr id="1" name=""/>
        <p:cNvGrpSpPr/>
        <p:nvPr/>
      </p:nvGrpSpPr>
      <p:grpSpPr>
        <a:xfrm>
          <a:off x="0" y="0"/>
          <a:ext cx="0" cy="0"/>
          <a:chOff x="0" y="0"/>
          <a:chExt cx="0" cy="0"/>
        </a:xfrm>
      </p:grpSpPr>
      <p:sp>
        <p:nvSpPr>
          <p:cNvPr id="7" name="Rectangle 6"/>
          <p:cNvSpPr/>
          <p:nvPr userDrawn="1"/>
        </p:nvSpPr>
        <p:spPr>
          <a:xfrm>
            <a:off x="1" y="1007708"/>
            <a:ext cx="6053327" cy="34490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6053327" y="1005841"/>
            <a:ext cx="3099816" cy="3453427"/>
          </a:xfrm>
          <a:solidFill>
            <a:schemeClr val="accent1"/>
          </a:solidFill>
        </p:spPr>
        <p:txBody>
          <a:bodyPr lIns="182880" tIns="91440" rIns="274320" bIns="91440" anchor="ctr" anchorCtr="0"/>
          <a:lstStyle>
            <a:lvl1pPr marL="0" indent="0" algn="l">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9" y="1280160"/>
            <a:ext cx="5689600"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300667039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keaway (bottom)">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9" y="1280160"/>
            <a:ext cx="8416925" cy="242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114843325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ubtitle and Takeaway">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8" name="Content Placeholder 3"/>
          <p:cNvSpPr>
            <a:spLocks noGrp="1"/>
          </p:cNvSpPr>
          <p:nvPr>
            <p:ph sz="quarter" idx="10"/>
          </p:nvPr>
        </p:nvSpPr>
        <p:spPr>
          <a:xfrm>
            <a:off x="363539" y="1554481"/>
            <a:ext cx="8416925" cy="2203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
        <p:nvSpPr>
          <p:cNvPr id="4" name="Text Placeholder 3"/>
          <p:cNvSpPr>
            <a:spLocks noGrp="1"/>
          </p:cNvSpPr>
          <p:nvPr>
            <p:ph type="body" sz="quarter" idx="15"/>
          </p:nvPr>
        </p:nvSpPr>
        <p:spPr>
          <a:xfrm>
            <a:off x="363539" y="1146176"/>
            <a:ext cx="8234362" cy="352425"/>
          </a:xfrm>
        </p:spPr>
        <p:txBody>
          <a:bodyPr/>
          <a:lstStyle>
            <a:lvl1pPr marL="0" indent="0">
              <a:buNone/>
              <a:defRPr sz="2400">
                <a:solidFill>
                  <a:schemeClr val="accent1"/>
                </a:solidFill>
                <a:latin typeface="+mj-lt"/>
              </a:defRPr>
            </a:lvl1pPr>
            <a:lvl2pPr marL="231770" indent="0">
              <a:buNone/>
              <a:defRPr sz="2400">
                <a:solidFill>
                  <a:schemeClr val="accent1"/>
                </a:solidFill>
                <a:latin typeface="+mj-lt"/>
              </a:defRPr>
            </a:lvl2pPr>
            <a:lvl3pPr marL="457189" indent="0">
              <a:buNone/>
              <a:defRPr sz="2400">
                <a:solidFill>
                  <a:schemeClr val="accent1"/>
                </a:solidFill>
                <a:latin typeface="+mj-lt"/>
              </a:defRPr>
            </a:lvl3pPr>
            <a:lvl4pPr marL="688958" indent="0">
              <a:buNone/>
              <a:defRPr sz="2400">
                <a:solidFill>
                  <a:schemeClr val="accent1"/>
                </a:solidFill>
                <a:latin typeface="+mj-lt"/>
              </a:defRPr>
            </a:lvl4pPr>
            <a:lvl5pPr marL="914378" indent="0">
              <a:buNone/>
              <a:defRPr sz="24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544080581"/>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Takeaway (left)">
    <p:spTree>
      <p:nvGrpSpPr>
        <p:cNvPr id="1" name=""/>
        <p:cNvGrpSpPr/>
        <p:nvPr/>
      </p:nvGrpSpPr>
      <p:grpSpPr>
        <a:xfrm>
          <a:off x="0" y="0"/>
          <a:ext cx="0" cy="0"/>
          <a:chOff x="0" y="0"/>
          <a:chExt cx="0" cy="0"/>
        </a:xfrm>
      </p:grpSpPr>
      <p:sp>
        <p:nvSpPr>
          <p:cNvPr id="7" name="Rectangle 6"/>
          <p:cNvSpPr/>
          <p:nvPr userDrawn="1"/>
        </p:nvSpPr>
        <p:spPr>
          <a:xfrm>
            <a:off x="2589069" y="1007708"/>
            <a:ext cx="6554932"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11" name="Text Placeholder 10"/>
          <p:cNvSpPr>
            <a:spLocks noGrp="1"/>
          </p:cNvSpPr>
          <p:nvPr>
            <p:ph type="body" sz="quarter" idx="16"/>
          </p:nvPr>
        </p:nvSpPr>
        <p:spPr>
          <a:xfrm>
            <a:off x="1" y="1007708"/>
            <a:ext cx="2556164" cy="3451560"/>
          </a:xfrm>
          <a:solidFill>
            <a:schemeClr val="accent1"/>
          </a:solidFill>
        </p:spPr>
        <p:txBody>
          <a:bodyPr lIns="274320" tIns="137160" rIns="91440" bIns="182880" anchor="ctr"/>
          <a:lstStyle>
            <a:lvl1pPr marL="0" indent="0" algn="l">
              <a:buClr>
                <a:schemeClr val="bg1"/>
              </a:buClr>
              <a:buNone/>
              <a:defRPr sz="2000">
                <a:solidFill>
                  <a:schemeClr val="bg1"/>
                </a:solidFill>
              </a:defRPr>
            </a:lvl1pPr>
            <a:lvl2pPr marL="169859" indent="0" algn="ctr">
              <a:buClr>
                <a:schemeClr val="bg1"/>
              </a:buClr>
              <a:buNone/>
              <a:defRPr>
                <a:solidFill>
                  <a:schemeClr val="bg1"/>
                </a:solidFill>
              </a:defRPr>
            </a:lvl2pPr>
            <a:lvl3pPr marL="344479" indent="0" algn="ctr">
              <a:buClr>
                <a:schemeClr val="bg1"/>
              </a:buClr>
              <a:buNone/>
              <a:defRPr>
                <a:solidFill>
                  <a:schemeClr val="bg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p:txBody>
      </p:sp>
      <p:sp>
        <p:nvSpPr>
          <p:cNvPr id="4" name="Content Placeholder 3"/>
          <p:cNvSpPr>
            <a:spLocks noGrp="1"/>
          </p:cNvSpPr>
          <p:nvPr>
            <p:ph sz="quarter" idx="17"/>
          </p:nvPr>
        </p:nvSpPr>
        <p:spPr>
          <a:xfrm>
            <a:off x="2699359" y="1554480"/>
            <a:ext cx="6081104" cy="292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
        <p:nvSpPr>
          <p:cNvPr id="5" name="Text Placeholder 4"/>
          <p:cNvSpPr>
            <a:spLocks noGrp="1"/>
          </p:cNvSpPr>
          <p:nvPr>
            <p:ph type="body" sz="quarter" idx="18"/>
          </p:nvPr>
        </p:nvSpPr>
        <p:spPr>
          <a:xfrm>
            <a:off x="2699360" y="1146176"/>
            <a:ext cx="6001729" cy="352425"/>
          </a:xfrm>
        </p:spPr>
        <p:txBody>
          <a:bodyPr/>
          <a:lstStyle>
            <a:lvl1pPr marL="0" indent="0">
              <a:buNone/>
              <a:defRPr sz="2400">
                <a:solidFill>
                  <a:schemeClr val="accent1"/>
                </a:solidFill>
                <a:latin typeface="+mj-lt"/>
              </a:defRPr>
            </a:lvl1pPr>
            <a:lvl2pPr marL="231770" indent="0">
              <a:buNone/>
              <a:defRPr sz="2400">
                <a:solidFill>
                  <a:schemeClr val="accent1"/>
                </a:solidFill>
                <a:latin typeface="+mj-lt"/>
              </a:defRPr>
            </a:lvl2pPr>
            <a:lvl3pPr marL="457189" indent="0">
              <a:buNone/>
              <a:defRPr sz="2400">
                <a:solidFill>
                  <a:schemeClr val="accent1"/>
                </a:solidFill>
                <a:latin typeface="+mj-lt"/>
              </a:defRPr>
            </a:lvl3pPr>
            <a:lvl4pPr marL="688958" indent="0">
              <a:buNone/>
              <a:defRPr sz="2400">
                <a:solidFill>
                  <a:schemeClr val="accent1"/>
                </a:solidFill>
                <a:latin typeface="+mj-lt"/>
              </a:defRPr>
            </a:lvl4pPr>
            <a:lvl5pPr marL="914378" indent="0">
              <a:buNone/>
              <a:defRPr sz="2400">
                <a:solidFill>
                  <a:schemeClr val="accent1"/>
                </a:solidFill>
                <a:latin typeface="+mj-lt"/>
              </a:defRPr>
            </a:lvl5pPr>
          </a:lstStyle>
          <a:p>
            <a:pPr lvl="0"/>
            <a:r>
              <a:rPr lang="en-US"/>
              <a:t>Click to edit Master text styles</a:t>
            </a:r>
          </a:p>
        </p:txBody>
      </p:sp>
      <p:pic>
        <p:nvPicPr>
          <p:cNvPr id="8" name="Picture 7">
            <a:extLst>
              <a:ext uri="{FF2B5EF4-FFF2-40B4-BE49-F238E27FC236}">
                <a16:creationId xmlns:a16="http://schemas.microsoft.com/office/drawing/2014/main" id="{3DB22EA7-1E14-42EF-8704-6F4F3DBDF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413778657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Picture Placeholder 13"/>
          <p:cNvSpPr>
            <a:spLocks noGrp="1"/>
          </p:cNvSpPr>
          <p:nvPr>
            <p:ph type="pic" sz="quarter" idx="16"/>
          </p:nvPr>
        </p:nvSpPr>
        <p:spPr>
          <a:xfrm>
            <a:off x="4613565" y="1007707"/>
            <a:ext cx="2244436" cy="3451561"/>
          </a:xfrm>
        </p:spPr>
        <p:txBody>
          <a:bodyPr/>
          <a:lstStyle/>
          <a:p>
            <a:r>
              <a:rPr lang="en-US" dirty="0"/>
              <a:t>Click icon to add picture</a:t>
            </a:r>
          </a:p>
        </p:txBody>
      </p:sp>
      <p:sp>
        <p:nvSpPr>
          <p:cNvPr id="6" name="Picture Placeholder 5"/>
          <p:cNvSpPr>
            <a:spLocks noGrp="1"/>
          </p:cNvSpPr>
          <p:nvPr>
            <p:ph type="pic" sz="quarter" idx="12"/>
          </p:nvPr>
        </p:nvSpPr>
        <p:spPr>
          <a:xfrm>
            <a:off x="1" y="2833069"/>
            <a:ext cx="2265218" cy="1626199"/>
          </a:xfrm>
        </p:spPr>
        <p:txBody>
          <a:bodyPr/>
          <a:lstStyle/>
          <a:p>
            <a:r>
              <a:rPr lang="en-US" dirty="0"/>
              <a:t>Click icon to add picture</a:t>
            </a:r>
          </a:p>
        </p:txBody>
      </p:sp>
      <p:sp>
        <p:nvSpPr>
          <p:cNvPr id="8" name="Picture Placeholder 7"/>
          <p:cNvSpPr>
            <a:spLocks noGrp="1"/>
          </p:cNvSpPr>
          <p:nvPr>
            <p:ph type="pic" sz="quarter" idx="13"/>
          </p:nvPr>
        </p:nvSpPr>
        <p:spPr>
          <a:xfrm>
            <a:off x="0" y="1007707"/>
            <a:ext cx="4572000" cy="1784480"/>
          </a:xfrm>
        </p:spPr>
        <p:txBody>
          <a:bodyPr/>
          <a:lstStyle/>
          <a:p>
            <a:r>
              <a:rPr lang="en-US" dirty="0"/>
              <a:t>Click icon to add picture</a:t>
            </a:r>
          </a:p>
        </p:txBody>
      </p:sp>
      <p:sp>
        <p:nvSpPr>
          <p:cNvPr id="10" name="Picture Placeholder 9"/>
          <p:cNvSpPr>
            <a:spLocks noGrp="1"/>
          </p:cNvSpPr>
          <p:nvPr>
            <p:ph type="pic" sz="quarter" idx="14"/>
          </p:nvPr>
        </p:nvSpPr>
        <p:spPr>
          <a:xfrm>
            <a:off x="6891543" y="2833069"/>
            <a:ext cx="2244436" cy="1626199"/>
          </a:xfrm>
        </p:spPr>
        <p:txBody>
          <a:bodyPr/>
          <a:lstStyle/>
          <a:p>
            <a:r>
              <a:rPr lang="en-US" dirty="0"/>
              <a:t>Click icon to add picture</a:t>
            </a:r>
          </a:p>
        </p:txBody>
      </p:sp>
      <p:sp>
        <p:nvSpPr>
          <p:cNvPr id="12" name="Picture Placeholder 11"/>
          <p:cNvSpPr>
            <a:spLocks noGrp="1"/>
          </p:cNvSpPr>
          <p:nvPr>
            <p:ph type="pic" sz="quarter" idx="15"/>
          </p:nvPr>
        </p:nvSpPr>
        <p:spPr>
          <a:xfrm>
            <a:off x="6889721" y="1007707"/>
            <a:ext cx="2244436" cy="1784480"/>
          </a:xfrm>
        </p:spPr>
        <p:txBody>
          <a:bodyPr/>
          <a:lstStyle/>
          <a:p>
            <a:r>
              <a:rPr lang="en-US" dirty="0"/>
              <a:t>Click icon to add picture</a:t>
            </a:r>
          </a:p>
        </p:txBody>
      </p:sp>
      <p:sp>
        <p:nvSpPr>
          <p:cNvPr id="16" name="Picture Placeholder 15"/>
          <p:cNvSpPr>
            <a:spLocks noGrp="1"/>
          </p:cNvSpPr>
          <p:nvPr>
            <p:ph type="pic" sz="quarter" idx="17"/>
          </p:nvPr>
        </p:nvSpPr>
        <p:spPr>
          <a:xfrm>
            <a:off x="2306782" y="2833069"/>
            <a:ext cx="2265218" cy="1626199"/>
          </a:xfrm>
        </p:spPr>
        <p:txBody>
          <a:bodyPr/>
          <a:lstStyle/>
          <a:p>
            <a:r>
              <a:rPr lang="en-US" dirty="0"/>
              <a:t>Click icon to add picture</a:t>
            </a:r>
          </a:p>
        </p:txBody>
      </p:sp>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pic>
        <p:nvPicPr>
          <p:cNvPr id="9" name="Picture 8">
            <a:extLst>
              <a:ext uri="{FF2B5EF4-FFF2-40B4-BE49-F238E27FC236}">
                <a16:creationId xmlns:a16="http://schemas.microsoft.com/office/drawing/2014/main" id="{CDE8804A-4E4B-493C-AA10-B77E1ED68D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230414538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ngle Photo">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1007707"/>
            <a:ext cx="9144000" cy="3451560"/>
          </a:xfrm>
        </p:spPr>
        <p:txBody>
          <a:bodyPr lIns="0" tIns="0" rIns="0" bIns="0"/>
          <a:lstStyle/>
          <a:p>
            <a:r>
              <a:rPr lang="en-US" dirty="0"/>
              <a:t>Click icon to add picture</a:t>
            </a: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pic>
        <p:nvPicPr>
          <p:cNvPr id="4" name="Picture 3">
            <a:extLst>
              <a:ext uri="{FF2B5EF4-FFF2-40B4-BE49-F238E27FC236}">
                <a16:creationId xmlns:a16="http://schemas.microsoft.com/office/drawing/2014/main" id="{A76DC819-1B33-4DFD-9B65-9307CBF5A5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171335151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hoto w/Label">
    <p:spTree>
      <p:nvGrpSpPr>
        <p:cNvPr id="1" name=""/>
        <p:cNvGrpSpPr/>
        <p:nvPr/>
      </p:nvGrpSpPr>
      <p:grpSpPr>
        <a:xfrm>
          <a:off x="0" y="0"/>
          <a:ext cx="0" cy="0"/>
          <a:chOff x="0" y="0"/>
          <a:chExt cx="0" cy="0"/>
        </a:xfrm>
      </p:grpSpPr>
      <p:sp>
        <p:nvSpPr>
          <p:cNvPr id="7" name="Rectangle 6"/>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1739034" y="1117322"/>
            <a:ext cx="2763982" cy="2561253"/>
          </a:xfrm>
        </p:spPr>
        <p:txBody>
          <a:bodyPr/>
          <a:lstStyle/>
          <a:p>
            <a:r>
              <a:rPr lang="en-US" dirty="0"/>
              <a:t>Click icon to add picture</a:t>
            </a:r>
          </a:p>
        </p:txBody>
      </p:sp>
      <p:sp>
        <p:nvSpPr>
          <p:cNvPr id="11" name="Picture Placeholder 10"/>
          <p:cNvSpPr>
            <a:spLocks noGrp="1"/>
          </p:cNvSpPr>
          <p:nvPr>
            <p:ph type="pic" sz="quarter" idx="15"/>
          </p:nvPr>
        </p:nvSpPr>
        <p:spPr>
          <a:xfrm>
            <a:off x="4655127" y="1117322"/>
            <a:ext cx="2763982" cy="2561253"/>
          </a:xfrm>
        </p:spPr>
        <p:txBody>
          <a:bodyPr/>
          <a:lstStyle/>
          <a:p>
            <a:r>
              <a:rPr lang="en-US" dirty="0"/>
              <a:t>Click icon to add picture</a:t>
            </a:r>
          </a:p>
        </p:txBody>
      </p:sp>
      <p:sp>
        <p:nvSpPr>
          <p:cNvPr id="13" name="Text Placeholder 12"/>
          <p:cNvSpPr>
            <a:spLocks noGrp="1"/>
          </p:cNvSpPr>
          <p:nvPr>
            <p:ph type="body" sz="quarter" idx="16"/>
          </p:nvPr>
        </p:nvSpPr>
        <p:spPr>
          <a:xfrm>
            <a:off x="1739035" y="3678576"/>
            <a:ext cx="2763693" cy="671804"/>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14" name="Text Placeholder 12"/>
          <p:cNvSpPr>
            <a:spLocks noGrp="1"/>
          </p:cNvSpPr>
          <p:nvPr>
            <p:ph type="body" sz="quarter" idx="17"/>
          </p:nvPr>
        </p:nvSpPr>
        <p:spPr>
          <a:xfrm>
            <a:off x="4655417" y="3678576"/>
            <a:ext cx="2763693" cy="671804"/>
          </a:xfrm>
          <a:solidFill>
            <a:schemeClr val="accent1"/>
          </a:solidFill>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658B7936-045E-4D0C-9DB6-BCA595AE1D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168168867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hotos and Takeawa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1" y="1007707"/>
            <a:ext cx="3034145" cy="3451560"/>
          </a:xfrm>
        </p:spPr>
        <p:txBody>
          <a:bodyPr/>
          <a:lstStyle/>
          <a:p>
            <a:r>
              <a:rPr lang="en-US" dirty="0"/>
              <a:t>Click icon to add picture</a:t>
            </a:r>
          </a:p>
        </p:txBody>
      </p:sp>
      <p:sp>
        <p:nvSpPr>
          <p:cNvPr id="12" name="Picture Placeholder 7"/>
          <p:cNvSpPr>
            <a:spLocks noGrp="1"/>
          </p:cNvSpPr>
          <p:nvPr>
            <p:ph type="pic" sz="quarter" idx="15"/>
          </p:nvPr>
        </p:nvSpPr>
        <p:spPr>
          <a:xfrm>
            <a:off x="6109856" y="1007707"/>
            <a:ext cx="3034145" cy="3451560"/>
          </a:xfrm>
        </p:spPr>
        <p:txBody>
          <a:bodyPr/>
          <a:lstStyle/>
          <a:p>
            <a:r>
              <a:rPr lang="en-US" dirty="0"/>
              <a:t>Click icon to add picture</a:t>
            </a:r>
          </a:p>
        </p:txBody>
      </p:sp>
      <p:sp>
        <p:nvSpPr>
          <p:cNvPr id="9" name="Text Placeholder 8"/>
          <p:cNvSpPr>
            <a:spLocks noGrp="1"/>
          </p:cNvSpPr>
          <p:nvPr>
            <p:ph type="body" sz="quarter" idx="16"/>
          </p:nvPr>
        </p:nvSpPr>
        <p:spPr>
          <a:xfrm>
            <a:off x="3063240" y="1005841"/>
            <a:ext cx="3017520" cy="3453373"/>
          </a:xfrm>
          <a:solidFill>
            <a:schemeClr val="accent1"/>
          </a:solidFill>
        </p:spPr>
        <p:txBody>
          <a:bodyPr lIns="182880" tIns="182880" rIns="182880" bIns="182880" anchor="ctr" anchorCtr="0"/>
          <a:lstStyle>
            <a:lvl1pPr marL="0" indent="0" algn="l">
              <a:spcBef>
                <a:spcPts val="545"/>
              </a:spcBef>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6" name="Picture 5">
            <a:extLst>
              <a:ext uri="{FF2B5EF4-FFF2-40B4-BE49-F238E27FC236}">
                <a16:creationId xmlns:a16="http://schemas.microsoft.com/office/drawing/2014/main" id="{58E8909D-860F-4071-A10F-DD33A4CD0E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267054920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and Content (right)">
    <p:spTree>
      <p:nvGrpSpPr>
        <p:cNvPr id="1" name=""/>
        <p:cNvGrpSpPr/>
        <p:nvPr/>
      </p:nvGrpSpPr>
      <p:grpSpPr>
        <a:xfrm>
          <a:off x="0" y="0"/>
          <a:ext cx="0" cy="0"/>
          <a:chOff x="0" y="0"/>
          <a:chExt cx="0" cy="0"/>
        </a:xfrm>
      </p:grpSpPr>
      <p:sp>
        <p:nvSpPr>
          <p:cNvPr id="7" name="Rectangle 6"/>
          <p:cNvSpPr/>
          <p:nvPr userDrawn="1"/>
        </p:nvSpPr>
        <p:spPr>
          <a:xfrm>
            <a:off x="1" y="1007707"/>
            <a:ext cx="600445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6048300" y="1007416"/>
            <a:ext cx="3096491" cy="2863127"/>
          </a:xfrm>
        </p:spPr>
        <p:txBody>
          <a:bodyPr/>
          <a:lstStyle/>
          <a:p>
            <a:r>
              <a:rPr lang="en-US" dirty="0"/>
              <a:t>Click icon to add picture</a:t>
            </a:r>
          </a:p>
        </p:txBody>
      </p:sp>
      <p:sp>
        <p:nvSpPr>
          <p:cNvPr id="10" name="Text Placeholder 12"/>
          <p:cNvSpPr>
            <a:spLocks noGrp="1"/>
          </p:cNvSpPr>
          <p:nvPr>
            <p:ph type="body" sz="quarter" idx="16"/>
          </p:nvPr>
        </p:nvSpPr>
        <p:spPr>
          <a:xfrm>
            <a:off x="6048299" y="3870543"/>
            <a:ext cx="3096096" cy="582461"/>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63539" y="1280161"/>
            <a:ext cx="5640921" cy="3172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497CD10A-BB7E-4CB2-BF75-3F5382449F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419957607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and Content (left)">
    <p:spTree>
      <p:nvGrpSpPr>
        <p:cNvPr id="1" name=""/>
        <p:cNvGrpSpPr/>
        <p:nvPr/>
      </p:nvGrpSpPr>
      <p:grpSpPr>
        <a:xfrm>
          <a:off x="0" y="0"/>
          <a:ext cx="0" cy="0"/>
          <a:chOff x="0" y="0"/>
          <a:chExt cx="0" cy="0"/>
        </a:xfrm>
      </p:grpSpPr>
      <p:sp>
        <p:nvSpPr>
          <p:cNvPr id="7" name="Rectangle 6"/>
          <p:cNvSpPr/>
          <p:nvPr userDrawn="1"/>
        </p:nvSpPr>
        <p:spPr>
          <a:xfrm>
            <a:off x="3140023" y="1007707"/>
            <a:ext cx="600397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2031" rtl="0" eaLnBrk="1" fontAlgn="auto" latinLnBrk="0" hangingPunct="1">
              <a:lnSpc>
                <a:spcPct val="100000"/>
              </a:lnSpc>
              <a:spcBef>
                <a:spcPts val="0"/>
              </a:spcBef>
              <a:spcAft>
                <a:spcPts val="0"/>
              </a:spcAft>
              <a:buClrTx/>
              <a:buSzTx/>
              <a:buFontTx/>
              <a:buNone/>
              <a:tabLst/>
              <a:defRPr/>
            </a:pPr>
            <a:endParaRPr kumimoji="0" lang="en-US" sz="521"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Picture Placeholder 7"/>
          <p:cNvSpPr>
            <a:spLocks noGrp="1"/>
          </p:cNvSpPr>
          <p:nvPr>
            <p:ph type="pic" sz="quarter" idx="14"/>
          </p:nvPr>
        </p:nvSpPr>
        <p:spPr>
          <a:xfrm>
            <a:off x="-309" y="1007416"/>
            <a:ext cx="3096491" cy="2866085"/>
          </a:xfrm>
        </p:spPr>
        <p:txBody>
          <a:bodyPr/>
          <a:lstStyle/>
          <a:p>
            <a:r>
              <a:rPr lang="en-US" dirty="0"/>
              <a:t>Click icon to add picture</a:t>
            </a:r>
          </a:p>
        </p:txBody>
      </p:sp>
      <p:sp>
        <p:nvSpPr>
          <p:cNvPr id="10" name="Text Placeholder 12"/>
          <p:cNvSpPr>
            <a:spLocks noGrp="1"/>
          </p:cNvSpPr>
          <p:nvPr>
            <p:ph type="body" sz="quarter" idx="16"/>
          </p:nvPr>
        </p:nvSpPr>
        <p:spPr>
          <a:xfrm>
            <a:off x="-310" y="3873501"/>
            <a:ext cx="3096096" cy="585767"/>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225452" y="1280161"/>
            <a:ext cx="5555011" cy="3222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027D2DA1-5E77-480E-8E79-0A03912F9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270875069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pic>
        <p:nvPicPr>
          <p:cNvPr id="3" name="Picture 2">
            <a:extLst>
              <a:ext uri="{FF2B5EF4-FFF2-40B4-BE49-F238E27FC236}">
                <a16:creationId xmlns:a16="http://schemas.microsoft.com/office/drawing/2014/main" id="{A1B24C64-5894-4CCF-977F-1551F292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165518663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AAE85D-D78D-4D66-839B-1F6B7BF324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1716840557"/>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7732" y="-35241"/>
            <a:ext cx="8450128" cy="492443"/>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xfrm>
            <a:off x="512763" y="4798220"/>
            <a:ext cx="2794000" cy="273844"/>
          </a:xfrm>
          <a:prstGeom prst="rect">
            <a:avLst/>
          </a:prstGeom>
          <a:ln/>
        </p:spPr>
        <p:txBody>
          <a:bodyPr/>
          <a:lstStyle>
            <a:lvl1pPr>
              <a:defRPr/>
            </a:lvl1pPr>
          </a:lstStyle>
          <a:p>
            <a:pPr>
              <a:defRPr/>
            </a:pPr>
            <a:endParaRPr lang="en-US" dirty="0">
              <a:solidFill>
                <a:srgbClr val="777777"/>
              </a:solidFill>
            </a:endParaRPr>
          </a:p>
        </p:txBody>
      </p:sp>
      <p:sp>
        <p:nvSpPr>
          <p:cNvPr id="5" name="Rectangle 5"/>
          <p:cNvSpPr>
            <a:spLocks noGrp="1" noChangeArrowheads="1"/>
          </p:cNvSpPr>
          <p:nvPr>
            <p:ph type="sldNum" sz="quarter" idx="11"/>
          </p:nvPr>
        </p:nvSpPr>
        <p:spPr>
          <a:ln/>
        </p:spPr>
        <p:txBody>
          <a:bodyPr bIns="0"/>
          <a:lstStyle>
            <a:lvl1pPr algn="ctr">
              <a:defRPr b="0"/>
            </a:lvl1pPr>
          </a:lstStyle>
          <a:p>
            <a:pPr>
              <a:defRPr/>
            </a:pPr>
            <a:fld id="{63791628-92C7-4C55-9A68-66302442F008}" type="slidenum">
              <a:rPr lang="en-US" smtClean="0">
                <a:solidFill>
                  <a:srgbClr val="777777"/>
                </a:solidFill>
              </a:rPr>
              <a:pPr>
                <a:defRPr/>
              </a:pPr>
              <a:t>‹#›</a:t>
            </a:fld>
            <a:endParaRPr lang="en-US" dirty="0">
              <a:solidFill>
                <a:srgbClr val="777777"/>
              </a:solidFill>
            </a:endParaRPr>
          </a:p>
        </p:txBody>
      </p:sp>
      <p:sp>
        <p:nvSpPr>
          <p:cNvPr id="6" name="Rectangle 6"/>
          <p:cNvSpPr>
            <a:spLocks noGrp="1" noChangeArrowheads="1"/>
          </p:cNvSpPr>
          <p:nvPr>
            <p:ph type="dt" sz="half" idx="12"/>
          </p:nvPr>
        </p:nvSpPr>
        <p:spPr>
          <a:xfrm>
            <a:off x="5834063" y="4798220"/>
            <a:ext cx="1905000" cy="273844"/>
          </a:xfrm>
          <a:prstGeom prst="rect">
            <a:avLst/>
          </a:prstGeom>
          <a:ln/>
        </p:spPr>
        <p:txBody>
          <a:bodyPr/>
          <a:lstStyle>
            <a:lvl1pPr>
              <a:defRPr/>
            </a:lvl1pPr>
          </a:lstStyle>
          <a:p>
            <a:pPr>
              <a:defRPr/>
            </a:pPr>
            <a:endParaRPr lang="en-US" dirty="0">
              <a:solidFill>
                <a:srgbClr val="777777"/>
              </a:solidFill>
            </a:endParaRPr>
          </a:p>
        </p:txBody>
      </p:sp>
      <p:pic>
        <p:nvPicPr>
          <p:cNvPr id="7" name="Picture 6">
            <a:extLst>
              <a:ext uri="{FF2B5EF4-FFF2-40B4-BE49-F238E27FC236}">
                <a16:creationId xmlns:a16="http://schemas.microsoft.com/office/drawing/2014/main" id="{974DA834-5E3A-4D98-A55B-EA339EA9F4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2364323940"/>
      </p:ext>
    </p:extLst>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Placeholder 4"/>
          <p:cNvPicPr>
            <a:picLocks noChangeAspect="1"/>
          </p:cNvPicPr>
          <p:nvPr userDrawn="1"/>
        </p:nvPicPr>
        <p:blipFill>
          <a:blip r:embed="rId2" cstate="print">
            <a:extLst>
              <a:ext uri="{28A0092B-C50C-407E-A947-70E740481C1C}">
                <a14:useLocalDpi xmlns:a14="http://schemas.microsoft.com/office/drawing/2010/main" val="0"/>
              </a:ext>
            </a:extLst>
          </a:blip>
          <a:srcRect t="6250" b="6250"/>
          <a:stretch>
            <a:fillRect/>
          </a:stretch>
        </p:blipFill>
        <p:spPr>
          <a:xfrm>
            <a:off x="0" y="0"/>
            <a:ext cx="9144000" cy="4000500"/>
          </a:xfrm>
          <a:prstGeom prst="rect">
            <a:avLst/>
          </a:prstGeom>
        </p:spPr>
      </p:pic>
      <p:sp>
        <p:nvSpPr>
          <p:cNvPr id="7" name="Picture Placeholder 6"/>
          <p:cNvSpPr>
            <a:spLocks noGrp="1"/>
          </p:cNvSpPr>
          <p:nvPr>
            <p:ph type="pic" sz="quarter" idx="11"/>
          </p:nvPr>
        </p:nvSpPr>
        <p:spPr>
          <a:xfrm>
            <a:off x="0" y="0"/>
            <a:ext cx="9144000" cy="4000500"/>
          </a:xfrm>
          <a:noFill/>
        </p:spPr>
        <p:txBody>
          <a:bodyPr lIns="0"/>
          <a:lstStyle/>
          <a:p>
            <a:r>
              <a:rPr lang="en-US" dirty="0"/>
              <a:t>Click icon to add picture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3254" y="4592058"/>
            <a:ext cx="2081852" cy="380285"/>
          </a:xfrm>
          <a:prstGeom prst="rect">
            <a:avLst/>
          </a:prstGeom>
        </p:spPr>
      </p:pic>
      <p:sp>
        <p:nvSpPr>
          <p:cNvPr id="13" name="Text Placeholder 12"/>
          <p:cNvSpPr>
            <a:spLocks noGrp="1"/>
          </p:cNvSpPr>
          <p:nvPr>
            <p:ph type="body" sz="quarter" idx="13" hasCustomPrompt="1"/>
          </p:nvPr>
        </p:nvSpPr>
        <p:spPr>
          <a:xfrm>
            <a:off x="571500" y="4460430"/>
            <a:ext cx="7449344" cy="294856"/>
          </a:xfrm>
        </p:spPr>
        <p:txBody>
          <a:bodyPr tIns="0"/>
          <a:lstStyle>
            <a:lvl1pPr marL="0" indent="0" algn="l">
              <a:spcBef>
                <a:spcPts val="0"/>
              </a:spcBef>
              <a:spcAft>
                <a:spcPts val="0"/>
              </a:spcAft>
              <a:buNone/>
              <a:defRPr sz="2000" b="0"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6" name="Text Placeholder 5"/>
          <p:cNvSpPr>
            <a:spLocks noGrp="1"/>
          </p:cNvSpPr>
          <p:nvPr>
            <p:ph type="body" sz="quarter" idx="10" hasCustomPrompt="1"/>
          </p:nvPr>
        </p:nvSpPr>
        <p:spPr>
          <a:xfrm>
            <a:off x="571500" y="4102227"/>
            <a:ext cx="7449344" cy="346274"/>
          </a:xfrm>
        </p:spPr>
        <p:txBody>
          <a:bodyPr rIns="0" anchor="ctr"/>
          <a:lstStyle>
            <a:lvl1pPr marL="0" indent="0" algn="l">
              <a:buNone/>
              <a:defRPr sz="2400" b="1"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2" name="Title 1"/>
          <p:cNvSpPr>
            <a:spLocks noGrp="1"/>
          </p:cNvSpPr>
          <p:nvPr>
            <p:ph type="title" hasCustomPrompt="1"/>
          </p:nvPr>
        </p:nvSpPr>
        <p:spPr>
          <a:xfrm>
            <a:off x="571501" y="1743075"/>
            <a:ext cx="7441435" cy="514350"/>
          </a:xfrm>
          <a:prstGeom prst="rect">
            <a:avLst/>
          </a:prstGeom>
        </p:spPr>
        <p:txBody>
          <a:bodyPr vert="horz" lIns="0" tIns="0" rIns="0" bIns="0" anchor="ctr">
            <a:noAutofit/>
          </a:bodyPr>
          <a:lstStyle>
            <a:lvl1pPr algn="l">
              <a:defRPr sz="3600" b="1" spc="0" baseline="0">
                <a:solidFill>
                  <a:schemeClr val="bg1"/>
                </a:solidFill>
                <a:effectLst/>
                <a:latin typeface="Calibri" panose="020F0502020204030204" pitchFamily="34" charset="0"/>
              </a:defRPr>
            </a:lvl1pPr>
          </a:lstStyle>
          <a:p>
            <a:r>
              <a:rPr lang="en-US" dirty="0"/>
              <a:t>CLICK TO EDIT MASTER TITLE STYLE</a:t>
            </a:r>
          </a:p>
        </p:txBody>
      </p:sp>
      <p:pic>
        <p:nvPicPr>
          <p:cNvPr id="10" name="Picture 9">
            <a:extLst>
              <a:ext uri="{FF2B5EF4-FFF2-40B4-BE49-F238E27FC236}">
                <a16:creationId xmlns:a16="http://schemas.microsoft.com/office/drawing/2014/main" id="{DE1B8924-DF9F-46AD-84CA-1B80D25D8F5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36570841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180628572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Rectangle 4"/>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4" name="Content Placeholder 3"/>
          <p:cNvSpPr>
            <a:spLocks noGrp="1"/>
          </p:cNvSpPr>
          <p:nvPr>
            <p:ph sz="quarter" idx="14"/>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782" cy="492443"/>
          </a:xfrm>
        </p:spPr>
        <p:txBody>
          <a:bodyPr wrap="square" anchor="b">
            <a:spAutoFit/>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110113863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6" name="Rectangle 5"/>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4" name="Content Placeholder 3"/>
          <p:cNvSpPr>
            <a:spLocks noGrp="1"/>
          </p:cNvSpPr>
          <p:nvPr>
            <p:ph sz="quarter" idx="10"/>
          </p:nvPr>
        </p:nvSpPr>
        <p:spPr>
          <a:xfrm>
            <a:off x="363538" y="1554480"/>
            <a:ext cx="8416925" cy="292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7" y="440164"/>
            <a:ext cx="8416925" cy="492443"/>
          </a:xfrm>
        </p:spPr>
        <p:txBody>
          <a:bodyPr>
            <a:spAutoFit/>
          </a:bodyPr>
          <a:lstStyle>
            <a:lvl1pPr>
              <a:defRPr spc="0" baseline="0"/>
            </a:lvl1pPr>
          </a:lstStyle>
          <a:p>
            <a:r>
              <a:rPr lang="en-US" dirty="0"/>
              <a:t>CLICK TO EDIT MASTER TITLE STYLE</a:t>
            </a:r>
          </a:p>
        </p:txBody>
      </p:sp>
      <p:sp>
        <p:nvSpPr>
          <p:cNvPr id="5" name="Text Placeholder 4"/>
          <p:cNvSpPr>
            <a:spLocks noGrp="1"/>
          </p:cNvSpPr>
          <p:nvPr>
            <p:ph type="body" sz="quarter" idx="11"/>
          </p:nvPr>
        </p:nvSpPr>
        <p:spPr>
          <a:xfrm>
            <a:off x="363538" y="1146175"/>
            <a:ext cx="8416924" cy="352425"/>
          </a:xfrm>
        </p:spPr>
        <p:txBody>
          <a:bodyPr/>
          <a:lstStyle>
            <a:lvl1pPr marL="0" indent="0">
              <a:buNone/>
              <a:defRPr sz="2400">
                <a:solidFill>
                  <a:schemeClr val="accent1"/>
                </a:solidFill>
                <a:latin typeface="+mj-lt"/>
              </a:defRPr>
            </a:lvl1pPr>
            <a:lvl2pPr marL="231775" indent="0">
              <a:buNone/>
              <a:defRPr sz="2200">
                <a:solidFill>
                  <a:schemeClr val="accent1"/>
                </a:solidFill>
                <a:latin typeface="+mj-lt"/>
              </a:defRPr>
            </a:lvl2pPr>
            <a:lvl3pPr marL="457200" indent="0">
              <a:buNone/>
              <a:defRPr sz="2200">
                <a:solidFill>
                  <a:schemeClr val="accent1"/>
                </a:solidFill>
                <a:latin typeface="+mj-lt"/>
              </a:defRPr>
            </a:lvl3pPr>
            <a:lvl4pPr marL="688975" indent="0">
              <a:buNone/>
              <a:defRPr sz="2200">
                <a:solidFill>
                  <a:schemeClr val="accent1"/>
                </a:solidFill>
                <a:latin typeface="+mj-lt"/>
              </a:defRPr>
            </a:lvl4pPr>
            <a:lvl5pPr marL="914400" indent="0">
              <a:buNone/>
              <a:defRPr sz="22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155235229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Panel Imag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3121043" y="1007706"/>
            <a:ext cx="2909455" cy="3451562"/>
          </a:xfrm>
        </p:spPr>
        <p:txBody>
          <a:bodyPr/>
          <a:lstStyle/>
          <a:p>
            <a:r>
              <a:rPr lang="en-US" dirty="0"/>
              <a:t>Click icon to add picture</a:t>
            </a:r>
          </a:p>
        </p:txBody>
      </p:sp>
      <p:sp>
        <p:nvSpPr>
          <p:cNvPr id="13" name="Picture Placeholder 12"/>
          <p:cNvSpPr>
            <a:spLocks noGrp="1"/>
          </p:cNvSpPr>
          <p:nvPr>
            <p:ph type="pic" sz="quarter" idx="14"/>
          </p:nvPr>
        </p:nvSpPr>
        <p:spPr>
          <a:xfrm>
            <a:off x="6066253" y="1007706"/>
            <a:ext cx="3075709" cy="3451562"/>
          </a:xfrm>
        </p:spPr>
        <p:txBody>
          <a:bodyPr/>
          <a:lstStyle/>
          <a:p>
            <a:r>
              <a:rPr lang="en-US" dirty="0"/>
              <a:t>Click icon to add picture</a:t>
            </a:r>
          </a:p>
        </p:txBody>
      </p:sp>
      <p:sp>
        <p:nvSpPr>
          <p:cNvPr id="6" name="Picture Placeholder 5"/>
          <p:cNvSpPr>
            <a:spLocks noGrp="1"/>
          </p:cNvSpPr>
          <p:nvPr>
            <p:ph type="pic" sz="quarter" idx="15"/>
          </p:nvPr>
        </p:nvSpPr>
        <p:spPr>
          <a:xfrm>
            <a:off x="0" y="1007706"/>
            <a:ext cx="3075709" cy="3451562"/>
          </a:xfrm>
        </p:spPr>
        <p:txBody>
          <a:bodyPr/>
          <a:lstStyle/>
          <a:p>
            <a:r>
              <a:rPr lang="en-US" dirty="0"/>
              <a:t>Click icon to add picture</a:t>
            </a:r>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lnSpc>
                <a:spcPct val="100000"/>
              </a:lnSpc>
              <a:defRPr lang="en-US" sz="2600" b="1" kern="1200" spc="0" baseline="0" dirty="0">
                <a:solidFill>
                  <a:schemeClr val="accent1"/>
                </a:solidFill>
                <a:latin typeface="Calibri" panose="020F0502020204030204" pitchFamily="34" charset="0"/>
                <a:ea typeface="+mj-ea"/>
                <a:cs typeface="+mj-cs"/>
              </a:defRPr>
            </a:lvl1pPr>
          </a:lstStyle>
          <a:p>
            <a:r>
              <a:rPr lang="en-US" dirty="0"/>
              <a:t>CLICK TO EDIT MASTER TITLE STYLE</a:t>
            </a:r>
          </a:p>
        </p:txBody>
      </p:sp>
    </p:spTree>
    <p:extLst>
      <p:ext uri="{BB962C8B-B14F-4D97-AF65-F5344CB8AC3E}">
        <p14:creationId xmlns:p14="http://schemas.microsoft.com/office/powerpoint/2010/main" val="341177334"/>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and Takeaway (righ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0" y="1007707"/>
            <a:ext cx="6026727" cy="3451551"/>
          </a:xfrm>
        </p:spPr>
        <p:txBody>
          <a:bodyPr/>
          <a:lstStyle/>
          <a:p>
            <a:r>
              <a:rPr lang="en-US" dirty="0"/>
              <a:t>Click icon to add picture</a:t>
            </a:r>
          </a:p>
        </p:txBody>
      </p:sp>
      <p:sp>
        <p:nvSpPr>
          <p:cNvPr id="4" name="Content Placeholder 3"/>
          <p:cNvSpPr>
            <a:spLocks noGrp="1"/>
          </p:cNvSpPr>
          <p:nvPr>
            <p:ph sz="quarter" idx="13"/>
          </p:nvPr>
        </p:nvSpPr>
        <p:spPr>
          <a:xfrm>
            <a:off x="6069991" y="1008064"/>
            <a:ext cx="3074009" cy="3451204"/>
          </a:xfrm>
          <a:solidFill>
            <a:schemeClr val="accent1"/>
          </a:solidFill>
        </p:spPr>
        <p:txBody>
          <a:bodyPr lIns="182880" rIns="274320" anchor="ctr"/>
          <a:lstStyle>
            <a:lvl1pPr marL="0" indent="0">
              <a:buNone/>
              <a:defRPr sz="2200">
                <a:solidFill>
                  <a:schemeClr val="bg1"/>
                </a:solidFill>
              </a:defRPr>
            </a:lvl1pPr>
            <a:lvl2pPr>
              <a:buClr>
                <a:schemeClr val="bg1"/>
              </a:buClr>
              <a:defRPr sz="2000">
                <a:solidFill>
                  <a:schemeClr val="bg1"/>
                </a:solidFill>
              </a:defRPr>
            </a:lvl2pPr>
            <a:lvl3pPr>
              <a:buClr>
                <a:schemeClr val="bg1"/>
              </a:buClr>
              <a:defRPr sz="1800">
                <a:solidFill>
                  <a:schemeClr val="bg1"/>
                </a:solidFill>
              </a:defRPr>
            </a:lvl3pPr>
            <a:lvl4pPr>
              <a:buClr>
                <a:schemeClr val="bg1"/>
              </a:buClr>
              <a:defRPr sz="16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defRPr sz="2600" b="1"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133518607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Takeaway (right)">
    <p:spTree>
      <p:nvGrpSpPr>
        <p:cNvPr id="1" name=""/>
        <p:cNvGrpSpPr/>
        <p:nvPr/>
      </p:nvGrpSpPr>
      <p:grpSpPr>
        <a:xfrm>
          <a:off x="0" y="0"/>
          <a:ext cx="0" cy="0"/>
          <a:chOff x="0" y="0"/>
          <a:chExt cx="0" cy="0"/>
        </a:xfrm>
      </p:grpSpPr>
      <p:sp>
        <p:nvSpPr>
          <p:cNvPr id="7" name="Rectangle 6"/>
          <p:cNvSpPr/>
          <p:nvPr userDrawn="1"/>
        </p:nvSpPr>
        <p:spPr>
          <a:xfrm>
            <a:off x="0" y="1007707"/>
            <a:ext cx="6053327" cy="34490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6053327" y="1005840"/>
            <a:ext cx="3099816" cy="3453427"/>
          </a:xfrm>
          <a:solidFill>
            <a:schemeClr val="accent1"/>
          </a:solidFill>
        </p:spPr>
        <p:txBody>
          <a:bodyPr lIns="182880" tIns="91440" rIns="274320" bIns="91440" anchor="ctr" anchorCtr="0"/>
          <a:lstStyle>
            <a:lvl1pPr marL="0" indent="0" algn="l">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5689600"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233856958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akeaway (bottom)">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8416925" cy="242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167404874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ubtitle and Takeaway">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8" name="Content Placeholder 3"/>
          <p:cNvSpPr>
            <a:spLocks noGrp="1"/>
          </p:cNvSpPr>
          <p:nvPr>
            <p:ph sz="quarter" idx="10"/>
          </p:nvPr>
        </p:nvSpPr>
        <p:spPr>
          <a:xfrm>
            <a:off x="363538" y="1554481"/>
            <a:ext cx="8416925" cy="2203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
        <p:nvSpPr>
          <p:cNvPr id="4" name="Text Placeholder 3"/>
          <p:cNvSpPr>
            <a:spLocks noGrp="1"/>
          </p:cNvSpPr>
          <p:nvPr>
            <p:ph type="body" sz="quarter" idx="15"/>
          </p:nvPr>
        </p:nvSpPr>
        <p:spPr>
          <a:xfrm>
            <a:off x="363538" y="1146175"/>
            <a:ext cx="8234362"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343868765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Takeaway (left)">
    <p:spTree>
      <p:nvGrpSpPr>
        <p:cNvPr id="1" name=""/>
        <p:cNvGrpSpPr/>
        <p:nvPr/>
      </p:nvGrpSpPr>
      <p:grpSpPr>
        <a:xfrm>
          <a:off x="0" y="0"/>
          <a:ext cx="0" cy="0"/>
          <a:chOff x="0" y="0"/>
          <a:chExt cx="0" cy="0"/>
        </a:xfrm>
      </p:grpSpPr>
      <p:sp>
        <p:nvSpPr>
          <p:cNvPr id="7" name="Rectangle 6"/>
          <p:cNvSpPr/>
          <p:nvPr userDrawn="1"/>
        </p:nvSpPr>
        <p:spPr>
          <a:xfrm>
            <a:off x="2589068" y="1007708"/>
            <a:ext cx="6554932"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gn="ctr" defTabSz="582045">
              <a:defRPr/>
            </a:pPr>
            <a:endParaRPr lang="en-US" sz="521" dirty="0">
              <a:solidFill>
                <a:srgbClr val="FFFFFF"/>
              </a:solidFill>
            </a:endParaRPr>
          </a:p>
        </p:txBody>
      </p:sp>
      <p:sp>
        <p:nvSpPr>
          <p:cNvPr id="11" name="Text Placeholder 10"/>
          <p:cNvSpPr>
            <a:spLocks noGrp="1"/>
          </p:cNvSpPr>
          <p:nvPr>
            <p:ph type="body" sz="quarter" idx="16"/>
          </p:nvPr>
        </p:nvSpPr>
        <p:spPr>
          <a:xfrm>
            <a:off x="0" y="1007708"/>
            <a:ext cx="2556164" cy="3451560"/>
          </a:xfrm>
          <a:solidFill>
            <a:schemeClr val="accent1"/>
          </a:solidFill>
        </p:spPr>
        <p:txBody>
          <a:bodyPr lIns="274320" tIns="137160" rIns="91440" bIns="182880" anchor="ctr"/>
          <a:lstStyle>
            <a:lvl1pPr marL="0" indent="0" algn="l">
              <a:buClr>
                <a:schemeClr val="bg1"/>
              </a:buClr>
              <a:buNone/>
              <a:defRPr sz="2000">
                <a:solidFill>
                  <a:schemeClr val="bg1"/>
                </a:solidFill>
              </a:defRPr>
            </a:lvl1pPr>
            <a:lvl2pPr marL="169863" indent="0" algn="ctr">
              <a:buClr>
                <a:schemeClr val="bg1"/>
              </a:buClr>
              <a:buNone/>
              <a:defRPr>
                <a:solidFill>
                  <a:schemeClr val="bg1"/>
                </a:solidFill>
              </a:defRPr>
            </a:lvl2pPr>
            <a:lvl3pPr marL="344487" indent="0" algn="ctr">
              <a:buClr>
                <a:schemeClr val="bg1"/>
              </a:buClr>
              <a:buNone/>
              <a:defRPr>
                <a:solidFill>
                  <a:schemeClr val="bg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p:txBody>
      </p:sp>
      <p:sp>
        <p:nvSpPr>
          <p:cNvPr id="4" name="Content Placeholder 3"/>
          <p:cNvSpPr>
            <a:spLocks noGrp="1"/>
          </p:cNvSpPr>
          <p:nvPr>
            <p:ph sz="quarter" idx="17"/>
          </p:nvPr>
        </p:nvSpPr>
        <p:spPr>
          <a:xfrm>
            <a:off x="2699359" y="1554480"/>
            <a:ext cx="6081104" cy="292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
        <p:nvSpPr>
          <p:cNvPr id="5" name="Text Placeholder 4"/>
          <p:cNvSpPr>
            <a:spLocks noGrp="1"/>
          </p:cNvSpPr>
          <p:nvPr>
            <p:ph type="body" sz="quarter" idx="18"/>
          </p:nvPr>
        </p:nvSpPr>
        <p:spPr>
          <a:xfrm>
            <a:off x="2699359" y="1146175"/>
            <a:ext cx="6001729"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pic>
        <p:nvPicPr>
          <p:cNvPr id="8" name="Picture 7">
            <a:extLst>
              <a:ext uri="{FF2B5EF4-FFF2-40B4-BE49-F238E27FC236}">
                <a16:creationId xmlns:a16="http://schemas.microsoft.com/office/drawing/2014/main" id="{3DB22EA7-1E14-42EF-8704-6F4F3DBDF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2498394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Picture Placeholder 13"/>
          <p:cNvSpPr>
            <a:spLocks noGrp="1"/>
          </p:cNvSpPr>
          <p:nvPr>
            <p:ph type="pic" sz="quarter" idx="16"/>
          </p:nvPr>
        </p:nvSpPr>
        <p:spPr>
          <a:xfrm>
            <a:off x="4613564" y="1007706"/>
            <a:ext cx="2244436" cy="3451561"/>
          </a:xfrm>
        </p:spPr>
        <p:txBody>
          <a:bodyPr/>
          <a:lstStyle/>
          <a:p>
            <a:r>
              <a:rPr lang="en-US" dirty="0"/>
              <a:t>Click icon to add picture</a:t>
            </a:r>
          </a:p>
        </p:txBody>
      </p:sp>
      <p:sp>
        <p:nvSpPr>
          <p:cNvPr id="6" name="Picture Placeholder 5"/>
          <p:cNvSpPr>
            <a:spLocks noGrp="1"/>
          </p:cNvSpPr>
          <p:nvPr>
            <p:ph type="pic" sz="quarter" idx="12"/>
          </p:nvPr>
        </p:nvSpPr>
        <p:spPr>
          <a:xfrm>
            <a:off x="0" y="2833068"/>
            <a:ext cx="2265218" cy="1626199"/>
          </a:xfrm>
        </p:spPr>
        <p:txBody>
          <a:bodyPr/>
          <a:lstStyle/>
          <a:p>
            <a:r>
              <a:rPr lang="en-US" dirty="0"/>
              <a:t>Click icon to add picture</a:t>
            </a:r>
          </a:p>
        </p:txBody>
      </p:sp>
      <p:sp>
        <p:nvSpPr>
          <p:cNvPr id="8" name="Picture Placeholder 7"/>
          <p:cNvSpPr>
            <a:spLocks noGrp="1"/>
          </p:cNvSpPr>
          <p:nvPr>
            <p:ph type="pic" sz="quarter" idx="13"/>
          </p:nvPr>
        </p:nvSpPr>
        <p:spPr>
          <a:xfrm>
            <a:off x="0" y="1007706"/>
            <a:ext cx="4572000" cy="1784480"/>
          </a:xfrm>
        </p:spPr>
        <p:txBody>
          <a:bodyPr/>
          <a:lstStyle/>
          <a:p>
            <a:r>
              <a:rPr lang="en-US" dirty="0"/>
              <a:t>Click icon to add picture</a:t>
            </a:r>
          </a:p>
        </p:txBody>
      </p:sp>
      <p:sp>
        <p:nvSpPr>
          <p:cNvPr id="10" name="Picture Placeholder 9"/>
          <p:cNvSpPr>
            <a:spLocks noGrp="1"/>
          </p:cNvSpPr>
          <p:nvPr>
            <p:ph type="pic" sz="quarter" idx="14"/>
          </p:nvPr>
        </p:nvSpPr>
        <p:spPr>
          <a:xfrm>
            <a:off x="6891543" y="2833068"/>
            <a:ext cx="2244436" cy="1626199"/>
          </a:xfrm>
        </p:spPr>
        <p:txBody>
          <a:bodyPr/>
          <a:lstStyle/>
          <a:p>
            <a:r>
              <a:rPr lang="en-US" dirty="0"/>
              <a:t>Click icon to add picture</a:t>
            </a:r>
          </a:p>
        </p:txBody>
      </p:sp>
      <p:sp>
        <p:nvSpPr>
          <p:cNvPr id="12" name="Picture Placeholder 11"/>
          <p:cNvSpPr>
            <a:spLocks noGrp="1"/>
          </p:cNvSpPr>
          <p:nvPr>
            <p:ph type="pic" sz="quarter" idx="15"/>
          </p:nvPr>
        </p:nvSpPr>
        <p:spPr>
          <a:xfrm>
            <a:off x="6889720" y="1007706"/>
            <a:ext cx="2244436" cy="1784480"/>
          </a:xfrm>
        </p:spPr>
        <p:txBody>
          <a:bodyPr/>
          <a:lstStyle/>
          <a:p>
            <a:r>
              <a:rPr lang="en-US" dirty="0"/>
              <a:t>Click icon to add picture</a:t>
            </a:r>
          </a:p>
        </p:txBody>
      </p:sp>
      <p:sp>
        <p:nvSpPr>
          <p:cNvPr id="16" name="Picture Placeholder 15"/>
          <p:cNvSpPr>
            <a:spLocks noGrp="1"/>
          </p:cNvSpPr>
          <p:nvPr>
            <p:ph type="pic" sz="quarter" idx="17"/>
          </p:nvPr>
        </p:nvSpPr>
        <p:spPr>
          <a:xfrm>
            <a:off x="2306782" y="2833068"/>
            <a:ext cx="2265218" cy="1626199"/>
          </a:xfrm>
        </p:spPr>
        <p:txBody>
          <a:bodyPr/>
          <a:lstStyle/>
          <a:p>
            <a:r>
              <a:rPr lang="en-US" dirty="0"/>
              <a:t>Click icon to add picture</a:t>
            </a:r>
          </a:p>
        </p:txBody>
      </p:sp>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pic>
        <p:nvPicPr>
          <p:cNvPr id="9" name="Picture 8">
            <a:extLst>
              <a:ext uri="{FF2B5EF4-FFF2-40B4-BE49-F238E27FC236}">
                <a16:creationId xmlns:a16="http://schemas.microsoft.com/office/drawing/2014/main" id="{CDE8804A-4E4B-493C-AA10-B77E1ED68D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79161494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ingle Photo">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1007707"/>
            <a:ext cx="9144000" cy="3451560"/>
          </a:xfrm>
        </p:spPr>
        <p:txBody>
          <a:bodyPr lIns="0" tIns="0" rIns="0" bIns="0"/>
          <a:lstStyle/>
          <a:p>
            <a:r>
              <a:rPr lang="en-US" dirty="0"/>
              <a:t>Click icon to add picture</a:t>
            </a: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pic>
        <p:nvPicPr>
          <p:cNvPr id="4" name="Picture 3">
            <a:extLst>
              <a:ext uri="{FF2B5EF4-FFF2-40B4-BE49-F238E27FC236}">
                <a16:creationId xmlns:a16="http://schemas.microsoft.com/office/drawing/2014/main" id="{A76DC819-1B33-4DFD-9B65-9307CBF5A5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686751319"/>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hoto w/Label">
    <p:spTree>
      <p:nvGrpSpPr>
        <p:cNvPr id="1" name=""/>
        <p:cNvGrpSpPr/>
        <p:nvPr/>
      </p:nvGrpSpPr>
      <p:grpSpPr>
        <a:xfrm>
          <a:off x="0" y="0"/>
          <a:ext cx="0" cy="0"/>
          <a:chOff x="0" y="0"/>
          <a:chExt cx="0" cy="0"/>
        </a:xfrm>
      </p:grpSpPr>
      <p:sp>
        <p:nvSpPr>
          <p:cNvPr id="7" name="Rectangle 6"/>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1739034" y="1117322"/>
            <a:ext cx="2763982" cy="2561253"/>
          </a:xfrm>
        </p:spPr>
        <p:txBody>
          <a:bodyPr/>
          <a:lstStyle/>
          <a:p>
            <a:r>
              <a:rPr lang="en-US" dirty="0"/>
              <a:t>Click icon to add picture</a:t>
            </a:r>
          </a:p>
        </p:txBody>
      </p:sp>
      <p:sp>
        <p:nvSpPr>
          <p:cNvPr id="11" name="Picture Placeholder 10"/>
          <p:cNvSpPr>
            <a:spLocks noGrp="1"/>
          </p:cNvSpPr>
          <p:nvPr>
            <p:ph type="pic" sz="quarter" idx="15"/>
          </p:nvPr>
        </p:nvSpPr>
        <p:spPr>
          <a:xfrm>
            <a:off x="4655127" y="1117322"/>
            <a:ext cx="2763982" cy="2561253"/>
          </a:xfrm>
        </p:spPr>
        <p:txBody>
          <a:bodyPr/>
          <a:lstStyle/>
          <a:p>
            <a:r>
              <a:rPr lang="en-US" dirty="0"/>
              <a:t>Click icon to add picture</a:t>
            </a:r>
          </a:p>
        </p:txBody>
      </p:sp>
      <p:sp>
        <p:nvSpPr>
          <p:cNvPr id="13" name="Text Placeholder 12"/>
          <p:cNvSpPr>
            <a:spLocks noGrp="1"/>
          </p:cNvSpPr>
          <p:nvPr>
            <p:ph type="body" sz="quarter" idx="16"/>
          </p:nvPr>
        </p:nvSpPr>
        <p:spPr>
          <a:xfrm>
            <a:off x="1739034" y="3678575"/>
            <a:ext cx="2763693" cy="671804"/>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14" name="Text Placeholder 12"/>
          <p:cNvSpPr>
            <a:spLocks noGrp="1"/>
          </p:cNvSpPr>
          <p:nvPr>
            <p:ph type="body" sz="quarter" idx="17"/>
          </p:nvPr>
        </p:nvSpPr>
        <p:spPr>
          <a:xfrm>
            <a:off x="4655416" y="3678575"/>
            <a:ext cx="2763693" cy="671804"/>
          </a:xfrm>
          <a:solidFill>
            <a:schemeClr val="accent1"/>
          </a:solidFill>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658B7936-045E-4D0C-9DB6-BCA595AE1D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20371280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Photos and Takeawa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1007707"/>
            <a:ext cx="3034145" cy="3451560"/>
          </a:xfrm>
        </p:spPr>
        <p:txBody>
          <a:bodyPr/>
          <a:lstStyle/>
          <a:p>
            <a:r>
              <a:rPr lang="en-US" dirty="0"/>
              <a:t>Click icon to add picture</a:t>
            </a:r>
          </a:p>
        </p:txBody>
      </p:sp>
      <p:sp>
        <p:nvSpPr>
          <p:cNvPr id="12" name="Picture Placeholder 7"/>
          <p:cNvSpPr>
            <a:spLocks noGrp="1"/>
          </p:cNvSpPr>
          <p:nvPr>
            <p:ph type="pic" sz="quarter" idx="15"/>
          </p:nvPr>
        </p:nvSpPr>
        <p:spPr>
          <a:xfrm>
            <a:off x="6109855" y="1007707"/>
            <a:ext cx="3034145" cy="3451560"/>
          </a:xfrm>
        </p:spPr>
        <p:txBody>
          <a:bodyPr/>
          <a:lstStyle/>
          <a:p>
            <a:r>
              <a:rPr lang="en-US" dirty="0"/>
              <a:t>Click icon to add picture</a:t>
            </a:r>
          </a:p>
        </p:txBody>
      </p:sp>
      <p:sp>
        <p:nvSpPr>
          <p:cNvPr id="9" name="Text Placeholder 8"/>
          <p:cNvSpPr>
            <a:spLocks noGrp="1"/>
          </p:cNvSpPr>
          <p:nvPr>
            <p:ph type="body" sz="quarter" idx="16"/>
          </p:nvPr>
        </p:nvSpPr>
        <p:spPr>
          <a:xfrm>
            <a:off x="3063240" y="1005840"/>
            <a:ext cx="3017520" cy="3453373"/>
          </a:xfrm>
          <a:solidFill>
            <a:schemeClr val="accent1"/>
          </a:solidFill>
        </p:spPr>
        <p:txBody>
          <a:bodyPr lIns="182880" tIns="182880" rIns="182880" bIns="182880" anchor="ctr" anchorCtr="0"/>
          <a:lstStyle>
            <a:lvl1pPr marL="0" indent="0" algn="l">
              <a:spcBef>
                <a:spcPts val="545"/>
              </a:spcBef>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6" name="Picture 5">
            <a:extLst>
              <a:ext uri="{FF2B5EF4-FFF2-40B4-BE49-F238E27FC236}">
                <a16:creationId xmlns:a16="http://schemas.microsoft.com/office/drawing/2014/main" id="{58E8909D-860F-4071-A10F-DD33A4CD0E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895957499"/>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hoto and Content (right)">
    <p:spTree>
      <p:nvGrpSpPr>
        <p:cNvPr id="1" name=""/>
        <p:cNvGrpSpPr/>
        <p:nvPr/>
      </p:nvGrpSpPr>
      <p:grpSpPr>
        <a:xfrm>
          <a:off x="0" y="0"/>
          <a:ext cx="0" cy="0"/>
          <a:chOff x="0" y="0"/>
          <a:chExt cx="0" cy="0"/>
        </a:xfrm>
      </p:grpSpPr>
      <p:sp>
        <p:nvSpPr>
          <p:cNvPr id="7" name="Rectangle 6"/>
          <p:cNvSpPr/>
          <p:nvPr userDrawn="1"/>
        </p:nvSpPr>
        <p:spPr>
          <a:xfrm>
            <a:off x="1" y="1007707"/>
            <a:ext cx="600445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6048299" y="1007415"/>
            <a:ext cx="3096491" cy="2863127"/>
          </a:xfrm>
        </p:spPr>
        <p:txBody>
          <a:bodyPr/>
          <a:lstStyle/>
          <a:p>
            <a:r>
              <a:rPr lang="en-US" dirty="0"/>
              <a:t>Click icon to add picture</a:t>
            </a:r>
          </a:p>
        </p:txBody>
      </p:sp>
      <p:sp>
        <p:nvSpPr>
          <p:cNvPr id="10" name="Text Placeholder 12"/>
          <p:cNvSpPr>
            <a:spLocks noGrp="1"/>
          </p:cNvSpPr>
          <p:nvPr>
            <p:ph type="body" sz="quarter" idx="16"/>
          </p:nvPr>
        </p:nvSpPr>
        <p:spPr>
          <a:xfrm>
            <a:off x="6048299" y="3870542"/>
            <a:ext cx="3096096" cy="582461"/>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63538" y="1280160"/>
            <a:ext cx="5640921" cy="3172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497CD10A-BB7E-4CB2-BF75-3F5382449F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26794940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hoto and Content (left)">
    <p:spTree>
      <p:nvGrpSpPr>
        <p:cNvPr id="1" name=""/>
        <p:cNvGrpSpPr/>
        <p:nvPr/>
      </p:nvGrpSpPr>
      <p:grpSpPr>
        <a:xfrm>
          <a:off x="0" y="0"/>
          <a:ext cx="0" cy="0"/>
          <a:chOff x="0" y="0"/>
          <a:chExt cx="0" cy="0"/>
        </a:xfrm>
      </p:grpSpPr>
      <p:sp>
        <p:nvSpPr>
          <p:cNvPr id="7" name="Rectangle 6"/>
          <p:cNvSpPr/>
          <p:nvPr userDrawn="1"/>
        </p:nvSpPr>
        <p:spPr>
          <a:xfrm>
            <a:off x="3140023" y="1007707"/>
            <a:ext cx="600397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310" y="1007415"/>
            <a:ext cx="3096491" cy="2866085"/>
          </a:xfrm>
        </p:spPr>
        <p:txBody>
          <a:bodyPr/>
          <a:lstStyle/>
          <a:p>
            <a:r>
              <a:rPr lang="en-US" dirty="0"/>
              <a:t>Click icon to add picture</a:t>
            </a:r>
          </a:p>
        </p:txBody>
      </p:sp>
      <p:sp>
        <p:nvSpPr>
          <p:cNvPr id="10" name="Text Placeholder 12"/>
          <p:cNvSpPr>
            <a:spLocks noGrp="1"/>
          </p:cNvSpPr>
          <p:nvPr>
            <p:ph type="body" sz="quarter" idx="16"/>
          </p:nvPr>
        </p:nvSpPr>
        <p:spPr>
          <a:xfrm>
            <a:off x="-310" y="3873500"/>
            <a:ext cx="3096096" cy="585767"/>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225451" y="1280160"/>
            <a:ext cx="5555011" cy="3222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027D2DA1-5E77-480E-8E79-0A03912F9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426389903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pic>
        <p:nvPicPr>
          <p:cNvPr id="3" name="Picture 2">
            <a:extLst>
              <a:ext uri="{FF2B5EF4-FFF2-40B4-BE49-F238E27FC236}">
                <a16:creationId xmlns:a16="http://schemas.microsoft.com/office/drawing/2014/main" id="{A1B24C64-5894-4CCF-977F-1551F292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61614102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AAE85D-D78D-4D66-839B-1F6B7BF324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61098044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dirty="0"/>
          </a:p>
        </p:txBody>
      </p:sp>
    </p:spTree>
    <p:extLst>
      <p:ext uri="{BB962C8B-B14F-4D97-AF65-F5344CB8AC3E}">
        <p14:creationId xmlns:p14="http://schemas.microsoft.com/office/powerpoint/2010/main" val="410940611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 White">
  <p:cSld name="1_Title Only - White">
    <p:spTree>
      <p:nvGrpSpPr>
        <p:cNvPr id="1" name="Shape 18"/>
        <p:cNvGrpSpPr/>
        <p:nvPr/>
      </p:nvGrpSpPr>
      <p:grpSpPr>
        <a:xfrm>
          <a:off x="0" y="0"/>
          <a:ext cx="0" cy="0"/>
          <a:chOff x="0" y="0"/>
          <a:chExt cx="0" cy="0"/>
        </a:xfrm>
      </p:grpSpPr>
      <p:sp>
        <p:nvSpPr>
          <p:cNvPr id="19" name="Shape 19"/>
          <p:cNvSpPr txBox="1">
            <a:spLocks noGrp="1"/>
          </p:cNvSpPr>
          <p:nvPr>
            <p:ph type="title"/>
          </p:nvPr>
        </p:nvSpPr>
        <p:spPr>
          <a:xfrm>
            <a:off x="363538" y="440206"/>
            <a:ext cx="8416925" cy="492402"/>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Clr>
                <a:schemeClr val="accent1"/>
              </a:buClr>
              <a:buSzPts val="6933"/>
              <a:buFont typeface="Calibri"/>
              <a:buNone/>
              <a:defRPr sz="2600" b="1" i="0" u="none" strike="noStrike" cap="none">
                <a:solidFill>
                  <a:schemeClr val="accent1"/>
                </a:solidFill>
                <a:latin typeface="Calibri"/>
                <a:ea typeface="Calibri"/>
                <a:cs typeface="Calibri"/>
                <a:sym typeface="Calibri"/>
              </a:defRPr>
            </a:lvl1pPr>
            <a:lvl2pPr lvl="1">
              <a:spcBef>
                <a:spcPts val="0"/>
              </a:spcBef>
              <a:spcAft>
                <a:spcPts val="0"/>
              </a:spcAft>
              <a:buSzPts val="1400"/>
              <a:buNone/>
              <a:defRPr sz="675"/>
            </a:lvl2pPr>
            <a:lvl3pPr lvl="2">
              <a:spcBef>
                <a:spcPts val="0"/>
              </a:spcBef>
              <a:spcAft>
                <a:spcPts val="0"/>
              </a:spcAft>
              <a:buSzPts val="1400"/>
              <a:buNone/>
              <a:defRPr sz="675"/>
            </a:lvl3pPr>
            <a:lvl4pPr lvl="3">
              <a:spcBef>
                <a:spcPts val="0"/>
              </a:spcBef>
              <a:spcAft>
                <a:spcPts val="0"/>
              </a:spcAft>
              <a:buSzPts val="1400"/>
              <a:buNone/>
              <a:defRPr sz="675"/>
            </a:lvl4pPr>
            <a:lvl5pPr lvl="4">
              <a:spcBef>
                <a:spcPts val="0"/>
              </a:spcBef>
              <a:spcAft>
                <a:spcPts val="0"/>
              </a:spcAft>
              <a:buSzPts val="1400"/>
              <a:buNone/>
              <a:defRPr sz="675"/>
            </a:lvl5pPr>
            <a:lvl6pPr lvl="5">
              <a:spcBef>
                <a:spcPts val="0"/>
              </a:spcBef>
              <a:spcAft>
                <a:spcPts val="0"/>
              </a:spcAft>
              <a:buSzPts val="1400"/>
              <a:buNone/>
              <a:defRPr sz="675"/>
            </a:lvl6pPr>
            <a:lvl7pPr lvl="6">
              <a:spcBef>
                <a:spcPts val="0"/>
              </a:spcBef>
              <a:spcAft>
                <a:spcPts val="0"/>
              </a:spcAft>
              <a:buSzPts val="1400"/>
              <a:buNone/>
              <a:defRPr sz="675"/>
            </a:lvl7pPr>
            <a:lvl8pPr lvl="7">
              <a:spcBef>
                <a:spcPts val="0"/>
              </a:spcBef>
              <a:spcAft>
                <a:spcPts val="0"/>
              </a:spcAft>
              <a:buSzPts val="1400"/>
              <a:buNone/>
              <a:defRPr sz="675"/>
            </a:lvl8pPr>
            <a:lvl9pPr lvl="8">
              <a:spcBef>
                <a:spcPts val="0"/>
              </a:spcBef>
              <a:spcAft>
                <a:spcPts val="0"/>
              </a:spcAft>
              <a:buSzPts val="1400"/>
              <a:buNone/>
              <a:defRPr sz="675"/>
            </a:lvl9pPr>
          </a:lstStyle>
          <a:p>
            <a:endParaRPr/>
          </a:p>
        </p:txBody>
      </p:sp>
      <p:pic>
        <p:nvPicPr>
          <p:cNvPr id="20" name="Shape 20"/>
          <p:cNvPicPr preferRelativeResize="0"/>
          <p:nvPr/>
        </p:nvPicPr>
        <p:blipFill rotWithShape="1">
          <a:blip r:embed="rId2">
            <a:alphaModFix/>
          </a:blip>
          <a:srcRect/>
          <a:stretch/>
        </p:blipFill>
        <p:spPr>
          <a:xfrm>
            <a:off x="212429" y="4666125"/>
            <a:ext cx="692743" cy="323439"/>
          </a:xfrm>
          <a:prstGeom prst="rect">
            <a:avLst/>
          </a:prstGeom>
          <a:noFill/>
          <a:ln>
            <a:noFill/>
          </a:ln>
        </p:spPr>
      </p:pic>
    </p:spTree>
    <p:extLst>
      <p:ext uri="{BB962C8B-B14F-4D97-AF65-F5344CB8AC3E}">
        <p14:creationId xmlns:p14="http://schemas.microsoft.com/office/powerpoint/2010/main" val="24781469"/>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Placeholder 4"/>
          <p:cNvPicPr>
            <a:picLocks noChangeAspect="1"/>
          </p:cNvPicPr>
          <p:nvPr userDrawn="1"/>
        </p:nvPicPr>
        <p:blipFill>
          <a:blip r:embed="rId2" cstate="print">
            <a:extLst>
              <a:ext uri="{28A0092B-C50C-407E-A947-70E740481C1C}">
                <a14:useLocalDpi xmlns:a14="http://schemas.microsoft.com/office/drawing/2010/main" val="0"/>
              </a:ext>
            </a:extLst>
          </a:blip>
          <a:srcRect t="6250" b="6250"/>
          <a:stretch>
            <a:fillRect/>
          </a:stretch>
        </p:blipFill>
        <p:spPr>
          <a:xfrm>
            <a:off x="0" y="0"/>
            <a:ext cx="9144000" cy="4000500"/>
          </a:xfrm>
          <a:prstGeom prst="rect">
            <a:avLst/>
          </a:prstGeom>
        </p:spPr>
      </p:pic>
      <p:sp>
        <p:nvSpPr>
          <p:cNvPr id="7" name="Picture Placeholder 6"/>
          <p:cNvSpPr>
            <a:spLocks noGrp="1"/>
          </p:cNvSpPr>
          <p:nvPr>
            <p:ph type="pic" sz="quarter" idx="11"/>
          </p:nvPr>
        </p:nvSpPr>
        <p:spPr>
          <a:xfrm>
            <a:off x="0" y="0"/>
            <a:ext cx="9144000" cy="4000500"/>
          </a:xfrm>
          <a:noFill/>
        </p:spPr>
        <p:txBody>
          <a:bodyPr lIns="0"/>
          <a:lstStyle/>
          <a:p>
            <a:r>
              <a:rPr lang="en-US" dirty="0"/>
              <a:t>Click icon to add picture</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3254" y="4592058"/>
            <a:ext cx="2081852" cy="380285"/>
          </a:xfrm>
          <a:prstGeom prst="rect">
            <a:avLst/>
          </a:prstGeom>
        </p:spPr>
      </p:pic>
      <p:sp>
        <p:nvSpPr>
          <p:cNvPr id="13" name="Text Placeholder 12"/>
          <p:cNvSpPr>
            <a:spLocks noGrp="1"/>
          </p:cNvSpPr>
          <p:nvPr>
            <p:ph type="body" sz="quarter" idx="13" hasCustomPrompt="1"/>
          </p:nvPr>
        </p:nvSpPr>
        <p:spPr>
          <a:xfrm>
            <a:off x="571500" y="4460430"/>
            <a:ext cx="7449344" cy="294856"/>
          </a:xfrm>
        </p:spPr>
        <p:txBody>
          <a:bodyPr tIns="0"/>
          <a:lstStyle>
            <a:lvl1pPr marL="0" indent="0" algn="l">
              <a:spcBef>
                <a:spcPts val="0"/>
              </a:spcBef>
              <a:spcAft>
                <a:spcPts val="0"/>
              </a:spcAft>
              <a:buNone/>
              <a:defRPr sz="2000" b="0"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6" name="Text Placeholder 5"/>
          <p:cNvSpPr>
            <a:spLocks noGrp="1"/>
          </p:cNvSpPr>
          <p:nvPr>
            <p:ph type="body" sz="quarter" idx="10" hasCustomPrompt="1"/>
          </p:nvPr>
        </p:nvSpPr>
        <p:spPr>
          <a:xfrm>
            <a:off x="571500" y="4102227"/>
            <a:ext cx="7449344" cy="346274"/>
          </a:xfrm>
        </p:spPr>
        <p:txBody>
          <a:bodyPr rIns="0" anchor="ctr"/>
          <a:lstStyle>
            <a:lvl1pPr marL="0" indent="0" algn="l">
              <a:buNone/>
              <a:defRPr sz="2400" b="1" cap="all" spc="0" baseline="0">
                <a:solidFill>
                  <a:schemeClr val="accent1"/>
                </a:solidFill>
                <a:latin typeface="Calibri" panose="020F0502020204030204" pitchFamily="34" charset="0"/>
              </a:defRPr>
            </a:lvl1pPr>
          </a:lstStyle>
          <a:p>
            <a:pPr lvl="0"/>
            <a:r>
              <a:rPr lang="en-US" dirty="0"/>
              <a:t>CLICK TO EDIT MASTER TEXT STYLES</a:t>
            </a:r>
          </a:p>
        </p:txBody>
      </p:sp>
      <p:sp>
        <p:nvSpPr>
          <p:cNvPr id="2" name="Title 1"/>
          <p:cNvSpPr>
            <a:spLocks noGrp="1"/>
          </p:cNvSpPr>
          <p:nvPr>
            <p:ph type="title" hasCustomPrompt="1"/>
          </p:nvPr>
        </p:nvSpPr>
        <p:spPr>
          <a:xfrm>
            <a:off x="571501" y="1743075"/>
            <a:ext cx="7441435" cy="514350"/>
          </a:xfrm>
          <a:prstGeom prst="rect">
            <a:avLst/>
          </a:prstGeom>
        </p:spPr>
        <p:txBody>
          <a:bodyPr vert="horz" lIns="0" tIns="0" rIns="0" bIns="0" anchor="ctr">
            <a:noAutofit/>
          </a:bodyPr>
          <a:lstStyle>
            <a:lvl1pPr algn="l">
              <a:defRPr sz="3600" b="1" spc="0" baseline="0">
                <a:solidFill>
                  <a:schemeClr val="bg1"/>
                </a:solidFill>
                <a:effectLst/>
                <a:latin typeface="Calibri" panose="020F0502020204030204" pitchFamily="34" charset="0"/>
              </a:defRPr>
            </a:lvl1pPr>
          </a:lstStyle>
          <a:p>
            <a:r>
              <a:rPr lang="en-US" dirty="0"/>
              <a:t>CLICK TO EDIT MASTER TITLE STYLE</a:t>
            </a:r>
          </a:p>
        </p:txBody>
      </p:sp>
      <p:pic>
        <p:nvPicPr>
          <p:cNvPr id="10" name="Picture 9">
            <a:extLst>
              <a:ext uri="{FF2B5EF4-FFF2-40B4-BE49-F238E27FC236}">
                <a16:creationId xmlns:a16="http://schemas.microsoft.com/office/drawing/2014/main" id="{DE1B8924-DF9F-46AD-84CA-1B80D25D8F5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627748413"/>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196824877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Rectangle 4"/>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4" name="Content Placeholder 3"/>
          <p:cNvSpPr>
            <a:spLocks noGrp="1"/>
          </p:cNvSpPr>
          <p:nvPr>
            <p:ph sz="quarter" idx="14"/>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782" cy="492443"/>
          </a:xfrm>
        </p:spPr>
        <p:txBody>
          <a:bodyPr wrap="square" anchor="b">
            <a:spAutoFit/>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283179723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6" name="Rectangle 5"/>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4" name="Content Placeholder 3"/>
          <p:cNvSpPr>
            <a:spLocks noGrp="1"/>
          </p:cNvSpPr>
          <p:nvPr>
            <p:ph sz="quarter" idx="10"/>
          </p:nvPr>
        </p:nvSpPr>
        <p:spPr>
          <a:xfrm>
            <a:off x="363538" y="1554480"/>
            <a:ext cx="8416925" cy="292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7" y="440164"/>
            <a:ext cx="8416925" cy="492443"/>
          </a:xfrm>
        </p:spPr>
        <p:txBody>
          <a:bodyPr>
            <a:spAutoFit/>
          </a:bodyPr>
          <a:lstStyle>
            <a:lvl1pPr>
              <a:defRPr spc="0" baseline="0"/>
            </a:lvl1pPr>
          </a:lstStyle>
          <a:p>
            <a:r>
              <a:rPr lang="en-US" dirty="0"/>
              <a:t>CLICK TO EDIT MASTER TITLE STYLE</a:t>
            </a:r>
          </a:p>
        </p:txBody>
      </p:sp>
      <p:sp>
        <p:nvSpPr>
          <p:cNvPr id="5" name="Text Placeholder 4"/>
          <p:cNvSpPr>
            <a:spLocks noGrp="1"/>
          </p:cNvSpPr>
          <p:nvPr>
            <p:ph type="body" sz="quarter" idx="11"/>
          </p:nvPr>
        </p:nvSpPr>
        <p:spPr>
          <a:xfrm>
            <a:off x="363538" y="1146175"/>
            <a:ext cx="8416924" cy="352425"/>
          </a:xfrm>
        </p:spPr>
        <p:txBody>
          <a:bodyPr/>
          <a:lstStyle>
            <a:lvl1pPr marL="0" indent="0">
              <a:buNone/>
              <a:defRPr sz="2400">
                <a:solidFill>
                  <a:schemeClr val="accent1"/>
                </a:solidFill>
                <a:latin typeface="+mj-lt"/>
              </a:defRPr>
            </a:lvl1pPr>
            <a:lvl2pPr marL="231775" indent="0">
              <a:buNone/>
              <a:defRPr sz="2200">
                <a:solidFill>
                  <a:schemeClr val="accent1"/>
                </a:solidFill>
                <a:latin typeface="+mj-lt"/>
              </a:defRPr>
            </a:lvl2pPr>
            <a:lvl3pPr marL="457200" indent="0">
              <a:buNone/>
              <a:defRPr sz="2200">
                <a:solidFill>
                  <a:schemeClr val="accent1"/>
                </a:solidFill>
                <a:latin typeface="+mj-lt"/>
              </a:defRPr>
            </a:lvl3pPr>
            <a:lvl4pPr marL="688975" indent="0">
              <a:buNone/>
              <a:defRPr sz="2200">
                <a:solidFill>
                  <a:schemeClr val="accent1"/>
                </a:solidFill>
                <a:latin typeface="+mj-lt"/>
              </a:defRPr>
            </a:lvl4pPr>
            <a:lvl5pPr marL="914400" indent="0">
              <a:buNone/>
              <a:defRPr sz="22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264743466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Panel Imag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3121043" y="1007706"/>
            <a:ext cx="2909455" cy="3451562"/>
          </a:xfrm>
        </p:spPr>
        <p:txBody>
          <a:bodyPr/>
          <a:lstStyle/>
          <a:p>
            <a:r>
              <a:rPr lang="en-US" dirty="0"/>
              <a:t>Click icon to add picture</a:t>
            </a:r>
          </a:p>
        </p:txBody>
      </p:sp>
      <p:sp>
        <p:nvSpPr>
          <p:cNvPr id="13" name="Picture Placeholder 12"/>
          <p:cNvSpPr>
            <a:spLocks noGrp="1"/>
          </p:cNvSpPr>
          <p:nvPr>
            <p:ph type="pic" sz="quarter" idx="14"/>
          </p:nvPr>
        </p:nvSpPr>
        <p:spPr>
          <a:xfrm>
            <a:off x="6066253" y="1007706"/>
            <a:ext cx="3075709" cy="3451562"/>
          </a:xfrm>
        </p:spPr>
        <p:txBody>
          <a:bodyPr/>
          <a:lstStyle/>
          <a:p>
            <a:r>
              <a:rPr lang="en-US" dirty="0"/>
              <a:t>Click icon to add picture</a:t>
            </a:r>
          </a:p>
        </p:txBody>
      </p:sp>
      <p:sp>
        <p:nvSpPr>
          <p:cNvPr id="6" name="Picture Placeholder 5"/>
          <p:cNvSpPr>
            <a:spLocks noGrp="1"/>
          </p:cNvSpPr>
          <p:nvPr>
            <p:ph type="pic" sz="quarter" idx="15"/>
          </p:nvPr>
        </p:nvSpPr>
        <p:spPr>
          <a:xfrm>
            <a:off x="0" y="1007706"/>
            <a:ext cx="3075709" cy="3451562"/>
          </a:xfrm>
        </p:spPr>
        <p:txBody>
          <a:bodyPr/>
          <a:lstStyle/>
          <a:p>
            <a:r>
              <a:rPr lang="en-US" dirty="0"/>
              <a:t>Click icon to add picture</a:t>
            </a:r>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lnSpc>
                <a:spcPct val="100000"/>
              </a:lnSpc>
              <a:defRPr lang="en-US" sz="2600" b="1" kern="1200" spc="0" baseline="0" dirty="0">
                <a:solidFill>
                  <a:schemeClr val="accent1"/>
                </a:solidFill>
                <a:latin typeface="Calibri" panose="020F0502020204030204" pitchFamily="34" charset="0"/>
                <a:ea typeface="+mj-ea"/>
                <a:cs typeface="+mj-cs"/>
              </a:defRPr>
            </a:lvl1pPr>
          </a:lstStyle>
          <a:p>
            <a:r>
              <a:rPr lang="en-US" dirty="0"/>
              <a:t>CLICK TO EDIT MASTER TITLE STYLE</a:t>
            </a:r>
          </a:p>
        </p:txBody>
      </p:sp>
    </p:spTree>
    <p:extLst>
      <p:ext uri="{BB962C8B-B14F-4D97-AF65-F5344CB8AC3E}">
        <p14:creationId xmlns:p14="http://schemas.microsoft.com/office/powerpoint/2010/main" val="246551073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 and Takeaway (righ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0" y="1007707"/>
            <a:ext cx="6026727" cy="3451551"/>
          </a:xfrm>
        </p:spPr>
        <p:txBody>
          <a:bodyPr/>
          <a:lstStyle/>
          <a:p>
            <a:r>
              <a:rPr lang="en-US" dirty="0"/>
              <a:t>Click icon to add picture</a:t>
            </a:r>
          </a:p>
        </p:txBody>
      </p:sp>
      <p:sp>
        <p:nvSpPr>
          <p:cNvPr id="4" name="Content Placeholder 3"/>
          <p:cNvSpPr>
            <a:spLocks noGrp="1"/>
          </p:cNvSpPr>
          <p:nvPr>
            <p:ph sz="quarter" idx="13"/>
          </p:nvPr>
        </p:nvSpPr>
        <p:spPr>
          <a:xfrm>
            <a:off x="6069991" y="1008064"/>
            <a:ext cx="3074009" cy="3451204"/>
          </a:xfrm>
          <a:solidFill>
            <a:schemeClr val="accent1"/>
          </a:solidFill>
        </p:spPr>
        <p:txBody>
          <a:bodyPr lIns="182880" rIns="274320" anchor="ctr"/>
          <a:lstStyle>
            <a:lvl1pPr marL="0" indent="0">
              <a:buNone/>
              <a:defRPr sz="2200">
                <a:solidFill>
                  <a:schemeClr val="bg1"/>
                </a:solidFill>
              </a:defRPr>
            </a:lvl1pPr>
            <a:lvl2pPr>
              <a:buClr>
                <a:schemeClr val="bg1"/>
              </a:buClr>
              <a:defRPr sz="2000">
                <a:solidFill>
                  <a:schemeClr val="bg1"/>
                </a:solidFill>
              </a:defRPr>
            </a:lvl2pPr>
            <a:lvl3pPr>
              <a:buClr>
                <a:schemeClr val="bg1"/>
              </a:buClr>
              <a:defRPr sz="1800">
                <a:solidFill>
                  <a:schemeClr val="bg1"/>
                </a:solidFill>
              </a:defRPr>
            </a:lvl3pPr>
            <a:lvl4pPr>
              <a:buClr>
                <a:schemeClr val="bg1"/>
              </a:buClr>
              <a:defRPr sz="16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363538" y="440246"/>
            <a:ext cx="8416925" cy="492443"/>
          </a:xfrm>
          <a:prstGeom prst="rect">
            <a:avLst/>
          </a:prstGeom>
        </p:spPr>
        <p:txBody>
          <a:bodyPr vert="horz" wrap="square" lIns="91440" tIns="45720" rIns="91440" bIns="45720" anchor="b" anchorCtr="0">
            <a:spAutoFit/>
          </a:bodyPr>
          <a:lstStyle>
            <a:lvl1pPr algn="l">
              <a:defRPr sz="2600" b="1" spc="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51806717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and Takeaway (right)">
    <p:spTree>
      <p:nvGrpSpPr>
        <p:cNvPr id="1" name=""/>
        <p:cNvGrpSpPr/>
        <p:nvPr/>
      </p:nvGrpSpPr>
      <p:grpSpPr>
        <a:xfrm>
          <a:off x="0" y="0"/>
          <a:ext cx="0" cy="0"/>
          <a:chOff x="0" y="0"/>
          <a:chExt cx="0" cy="0"/>
        </a:xfrm>
      </p:grpSpPr>
      <p:sp>
        <p:nvSpPr>
          <p:cNvPr id="7" name="Rectangle 6"/>
          <p:cNvSpPr/>
          <p:nvPr userDrawn="1"/>
        </p:nvSpPr>
        <p:spPr>
          <a:xfrm>
            <a:off x="0" y="1007707"/>
            <a:ext cx="6053327" cy="34490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6053327" y="1005840"/>
            <a:ext cx="3099816" cy="3453427"/>
          </a:xfrm>
          <a:solidFill>
            <a:schemeClr val="accent1"/>
          </a:solidFill>
        </p:spPr>
        <p:txBody>
          <a:bodyPr lIns="182880" tIns="91440" rIns="274320" bIns="91440" anchor="ctr" anchorCtr="0"/>
          <a:lstStyle>
            <a:lvl1pPr marL="0" indent="0" algn="l">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5689600"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Tree>
    <p:extLst>
      <p:ext uri="{BB962C8B-B14F-4D97-AF65-F5344CB8AC3E}">
        <p14:creationId xmlns:p14="http://schemas.microsoft.com/office/powerpoint/2010/main" val="380992307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keaway (bottom)">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5"/>
          </p:nvPr>
        </p:nvSpPr>
        <p:spPr>
          <a:xfrm>
            <a:off x="363538" y="1280160"/>
            <a:ext cx="8416925" cy="242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821237183"/>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btitle and Takeaway">
    <p:spTree>
      <p:nvGrpSpPr>
        <p:cNvPr id="1" name=""/>
        <p:cNvGrpSpPr/>
        <p:nvPr/>
      </p:nvGrpSpPr>
      <p:grpSpPr>
        <a:xfrm>
          <a:off x="0" y="0"/>
          <a:ext cx="0" cy="0"/>
          <a:chOff x="0" y="0"/>
          <a:chExt cx="0" cy="0"/>
        </a:xfrm>
      </p:grpSpPr>
      <p:sp>
        <p:nvSpPr>
          <p:cNvPr id="7" name="Rectangle 6"/>
          <p:cNvSpPr/>
          <p:nvPr userDrawn="1"/>
        </p:nvSpPr>
        <p:spPr>
          <a:xfrm>
            <a:off x="0" y="1007705"/>
            <a:ext cx="9144000" cy="28565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10" name="Text Placeholder 9"/>
          <p:cNvSpPr>
            <a:spLocks noGrp="1"/>
          </p:cNvSpPr>
          <p:nvPr>
            <p:ph type="body" sz="quarter" idx="14"/>
          </p:nvPr>
        </p:nvSpPr>
        <p:spPr>
          <a:xfrm>
            <a:off x="0" y="3908120"/>
            <a:ext cx="9144000" cy="551148"/>
          </a:xfrm>
          <a:solidFill>
            <a:schemeClr val="accent1"/>
          </a:solidFill>
        </p:spPr>
        <p:txBody>
          <a:bodyPr wrap="square" lIns="274320" tIns="91440" rIns="274320" bIns="91440" anchor="ctr" anchorCtr="0"/>
          <a:lstStyle>
            <a:lvl1pPr marL="0" indent="0" algn="ctr">
              <a:buNone/>
              <a:defRPr sz="2000" baseline="0">
                <a:solidFill>
                  <a:schemeClr val="bg1"/>
                </a:solidFill>
              </a:defRPr>
            </a:lvl1pPr>
          </a:lstStyle>
          <a:p>
            <a:pPr lvl="0"/>
            <a:r>
              <a:rPr lang="en-US"/>
              <a:t>Click to edit Master text styles</a:t>
            </a:r>
          </a:p>
        </p:txBody>
      </p:sp>
      <p:sp>
        <p:nvSpPr>
          <p:cNvPr id="8" name="Content Placeholder 3"/>
          <p:cNvSpPr>
            <a:spLocks noGrp="1"/>
          </p:cNvSpPr>
          <p:nvPr>
            <p:ph sz="quarter" idx="10"/>
          </p:nvPr>
        </p:nvSpPr>
        <p:spPr>
          <a:xfrm>
            <a:off x="363538" y="1554481"/>
            <a:ext cx="8416925" cy="2203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atin typeface="Calibri" panose="020F0502020204030204" pitchFamily="34" charset="0"/>
              </a:defRPr>
            </a:lvl1pPr>
          </a:lstStyle>
          <a:p>
            <a:r>
              <a:rPr lang="en-US" dirty="0"/>
              <a:t>CLICK TO EDIT MASTER TITLE STYLE</a:t>
            </a:r>
          </a:p>
        </p:txBody>
      </p:sp>
      <p:sp>
        <p:nvSpPr>
          <p:cNvPr id="4" name="Text Placeholder 3"/>
          <p:cNvSpPr>
            <a:spLocks noGrp="1"/>
          </p:cNvSpPr>
          <p:nvPr>
            <p:ph type="body" sz="quarter" idx="15"/>
          </p:nvPr>
        </p:nvSpPr>
        <p:spPr>
          <a:xfrm>
            <a:off x="363538" y="1146175"/>
            <a:ext cx="8234362"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spTree>
    <p:extLst>
      <p:ext uri="{BB962C8B-B14F-4D97-AF65-F5344CB8AC3E}">
        <p14:creationId xmlns:p14="http://schemas.microsoft.com/office/powerpoint/2010/main" val="288001878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and Takeaway (left)">
    <p:spTree>
      <p:nvGrpSpPr>
        <p:cNvPr id="1" name=""/>
        <p:cNvGrpSpPr/>
        <p:nvPr/>
      </p:nvGrpSpPr>
      <p:grpSpPr>
        <a:xfrm>
          <a:off x="0" y="0"/>
          <a:ext cx="0" cy="0"/>
          <a:chOff x="0" y="0"/>
          <a:chExt cx="0" cy="0"/>
        </a:xfrm>
      </p:grpSpPr>
      <p:sp>
        <p:nvSpPr>
          <p:cNvPr id="7" name="Rectangle 6"/>
          <p:cNvSpPr/>
          <p:nvPr userDrawn="1"/>
        </p:nvSpPr>
        <p:spPr>
          <a:xfrm>
            <a:off x="2589068" y="1007708"/>
            <a:ext cx="6554932"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gn="ctr" defTabSz="582045">
              <a:defRPr/>
            </a:pPr>
            <a:endParaRPr lang="en-US" sz="521" dirty="0">
              <a:solidFill>
                <a:srgbClr val="FFFFFF"/>
              </a:solidFill>
            </a:endParaRPr>
          </a:p>
        </p:txBody>
      </p:sp>
      <p:sp>
        <p:nvSpPr>
          <p:cNvPr id="11" name="Text Placeholder 10"/>
          <p:cNvSpPr>
            <a:spLocks noGrp="1"/>
          </p:cNvSpPr>
          <p:nvPr>
            <p:ph type="body" sz="quarter" idx="16"/>
          </p:nvPr>
        </p:nvSpPr>
        <p:spPr>
          <a:xfrm>
            <a:off x="0" y="1007708"/>
            <a:ext cx="2556164" cy="3451560"/>
          </a:xfrm>
          <a:solidFill>
            <a:schemeClr val="accent1"/>
          </a:solidFill>
        </p:spPr>
        <p:txBody>
          <a:bodyPr lIns="274320" tIns="137160" rIns="91440" bIns="182880" anchor="ctr"/>
          <a:lstStyle>
            <a:lvl1pPr marL="0" indent="0" algn="l">
              <a:buClr>
                <a:schemeClr val="bg1"/>
              </a:buClr>
              <a:buNone/>
              <a:defRPr sz="2000">
                <a:solidFill>
                  <a:schemeClr val="bg1"/>
                </a:solidFill>
              </a:defRPr>
            </a:lvl1pPr>
            <a:lvl2pPr marL="169863" indent="0" algn="ctr">
              <a:buClr>
                <a:schemeClr val="bg1"/>
              </a:buClr>
              <a:buNone/>
              <a:defRPr>
                <a:solidFill>
                  <a:schemeClr val="bg1"/>
                </a:solidFill>
              </a:defRPr>
            </a:lvl2pPr>
            <a:lvl3pPr marL="344487" indent="0" algn="ctr">
              <a:buClr>
                <a:schemeClr val="bg1"/>
              </a:buClr>
              <a:buNone/>
              <a:defRPr>
                <a:solidFill>
                  <a:schemeClr val="bg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p:txBody>
      </p:sp>
      <p:sp>
        <p:nvSpPr>
          <p:cNvPr id="4" name="Content Placeholder 3"/>
          <p:cNvSpPr>
            <a:spLocks noGrp="1"/>
          </p:cNvSpPr>
          <p:nvPr>
            <p:ph sz="quarter" idx="17"/>
          </p:nvPr>
        </p:nvSpPr>
        <p:spPr>
          <a:xfrm>
            <a:off x="2699359" y="1554480"/>
            <a:ext cx="6081104" cy="292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sp>
        <p:nvSpPr>
          <p:cNvPr id="5" name="Text Placeholder 4"/>
          <p:cNvSpPr>
            <a:spLocks noGrp="1"/>
          </p:cNvSpPr>
          <p:nvPr>
            <p:ph type="body" sz="quarter" idx="18"/>
          </p:nvPr>
        </p:nvSpPr>
        <p:spPr>
          <a:xfrm>
            <a:off x="2699359" y="1146175"/>
            <a:ext cx="6001729" cy="352425"/>
          </a:xfrm>
        </p:spPr>
        <p:txBody>
          <a:bodyPr/>
          <a:lstStyle>
            <a:lvl1pPr marL="0" indent="0">
              <a:buNone/>
              <a:defRPr sz="2400">
                <a:solidFill>
                  <a:schemeClr val="accent1"/>
                </a:solidFill>
                <a:latin typeface="+mj-lt"/>
              </a:defRPr>
            </a:lvl1pPr>
            <a:lvl2pPr marL="231775" indent="0">
              <a:buNone/>
              <a:defRPr sz="2400">
                <a:solidFill>
                  <a:schemeClr val="accent1"/>
                </a:solidFill>
                <a:latin typeface="+mj-lt"/>
              </a:defRPr>
            </a:lvl2pPr>
            <a:lvl3pPr marL="457200" indent="0">
              <a:buNone/>
              <a:defRPr sz="2400">
                <a:solidFill>
                  <a:schemeClr val="accent1"/>
                </a:solidFill>
                <a:latin typeface="+mj-lt"/>
              </a:defRPr>
            </a:lvl3pPr>
            <a:lvl4pPr marL="688975" indent="0">
              <a:buNone/>
              <a:defRPr sz="2400">
                <a:solidFill>
                  <a:schemeClr val="accent1"/>
                </a:solidFill>
                <a:latin typeface="+mj-lt"/>
              </a:defRPr>
            </a:lvl4pPr>
            <a:lvl5pPr marL="914400" indent="0">
              <a:buNone/>
              <a:defRPr sz="2400">
                <a:solidFill>
                  <a:schemeClr val="accent1"/>
                </a:solidFill>
                <a:latin typeface="+mj-lt"/>
              </a:defRPr>
            </a:lvl5pPr>
          </a:lstStyle>
          <a:p>
            <a:pPr lvl="0"/>
            <a:r>
              <a:rPr lang="en-US"/>
              <a:t>Click to edit Master text styles</a:t>
            </a:r>
          </a:p>
        </p:txBody>
      </p:sp>
      <p:pic>
        <p:nvPicPr>
          <p:cNvPr id="8" name="Picture 7">
            <a:extLst>
              <a:ext uri="{FF2B5EF4-FFF2-40B4-BE49-F238E27FC236}">
                <a16:creationId xmlns:a16="http://schemas.microsoft.com/office/drawing/2014/main" id="{3DB22EA7-1E14-42EF-8704-6F4F3DBDF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47709255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Picture Placeholder 13"/>
          <p:cNvSpPr>
            <a:spLocks noGrp="1"/>
          </p:cNvSpPr>
          <p:nvPr>
            <p:ph type="pic" sz="quarter" idx="16"/>
          </p:nvPr>
        </p:nvSpPr>
        <p:spPr>
          <a:xfrm>
            <a:off x="4613564" y="1007706"/>
            <a:ext cx="2244436" cy="3451561"/>
          </a:xfrm>
        </p:spPr>
        <p:txBody>
          <a:bodyPr/>
          <a:lstStyle/>
          <a:p>
            <a:r>
              <a:rPr lang="en-US" dirty="0"/>
              <a:t>Click icon to add picture</a:t>
            </a:r>
          </a:p>
        </p:txBody>
      </p:sp>
      <p:sp>
        <p:nvSpPr>
          <p:cNvPr id="6" name="Picture Placeholder 5"/>
          <p:cNvSpPr>
            <a:spLocks noGrp="1"/>
          </p:cNvSpPr>
          <p:nvPr>
            <p:ph type="pic" sz="quarter" idx="12"/>
          </p:nvPr>
        </p:nvSpPr>
        <p:spPr>
          <a:xfrm>
            <a:off x="0" y="2833068"/>
            <a:ext cx="2265218" cy="1626199"/>
          </a:xfrm>
        </p:spPr>
        <p:txBody>
          <a:bodyPr/>
          <a:lstStyle/>
          <a:p>
            <a:r>
              <a:rPr lang="en-US" dirty="0"/>
              <a:t>Click icon to add picture</a:t>
            </a:r>
          </a:p>
        </p:txBody>
      </p:sp>
      <p:sp>
        <p:nvSpPr>
          <p:cNvPr id="8" name="Picture Placeholder 7"/>
          <p:cNvSpPr>
            <a:spLocks noGrp="1"/>
          </p:cNvSpPr>
          <p:nvPr>
            <p:ph type="pic" sz="quarter" idx="13"/>
          </p:nvPr>
        </p:nvSpPr>
        <p:spPr>
          <a:xfrm>
            <a:off x="0" y="1007706"/>
            <a:ext cx="4572000" cy="1784480"/>
          </a:xfrm>
        </p:spPr>
        <p:txBody>
          <a:bodyPr/>
          <a:lstStyle/>
          <a:p>
            <a:r>
              <a:rPr lang="en-US" dirty="0"/>
              <a:t>Click icon to add picture</a:t>
            </a:r>
          </a:p>
        </p:txBody>
      </p:sp>
      <p:sp>
        <p:nvSpPr>
          <p:cNvPr id="10" name="Picture Placeholder 9"/>
          <p:cNvSpPr>
            <a:spLocks noGrp="1"/>
          </p:cNvSpPr>
          <p:nvPr>
            <p:ph type="pic" sz="quarter" idx="14"/>
          </p:nvPr>
        </p:nvSpPr>
        <p:spPr>
          <a:xfrm>
            <a:off x="6891543" y="2833068"/>
            <a:ext cx="2244436" cy="1626199"/>
          </a:xfrm>
        </p:spPr>
        <p:txBody>
          <a:bodyPr/>
          <a:lstStyle/>
          <a:p>
            <a:r>
              <a:rPr lang="en-US" dirty="0"/>
              <a:t>Click icon to add picture</a:t>
            </a:r>
          </a:p>
        </p:txBody>
      </p:sp>
      <p:sp>
        <p:nvSpPr>
          <p:cNvPr id="12" name="Picture Placeholder 11"/>
          <p:cNvSpPr>
            <a:spLocks noGrp="1"/>
          </p:cNvSpPr>
          <p:nvPr>
            <p:ph type="pic" sz="quarter" idx="15"/>
          </p:nvPr>
        </p:nvSpPr>
        <p:spPr>
          <a:xfrm>
            <a:off x="6889720" y="1007706"/>
            <a:ext cx="2244436" cy="1784480"/>
          </a:xfrm>
        </p:spPr>
        <p:txBody>
          <a:bodyPr/>
          <a:lstStyle/>
          <a:p>
            <a:r>
              <a:rPr lang="en-US" dirty="0"/>
              <a:t>Click icon to add picture</a:t>
            </a:r>
          </a:p>
        </p:txBody>
      </p:sp>
      <p:sp>
        <p:nvSpPr>
          <p:cNvPr id="16" name="Picture Placeholder 15"/>
          <p:cNvSpPr>
            <a:spLocks noGrp="1"/>
          </p:cNvSpPr>
          <p:nvPr>
            <p:ph type="pic" sz="quarter" idx="17"/>
          </p:nvPr>
        </p:nvSpPr>
        <p:spPr>
          <a:xfrm>
            <a:off x="2306782" y="2833068"/>
            <a:ext cx="2265218" cy="1626199"/>
          </a:xfrm>
        </p:spPr>
        <p:txBody>
          <a:bodyPr/>
          <a:lstStyle/>
          <a:p>
            <a:r>
              <a:rPr lang="en-US" dirty="0"/>
              <a:t>Click icon to add picture</a:t>
            </a:r>
          </a:p>
        </p:txBody>
      </p:sp>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pic>
        <p:nvPicPr>
          <p:cNvPr id="9" name="Picture 8">
            <a:extLst>
              <a:ext uri="{FF2B5EF4-FFF2-40B4-BE49-F238E27FC236}">
                <a16:creationId xmlns:a16="http://schemas.microsoft.com/office/drawing/2014/main" id="{CDE8804A-4E4B-493C-AA10-B77E1ED68D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47207958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ingle Photo">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1007707"/>
            <a:ext cx="9144000" cy="3451560"/>
          </a:xfrm>
        </p:spPr>
        <p:txBody>
          <a:bodyPr lIns="0" tIns="0" rIns="0" bIns="0"/>
          <a:lstStyle/>
          <a:p>
            <a:r>
              <a:rPr lang="en-US" dirty="0"/>
              <a:t>Click icon to add picture</a:t>
            </a:r>
          </a:p>
        </p:txBody>
      </p:sp>
      <p:sp>
        <p:nvSpPr>
          <p:cNvPr id="2" name="Title 1"/>
          <p:cNvSpPr>
            <a:spLocks noGrp="1"/>
          </p:cNvSpPr>
          <p:nvPr>
            <p:ph type="title" hasCustomPrompt="1"/>
          </p:nvPr>
        </p:nvSpPr>
        <p:spPr/>
        <p:txBody>
          <a:bodyPr/>
          <a:lstStyle>
            <a:lvl1pPr>
              <a:defRPr spc="0" baseline="0"/>
            </a:lvl1pPr>
          </a:lstStyle>
          <a:p>
            <a:r>
              <a:rPr lang="en-US" dirty="0"/>
              <a:t>CLICK TO EDIT MASTER TITLE STYLE</a:t>
            </a:r>
          </a:p>
        </p:txBody>
      </p:sp>
      <p:pic>
        <p:nvPicPr>
          <p:cNvPr id="4" name="Picture 3">
            <a:extLst>
              <a:ext uri="{FF2B5EF4-FFF2-40B4-BE49-F238E27FC236}">
                <a16:creationId xmlns:a16="http://schemas.microsoft.com/office/drawing/2014/main" id="{A76DC819-1B33-4DFD-9B65-9307CBF5A5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54543333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wo Photo w/Label">
    <p:spTree>
      <p:nvGrpSpPr>
        <p:cNvPr id="1" name=""/>
        <p:cNvGrpSpPr/>
        <p:nvPr/>
      </p:nvGrpSpPr>
      <p:grpSpPr>
        <a:xfrm>
          <a:off x="0" y="0"/>
          <a:ext cx="0" cy="0"/>
          <a:chOff x="0" y="0"/>
          <a:chExt cx="0" cy="0"/>
        </a:xfrm>
      </p:grpSpPr>
      <p:sp>
        <p:nvSpPr>
          <p:cNvPr id="7" name="Rectangle 6"/>
          <p:cNvSpPr/>
          <p:nvPr userDrawn="1"/>
        </p:nvSpPr>
        <p:spPr>
          <a:xfrm>
            <a:off x="0" y="1007707"/>
            <a:ext cx="9144000"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1739034" y="1117322"/>
            <a:ext cx="2763982" cy="2561253"/>
          </a:xfrm>
        </p:spPr>
        <p:txBody>
          <a:bodyPr/>
          <a:lstStyle/>
          <a:p>
            <a:r>
              <a:rPr lang="en-US" dirty="0"/>
              <a:t>Click icon to add picture</a:t>
            </a:r>
          </a:p>
        </p:txBody>
      </p:sp>
      <p:sp>
        <p:nvSpPr>
          <p:cNvPr id="11" name="Picture Placeholder 10"/>
          <p:cNvSpPr>
            <a:spLocks noGrp="1"/>
          </p:cNvSpPr>
          <p:nvPr>
            <p:ph type="pic" sz="quarter" idx="15"/>
          </p:nvPr>
        </p:nvSpPr>
        <p:spPr>
          <a:xfrm>
            <a:off x="4655127" y="1117322"/>
            <a:ext cx="2763982" cy="2561253"/>
          </a:xfrm>
        </p:spPr>
        <p:txBody>
          <a:bodyPr/>
          <a:lstStyle/>
          <a:p>
            <a:r>
              <a:rPr lang="en-US" dirty="0"/>
              <a:t>Click icon to add picture</a:t>
            </a:r>
          </a:p>
        </p:txBody>
      </p:sp>
      <p:sp>
        <p:nvSpPr>
          <p:cNvPr id="13" name="Text Placeholder 12"/>
          <p:cNvSpPr>
            <a:spLocks noGrp="1"/>
          </p:cNvSpPr>
          <p:nvPr>
            <p:ph type="body" sz="quarter" idx="16"/>
          </p:nvPr>
        </p:nvSpPr>
        <p:spPr>
          <a:xfrm>
            <a:off x="1739034" y="3678575"/>
            <a:ext cx="2763693" cy="671804"/>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14" name="Text Placeholder 12"/>
          <p:cNvSpPr>
            <a:spLocks noGrp="1"/>
          </p:cNvSpPr>
          <p:nvPr>
            <p:ph type="body" sz="quarter" idx="17"/>
          </p:nvPr>
        </p:nvSpPr>
        <p:spPr>
          <a:xfrm>
            <a:off x="4655416" y="3678575"/>
            <a:ext cx="2763693" cy="671804"/>
          </a:xfrm>
          <a:solidFill>
            <a:schemeClr val="accent1"/>
          </a:solidFill>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658B7936-045E-4D0C-9DB6-BCA595AE1D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96479824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wo Photos and Takeawa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1007707"/>
            <a:ext cx="3034145" cy="3451560"/>
          </a:xfrm>
        </p:spPr>
        <p:txBody>
          <a:bodyPr/>
          <a:lstStyle/>
          <a:p>
            <a:r>
              <a:rPr lang="en-US" dirty="0"/>
              <a:t>Click icon to add picture</a:t>
            </a:r>
          </a:p>
        </p:txBody>
      </p:sp>
      <p:sp>
        <p:nvSpPr>
          <p:cNvPr id="12" name="Picture Placeholder 7"/>
          <p:cNvSpPr>
            <a:spLocks noGrp="1"/>
          </p:cNvSpPr>
          <p:nvPr>
            <p:ph type="pic" sz="quarter" idx="15"/>
          </p:nvPr>
        </p:nvSpPr>
        <p:spPr>
          <a:xfrm>
            <a:off x="6109855" y="1007707"/>
            <a:ext cx="3034145" cy="3451560"/>
          </a:xfrm>
        </p:spPr>
        <p:txBody>
          <a:bodyPr/>
          <a:lstStyle/>
          <a:p>
            <a:r>
              <a:rPr lang="en-US" dirty="0"/>
              <a:t>Click icon to add picture</a:t>
            </a:r>
          </a:p>
        </p:txBody>
      </p:sp>
      <p:sp>
        <p:nvSpPr>
          <p:cNvPr id="9" name="Text Placeholder 8"/>
          <p:cNvSpPr>
            <a:spLocks noGrp="1"/>
          </p:cNvSpPr>
          <p:nvPr>
            <p:ph type="body" sz="quarter" idx="16"/>
          </p:nvPr>
        </p:nvSpPr>
        <p:spPr>
          <a:xfrm>
            <a:off x="3063240" y="1005840"/>
            <a:ext cx="3017520" cy="3453373"/>
          </a:xfrm>
          <a:solidFill>
            <a:schemeClr val="accent1"/>
          </a:solidFill>
        </p:spPr>
        <p:txBody>
          <a:bodyPr lIns="182880" tIns="182880" rIns="182880" bIns="182880" anchor="ctr" anchorCtr="0"/>
          <a:lstStyle>
            <a:lvl1pPr marL="0" indent="0" algn="l">
              <a:spcBef>
                <a:spcPts val="545"/>
              </a:spcBef>
              <a:buNone/>
              <a:defRPr sz="2000" baseline="0">
                <a:solidFill>
                  <a:schemeClr val="bg1"/>
                </a:solidFill>
              </a:defRPr>
            </a:lvl1pPr>
          </a:lstStyle>
          <a:p>
            <a:pPr lvl="0"/>
            <a:r>
              <a:rPr lang="en-US"/>
              <a:t>Click to edit Master text styles</a:t>
            </a:r>
          </a:p>
        </p:txBody>
      </p:sp>
      <p:sp>
        <p:nvSpPr>
          <p:cNvPr id="2" name="Title 1"/>
          <p:cNvSpPr>
            <a:spLocks noGrp="1"/>
          </p:cNvSpPr>
          <p:nvPr>
            <p:ph type="title" hasCustomPrompt="1"/>
          </p:nvPr>
        </p:nvSpPr>
        <p:spPr/>
        <p:txBody>
          <a:bodyPr/>
          <a:lstStyle/>
          <a:p>
            <a:r>
              <a:rPr lang="en-US" dirty="0"/>
              <a:t>CLICK TO EDIT MASTER TITLE STYLE</a:t>
            </a:r>
          </a:p>
        </p:txBody>
      </p:sp>
      <p:pic>
        <p:nvPicPr>
          <p:cNvPr id="6" name="Picture 5">
            <a:extLst>
              <a:ext uri="{FF2B5EF4-FFF2-40B4-BE49-F238E27FC236}">
                <a16:creationId xmlns:a16="http://schemas.microsoft.com/office/drawing/2014/main" id="{58E8909D-860F-4071-A10F-DD33A4CD0E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11962646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hoto and Content (right)">
    <p:spTree>
      <p:nvGrpSpPr>
        <p:cNvPr id="1" name=""/>
        <p:cNvGrpSpPr/>
        <p:nvPr/>
      </p:nvGrpSpPr>
      <p:grpSpPr>
        <a:xfrm>
          <a:off x="0" y="0"/>
          <a:ext cx="0" cy="0"/>
          <a:chOff x="0" y="0"/>
          <a:chExt cx="0" cy="0"/>
        </a:xfrm>
      </p:grpSpPr>
      <p:sp>
        <p:nvSpPr>
          <p:cNvPr id="7" name="Rectangle 6"/>
          <p:cNvSpPr/>
          <p:nvPr userDrawn="1"/>
        </p:nvSpPr>
        <p:spPr>
          <a:xfrm>
            <a:off x="1" y="1007707"/>
            <a:ext cx="600445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6048299" y="1007415"/>
            <a:ext cx="3096491" cy="2863127"/>
          </a:xfrm>
        </p:spPr>
        <p:txBody>
          <a:bodyPr/>
          <a:lstStyle/>
          <a:p>
            <a:r>
              <a:rPr lang="en-US" dirty="0"/>
              <a:t>Click icon to add picture</a:t>
            </a:r>
          </a:p>
        </p:txBody>
      </p:sp>
      <p:sp>
        <p:nvSpPr>
          <p:cNvPr id="10" name="Text Placeholder 12"/>
          <p:cNvSpPr>
            <a:spLocks noGrp="1"/>
          </p:cNvSpPr>
          <p:nvPr>
            <p:ph type="body" sz="quarter" idx="16"/>
          </p:nvPr>
        </p:nvSpPr>
        <p:spPr>
          <a:xfrm>
            <a:off x="6048299" y="3870542"/>
            <a:ext cx="3096096" cy="582461"/>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63538" y="1280160"/>
            <a:ext cx="5640921" cy="3172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497CD10A-BB7E-4CB2-BF75-3F5382449F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574918948"/>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hoto and Content (left)">
    <p:spTree>
      <p:nvGrpSpPr>
        <p:cNvPr id="1" name=""/>
        <p:cNvGrpSpPr/>
        <p:nvPr/>
      </p:nvGrpSpPr>
      <p:grpSpPr>
        <a:xfrm>
          <a:off x="0" y="0"/>
          <a:ext cx="0" cy="0"/>
          <a:chOff x="0" y="0"/>
          <a:chExt cx="0" cy="0"/>
        </a:xfrm>
      </p:grpSpPr>
      <p:sp>
        <p:nvSpPr>
          <p:cNvPr id="7" name="Rectangle 6"/>
          <p:cNvSpPr/>
          <p:nvPr userDrawn="1"/>
        </p:nvSpPr>
        <p:spPr>
          <a:xfrm>
            <a:off x="3140023" y="1007707"/>
            <a:ext cx="6003978" cy="345156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82045">
              <a:defRPr/>
            </a:pPr>
            <a:endParaRPr lang="en-US" sz="521" dirty="0">
              <a:solidFill>
                <a:srgbClr val="FFFFFF"/>
              </a:solidFill>
            </a:endParaRPr>
          </a:p>
        </p:txBody>
      </p:sp>
      <p:sp>
        <p:nvSpPr>
          <p:cNvPr id="8" name="Picture Placeholder 7"/>
          <p:cNvSpPr>
            <a:spLocks noGrp="1"/>
          </p:cNvSpPr>
          <p:nvPr>
            <p:ph type="pic" sz="quarter" idx="14"/>
          </p:nvPr>
        </p:nvSpPr>
        <p:spPr>
          <a:xfrm>
            <a:off x="-310" y="1007415"/>
            <a:ext cx="3096491" cy="2866085"/>
          </a:xfrm>
        </p:spPr>
        <p:txBody>
          <a:bodyPr/>
          <a:lstStyle/>
          <a:p>
            <a:r>
              <a:rPr lang="en-US" dirty="0"/>
              <a:t>Click icon to add picture</a:t>
            </a:r>
          </a:p>
        </p:txBody>
      </p:sp>
      <p:sp>
        <p:nvSpPr>
          <p:cNvPr id="10" name="Text Placeholder 12"/>
          <p:cNvSpPr>
            <a:spLocks noGrp="1"/>
          </p:cNvSpPr>
          <p:nvPr>
            <p:ph type="body" sz="quarter" idx="16"/>
          </p:nvPr>
        </p:nvSpPr>
        <p:spPr>
          <a:xfrm>
            <a:off x="-310" y="3873500"/>
            <a:ext cx="3096096" cy="585767"/>
          </a:xfrm>
          <a:solidFill>
            <a:schemeClr val="accent1"/>
          </a:solidFill>
          <a:ln>
            <a:noFill/>
          </a:ln>
        </p:spPr>
        <p:txBody>
          <a:bodyPr anchor="ctr" anchorCtr="0"/>
          <a:lstStyle>
            <a:lvl1pPr marL="0" indent="0" algn="ctr">
              <a:spcAft>
                <a:spcPts val="0"/>
              </a:spcAft>
              <a:buNone/>
              <a:defRPr sz="2000" baseline="0">
                <a:solidFill>
                  <a:schemeClr val="bg1"/>
                </a:solidFill>
              </a:defRPr>
            </a:lvl1pPr>
          </a:lstStyle>
          <a:p>
            <a:pPr lvl="0"/>
            <a:r>
              <a:rPr lang="en-US"/>
              <a:t>Click to edit Master text styles</a:t>
            </a:r>
          </a:p>
        </p:txBody>
      </p:sp>
      <p:sp>
        <p:nvSpPr>
          <p:cNvPr id="4" name="Content Placeholder 3"/>
          <p:cNvSpPr>
            <a:spLocks noGrp="1"/>
          </p:cNvSpPr>
          <p:nvPr>
            <p:ph sz="quarter" idx="17"/>
          </p:nvPr>
        </p:nvSpPr>
        <p:spPr>
          <a:xfrm>
            <a:off x="3225451" y="1280160"/>
            <a:ext cx="5555011" cy="3222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p>
            <a:r>
              <a:rPr lang="en-US" dirty="0"/>
              <a:t>CLICK TO EDIT MASTER TITLE STYLE</a:t>
            </a:r>
          </a:p>
        </p:txBody>
      </p:sp>
      <p:pic>
        <p:nvPicPr>
          <p:cNvPr id="9" name="Picture 8">
            <a:extLst>
              <a:ext uri="{FF2B5EF4-FFF2-40B4-BE49-F238E27FC236}">
                <a16:creationId xmlns:a16="http://schemas.microsoft.com/office/drawing/2014/main" id="{027D2DA1-5E77-480E-8E79-0A03912F9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175360122"/>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pic>
        <p:nvPicPr>
          <p:cNvPr id="3" name="Picture 2">
            <a:extLst>
              <a:ext uri="{FF2B5EF4-FFF2-40B4-BE49-F238E27FC236}">
                <a16:creationId xmlns:a16="http://schemas.microsoft.com/office/drawing/2014/main" id="{A1B24C64-5894-4CCF-977F-1551F292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736968707"/>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AAE85D-D78D-4D66-839B-1F6B7BF324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138787586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image" Target="../media/image1.png"/><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theme" Target="../theme/theme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3" Type="http://schemas.openxmlformats.org/officeDocument/2006/relationships/slideLayout" Target="../slideLayouts/slideLayout45.xml"/><Relationship Id="rId21" Type="http://schemas.openxmlformats.org/officeDocument/2006/relationships/theme" Target="../theme/theme3.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image" Target="../media/image2.png"/><Relationship Id="rId10" Type="http://schemas.openxmlformats.org/officeDocument/2006/relationships/slideLayout" Target="../slideLayouts/slideLayout52.xml"/><Relationship Id="rId19" Type="http://schemas.openxmlformats.org/officeDocument/2006/relationships/slideLayout" Target="../slideLayouts/slideLayout61.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image" Target="../media/image2.png"/><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image" Target="../media/image1.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19" Type="http://schemas.openxmlformats.org/officeDocument/2006/relationships/theme" Target="../theme/theme4.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7997763" y="4755286"/>
            <a:ext cx="817857" cy="200375"/>
          </a:xfrm>
          <a:prstGeom prst="rect">
            <a:avLst/>
          </a:prstGeom>
        </p:spPr>
      </p:pic>
      <p:sp>
        <p:nvSpPr>
          <p:cNvPr id="21" name="Rectangle 20"/>
          <p:cNvSpPr>
            <a:spLocks noGrp="1" noChangeArrowheads="1"/>
          </p:cNvSpPr>
          <p:nvPr/>
        </p:nvSpPr>
        <p:spPr bwMode="gray">
          <a:xfrm>
            <a:off x="4155948" y="4690608"/>
            <a:ext cx="832104" cy="273844"/>
          </a:xfrm>
          <a:prstGeom prst="rect">
            <a:avLst/>
          </a:prstGeom>
          <a:noFill/>
          <a:ln w="9525" algn="ctr">
            <a:noFill/>
            <a:miter lim="800000"/>
            <a:headEnd/>
            <a:tailEnd/>
          </a:ln>
          <a:effectLst/>
        </p:spPr>
        <p:txBody>
          <a:bodyPr lIns="0" tIns="0" rIns="0" bIns="0" anchor="b" anchorCtr="0"/>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marL="0" marR="0" lvl="0" indent="0" algn="ctr" defTabSz="582045" rtl="0" eaLnBrk="1" fontAlgn="base" latinLnBrk="0" hangingPunct="1">
              <a:lnSpc>
                <a:spcPct val="100000"/>
              </a:lnSpc>
              <a:spcBef>
                <a:spcPct val="0"/>
              </a:spcBef>
              <a:spcAft>
                <a:spcPct val="0"/>
              </a:spcAft>
              <a:buClrTx/>
              <a:buSzTx/>
              <a:buFontTx/>
              <a:buNone/>
              <a:tabLst/>
              <a:defRPr/>
            </a:pPr>
            <a:fld id="{5909AF01-7EFE-4A29-B021-8BA707099C41}" type="slidenum">
              <a:rPr kumimoji="0" lang="en-US" sz="700" b="1" i="0" u="none" strike="noStrike" kern="1200" cap="none" spc="0" normalizeH="0" baseline="0" noProof="0">
                <a:ln>
                  <a:noFill/>
                </a:ln>
                <a:solidFill>
                  <a:srgbClr val="716F73"/>
                </a:solidFill>
                <a:effectLst/>
                <a:uLnTx/>
                <a:uFillTx/>
                <a:latin typeface="Arial"/>
                <a:ea typeface="+mn-ea"/>
                <a:cs typeface="+mn-cs"/>
              </a:rPr>
              <a:pPr marL="0" marR="0" lvl="0" indent="0" algn="ctr" defTabSz="582045" rtl="0" eaLnBrk="1" fontAlgn="base" latinLnBrk="0" hangingPunct="1">
                <a:lnSpc>
                  <a:spcPct val="100000"/>
                </a:lnSpc>
                <a:spcBef>
                  <a:spcPct val="0"/>
                </a:spcBef>
                <a:spcAft>
                  <a:spcPct val="0"/>
                </a:spcAft>
                <a:buClrTx/>
                <a:buSzTx/>
                <a:buFontTx/>
                <a:buNone/>
                <a:tabLst/>
                <a:defRPr/>
              </a:pPr>
              <a:t>‹#›</a:t>
            </a:fld>
            <a:endParaRPr kumimoji="0" lang="en-US" sz="700" b="1" i="0" u="none" strike="noStrike" kern="1200" cap="none" spc="0" normalizeH="0" baseline="0" noProof="0" dirty="0">
              <a:ln>
                <a:noFill/>
              </a:ln>
              <a:solidFill>
                <a:srgbClr val="716F73"/>
              </a:solidFill>
              <a:effectLst/>
              <a:uLnTx/>
              <a:uFillTx/>
              <a:latin typeface="Arial"/>
              <a:ea typeface="+mn-ea"/>
              <a:cs typeface="+mn-cs"/>
            </a:endParaRPr>
          </a:p>
        </p:txBody>
      </p:sp>
      <p:sp>
        <p:nvSpPr>
          <p:cNvPr id="2" name="Text Placeholder 1"/>
          <p:cNvSpPr>
            <a:spLocks noGrp="1"/>
          </p:cNvSpPr>
          <p:nvPr>
            <p:ph type="body" idx="1"/>
          </p:nvPr>
        </p:nvSpPr>
        <p:spPr>
          <a:xfrm>
            <a:off x="363538" y="1280160"/>
            <a:ext cx="8416782" cy="31144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6"/>
          <p:cNvSpPr>
            <a:spLocks noGrp="1"/>
          </p:cNvSpPr>
          <p:nvPr>
            <p:ph type="title"/>
          </p:nvPr>
        </p:nvSpPr>
        <p:spPr>
          <a:xfrm>
            <a:off x="363537" y="440164"/>
            <a:ext cx="8416925" cy="492443"/>
          </a:xfrm>
          <a:prstGeom prst="rect">
            <a:avLst/>
          </a:prstGeom>
        </p:spPr>
        <p:txBody>
          <a:bodyPr vert="horz" lIns="91440" tIns="45720" rIns="91440" bIns="45720" rtlCol="0" anchor="b" anchorCtr="0">
            <a:spAutoFit/>
          </a:bodyPr>
          <a:lstStyle/>
          <a:p>
            <a:r>
              <a:rPr lang="en-US"/>
              <a:t>Click to edit Master title style</a:t>
            </a:r>
            <a:endParaRPr lang="en-US" dirty="0"/>
          </a:p>
        </p:txBody>
      </p:sp>
      <p:pic>
        <p:nvPicPr>
          <p:cNvPr id="6" name="Picture 5">
            <a:extLst>
              <a:ext uri="{FF2B5EF4-FFF2-40B4-BE49-F238E27FC236}">
                <a16:creationId xmlns:a16="http://schemas.microsoft.com/office/drawing/2014/main" id="{55DCC29F-54E2-4923-8BCA-0C12092134B3}"/>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2261347708"/>
      </p:ext>
    </p:extLst>
  </p:cSld>
  <p:clrMap bg1="lt1" tx1="dk1" bg2="lt2" tx2="dk2" accent1="accent1" accent2="accent2" accent3="accent3" accent4="accent4" accent5="accent5" accent6="accent6" hlink="hlink" folHlink="folHlink"/>
  <p:sldLayoutIdLst>
    <p:sldLayoutId id="2147483710" r:id="rId1"/>
    <p:sldLayoutId id="2147483718" r:id="rId2"/>
    <p:sldLayoutId id="2147483715" r:id="rId3"/>
    <p:sldLayoutId id="2147483717" r:id="rId4"/>
    <p:sldLayoutId id="2147483713" r:id="rId5"/>
    <p:sldLayoutId id="2147483712" r:id="rId6"/>
    <p:sldLayoutId id="2147483719" r:id="rId7"/>
    <p:sldLayoutId id="2147483720" r:id="rId8"/>
    <p:sldLayoutId id="214748373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93" r:id="rId19"/>
    <p:sldLayoutId id="2147483795" r:id="rId20"/>
    <p:sldLayoutId id="2147483796" r:id="rId21"/>
    <p:sldLayoutId id="2147483797" r:id="rId22"/>
    <p:sldLayoutId id="2147483798" r:id="rId23"/>
  </p:sldLayoutIdLst>
  <p:transition>
    <p:fade/>
  </p:transition>
  <p:hf hdr="0"/>
  <p:txStyles>
    <p:title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p:titleStyle>
    <p:bodyStyle>
      <a:lvl1pPr marL="231775" indent="-231775" algn="l" defTabSz="285707" rtl="0" eaLnBrk="1" latinLnBrk="0" hangingPunct="1">
        <a:lnSpc>
          <a:spcPct val="100000"/>
        </a:lnSpc>
        <a:spcBef>
          <a:spcPts val="600"/>
        </a:spcBef>
        <a:spcAft>
          <a:spcPts val="0"/>
        </a:spcAft>
        <a:buClr>
          <a:schemeClr val="accent1"/>
        </a:buClr>
        <a:buSzPct val="90000"/>
        <a:buFont typeface="Arial" panose="020B0604020202020204" pitchFamily="34" charset="0"/>
        <a:buChar char="•"/>
        <a:defRPr sz="2200" b="1" kern="1200" spc="0" baseline="0">
          <a:solidFill>
            <a:schemeClr val="tx1"/>
          </a:solidFill>
          <a:latin typeface="+mn-lt"/>
          <a:ea typeface="+mn-ea"/>
          <a:cs typeface="+mn-cs"/>
        </a:defRPr>
      </a:lvl1pPr>
      <a:lvl2pPr marL="457200" indent="-22542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2000" b="1" kern="1200" spc="0" baseline="0">
          <a:solidFill>
            <a:schemeClr val="tx1"/>
          </a:solidFill>
          <a:latin typeface="+mn-lt"/>
          <a:ea typeface="+mn-ea"/>
          <a:cs typeface="+mn-cs"/>
        </a:defRPr>
      </a:lvl2pPr>
      <a:lvl3pPr marL="688975" indent="-23177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1800" b="1" kern="1200" spc="0" baseline="0">
          <a:solidFill>
            <a:schemeClr val="tx1"/>
          </a:solidFill>
          <a:latin typeface="+mn-lt"/>
          <a:ea typeface="+mn-ea"/>
          <a:cs typeface="+mn-cs"/>
        </a:defRPr>
      </a:lvl3pPr>
      <a:lvl4pPr marL="914400" indent="-225425" algn="l" defTabSz="285707" rtl="0" eaLnBrk="1" latinLnBrk="0" hangingPunct="1">
        <a:lnSpc>
          <a:spcPct val="100000"/>
        </a:lnSpc>
        <a:spcBef>
          <a:spcPts val="300"/>
        </a:spcBef>
        <a:buClr>
          <a:schemeClr val="accent1"/>
        </a:buClr>
        <a:buSzPct val="90000"/>
        <a:buFont typeface="Arial" panose="020B0604020202020204" pitchFamily="34" charset="0"/>
        <a:buChar char="–"/>
        <a:defRPr sz="1600" b="1" kern="1200" baseline="0">
          <a:solidFill>
            <a:schemeClr val="tx1"/>
          </a:solidFill>
          <a:latin typeface="+mn-lt"/>
          <a:ea typeface="+mn-ea"/>
          <a:cs typeface="+mn-cs"/>
        </a:defRPr>
      </a:lvl4pPr>
      <a:lvl5pPr marL="1084263" indent="-169863" algn="l" defTabSz="285707" rtl="0" eaLnBrk="1" latinLnBrk="0" hangingPunct="1">
        <a:lnSpc>
          <a:spcPct val="100000"/>
        </a:lnSpc>
        <a:spcBef>
          <a:spcPts val="300"/>
        </a:spcBef>
        <a:buClr>
          <a:schemeClr val="accent1"/>
        </a:buClr>
        <a:buSzPct val="90000"/>
        <a:buFont typeface="Arial" panose="020B0604020202020204" pitchFamily="34" charset="0"/>
        <a:buChar char="•"/>
        <a:defRPr sz="1400" b="1" kern="1200" baseline="0">
          <a:solidFill>
            <a:schemeClr val="tx1"/>
          </a:solidFill>
          <a:latin typeface="+mn-lt"/>
          <a:ea typeface="+mn-ea"/>
          <a:cs typeface="+mn-cs"/>
        </a:defRPr>
      </a:lvl5pPr>
      <a:lvl6pPr marL="714269" indent="0" algn="l" defTabSz="285707" rtl="0" eaLnBrk="1" latinLnBrk="0" hangingPunct="1">
        <a:lnSpc>
          <a:spcPct val="90000"/>
        </a:lnSpc>
        <a:spcBef>
          <a:spcPts val="156"/>
        </a:spcBef>
        <a:buFont typeface="Arial" panose="020B0604020202020204" pitchFamily="34" charset="0"/>
        <a:buNone/>
        <a:defRPr sz="563" kern="1200">
          <a:solidFill>
            <a:schemeClr val="tx1"/>
          </a:solidFill>
          <a:latin typeface="+mn-lt"/>
          <a:ea typeface="+mn-ea"/>
          <a:cs typeface="+mn-cs"/>
        </a:defRPr>
      </a:lvl6pPr>
      <a:lvl7pPr marL="928549"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403"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257"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07" rtl="0" eaLnBrk="1" latinLnBrk="0" hangingPunct="1">
        <a:defRPr sz="563" kern="1200">
          <a:solidFill>
            <a:schemeClr val="tx1"/>
          </a:solidFill>
          <a:latin typeface="+mn-lt"/>
          <a:ea typeface="+mn-ea"/>
          <a:cs typeface="+mn-cs"/>
        </a:defRPr>
      </a:lvl1pPr>
      <a:lvl2pPr marL="142854" algn="l" defTabSz="285707" rtl="0" eaLnBrk="1" latinLnBrk="0" hangingPunct="1">
        <a:defRPr sz="563" kern="1200">
          <a:solidFill>
            <a:schemeClr val="tx1"/>
          </a:solidFill>
          <a:latin typeface="+mn-lt"/>
          <a:ea typeface="+mn-ea"/>
          <a:cs typeface="+mn-cs"/>
        </a:defRPr>
      </a:lvl2pPr>
      <a:lvl3pPr marL="285707" algn="l" defTabSz="285707" rtl="0" eaLnBrk="1" latinLnBrk="0" hangingPunct="1">
        <a:defRPr sz="563" kern="1200">
          <a:solidFill>
            <a:schemeClr val="tx1"/>
          </a:solidFill>
          <a:latin typeface="+mn-lt"/>
          <a:ea typeface="+mn-ea"/>
          <a:cs typeface="+mn-cs"/>
        </a:defRPr>
      </a:lvl3pPr>
      <a:lvl4pPr marL="428561" algn="l" defTabSz="285707" rtl="0" eaLnBrk="1" latinLnBrk="0" hangingPunct="1">
        <a:defRPr sz="563" kern="1200">
          <a:solidFill>
            <a:schemeClr val="tx1"/>
          </a:solidFill>
          <a:latin typeface="+mn-lt"/>
          <a:ea typeface="+mn-ea"/>
          <a:cs typeface="+mn-cs"/>
        </a:defRPr>
      </a:lvl4pPr>
      <a:lvl5pPr marL="571415" algn="l" defTabSz="285707" rtl="0" eaLnBrk="1" latinLnBrk="0" hangingPunct="1">
        <a:defRPr sz="563" kern="1200">
          <a:solidFill>
            <a:schemeClr val="tx1"/>
          </a:solidFill>
          <a:latin typeface="+mn-lt"/>
          <a:ea typeface="+mn-ea"/>
          <a:cs typeface="+mn-cs"/>
        </a:defRPr>
      </a:lvl5pPr>
      <a:lvl6pPr marL="714269" algn="l" defTabSz="285707" rtl="0" eaLnBrk="1" latinLnBrk="0" hangingPunct="1">
        <a:defRPr sz="563" kern="1200">
          <a:solidFill>
            <a:schemeClr val="tx1"/>
          </a:solidFill>
          <a:latin typeface="+mn-lt"/>
          <a:ea typeface="+mn-ea"/>
          <a:cs typeface="+mn-cs"/>
        </a:defRPr>
      </a:lvl6pPr>
      <a:lvl7pPr marL="857122" algn="l" defTabSz="285707" rtl="0" eaLnBrk="1" latinLnBrk="0" hangingPunct="1">
        <a:defRPr sz="563" kern="1200">
          <a:solidFill>
            <a:schemeClr val="tx1"/>
          </a:solidFill>
          <a:latin typeface="+mn-lt"/>
          <a:ea typeface="+mn-ea"/>
          <a:cs typeface="+mn-cs"/>
        </a:defRPr>
      </a:lvl7pPr>
      <a:lvl8pPr marL="999976" algn="l" defTabSz="285707" rtl="0" eaLnBrk="1" latinLnBrk="0" hangingPunct="1">
        <a:defRPr sz="563" kern="1200">
          <a:solidFill>
            <a:schemeClr val="tx1"/>
          </a:solidFill>
          <a:latin typeface="+mn-lt"/>
          <a:ea typeface="+mn-ea"/>
          <a:cs typeface="+mn-cs"/>
        </a:defRPr>
      </a:lvl8pPr>
      <a:lvl9pPr marL="1142830" algn="l" defTabSz="285707" rtl="0" eaLnBrk="1" latinLnBrk="0" hangingPunct="1">
        <a:defRPr sz="56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997764" y="4755287"/>
            <a:ext cx="817857" cy="200375"/>
          </a:xfrm>
          <a:prstGeom prst="rect">
            <a:avLst/>
          </a:prstGeom>
        </p:spPr>
      </p:pic>
      <p:sp>
        <p:nvSpPr>
          <p:cNvPr id="21" name="Rectangle 20"/>
          <p:cNvSpPr>
            <a:spLocks noGrp="1" noChangeArrowheads="1"/>
          </p:cNvSpPr>
          <p:nvPr/>
        </p:nvSpPr>
        <p:spPr bwMode="gray">
          <a:xfrm>
            <a:off x="4155948" y="4690608"/>
            <a:ext cx="832104" cy="273844"/>
          </a:xfrm>
          <a:prstGeom prst="rect">
            <a:avLst/>
          </a:prstGeom>
          <a:noFill/>
          <a:ln w="9525" algn="ctr">
            <a:noFill/>
            <a:miter lim="800000"/>
            <a:headEnd/>
            <a:tailEnd/>
          </a:ln>
          <a:effectLst/>
        </p:spPr>
        <p:txBody>
          <a:bodyPr lIns="0" tIns="0" rIns="0" bIns="0" anchor="b" anchorCtr="0"/>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marL="0" marR="0" lvl="0" indent="0" algn="ctr" defTabSz="582031" rtl="0" eaLnBrk="1" fontAlgn="base" latinLnBrk="0" hangingPunct="1">
              <a:lnSpc>
                <a:spcPct val="100000"/>
              </a:lnSpc>
              <a:spcBef>
                <a:spcPct val="0"/>
              </a:spcBef>
              <a:spcAft>
                <a:spcPct val="0"/>
              </a:spcAft>
              <a:buClrTx/>
              <a:buSzTx/>
              <a:buFontTx/>
              <a:buNone/>
              <a:tabLst/>
              <a:defRPr/>
            </a:pPr>
            <a:fld id="{5909AF01-7EFE-4A29-B021-8BA707099C41}" type="slidenum">
              <a:rPr kumimoji="0" lang="en-US" sz="700" b="1" i="0" u="none" strike="noStrike" kern="1200" cap="none" spc="0" normalizeH="0" baseline="0" noProof="0">
                <a:ln>
                  <a:noFill/>
                </a:ln>
                <a:solidFill>
                  <a:srgbClr val="716F73"/>
                </a:solidFill>
                <a:effectLst/>
                <a:uLnTx/>
                <a:uFillTx/>
                <a:latin typeface="Arial"/>
                <a:ea typeface="+mn-ea"/>
                <a:cs typeface="+mn-cs"/>
              </a:rPr>
              <a:pPr marL="0" marR="0" lvl="0" indent="0" algn="ctr" defTabSz="582031" rtl="0" eaLnBrk="1" fontAlgn="base" latinLnBrk="0" hangingPunct="1">
                <a:lnSpc>
                  <a:spcPct val="100000"/>
                </a:lnSpc>
                <a:spcBef>
                  <a:spcPct val="0"/>
                </a:spcBef>
                <a:spcAft>
                  <a:spcPct val="0"/>
                </a:spcAft>
                <a:buClrTx/>
                <a:buSzTx/>
                <a:buFontTx/>
                <a:buNone/>
                <a:tabLst/>
                <a:defRPr/>
              </a:pPr>
              <a:t>‹#›</a:t>
            </a:fld>
            <a:endParaRPr kumimoji="0" lang="en-US" sz="700" b="1" i="0" u="none" strike="noStrike" kern="1200" cap="none" spc="0" normalizeH="0" baseline="0" noProof="0" dirty="0">
              <a:ln>
                <a:noFill/>
              </a:ln>
              <a:solidFill>
                <a:srgbClr val="716F73"/>
              </a:solidFill>
              <a:effectLst/>
              <a:uLnTx/>
              <a:uFillTx/>
              <a:latin typeface="Arial"/>
              <a:ea typeface="+mn-ea"/>
              <a:cs typeface="+mn-cs"/>
            </a:endParaRPr>
          </a:p>
        </p:txBody>
      </p:sp>
      <p:sp>
        <p:nvSpPr>
          <p:cNvPr id="2" name="Text Placeholder 1"/>
          <p:cNvSpPr>
            <a:spLocks noGrp="1"/>
          </p:cNvSpPr>
          <p:nvPr>
            <p:ph type="body" idx="1"/>
          </p:nvPr>
        </p:nvSpPr>
        <p:spPr>
          <a:xfrm>
            <a:off x="363538" y="1280161"/>
            <a:ext cx="8416782" cy="31144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6"/>
          <p:cNvSpPr>
            <a:spLocks noGrp="1"/>
          </p:cNvSpPr>
          <p:nvPr>
            <p:ph type="title"/>
          </p:nvPr>
        </p:nvSpPr>
        <p:spPr>
          <a:xfrm>
            <a:off x="363538" y="440165"/>
            <a:ext cx="8416925" cy="492443"/>
          </a:xfrm>
          <a:prstGeom prst="rect">
            <a:avLst/>
          </a:prstGeom>
        </p:spPr>
        <p:txBody>
          <a:bodyPr vert="horz" lIns="91440" tIns="45720" rIns="91440" bIns="45720" rtlCol="0" anchor="b" anchorCtr="0">
            <a:spAutoFit/>
          </a:bodyPr>
          <a:lstStyle/>
          <a:p>
            <a:r>
              <a:rPr lang="en-US"/>
              <a:t>Click to edit Master title style</a:t>
            </a:r>
            <a:endParaRPr lang="en-US" dirty="0"/>
          </a:p>
        </p:txBody>
      </p:sp>
      <p:pic>
        <p:nvPicPr>
          <p:cNvPr id="6" name="Picture 5">
            <a:extLst>
              <a:ext uri="{FF2B5EF4-FFF2-40B4-BE49-F238E27FC236}">
                <a16:creationId xmlns:a16="http://schemas.microsoft.com/office/drawing/2014/main" id="{55DCC29F-54E2-4923-8BCA-0C12092134B3}"/>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212429" y="4666124"/>
            <a:ext cx="692743" cy="323439"/>
          </a:xfrm>
          <a:prstGeom prst="rect">
            <a:avLst/>
          </a:prstGeom>
        </p:spPr>
      </p:pic>
    </p:spTree>
    <p:extLst>
      <p:ext uri="{BB962C8B-B14F-4D97-AF65-F5344CB8AC3E}">
        <p14:creationId xmlns:p14="http://schemas.microsoft.com/office/powerpoint/2010/main" val="169488063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Lst>
  <p:transition>
    <p:fade/>
  </p:transition>
  <p:hf hdr="0"/>
  <p:txStyles>
    <p:titleStyle>
      <a:lvl1pPr algn="l" defTabSz="285700"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p:titleStyle>
    <p:bodyStyle>
      <a:lvl1pPr marL="231770" indent="-231770" algn="l" defTabSz="285700" rtl="0" eaLnBrk="1" latinLnBrk="0" hangingPunct="1">
        <a:lnSpc>
          <a:spcPct val="100000"/>
        </a:lnSpc>
        <a:spcBef>
          <a:spcPts val="600"/>
        </a:spcBef>
        <a:spcAft>
          <a:spcPts val="0"/>
        </a:spcAft>
        <a:buClr>
          <a:schemeClr val="accent1"/>
        </a:buClr>
        <a:buSzPct val="90000"/>
        <a:buFont typeface="Arial" panose="020B0604020202020204" pitchFamily="34" charset="0"/>
        <a:buChar char="•"/>
        <a:defRPr sz="2200" b="1" kern="1200" spc="0" baseline="0">
          <a:solidFill>
            <a:schemeClr val="tx1"/>
          </a:solidFill>
          <a:latin typeface="+mn-lt"/>
          <a:ea typeface="+mn-ea"/>
          <a:cs typeface="+mn-cs"/>
        </a:defRPr>
      </a:lvl1pPr>
      <a:lvl2pPr marL="457189" indent="-225419" algn="l" defTabSz="285700"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2000" b="1" kern="1200" spc="0" baseline="0">
          <a:solidFill>
            <a:schemeClr val="tx1"/>
          </a:solidFill>
          <a:latin typeface="+mn-lt"/>
          <a:ea typeface="+mn-ea"/>
          <a:cs typeface="+mn-cs"/>
        </a:defRPr>
      </a:lvl2pPr>
      <a:lvl3pPr marL="688958" indent="-231770" algn="l" defTabSz="285700"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1800" b="1" kern="1200" spc="0" baseline="0">
          <a:solidFill>
            <a:schemeClr val="tx1"/>
          </a:solidFill>
          <a:latin typeface="+mn-lt"/>
          <a:ea typeface="+mn-ea"/>
          <a:cs typeface="+mn-cs"/>
        </a:defRPr>
      </a:lvl3pPr>
      <a:lvl4pPr marL="914378" indent="-225419" algn="l" defTabSz="285700" rtl="0" eaLnBrk="1" latinLnBrk="0" hangingPunct="1">
        <a:lnSpc>
          <a:spcPct val="100000"/>
        </a:lnSpc>
        <a:spcBef>
          <a:spcPts val="300"/>
        </a:spcBef>
        <a:buClr>
          <a:schemeClr val="accent1"/>
        </a:buClr>
        <a:buSzPct val="90000"/>
        <a:buFont typeface="Arial" panose="020B0604020202020204" pitchFamily="34" charset="0"/>
        <a:buChar char="–"/>
        <a:defRPr sz="1600" b="1" kern="1200" baseline="0">
          <a:solidFill>
            <a:schemeClr val="tx1"/>
          </a:solidFill>
          <a:latin typeface="+mn-lt"/>
          <a:ea typeface="+mn-ea"/>
          <a:cs typeface="+mn-cs"/>
        </a:defRPr>
      </a:lvl4pPr>
      <a:lvl5pPr marL="1084236" indent="-169859" algn="l" defTabSz="285700" rtl="0" eaLnBrk="1" latinLnBrk="0" hangingPunct="1">
        <a:lnSpc>
          <a:spcPct val="100000"/>
        </a:lnSpc>
        <a:spcBef>
          <a:spcPts val="300"/>
        </a:spcBef>
        <a:buClr>
          <a:schemeClr val="accent1"/>
        </a:buClr>
        <a:buSzPct val="90000"/>
        <a:buFont typeface="Arial" panose="020B0604020202020204" pitchFamily="34" charset="0"/>
        <a:buChar char="•"/>
        <a:defRPr sz="1400" b="1" kern="1200" baseline="0">
          <a:solidFill>
            <a:schemeClr val="tx1"/>
          </a:solidFill>
          <a:latin typeface="+mn-lt"/>
          <a:ea typeface="+mn-ea"/>
          <a:cs typeface="+mn-cs"/>
        </a:defRPr>
      </a:lvl5pPr>
      <a:lvl6pPr marL="714251" indent="0" algn="l" defTabSz="285700" rtl="0" eaLnBrk="1" latinLnBrk="0" hangingPunct="1">
        <a:lnSpc>
          <a:spcPct val="90000"/>
        </a:lnSpc>
        <a:spcBef>
          <a:spcPts val="156"/>
        </a:spcBef>
        <a:buFont typeface="Arial" panose="020B0604020202020204" pitchFamily="34" charset="0"/>
        <a:buNone/>
        <a:defRPr sz="563" kern="1200">
          <a:solidFill>
            <a:schemeClr val="tx1"/>
          </a:solidFill>
          <a:latin typeface="+mn-lt"/>
          <a:ea typeface="+mn-ea"/>
          <a:cs typeface="+mn-cs"/>
        </a:defRPr>
      </a:lvl6pPr>
      <a:lvl7pPr marL="928526" indent="-71426" algn="l" defTabSz="28570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377" indent="-71426" algn="l" defTabSz="28570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227" indent="-71426" algn="l" defTabSz="285700"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00" rtl="0" eaLnBrk="1" latinLnBrk="0" hangingPunct="1">
        <a:defRPr sz="563" kern="1200">
          <a:solidFill>
            <a:schemeClr val="tx1"/>
          </a:solidFill>
          <a:latin typeface="+mn-lt"/>
          <a:ea typeface="+mn-ea"/>
          <a:cs typeface="+mn-cs"/>
        </a:defRPr>
      </a:lvl1pPr>
      <a:lvl2pPr marL="142850" algn="l" defTabSz="285700" rtl="0" eaLnBrk="1" latinLnBrk="0" hangingPunct="1">
        <a:defRPr sz="563" kern="1200">
          <a:solidFill>
            <a:schemeClr val="tx1"/>
          </a:solidFill>
          <a:latin typeface="+mn-lt"/>
          <a:ea typeface="+mn-ea"/>
          <a:cs typeface="+mn-cs"/>
        </a:defRPr>
      </a:lvl2pPr>
      <a:lvl3pPr marL="285700" algn="l" defTabSz="285700" rtl="0" eaLnBrk="1" latinLnBrk="0" hangingPunct="1">
        <a:defRPr sz="563" kern="1200">
          <a:solidFill>
            <a:schemeClr val="tx1"/>
          </a:solidFill>
          <a:latin typeface="+mn-lt"/>
          <a:ea typeface="+mn-ea"/>
          <a:cs typeface="+mn-cs"/>
        </a:defRPr>
      </a:lvl3pPr>
      <a:lvl4pPr marL="428550" algn="l" defTabSz="285700" rtl="0" eaLnBrk="1" latinLnBrk="0" hangingPunct="1">
        <a:defRPr sz="563" kern="1200">
          <a:solidFill>
            <a:schemeClr val="tx1"/>
          </a:solidFill>
          <a:latin typeface="+mn-lt"/>
          <a:ea typeface="+mn-ea"/>
          <a:cs typeface="+mn-cs"/>
        </a:defRPr>
      </a:lvl4pPr>
      <a:lvl5pPr marL="571401" algn="l" defTabSz="285700" rtl="0" eaLnBrk="1" latinLnBrk="0" hangingPunct="1">
        <a:defRPr sz="563" kern="1200">
          <a:solidFill>
            <a:schemeClr val="tx1"/>
          </a:solidFill>
          <a:latin typeface="+mn-lt"/>
          <a:ea typeface="+mn-ea"/>
          <a:cs typeface="+mn-cs"/>
        </a:defRPr>
      </a:lvl5pPr>
      <a:lvl6pPr marL="714251" algn="l" defTabSz="285700" rtl="0" eaLnBrk="1" latinLnBrk="0" hangingPunct="1">
        <a:defRPr sz="563" kern="1200">
          <a:solidFill>
            <a:schemeClr val="tx1"/>
          </a:solidFill>
          <a:latin typeface="+mn-lt"/>
          <a:ea typeface="+mn-ea"/>
          <a:cs typeface="+mn-cs"/>
        </a:defRPr>
      </a:lvl6pPr>
      <a:lvl7pPr marL="857101" algn="l" defTabSz="285700" rtl="0" eaLnBrk="1" latinLnBrk="0" hangingPunct="1">
        <a:defRPr sz="563" kern="1200">
          <a:solidFill>
            <a:schemeClr val="tx1"/>
          </a:solidFill>
          <a:latin typeface="+mn-lt"/>
          <a:ea typeface="+mn-ea"/>
          <a:cs typeface="+mn-cs"/>
        </a:defRPr>
      </a:lvl7pPr>
      <a:lvl8pPr marL="999951" algn="l" defTabSz="285700" rtl="0" eaLnBrk="1" latinLnBrk="0" hangingPunct="1">
        <a:defRPr sz="563" kern="1200">
          <a:solidFill>
            <a:schemeClr val="tx1"/>
          </a:solidFill>
          <a:latin typeface="+mn-lt"/>
          <a:ea typeface="+mn-ea"/>
          <a:cs typeface="+mn-cs"/>
        </a:defRPr>
      </a:lvl8pPr>
      <a:lvl9pPr marL="1142801" algn="l" defTabSz="285700" rtl="0" eaLnBrk="1" latinLnBrk="0" hangingPunct="1">
        <a:defRPr sz="56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997763" y="4755286"/>
            <a:ext cx="817857" cy="200375"/>
          </a:xfrm>
          <a:prstGeom prst="rect">
            <a:avLst/>
          </a:prstGeom>
        </p:spPr>
      </p:pic>
      <p:sp>
        <p:nvSpPr>
          <p:cNvPr id="21" name="Rectangle 20"/>
          <p:cNvSpPr>
            <a:spLocks noGrp="1" noChangeArrowheads="1"/>
          </p:cNvSpPr>
          <p:nvPr/>
        </p:nvSpPr>
        <p:spPr bwMode="gray">
          <a:xfrm>
            <a:off x="4155948" y="4690608"/>
            <a:ext cx="832104" cy="273844"/>
          </a:xfrm>
          <a:prstGeom prst="rect">
            <a:avLst/>
          </a:prstGeom>
          <a:noFill/>
          <a:ln w="9525" algn="ctr">
            <a:noFill/>
            <a:miter lim="800000"/>
            <a:headEnd/>
            <a:tailEnd/>
          </a:ln>
          <a:effectLst/>
        </p:spPr>
        <p:txBody>
          <a:bodyPr lIns="0" tIns="0" rIns="0" bIns="0" anchor="b" anchorCtr="0"/>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defTabSz="582045">
              <a:defRPr/>
            </a:pPr>
            <a:fld id="{5909AF01-7EFE-4A29-B021-8BA707099C41}" type="slidenum">
              <a:rPr lang="en-US" sz="700">
                <a:solidFill>
                  <a:srgbClr val="716F73"/>
                </a:solidFill>
                <a:latin typeface="Arial"/>
              </a:rPr>
              <a:pPr defTabSz="582045">
                <a:defRPr/>
              </a:pPr>
              <a:t>‹#›</a:t>
            </a:fld>
            <a:endParaRPr lang="en-US" sz="700" dirty="0">
              <a:solidFill>
                <a:srgbClr val="716F73"/>
              </a:solidFill>
              <a:latin typeface="Arial"/>
            </a:endParaRPr>
          </a:p>
        </p:txBody>
      </p:sp>
      <p:sp>
        <p:nvSpPr>
          <p:cNvPr id="2" name="Text Placeholder 1"/>
          <p:cNvSpPr>
            <a:spLocks noGrp="1"/>
          </p:cNvSpPr>
          <p:nvPr>
            <p:ph type="body" idx="1"/>
          </p:nvPr>
        </p:nvSpPr>
        <p:spPr>
          <a:xfrm>
            <a:off x="363538" y="1280160"/>
            <a:ext cx="8416782" cy="31144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6"/>
          <p:cNvSpPr>
            <a:spLocks noGrp="1"/>
          </p:cNvSpPr>
          <p:nvPr>
            <p:ph type="title"/>
          </p:nvPr>
        </p:nvSpPr>
        <p:spPr>
          <a:xfrm>
            <a:off x="363537" y="440164"/>
            <a:ext cx="8416925" cy="492443"/>
          </a:xfrm>
          <a:prstGeom prst="rect">
            <a:avLst/>
          </a:prstGeom>
        </p:spPr>
        <p:txBody>
          <a:bodyPr vert="horz" lIns="91440" tIns="45720" rIns="91440" bIns="45720" rtlCol="0" anchor="b" anchorCtr="0">
            <a:spAutoFit/>
          </a:bodyPr>
          <a:lstStyle/>
          <a:p>
            <a:r>
              <a:rPr lang="en-US"/>
              <a:t>Click to edit Master title style</a:t>
            </a:r>
            <a:endParaRPr lang="en-US" dirty="0"/>
          </a:p>
        </p:txBody>
      </p:sp>
      <p:pic>
        <p:nvPicPr>
          <p:cNvPr id="6" name="Picture 5">
            <a:extLst>
              <a:ext uri="{FF2B5EF4-FFF2-40B4-BE49-F238E27FC236}">
                <a16:creationId xmlns:a16="http://schemas.microsoft.com/office/drawing/2014/main" id="{55DCC29F-54E2-4923-8BCA-0C12092134B3}"/>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419173022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92" r:id="rId19"/>
    <p:sldLayoutId id="2147483799" r:id="rId20"/>
  </p:sldLayoutIdLst>
  <p:transition>
    <p:fade/>
  </p:transition>
  <p:hf hdr="0"/>
  <p:txStyles>
    <p:title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p:titleStyle>
    <p:bodyStyle>
      <a:lvl1pPr marL="231775" indent="-231775" algn="l" defTabSz="285707" rtl="0" eaLnBrk="1" latinLnBrk="0" hangingPunct="1">
        <a:lnSpc>
          <a:spcPct val="100000"/>
        </a:lnSpc>
        <a:spcBef>
          <a:spcPts val="600"/>
        </a:spcBef>
        <a:spcAft>
          <a:spcPts val="0"/>
        </a:spcAft>
        <a:buClr>
          <a:schemeClr val="accent1"/>
        </a:buClr>
        <a:buSzPct val="90000"/>
        <a:buFont typeface="Arial" panose="020B0604020202020204" pitchFamily="34" charset="0"/>
        <a:buChar char="•"/>
        <a:defRPr sz="2200" b="1" kern="1200" spc="0" baseline="0">
          <a:solidFill>
            <a:schemeClr val="tx1"/>
          </a:solidFill>
          <a:latin typeface="+mn-lt"/>
          <a:ea typeface="+mn-ea"/>
          <a:cs typeface="+mn-cs"/>
        </a:defRPr>
      </a:lvl1pPr>
      <a:lvl2pPr marL="457200" indent="-22542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2000" b="1" kern="1200" spc="0" baseline="0">
          <a:solidFill>
            <a:schemeClr val="tx1"/>
          </a:solidFill>
          <a:latin typeface="+mn-lt"/>
          <a:ea typeface="+mn-ea"/>
          <a:cs typeface="+mn-cs"/>
        </a:defRPr>
      </a:lvl2pPr>
      <a:lvl3pPr marL="688975" indent="-23177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1800" b="1" kern="1200" spc="0" baseline="0">
          <a:solidFill>
            <a:schemeClr val="tx1"/>
          </a:solidFill>
          <a:latin typeface="+mn-lt"/>
          <a:ea typeface="+mn-ea"/>
          <a:cs typeface="+mn-cs"/>
        </a:defRPr>
      </a:lvl3pPr>
      <a:lvl4pPr marL="914400" indent="-225425" algn="l" defTabSz="285707" rtl="0" eaLnBrk="1" latinLnBrk="0" hangingPunct="1">
        <a:lnSpc>
          <a:spcPct val="100000"/>
        </a:lnSpc>
        <a:spcBef>
          <a:spcPts val="300"/>
        </a:spcBef>
        <a:buClr>
          <a:schemeClr val="accent1"/>
        </a:buClr>
        <a:buSzPct val="90000"/>
        <a:buFont typeface="Arial" panose="020B0604020202020204" pitchFamily="34" charset="0"/>
        <a:buChar char="–"/>
        <a:defRPr sz="1600" b="1" kern="1200" baseline="0">
          <a:solidFill>
            <a:schemeClr val="tx1"/>
          </a:solidFill>
          <a:latin typeface="+mn-lt"/>
          <a:ea typeface="+mn-ea"/>
          <a:cs typeface="+mn-cs"/>
        </a:defRPr>
      </a:lvl4pPr>
      <a:lvl5pPr marL="1084263" indent="-169863" algn="l" defTabSz="285707" rtl="0" eaLnBrk="1" latinLnBrk="0" hangingPunct="1">
        <a:lnSpc>
          <a:spcPct val="100000"/>
        </a:lnSpc>
        <a:spcBef>
          <a:spcPts val="300"/>
        </a:spcBef>
        <a:buClr>
          <a:schemeClr val="accent1"/>
        </a:buClr>
        <a:buSzPct val="90000"/>
        <a:buFont typeface="Arial" panose="020B0604020202020204" pitchFamily="34" charset="0"/>
        <a:buChar char="•"/>
        <a:defRPr sz="1400" b="1" kern="1200" baseline="0">
          <a:solidFill>
            <a:schemeClr val="tx1"/>
          </a:solidFill>
          <a:latin typeface="+mn-lt"/>
          <a:ea typeface="+mn-ea"/>
          <a:cs typeface="+mn-cs"/>
        </a:defRPr>
      </a:lvl5pPr>
      <a:lvl6pPr marL="714269" indent="0" algn="l" defTabSz="285707" rtl="0" eaLnBrk="1" latinLnBrk="0" hangingPunct="1">
        <a:lnSpc>
          <a:spcPct val="90000"/>
        </a:lnSpc>
        <a:spcBef>
          <a:spcPts val="156"/>
        </a:spcBef>
        <a:buFont typeface="Arial" panose="020B0604020202020204" pitchFamily="34" charset="0"/>
        <a:buNone/>
        <a:defRPr sz="563" kern="1200">
          <a:solidFill>
            <a:schemeClr val="tx1"/>
          </a:solidFill>
          <a:latin typeface="+mn-lt"/>
          <a:ea typeface="+mn-ea"/>
          <a:cs typeface="+mn-cs"/>
        </a:defRPr>
      </a:lvl6pPr>
      <a:lvl7pPr marL="928549"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403"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257"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07" rtl="0" eaLnBrk="1" latinLnBrk="0" hangingPunct="1">
        <a:defRPr sz="563" kern="1200">
          <a:solidFill>
            <a:schemeClr val="tx1"/>
          </a:solidFill>
          <a:latin typeface="+mn-lt"/>
          <a:ea typeface="+mn-ea"/>
          <a:cs typeface="+mn-cs"/>
        </a:defRPr>
      </a:lvl1pPr>
      <a:lvl2pPr marL="142854" algn="l" defTabSz="285707" rtl="0" eaLnBrk="1" latinLnBrk="0" hangingPunct="1">
        <a:defRPr sz="563" kern="1200">
          <a:solidFill>
            <a:schemeClr val="tx1"/>
          </a:solidFill>
          <a:latin typeface="+mn-lt"/>
          <a:ea typeface="+mn-ea"/>
          <a:cs typeface="+mn-cs"/>
        </a:defRPr>
      </a:lvl2pPr>
      <a:lvl3pPr marL="285707" algn="l" defTabSz="285707" rtl="0" eaLnBrk="1" latinLnBrk="0" hangingPunct="1">
        <a:defRPr sz="563" kern="1200">
          <a:solidFill>
            <a:schemeClr val="tx1"/>
          </a:solidFill>
          <a:latin typeface="+mn-lt"/>
          <a:ea typeface="+mn-ea"/>
          <a:cs typeface="+mn-cs"/>
        </a:defRPr>
      </a:lvl3pPr>
      <a:lvl4pPr marL="428561" algn="l" defTabSz="285707" rtl="0" eaLnBrk="1" latinLnBrk="0" hangingPunct="1">
        <a:defRPr sz="563" kern="1200">
          <a:solidFill>
            <a:schemeClr val="tx1"/>
          </a:solidFill>
          <a:latin typeface="+mn-lt"/>
          <a:ea typeface="+mn-ea"/>
          <a:cs typeface="+mn-cs"/>
        </a:defRPr>
      </a:lvl4pPr>
      <a:lvl5pPr marL="571415" algn="l" defTabSz="285707" rtl="0" eaLnBrk="1" latinLnBrk="0" hangingPunct="1">
        <a:defRPr sz="563" kern="1200">
          <a:solidFill>
            <a:schemeClr val="tx1"/>
          </a:solidFill>
          <a:latin typeface="+mn-lt"/>
          <a:ea typeface="+mn-ea"/>
          <a:cs typeface="+mn-cs"/>
        </a:defRPr>
      </a:lvl5pPr>
      <a:lvl6pPr marL="714269" algn="l" defTabSz="285707" rtl="0" eaLnBrk="1" latinLnBrk="0" hangingPunct="1">
        <a:defRPr sz="563" kern="1200">
          <a:solidFill>
            <a:schemeClr val="tx1"/>
          </a:solidFill>
          <a:latin typeface="+mn-lt"/>
          <a:ea typeface="+mn-ea"/>
          <a:cs typeface="+mn-cs"/>
        </a:defRPr>
      </a:lvl6pPr>
      <a:lvl7pPr marL="857122" algn="l" defTabSz="285707" rtl="0" eaLnBrk="1" latinLnBrk="0" hangingPunct="1">
        <a:defRPr sz="563" kern="1200">
          <a:solidFill>
            <a:schemeClr val="tx1"/>
          </a:solidFill>
          <a:latin typeface="+mn-lt"/>
          <a:ea typeface="+mn-ea"/>
          <a:cs typeface="+mn-cs"/>
        </a:defRPr>
      </a:lvl7pPr>
      <a:lvl8pPr marL="999976" algn="l" defTabSz="285707" rtl="0" eaLnBrk="1" latinLnBrk="0" hangingPunct="1">
        <a:defRPr sz="563" kern="1200">
          <a:solidFill>
            <a:schemeClr val="tx1"/>
          </a:solidFill>
          <a:latin typeface="+mn-lt"/>
          <a:ea typeface="+mn-ea"/>
          <a:cs typeface="+mn-cs"/>
        </a:defRPr>
      </a:lvl8pPr>
      <a:lvl9pPr marL="1142830" algn="l" defTabSz="285707" rtl="0" eaLnBrk="1" latinLnBrk="0" hangingPunct="1">
        <a:defRPr sz="56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997763" y="4755286"/>
            <a:ext cx="817857" cy="200375"/>
          </a:xfrm>
          <a:prstGeom prst="rect">
            <a:avLst/>
          </a:prstGeom>
        </p:spPr>
      </p:pic>
      <p:sp>
        <p:nvSpPr>
          <p:cNvPr id="21" name="Rectangle 20"/>
          <p:cNvSpPr>
            <a:spLocks noGrp="1" noChangeArrowheads="1"/>
          </p:cNvSpPr>
          <p:nvPr/>
        </p:nvSpPr>
        <p:spPr bwMode="gray">
          <a:xfrm>
            <a:off x="4155948" y="4690608"/>
            <a:ext cx="832104" cy="273844"/>
          </a:xfrm>
          <a:prstGeom prst="rect">
            <a:avLst/>
          </a:prstGeom>
          <a:noFill/>
          <a:ln w="9525" algn="ctr">
            <a:noFill/>
            <a:miter lim="800000"/>
            <a:headEnd/>
            <a:tailEnd/>
          </a:ln>
          <a:effectLst/>
        </p:spPr>
        <p:txBody>
          <a:bodyPr lIns="0" tIns="0" rIns="0" bIns="0" anchor="b" anchorCtr="0"/>
          <a:lstStyle>
            <a:defPPr>
              <a:defRPr lang="en-US"/>
            </a:defPPr>
            <a:lvl1pPr algn="ctr" rtl="0" fontAlgn="base">
              <a:spcBef>
                <a:spcPct val="0"/>
              </a:spcBef>
              <a:spcAft>
                <a:spcPct val="0"/>
              </a:spcAft>
              <a:defRPr sz="2400" b="1" kern="1200">
                <a:solidFill>
                  <a:schemeClr val="tx1"/>
                </a:solidFill>
                <a:latin typeface="Arial" charset="0"/>
                <a:ea typeface="+mn-ea"/>
                <a:cs typeface="+mn-cs"/>
              </a:defRPr>
            </a:lvl1pPr>
            <a:lvl2pPr marL="457200" algn="ctr" rtl="0" fontAlgn="base">
              <a:spcBef>
                <a:spcPct val="0"/>
              </a:spcBef>
              <a:spcAft>
                <a:spcPct val="0"/>
              </a:spcAft>
              <a:defRPr sz="2400" b="1" kern="1200">
                <a:solidFill>
                  <a:schemeClr val="tx1"/>
                </a:solidFill>
                <a:latin typeface="Arial" charset="0"/>
                <a:ea typeface="+mn-ea"/>
                <a:cs typeface="+mn-cs"/>
              </a:defRPr>
            </a:lvl2pPr>
            <a:lvl3pPr marL="914400" algn="ctr" rtl="0" fontAlgn="base">
              <a:spcBef>
                <a:spcPct val="0"/>
              </a:spcBef>
              <a:spcAft>
                <a:spcPct val="0"/>
              </a:spcAft>
              <a:defRPr sz="2400" b="1" kern="1200">
                <a:solidFill>
                  <a:schemeClr val="tx1"/>
                </a:solidFill>
                <a:latin typeface="Arial" charset="0"/>
                <a:ea typeface="+mn-ea"/>
                <a:cs typeface="+mn-cs"/>
              </a:defRPr>
            </a:lvl3pPr>
            <a:lvl4pPr marL="1371600" algn="ctr" rtl="0" fontAlgn="base">
              <a:spcBef>
                <a:spcPct val="0"/>
              </a:spcBef>
              <a:spcAft>
                <a:spcPct val="0"/>
              </a:spcAft>
              <a:defRPr sz="2400" b="1" kern="1200">
                <a:solidFill>
                  <a:schemeClr val="tx1"/>
                </a:solidFill>
                <a:latin typeface="Arial" charset="0"/>
                <a:ea typeface="+mn-ea"/>
                <a:cs typeface="+mn-cs"/>
              </a:defRPr>
            </a:lvl4pPr>
            <a:lvl5pPr marL="1828800" algn="ctr"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a:lstStyle>
          <a:p>
            <a:pPr defTabSz="582045">
              <a:defRPr/>
            </a:pPr>
            <a:fld id="{5909AF01-7EFE-4A29-B021-8BA707099C41}" type="slidenum">
              <a:rPr lang="en-US" sz="700">
                <a:solidFill>
                  <a:srgbClr val="716F73"/>
                </a:solidFill>
                <a:latin typeface="Arial"/>
              </a:rPr>
              <a:pPr defTabSz="582045">
                <a:defRPr/>
              </a:pPr>
              <a:t>‹#›</a:t>
            </a:fld>
            <a:endParaRPr lang="en-US" sz="700" dirty="0">
              <a:solidFill>
                <a:srgbClr val="716F73"/>
              </a:solidFill>
              <a:latin typeface="Arial"/>
            </a:endParaRPr>
          </a:p>
        </p:txBody>
      </p:sp>
      <p:sp>
        <p:nvSpPr>
          <p:cNvPr id="2" name="Text Placeholder 1"/>
          <p:cNvSpPr>
            <a:spLocks noGrp="1"/>
          </p:cNvSpPr>
          <p:nvPr>
            <p:ph type="body" idx="1"/>
          </p:nvPr>
        </p:nvSpPr>
        <p:spPr>
          <a:xfrm>
            <a:off x="363538" y="1280160"/>
            <a:ext cx="8416782" cy="31144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6"/>
          <p:cNvSpPr>
            <a:spLocks noGrp="1"/>
          </p:cNvSpPr>
          <p:nvPr>
            <p:ph type="title"/>
          </p:nvPr>
        </p:nvSpPr>
        <p:spPr>
          <a:xfrm>
            <a:off x="363537" y="440164"/>
            <a:ext cx="8416925" cy="492443"/>
          </a:xfrm>
          <a:prstGeom prst="rect">
            <a:avLst/>
          </a:prstGeom>
        </p:spPr>
        <p:txBody>
          <a:bodyPr vert="horz" lIns="91440" tIns="45720" rIns="91440" bIns="45720" rtlCol="0" anchor="b" anchorCtr="0">
            <a:spAutoFit/>
          </a:bodyPr>
          <a:lstStyle/>
          <a:p>
            <a:r>
              <a:rPr lang="en-US"/>
              <a:t>Click to edit Master title style</a:t>
            </a:r>
            <a:endParaRPr lang="en-US" dirty="0"/>
          </a:p>
        </p:txBody>
      </p:sp>
      <p:pic>
        <p:nvPicPr>
          <p:cNvPr id="6" name="Picture 5">
            <a:extLst>
              <a:ext uri="{FF2B5EF4-FFF2-40B4-BE49-F238E27FC236}">
                <a16:creationId xmlns:a16="http://schemas.microsoft.com/office/drawing/2014/main" id="{55DCC29F-54E2-4923-8BCA-0C12092134B3}"/>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12428" y="4666124"/>
            <a:ext cx="692743" cy="323439"/>
          </a:xfrm>
          <a:prstGeom prst="rect">
            <a:avLst/>
          </a:prstGeom>
        </p:spPr>
      </p:pic>
    </p:spTree>
    <p:extLst>
      <p:ext uri="{BB962C8B-B14F-4D97-AF65-F5344CB8AC3E}">
        <p14:creationId xmlns:p14="http://schemas.microsoft.com/office/powerpoint/2010/main" val="358649789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 id="2147483791" r:id="rId18"/>
  </p:sldLayoutIdLst>
  <p:transition>
    <p:fade/>
  </p:transition>
  <p:hf hdr="0"/>
  <p:txStyles>
    <p:title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p:titleStyle>
    <p:bodyStyle>
      <a:lvl1pPr marL="231775" indent="-231775" algn="l" defTabSz="285707" rtl="0" eaLnBrk="1" latinLnBrk="0" hangingPunct="1">
        <a:lnSpc>
          <a:spcPct val="100000"/>
        </a:lnSpc>
        <a:spcBef>
          <a:spcPts val="600"/>
        </a:spcBef>
        <a:spcAft>
          <a:spcPts val="0"/>
        </a:spcAft>
        <a:buClr>
          <a:schemeClr val="accent1"/>
        </a:buClr>
        <a:buSzPct val="90000"/>
        <a:buFont typeface="Arial" panose="020B0604020202020204" pitchFamily="34" charset="0"/>
        <a:buChar char="•"/>
        <a:defRPr sz="2200" b="1" kern="1200" spc="0" baseline="0">
          <a:solidFill>
            <a:schemeClr val="tx1"/>
          </a:solidFill>
          <a:latin typeface="+mn-lt"/>
          <a:ea typeface="+mn-ea"/>
          <a:cs typeface="+mn-cs"/>
        </a:defRPr>
      </a:lvl1pPr>
      <a:lvl2pPr marL="457200" indent="-22542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2000" b="1" kern="1200" spc="0" baseline="0">
          <a:solidFill>
            <a:schemeClr val="tx1"/>
          </a:solidFill>
          <a:latin typeface="+mn-lt"/>
          <a:ea typeface="+mn-ea"/>
          <a:cs typeface="+mn-cs"/>
        </a:defRPr>
      </a:lvl2pPr>
      <a:lvl3pPr marL="688975" indent="-23177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1800" b="1" kern="1200" spc="0" baseline="0">
          <a:solidFill>
            <a:schemeClr val="tx1"/>
          </a:solidFill>
          <a:latin typeface="+mn-lt"/>
          <a:ea typeface="+mn-ea"/>
          <a:cs typeface="+mn-cs"/>
        </a:defRPr>
      </a:lvl3pPr>
      <a:lvl4pPr marL="914400" indent="-225425" algn="l" defTabSz="285707" rtl="0" eaLnBrk="1" latinLnBrk="0" hangingPunct="1">
        <a:lnSpc>
          <a:spcPct val="100000"/>
        </a:lnSpc>
        <a:spcBef>
          <a:spcPts val="300"/>
        </a:spcBef>
        <a:buClr>
          <a:schemeClr val="accent1"/>
        </a:buClr>
        <a:buSzPct val="90000"/>
        <a:buFont typeface="Arial" panose="020B0604020202020204" pitchFamily="34" charset="0"/>
        <a:buChar char="–"/>
        <a:defRPr sz="1600" b="1" kern="1200" baseline="0">
          <a:solidFill>
            <a:schemeClr val="tx1"/>
          </a:solidFill>
          <a:latin typeface="+mn-lt"/>
          <a:ea typeface="+mn-ea"/>
          <a:cs typeface="+mn-cs"/>
        </a:defRPr>
      </a:lvl4pPr>
      <a:lvl5pPr marL="1084263" indent="-169863" algn="l" defTabSz="285707" rtl="0" eaLnBrk="1" latinLnBrk="0" hangingPunct="1">
        <a:lnSpc>
          <a:spcPct val="100000"/>
        </a:lnSpc>
        <a:spcBef>
          <a:spcPts val="300"/>
        </a:spcBef>
        <a:buClr>
          <a:schemeClr val="accent1"/>
        </a:buClr>
        <a:buSzPct val="90000"/>
        <a:buFont typeface="Arial" panose="020B0604020202020204" pitchFamily="34" charset="0"/>
        <a:buChar char="•"/>
        <a:defRPr sz="1400" b="1" kern="1200" baseline="0">
          <a:solidFill>
            <a:schemeClr val="tx1"/>
          </a:solidFill>
          <a:latin typeface="+mn-lt"/>
          <a:ea typeface="+mn-ea"/>
          <a:cs typeface="+mn-cs"/>
        </a:defRPr>
      </a:lvl5pPr>
      <a:lvl6pPr marL="714269" indent="0" algn="l" defTabSz="285707" rtl="0" eaLnBrk="1" latinLnBrk="0" hangingPunct="1">
        <a:lnSpc>
          <a:spcPct val="90000"/>
        </a:lnSpc>
        <a:spcBef>
          <a:spcPts val="156"/>
        </a:spcBef>
        <a:buFont typeface="Arial" panose="020B0604020202020204" pitchFamily="34" charset="0"/>
        <a:buNone/>
        <a:defRPr sz="563" kern="1200">
          <a:solidFill>
            <a:schemeClr val="tx1"/>
          </a:solidFill>
          <a:latin typeface="+mn-lt"/>
          <a:ea typeface="+mn-ea"/>
          <a:cs typeface="+mn-cs"/>
        </a:defRPr>
      </a:lvl6pPr>
      <a:lvl7pPr marL="928549"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403"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257"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p:bodyStyle>
    <p:otherStyle>
      <a:defPPr>
        <a:defRPr lang="en-US"/>
      </a:defPPr>
      <a:lvl1pPr marL="0" algn="l" defTabSz="285707" rtl="0" eaLnBrk="1" latinLnBrk="0" hangingPunct="1">
        <a:defRPr sz="563" kern="1200">
          <a:solidFill>
            <a:schemeClr val="tx1"/>
          </a:solidFill>
          <a:latin typeface="+mn-lt"/>
          <a:ea typeface="+mn-ea"/>
          <a:cs typeface="+mn-cs"/>
        </a:defRPr>
      </a:lvl1pPr>
      <a:lvl2pPr marL="142854" algn="l" defTabSz="285707" rtl="0" eaLnBrk="1" latinLnBrk="0" hangingPunct="1">
        <a:defRPr sz="563" kern="1200">
          <a:solidFill>
            <a:schemeClr val="tx1"/>
          </a:solidFill>
          <a:latin typeface="+mn-lt"/>
          <a:ea typeface="+mn-ea"/>
          <a:cs typeface="+mn-cs"/>
        </a:defRPr>
      </a:lvl2pPr>
      <a:lvl3pPr marL="285707" algn="l" defTabSz="285707" rtl="0" eaLnBrk="1" latinLnBrk="0" hangingPunct="1">
        <a:defRPr sz="563" kern="1200">
          <a:solidFill>
            <a:schemeClr val="tx1"/>
          </a:solidFill>
          <a:latin typeface="+mn-lt"/>
          <a:ea typeface="+mn-ea"/>
          <a:cs typeface="+mn-cs"/>
        </a:defRPr>
      </a:lvl3pPr>
      <a:lvl4pPr marL="428561" algn="l" defTabSz="285707" rtl="0" eaLnBrk="1" latinLnBrk="0" hangingPunct="1">
        <a:defRPr sz="563" kern="1200">
          <a:solidFill>
            <a:schemeClr val="tx1"/>
          </a:solidFill>
          <a:latin typeface="+mn-lt"/>
          <a:ea typeface="+mn-ea"/>
          <a:cs typeface="+mn-cs"/>
        </a:defRPr>
      </a:lvl4pPr>
      <a:lvl5pPr marL="571415" algn="l" defTabSz="285707" rtl="0" eaLnBrk="1" latinLnBrk="0" hangingPunct="1">
        <a:defRPr sz="563" kern="1200">
          <a:solidFill>
            <a:schemeClr val="tx1"/>
          </a:solidFill>
          <a:latin typeface="+mn-lt"/>
          <a:ea typeface="+mn-ea"/>
          <a:cs typeface="+mn-cs"/>
        </a:defRPr>
      </a:lvl5pPr>
      <a:lvl6pPr marL="714269" algn="l" defTabSz="285707" rtl="0" eaLnBrk="1" latinLnBrk="0" hangingPunct="1">
        <a:defRPr sz="563" kern="1200">
          <a:solidFill>
            <a:schemeClr val="tx1"/>
          </a:solidFill>
          <a:latin typeface="+mn-lt"/>
          <a:ea typeface="+mn-ea"/>
          <a:cs typeface="+mn-cs"/>
        </a:defRPr>
      </a:lvl6pPr>
      <a:lvl7pPr marL="857122" algn="l" defTabSz="285707" rtl="0" eaLnBrk="1" latinLnBrk="0" hangingPunct="1">
        <a:defRPr sz="563" kern="1200">
          <a:solidFill>
            <a:schemeClr val="tx1"/>
          </a:solidFill>
          <a:latin typeface="+mn-lt"/>
          <a:ea typeface="+mn-ea"/>
          <a:cs typeface="+mn-cs"/>
        </a:defRPr>
      </a:lvl7pPr>
      <a:lvl8pPr marL="999976" algn="l" defTabSz="285707" rtl="0" eaLnBrk="1" latinLnBrk="0" hangingPunct="1">
        <a:defRPr sz="563" kern="1200">
          <a:solidFill>
            <a:schemeClr val="tx1"/>
          </a:solidFill>
          <a:latin typeface="+mn-lt"/>
          <a:ea typeface="+mn-ea"/>
          <a:cs typeface="+mn-cs"/>
        </a:defRPr>
      </a:lvl8pPr>
      <a:lvl9pPr marL="1142830" algn="l" defTabSz="285707" rtl="0" eaLnBrk="1" latinLnBrk="0" hangingPunct="1">
        <a:defRPr sz="5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8.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slide" Target="slide30.xml"/><Relationship Id="rId1" Type="http://schemas.openxmlformats.org/officeDocument/2006/relationships/slideLayout" Target="../slideLayouts/slideLayout61.xml"/><Relationship Id="rId6" Type="http://schemas.openxmlformats.org/officeDocument/2006/relationships/slide" Target="slide42.xml"/><Relationship Id="rId5" Type="http://schemas.openxmlformats.org/officeDocument/2006/relationships/slide" Target="slide49.xml"/><Relationship Id="rId4" Type="http://schemas.openxmlformats.org/officeDocument/2006/relationships/slide" Target="slide3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2.xml"/><Relationship Id="rId5" Type="http://schemas.openxmlformats.org/officeDocument/2006/relationships/image" Target="../media/image10.pn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slide" Target="slide8.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slide" Target="slide8.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slide" Target="slide8.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slide" Target="slide8.xml"/><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slide" Target="slide8.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2.xml"/><Relationship Id="rId5" Type="http://schemas.openxmlformats.org/officeDocument/2006/relationships/slide" Target="slide8.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41.PNG"/><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4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44.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45.PNG"/><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46.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5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2.PNG"/><Relationship Id="rId1" Type="http://schemas.openxmlformats.org/officeDocument/2006/relationships/slideLayout" Target="../slideLayouts/slideLayout22.xml"/><Relationship Id="rId5" Type="http://schemas.openxmlformats.org/officeDocument/2006/relationships/slide" Target="slide8.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2.xml"/><Relationship Id="rId4" Type="http://schemas.openxmlformats.org/officeDocument/2006/relationships/slide" Target="slide8.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1200329"/>
          </a:xfrm>
          <a:prstGeom prst="rect">
            <a:avLst/>
          </a:prstGeom>
          <a:noFill/>
        </p:spPr>
        <p:txBody>
          <a:bodyPr wrap="square" rtlCol="0">
            <a:spAutoFit/>
          </a:bodyPr>
          <a:lstStyle/>
          <a:p>
            <a:r>
              <a:rPr lang="en-US" sz="2800" b="1" dirty="0" err="1">
                <a:solidFill>
                  <a:srgbClr val="FFFFFF"/>
                </a:solidFill>
              </a:rPr>
              <a:t>iDNA</a:t>
            </a:r>
            <a:r>
              <a:rPr lang="en-US" sz="2800" b="1" dirty="0">
                <a:solidFill>
                  <a:srgbClr val="FFFFFF"/>
                </a:solidFill>
              </a:rPr>
              <a:t> Assessment Readout</a:t>
            </a:r>
          </a:p>
          <a:p>
            <a:endParaRPr lang="en-US" sz="2800" b="1" dirty="0">
              <a:solidFill>
                <a:srgbClr val="FFFFFF"/>
              </a:solidFill>
            </a:endParaRPr>
          </a:p>
          <a:p>
            <a:r>
              <a:rPr lang="en-US" sz="1600" b="1" dirty="0">
                <a:solidFill>
                  <a:srgbClr val="FFFFFF"/>
                </a:solidFill>
              </a:rPr>
              <a:t>September 12</a:t>
            </a:r>
            <a:r>
              <a:rPr lang="en-US" sz="1600" b="1" baseline="30000" dirty="0">
                <a:solidFill>
                  <a:srgbClr val="FFFFFF"/>
                </a:solidFill>
              </a:rPr>
              <a:t>th</a:t>
            </a:r>
            <a:r>
              <a:rPr lang="en-US" sz="1600" b="1" dirty="0">
                <a:solidFill>
                  <a:srgbClr val="FFFFFF"/>
                </a:solidFill>
              </a:rPr>
              <a:t> , 2018</a:t>
            </a:r>
            <a:endParaRPr lang="en-IN" sz="1600" b="1" dirty="0">
              <a:solidFill>
                <a:srgbClr val="FFFFFF"/>
              </a:solidFill>
            </a:endParaRPr>
          </a:p>
        </p:txBody>
      </p:sp>
    </p:spTree>
    <p:extLst>
      <p:ext uri="{BB962C8B-B14F-4D97-AF65-F5344CB8AC3E}">
        <p14:creationId xmlns:p14="http://schemas.microsoft.com/office/powerpoint/2010/main" val="34624830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17C946C6-E774-4F3B-8F3D-56584402B27E}"/>
              </a:ext>
            </a:extLst>
          </p:cNvPr>
          <p:cNvSpPr txBox="1">
            <a:spLocks/>
          </p:cNvSpPr>
          <p:nvPr/>
        </p:nvSpPr>
        <p:spPr>
          <a:xfrm>
            <a:off x="363538" y="901172"/>
            <a:ext cx="8416782" cy="3114475"/>
          </a:xfrm>
          <a:prstGeom prst="rect">
            <a:avLst/>
          </a:prstGeom>
        </p:spPr>
        <p:txBody>
          <a:bodyPr/>
          <a:lstStyle>
            <a:lvl1pPr marL="231775" indent="-231775" algn="l" defTabSz="285707" rtl="0" eaLnBrk="1" latinLnBrk="0" hangingPunct="1">
              <a:lnSpc>
                <a:spcPct val="100000"/>
              </a:lnSpc>
              <a:spcBef>
                <a:spcPts val="600"/>
              </a:spcBef>
              <a:spcAft>
                <a:spcPts val="0"/>
              </a:spcAft>
              <a:buClr>
                <a:schemeClr val="accent1"/>
              </a:buClr>
              <a:buSzPct val="90000"/>
              <a:buFont typeface="Arial" panose="020B0604020202020204" pitchFamily="34" charset="0"/>
              <a:buChar char="•"/>
              <a:defRPr sz="2200" b="1" kern="1200" spc="0" baseline="0">
                <a:solidFill>
                  <a:schemeClr val="tx1"/>
                </a:solidFill>
                <a:latin typeface="+mn-lt"/>
                <a:ea typeface="+mn-ea"/>
                <a:cs typeface="+mn-cs"/>
              </a:defRPr>
            </a:lvl1pPr>
            <a:lvl2pPr marL="457200" indent="-22542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2000" b="1" kern="1200" spc="0" baseline="0">
                <a:solidFill>
                  <a:schemeClr val="tx1"/>
                </a:solidFill>
                <a:latin typeface="+mn-lt"/>
                <a:ea typeface="+mn-ea"/>
                <a:cs typeface="+mn-cs"/>
              </a:defRPr>
            </a:lvl2pPr>
            <a:lvl3pPr marL="688975" indent="-231775" algn="l" defTabSz="285707" rtl="0" eaLnBrk="1" latinLnBrk="0" hangingPunct="1">
              <a:lnSpc>
                <a:spcPct val="100000"/>
              </a:lnSpc>
              <a:spcBef>
                <a:spcPts val="400"/>
              </a:spcBef>
              <a:spcAft>
                <a:spcPts val="0"/>
              </a:spcAft>
              <a:buClr>
                <a:schemeClr val="accent1"/>
              </a:buClr>
              <a:buSzPct val="90000"/>
              <a:buFont typeface="Arial" panose="020B0604020202020204" pitchFamily="34" charset="0"/>
              <a:buChar char="•"/>
              <a:defRPr sz="1800" b="1" kern="1200" spc="0" baseline="0">
                <a:solidFill>
                  <a:schemeClr val="tx1"/>
                </a:solidFill>
                <a:latin typeface="+mn-lt"/>
                <a:ea typeface="+mn-ea"/>
                <a:cs typeface="+mn-cs"/>
              </a:defRPr>
            </a:lvl3pPr>
            <a:lvl4pPr marL="914400" indent="-225425" algn="l" defTabSz="285707" rtl="0" eaLnBrk="1" latinLnBrk="0" hangingPunct="1">
              <a:lnSpc>
                <a:spcPct val="100000"/>
              </a:lnSpc>
              <a:spcBef>
                <a:spcPts val="300"/>
              </a:spcBef>
              <a:buClr>
                <a:schemeClr val="accent1"/>
              </a:buClr>
              <a:buSzPct val="90000"/>
              <a:buFont typeface="Arial" panose="020B0604020202020204" pitchFamily="34" charset="0"/>
              <a:buChar char="–"/>
              <a:defRPr sz="1600" b="1" kern="1200" baseline="0">
                <a:solidFill>
                  <a:schemeClr val="tx1"/>
                </a:solidFill>
                <a:latin typeface="+mn-lt"/>
                <a:ea typeface="+mn-ea"/>
                <a:cs typeface="+mn-cs"/>
              </a:defRPr>
            </a:lvl4pPr>
            <a:lvl5pPr marL="1084263" indent="-169863" algn="l" defTabSz="285707" rtl="0" eaLnBrk="1" latinLnBrk="0" hangingPunct="1">
              <a:lnSpc>
                <a:spcPct val="100000"/>
              </a:lnSpc>
              <a:spcBef>
                <a:spcPts val="300"/>
              </a:spcBef>
              <a:buClr>
                <a:schemeClr val="accent1"/>
              </a:buClr>
              <a:buSzPct val="90000"/>
              <a:buFont typeface="Arial" panose="020B0604020202020204" pitchFamily="34" charset="0"/>
              <a:buChar char="•"/>
              <a:defRPr sz="1400" b="1" kern="1200" baseline="0">
                <a:solidFill>
                  <a:schemeClr val="tx1"/>
                </a:solidFill>
                <a:latin typeface="+mn-lt"/>
                <a:ea typeface="+mn-ea"/>
                <a:cs typeface="+mn-cs"/>
              </a:defRPr>
            </a:lvl5pPr>
            <a:lvl6pPr marL="714269" indent="0" algn="l" defTabSz="285707" rtl="0" eaLnBrk="1" latinLnBrk="0" hangingPunct="1">
              <a:lnSpc>
                <a:spcPct val="90000"/>
              </a:lnSpc>
              <a:spcBef>
                <a:spcPts val="156"/>
              </a:spcBef>
              <a:buFont typeface="Arial" panose="020B0604020202020204" pitchFamily="34" charset="0"/>
              <a:buNone/>
              <a:defRPr sz="563" kern="1200">
                <a:solidFill>
                  <a:schemeClr val="tx1"/>
                </a:solidFill>
                <a:latin typeface="+mn-lt"/>
                <a:ea typeface="+mn-ea"/>
                <a:cs typeface="+mn-cs"/>
              </a:defRPr>
            </a:lvl6pPr>
            <a:lvl7pPr marL="928549"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7pPr>
            <a:lvl8pPr marL="1071403"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8pPr>
            <a:lvl9pPr marL="1214257" indent="-71427" algn="l" defTabSz="285707" rtl="0" eaLnBrk="1" latinLnBrk="0" hangingPunct="1">
              <a:lnSpc>
                <a:spcPct val="90000"/>
              </a:lnSpc>
              <a:spcBef>
                <a:spcPts val="156"/>
              </a:spcBef>
              <a:buFont typeface="Arial" panose="020B0604020202020204" pitchFamily="34" charset="0"/>
              <a:buChar char="•"/>
              <a:defRPr sz="563" kern="1200">
                <a:solidFill>
                  <a:schemeClr val="tx1"/>
                </a:solidFill>
                <a:latin typeface="+mn-lt"/>
                <a:ea typeface="+mn-ea"/>
                <a:cs typeface="+mn-cs"/>
              </a:defRPr>
            </a:lvl9pPr>
          </a:lstStyle>
          <a:p>
            <a:endParaRPr lang="en-US" sz="2000" dirty="0"/>
          </a:p>
        </p:txBody>
      </p:sp>
      <p:sp>
        <p:nvSpPr>
          <p:cNvPr id="6" name="TextBox 5">
            <a:extLst>
              <a:ext uri="{FF2B5EF4-FFF2-40B4-BE49-F238E27FC236}">
                <a16:creationId xmlns:a16="http://schemas.microsoft.com/office/drawing/2014/main" id="{A32301E2-0BE8-457E-9E96-9D9F5E9F32DD}"/>
              </a:ext>
            </a:extLst>
          </p:cNvPr>
          <p:cNvSpPr txBox="1"/>
          <p:nvPr/>
        </p:nvSpPr>
        <p:spPr>
          <a:xfrm>
            <a:off x="435362" y="1070258"/>
            <a:ext cx="8389453" cy="2354491"/>
          </a:xfrm>
          <a:prstGeom prst="rect">
            <a:avLst/>
          </a:prstGeom>
          <a:solidFill>
            <a:schemeClr val="bg1">
              <a:lumMod val="95000"/>
            </a:schemeClr>
          </a:solidFill>
        </p:spPr>
        <p:txBody>
          <a:bodyPr wrap="square" rtlCol="0">
            <a:spAutoFit/>
          </a:bodyPr>
          <a:lstStyle/>
          <a:p>
            <a:pPr marL="285750" indent="-285750">
              <a:lnSpc>
                <a:spcPct val="150000"/>
              </a:lnSpc>
              <a:buFont typeface="Arial" panose="020B0604020202020204" pitchFamily="34" charset="0"/>
              <a:buChar char="•"/>
            </a:pPr>
            <a:r>
              <a:rPr lang="en-US" sz="1400" b="1" dirty="0"/>
              <a:t>Executive Summary</a:t>
            </a:r>
          </a:p>
          <a:p>
            <a:pPr marL="285750" indent="-285750">
              <a:lnSpc>
                <a:spcPct val="150000"/>
              </a:lnSpc>
              <a:buFont typeface="Arial" panose="020B0604020202020204" pitchFamily="34" charset="0"/>
              <a:buChar char="•"/>
            </a:pPr>
            <a:r>
              <a:rPr lang="en-IN" sz="1400" b="1" dirty="0"/>
              <a:t>Approach</a:t>
            </a:r>
          </a:p>
          <a:p>
            <a:pPr marL="285750" indent="-285750">
              <a:lnSpc>
                <a:spcPct val="150000"/>
              </a:lnSpc>
              <a:buFont typeface="Arial" panose="020B0604020202020204" pitchFamily="34" charset="0"/>
              <a:buChar char="•"/>
            </a:pPr>
            <a:r>
              <a:rPr lang="en-IN" sz="1400" b="1" dirty="0"/>
              <a:t>Detailed Findings</a:t>
            </a:r>
          </a:p>
          <a:p>
            <a:pPr marL="285750" indent="-285750">
              <a:lnSpc>
                <a:spcPct val="150000"/>
              </a:lnSpc>
              <a:buFont typeface="Arial" panose="020B0604020202020204" pitchFamily="34" charset="0"/>
              <a:buChar char="•"/>
            </a:pPr>
            <a:r>
              <a:rPr lang="en-IN" sz="1400" b="1" dirty="0"/>
              <a:t>D Cube Recommendations</a:t>
            </a:r>
          </a:p>
          <a:p>
            <a:pPr marL="285750" indent="-285750">
              <a:lnSpc>
                <a:spcPct val="150000"/>
              </a:lnSpc>
              <a:buFont typeface="Arial" panose="020B0604020202020204" pitchFamily="34" charset="0"/>
              <a:buChar char="•"/>
            </a:pPr>
            <a:r>
              <a:rPr lang="en-IN" sz="1400" b="1" dirty="0"/>
              <a:t>Next Steps</a:t>
            </a:r>
          </a:p>
          <a:p>
            <a:pPr marL="285750" indent="-285750">
              <a:lnSpc>
                <a:spcPct val="150000"/>
              </a:lnSpc>
              <a:buFont typeface="Arial" panose="020B0604020202020204" pitchFamily="34" charset="0"/>
              <a:buChar char="•"/>
            </a:pPr>
            <a:r>
              <a:rPr lang="en-IN" sz="1400" b="1" dirty="0"/>
              <a:t>Appendix</a:t>
            </a:r>
          </a:p>
          <a:p>
            <a:pPr marL="285750" indent="-285750">
              <a:lnSpc>
                <a:spcPct val="150000"/>
              </a:lnSpc>
              <a:buFont typeface="Arial" panose="020B0604020202020204" pitchFamily="34" charset="0"/>
              <a:buChar char="•"/>
            </a:pPr>
            <a:endParaRPr lang="en-US" sz="1400" b="1" dirty="0"/>
          </a:p>
        </p:txBody>
      </p:sp>
      <p:sp>
        <p:nvSpPr>
          <p:cNvPr id="8" name="Title 15">
            <a:extLst>
              <a:ext uri="{FF2B5EF4-FFF2-40B4-BE49-F238E27FC236}">
                <a16:creationId xmlns:a16="http://schemas.microsoft.com/office/drawing/2014/main" id="{79B828D4-57EE-4745-8D2A-9FF65F87E00A}"/>
              </a:ext>
            </a:extLst>
          </p:cNvPr>
          <p:cNvSpPr txBox="1">
            <a:spLocks/>
          </p:cNvSpPr>
          <p:nvPr/>
        </p:nvSpPr>
        <p:spPr>
          <a:xfrm>
            <a:off x="363537" y="301076"/>
            <a:ext cx="4133849" cy="400110"/>
          </a:xfrm>
          <a:prstGeom prst="rect">
            <a:avLst/>
          </a:prstGeom>
        </p:spPr>
        <p:txBody>
          <a:bodyPr vert="horz"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CONTENT</a:t>
            </a:r>
          </a:p>
        </p:txBody>
      </p:sp>
      <p:sp>
        <p:nvSpPr>
          <p:cNvPr id="9" name="Rectangle 8">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Tree>
    <p:extLst>
      <p:ext uri="{BB962C8B-B14F-4D97-AF65-F5344CB8AC3E}">
        <p14:creationId xmlns:p14="http://schemas.microsoft.com/office/powerpoint/2010/main" val="18022135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D134B2-2E98-40FA-92F3-C8869577F0F6}"/>
              </a:ext>
            </a:extLst>
          </p:cNvPr>
          <p:cNvSpPr/>
          <p:nvPr/>
        </p:nvSpPr>
        <p:spPr>
          <a:xfrm>
            <a:off x="363537" y="1135796"/>
            <a:ext cx="1282788" cy="540000"/>
          </a:xfrm>
          <a:prstGeom prst="rect">
            <a:avLst/>
          </a:prstGeom>
          <a:solidFill>
            <a:srgbClr val="0063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bg1"/>
                </a:solidFill>
              </a:rPr>
              <a:t>Objective</a:t>
            </a:r>
          </a:p>
        </p:txBody>
      </p:sp>
      <p:sp>
        <p:nvSpPr>
          <p:cNvPr id="7" name="Rectangle 6">
            <a:extLst>
              <a:ext uri="{FF2B5EF4-FFF2-40B4-BE49-F238E27FC236}">
                <a16:creationId xmlns:a16="http://schemas.microsoft.com/office/drawing/2014/main" id="{DCBC4D32-0E16-4D6D-B505-A25BE6FD1D49}"/>
              </a:ext>
            </a:extLst>
          </p:cNvPr>
          <p:cNvSpPr/>
          <p:nvPr/>
        </p:nvSpPr>
        <p:spPr>
          <a:xfrm>
            <a:off x="363537" y="3866673"/>
            <a:ext cx="1282788" cy="54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bg1"/>
                </a:solidFill>
              </a:rPr>
              <a:t>Findings &amp; Next Steps</a:t>
            </a:r>
          </a:p>
        </p:txBody>
      </p:sp>
      <p:sp>
        <p:nvSpPr>
          <p:cNvPr id="8" name="Rectangle 7">
            <a:extLst>
              <a:ext uri="{FF2B5EF4-FFF2-40B4-BE49-F238E27FC236}">
                <a16:creationId xmlns:a16="http://schemas.microsoft.com/office/drawing/2014/main" id="{719472ED-EF78-44D7-8A86-874087773658}"/>
              </a:ext>
            </a:extLst>
          </p:cNvPr>
          <p:cNvSpPr/>
          <p:nvPr/>
        </p:nvSpPr>
        <p:spPr>
          <a:xfrm>
            <a:off x="363537" y="2531764"/>
            <a:ext cx="1282788" cy="5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bg1"/>
                </a:solidFill>
              </a:rPr>
              <a:t>Approach</a:t>
            </a:r>
          </a:p>
        </p:txBody>
      </p:sp>
      <p:sp>
        <p:nvSpPr>
          <p:cNvPr id="9" name="Isosceles Triangle 8">
            <a:extLst>
              <a:ext uri="{FF2B5EF4-FFF2-40B4-BE49-F238E27FC236}">
                <a16:creationId xmlns:a16="http://schemas.microsoft.com/office/drawing/2014/main" id="{4AFB4988-8A20-443B-A8C8-EFA5E2475FBD}"/>
              </a:ext>
            </a:extLst>
          </p:cNvPr>
          <p:cNvSpPr/>
          <p:nvPr/>
        </p:nvSpPr>
        <p:spPr>
          <a:xfrm rot="5400000">
            <a:off x="1485674" y="2711764"/>
            <a:ext cx="540000" cy="180000"/>
          </a:xfrm>
          <a:prstGeom prst="triangle">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b="1" dirty="0">
              <a:solidFill>
                <a:schemeClr val="bg1"/>
              </a:solidFill>
            </a:endParaRPr>
          </a:p>
        </p:txBody>
      </p:sp>
      <p:sp>
        <p:nvSpPr>
          <p:cNvPr id="10" name="Isosceles Triangle 9">
            <a:extLst>
              <a:ext uri="{FF2B5EF4-FFF2-40B4-BE49-F238E27FC236}">
                <a16:creationId xmlns:a16="http://schemas.microsoft.com/office/drawing/2014/main" id="{86A152D3-AD10-402C-B0DF-2E8C3B629ED5}"/>
              </a:ext>
            </a:extLst>
          </p:cNvPr>
          <p:cNvSpPr/>
          <p:nvPr/>
        </p:nvSpPr>
        <p:spPr>
          <a:xfrm rot="5400000">
            <a:off x="1485674" y="4046673"/>
            <a:ext cx="540000" cy="180000"/>
          </a:xfrm>
          <a:prstGeom prst="triangle">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b="1" dirty="0">
              <a:solidFill>
                <a:schemeClr val="bg1"/>
              </a:solidFill>
            </a:endParaRPr>
          </a:p>
        </p:txBody>
      </p:sp>
      <p:sp>
        <p:nvSpPr>
          <p:cNvPr id="13" name="Isosceles Triangle 12">
            <a:extLst>
              <a:ext uri="{FF2B5EF4-FFF2-40B4-BE49-F238E27FC236}">
                <a16:creationId xmlns:a16="http://schemas.microsoft.com/office/drawing/2014/main" id="{D13002B7-A603-4855-A85E-AB5B6480DF0F}"/>
              </a:ext>
            </a:extLst>
          </p:cNvPr>
          <p:cNvSpPr/>
          <p:nvPr/>
        </p:nvSpPr>
        <p:spPr>
          <a:xfrm rot="5400000">
            <a:off x="1485673" y="1315796"/>
            <a:ext cx="540000" cy="180000"/>
          </a:xfrm>
          <a:prstGeom prst="triangle">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b="1" dirty="0">
              <a:solidFill>
                <a:schemeClr val="bg1"/>
              </a:solidFill>
            </a:endParaRPr>
          </a:p>
        </p:txBody>
      </p:sp>
      <p:sp>
        <p:nvSpPr>
          <p:cNvPr id="14" name="Title 15">
            <a:extLst>
              <a:ext uri="{FF2B5EF4-FFF2-40B4-BE49-F238E27FC236}">
                <a16:creationId xmlns:a16="http://schemas.microsoft.com/office/drawing/2014/main" id="{79B828D4-57EE-4745-8D2A-9FF65F87E00A}"/>
              </a:ext>
            </a:extLst>
          </p:cNvPr>
          <p:cNvSpPr txBox="1">
            <a:spLocks/>
          </p:cNvSpPr>
          <p:nvPr/>
        </p:nvSpPr>
        <p:spPr>
          <a:xfrm>
            <a:off x="363537" y="301076"/>
            <a:ext cx="4133849" cy="400110"/>
          </a:xfrm>
          <a:prstGeom prst="rect">
            <a:avLst/>
          </a:prstGeom>
        </p:spPr>
        <p:txBody>
          <a:bodyPr vert="horz"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Executive Summary</a:t>
            </a:r>
          </a:p>
        </p:txBody>
      </p:sp>
      <p:sp>
        <p:nvSpPr>
          <p:cNvPr id="15" name="Rectangle 14">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16" name="Rectangle 15"/>
          <p:cNvSpPr/>
          <p:nvPr/>
        </p:nvSpPr>
        <p:spPr>
          <a:xfrm>
            <a:off x="1854417" y="808897"/>
            <a:ext cx="7010085" cy="119277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itchFamily="34" charset="0"/>
              <a:buChar char="•"/>
            </a:pPr>
            <a:endParaRPr lang="en-IN" sz="500" dirty="0">
              <a:solidFill>
                <a:schemeClr val="tx1"/>
              </a:solidFill>
              <a:latin typeface="+mj-lt"/>
            </a:endParaRPr>
          </a:p>
          <a:p>
            <a:pPr marL="285750" indent="-285750">
              <a:buFont typeface="Arial" pitchFamily="34" charset="0"/>
              <a:buChar char="•"/>
            </a:pPr>
            <a:r>
              <a:rPr lang="en-IN" sz="1200" dirty="0">
                <a:solidFill>
                  <a:schemeClr val="tx1"/>
                </a:solidFill>
                <a:latin typeface="+mj-lt"/>
              </a:rPr>
              <a:t>The Amgen IS team required a comprehensive assessment of the </a:t>
            </a:r>
            <a:r>
              <a:rPr lang="en-IN" sz="1200" dirty="0" err="1">
                <a:solidFill>
                  <a:schemeClr val="tx1"/>
                </a:solidFill>
                <a:latin typeface="+mj-lt"/>
              </a:rPr>
              <a:t>iDNA</a:t>
            </a:r>
            <a:r>
              <a:rPr lang="en-IN" sz="1200" dirty="0">
                <a:solidFill>
                  <a:schemeClr val="tx1"/>
                </a:solidFill>
                <a:latin typeface="+mj-lt"/>
              </a:rPr>
              <a:t> platform along the following lines: </a:t>
            </a:r>
          </a:p>
          <a:p>
            <a:pPr marL="742950" lvl="1" indent="-285750">
              <a:buFont typeface="Arial" pitchFamily="34" charset="0"/>
              <a:buChar char="•"/>
            </a:pPr>
            <a:r>
              <a:rPr lang="en-IN" sz="1200" dirty="0">
                <a:solidFill>
                  <a:schemeClr val="tx1"/>
                </a:solidFill>
                <a:latin typeface="+mj-lt"/>
              </a:rPr>
              <a:t>Best Practices capability coverage across platform components</a:t>
            </a:r>
          </a:p>
          <a:p>
            <a:pPr marL="742950" lvl="1" indent="-285750">
              <a:buFont typeface="Arial" pitchFamily="34" charset="0"/>
              <a:buChar char="•"/>
            </a:pPr>
            <a:r>
              <a:rPr lang="en-IN" sz="1200" dirty="0">
                <a:solidFill>
                  <a:schemeClr val="tx1"/>
                </a:solidFill>
                <a:latin typeface="+mj-lt"/>
              </a:rPr>
              <a:t>Component usage and patterns </a:t>
            </a:r>
          </a:p>
          <a:p>
            <a:pPr marL="742950" lvl="1" indent="-285750">
              <a:buFont typeface="Arial" pitchFamily="34" charset="0"/>
              <a:buChar char="•"/>
            </a:pPr>
            <a:r>
              <a:rPr lang="en-IN" sz="1200" dirty="0">
                <a:solidFill>
                  <a:schemeClr val="tx1"/>
                </a:solidFill>
                <a:latin typeface="+mj-lt"/>
              </a:rPr>
              <a:t>Enterprise hardening aspects such as data quality</a:t>
            </a:r>
          </a:p>
          <a:p>
            <a:pPr marL="742950" lvl="1" indent="-285750">
              <a:buFont typeface="Arial" pitchFamily="34" charset="0"/>
              <a:buChar char="•"/>
            </a:pPr>
            <a:r>
              <a:rPr lang="en-IN" sz="1200" dirty="0">
                <a:solidFill>
                  <a:schemeClr val="tx1"/>
                </a:solidFill>
                <a:latin typeface="+mj-lt"/>
              </a:rPr>
              <a:t>Completeness of documentation</a:t>
            </a:r>
          </a:p>
        </p:txBody>
      </p:sp>
      <p:sp>
        <p:nvSpPr>
          <p:cNvPr id="17" name="Rectangle 16"/>
          <p:cNvSpPr/>
          <p:nvPr/>
        </p:nvSpPr>
        <p:spPr>
          <a:xfrm>
            <a:off x="1854417" y="2066191"/>
            <a:ext cx="7010085" cy="160145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itchFamily="34" charset="0"/>
              <a:buChar char="•"/>
            </a:pPr>
            <a:r>
              <a:rPr lang="en-IN" sz="1200" dirty="0">
                <a:solidFill>
                  <a:schemeClr val="tx1"/>
                </a:solidFill>
                <a:latin typeface="+mj-lt"/>
              </a:rPr>
              <a:t>An objective methodology was constructed along with the Amgen team on the basis of workshops and discussions with key stakeholders</a:t>
            </a:r>
          </a:p>
          <a:p>
            <a:pPr marL="171450" indent="-171450">
              <a:buFont typeface="Arial" pitchFamily="34" charset="0"/>
              <a:buChar char="•"/>
            </a:pPr>
            <a:r>
              <a:rPr lang="en-IN" sz="1200" dirty="0">
                <a:solidFill>
                  <a:schemeClr val="tx1"/>
                </a:solidFill>
                <a:latin typeface="+mj-lt"/>
              </a:rPr>
              <a:t>The </a:t>
            </a:r>
            <a:r>
              <a:rPr lang="en-IN" sz="1200" dirty="0" err="1">
                <a:solidFill>
                  <a:schemeClr val="tx1"/>
                </a:solidFill>
                <a:latin typeface="+mj-lt"/>
              </a:rPr>
              <a:t>iDNA</a:t>
            </a:r>
            <a:r>
              <a:rPr lang="en-IN" sz="1200" dirty="0">
                <a:solidFill>
                  <a:schemeClr val="tx1"/>
                </a:solidFill>
                <a:latin typeface="+mj-lt"/>
              </a:rPr>
              <a:t> platform was rated on the following basis </a:t>
            </a:r>
          </a:p>
          <a:p>
            <a:pPr marL="628650" lvl="1" indent="-171450">
              <a:buFont typeface="Arial" pitchFamily="34" charset="0"/>
              <a:buChar char="•"/>
            </a:pPr>
            <a:r>
              <a:rPr lang="en-IN" sz="1200" b="1" dirty="0">
                <a:solidFill>
                  <a:schemeClr val="tx1"/>
                </a:solidFill>
                <a:latin typeface="+mj-lt"/>
              </a:rPr>
              <a:t>Data Management </a:t>
            </a:r>
            <a:r>
              <a:rPr lang="en-IN" sz="1200" dirty="0">
                <a:solidFill>
                  <a:schemeClr val="tx1"/>
                </a:solidFill>
                <a:latin typeface="+mj-lt"/>
              </a:rPr>
              <a:t>(Standardized Data Model Design, Data Isolation and taxonomy, Security, Compression and encryption, Storage and data fabric design)</a:t>
            </a:r>
          </a:p>
          <a:p>
            <a:pPr marL="628650" lvl="1" indent="-171450">
              <a:buFont typeface="Arial" pitchFamily="34" charset="0"/>
              <a:buChar char="•"/>
            </a:pPr>
            <a:r>
              <a:rPr lang="en-IN" sz="1200" b="1" dirty="0">
                <a:solidFill>
                  <a:schemeClr val="tx1"/>
                </a:solidFill>
                <a:latin typeface="+mj-lt"/>
              </a:rPr>
              <a:t>Data Pipeline engineering </a:t>
            </a:r>
            <a:r>
              <a:rPr lang="en-IN" sz="1200" dirty="0">
                <a:solidFill>
                  <a:schemeClr val="tx1"/>
                </a:solidFill>
                <a:latin typeface="+mj-lt"/>
              </a:rPr>
              <a:t>standards and practices</a:t>
            </a:r>
          </a:p>
          <a:p>
            <a:pPr marL="628650" lvl="1" indent="-171450">
              <a:buFont typeface="Arial" pitchFamily="34" charset="0"/>
              <a:buChar char="•"/>
            </a:pPr>
            <a:r>
              <a:rPr lang="en-IN" sz="1200" b="1" dirty="0">
                <a:solidFill>
                  <a:schemeClr val="tx1"/>
                </a:solidFill>
                <a:latin typeface="+mj-lt"/>
              </a:rPr>
              <a:t>Infrastructure</a:t>
            </a:r>
            <a:r>
              <a:rPr lang="en-IN" sz="1200" dirty="0">
                <a:solidFill>
                  <a:schemeClr val="tx1"/>
                </a:solidFill>
                <a:latin typeface="+mj-lt"/>
              </a:rPr>
              <a:t> availability, usage, patterns and alignment with best practices</a:t>
            </a:r>
          </a:p>
          <a:p>
            <a:pPr marL="628650" lvl="1" indent="-171450">
              <a:buFont typeface="Arial" pitchFamily="34" charset="0"/>
              <a:buChar char="•"/>
            </a:pPr>
            <a:r>
              <a:rPr lang="en-IN" sz="1200" b="1" dirty="0">
                <a:solidFill>
                  <a:schemeClr val="tx1"/>
                </a:solidFill>
                <a:latin typeface="+mj-lt"/>
              </a:rPr>
              <a:t>Framework </a:t>
            </a:r>
            <a:r>
              <a:rPr lang="en-IN" sz="1200" dirty="0">
                <a:solidFill>
                  <a:schemeClr val="tx1"/>
                </a:solidFill>
                <a:latin typeface="+mj-lt"/>
              </a:rPr>
              <a:t>design (dynamic airflow, logging)</a:t>
            </a:r>
          </a:p>
          <a:p>
            <a:pPr marL="628650" lvl="1" indent="-171450">
              <a:buFont typeface="Arial" pitchFamily="34" charset="0"/>
              <a:buChar char="•"/>
            </a:pPr>
            <a:endParaRPr lang="en-IN" sz="1200" dirty="0">
              <a:solidFill>
                <a:schemeClr val="tx1"/>
              </a:solidFill>
              <a:latin typeface="+mj-lt"/>
            </a:endParaRPr>
          </a:p>
          <a:p>
            <a:pPr marL="628650" lvl="1" indent="-171450">
              <a:buFont typeface="Arial" pitchFamily="34" charset="0"/>
              <a:buChar char="•"/>
            </a:pPr>
            <a:endParaRPr lang="en-IN" sz="1200" dirty="0">
              <a:solidFill>
                <a:schemeClr val="tx1"/>
              </a:solidFill>
              <a:latin typeface="+mj-lt"/>
            </a:endParaRPr>
          </a:p>
        </p:txBody>
      </p:sp>
      <p:sp>
        <p:nvSpPr>
          <p:cNvPr id="18" name="Rectangle 17"/>
          <p:cNvSpPr/>
          <p:nvPr/>
        </p:nvSpPr>
        <p:spPr>
          <a:xfrm>
            <a:off x="1845674" y="3732165"/>
            <a:ext cx="7010085" cy="837931"/>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171450">
              <a:buFont typeface="Arial" pitchFamily="34" charset="0"/>
              <a:buChar char="•"/>
            </a:pPr>
            <a:endParaRPr lang="en-IN" sz="400" dirty="0">
              <a:solidFill>
                <a:schemeClr val="tx1"/>
              </a:solidFill>
              <a:latin typeface="+mj-lt"/>
            </a:endParaRPr>
          </a:p>
          <a:p>
            <a:pPr marL="285750" indent="-171450">
              <a:buFont typeface="Arial" pitchFamily="34" charset="0"/>
              <a:buChar char="•"/>
            </a:pPr>
            <a:r>
              <a:rPr lang="en-IN" sz="1200" dirty="0">
                <a:solidFill>
                  <a:schemeClr val="tx1"/>
                </a:solidFill>
                <a:latin typeface="+mj-lt"/>
              </a:rPr>
              <a:t>We were able to identify key capabilities across the data engineering value chain where opportunities exist for enhancement to meet or exceed industry standards. </a:t>
            </a:r>
          </a:p>
          <a:p>
            <a:pPr marL="285750" indent="-171450">
              <a:buFont typeface="Arial" pitchFamily="34" charset="0"/>
              <a:buChar char="•"/>
            </a:pPr>
            <a:r>
              <a:rPr lang="en-IN" sz="1200" dirty="0">
                <a:solidFill>
                  <a:schemeClr val="tx1"/>
                </a:solidFill>
                <a:latin typeface="+mj-lt"/>
              </a:rPr>
              <a:t>The findings across the different pillars have been documented and specific enhancements to the </a:t>
            </a:r>
            <a:r>
              <a:rPr lang="en-IN" sz="1200" dirty="0" err="1">
                <a:solidFill>
                  <a:schemeClr val="tx1"/>
                </a:solidFill>
                <a:latin typeface="+mj-lt"/>
              </a:rPr>
              <a:t>iDNA</a:t>
            </a:r>
            <a:r>
              <a:rPr lang="en-IN" sz="1200" dirty="0">
                <a:solidFill>
                  <a:schemeClr val="tx1"/>
                </a:solidFill>
                <a:latin typeface="+mj-lt"/>
              </a:rPr>
              <a:t> platform have been called out along with the benefits and value of the enhancements.</a:t>
            </a:r>
          </a:p>
        </p:txBody>
      </p:sp>
    </p:spTree>
    <p:extLst>
      <p:ext uri="{BB962C8B-B14F-4D97-AF65-F5344CB8AC3E}">
        <p14:creationId xmlns:p14="http://schemas.microsoft.com/office/powerpoint/2010/main" val="2191329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1492" name="Google Shape;1492;p51"/>
          <p:cNvSpPr txBox="1"/>
          <p:nvPr/>
        </p:nvSpPr>
        <p:spPr>
          <a:xfrm>
            <a:off x="2034539" y="1277483"/>
            <a:ext cx="2216491" cy="888981"/>
          </a:xfrm>
          <a:prstGeom prst="rect">
            <a:avLst/>
          </a:prstGeom>
          <a:noFill/>
          <a:ln>
            <a:solidFill>
              <a:schemeClr val="tx1"/>
            </a:solidFill>
            <a:prstDash val="dash"/>
          </a:ln>
        </p:spPr>
        <p:txBody>
          <a:bodyPr spcFirstLastPara="1" wrap="square" lIns="0" tIns="0" rIns="0" bIns="0" anchor="ctr" anchorCtr="0">
            <a:noAutofit/>
          </a:bodyPr>
          <a:lstStyle/>
          <a:p>
            <a:pPr marL="171450" indent="-171450">
              <a:buClr>
                <a:schemeClr val="dk2"/>
              </a:buClr>
              <a:buSzPct val="100000"/>
              <a:buFont typeface="Arial" charset="0"/>
              <a:buChar char="•"/>
            </a:pPr>
            <a:r>
              <a:rPr lang="en-US" sz="1000" dirty="0">
                <a:latin typeface="Calibri"/>
                <a:ea typeface="Calibri"/>
                <a:cs typeface="Calibri"/>
                <a:sym typeface="Calibri"/>
              </a:rPr>
              <a:t>Standardized Data Model Design</a:t>
            </a:r>
          </a:p>
          <a:p>
            <a:pPr marL="171450" indent="-171450">
              <a:buClr>
                <a:schemeClr val="dk2"/>
              </a:buClr>
              <a:buSzPct val="100000"/>
              <a:buFont typeface="Arial" charset="0"/>
              <a:buChar char="•"/>
            </a:pPr>
            <a:r>
              <a:rPr lang="en-US" sz="1000" dirty="0">
                <a:latin typeface="Calibri"/>
                <a:ea typeface="Calibri"/>
                <a:cs typeface="Calibri"/>
                <a:sym typeface="Calibri"/>
              </a:rPr>
              <a:t>Data Isolation and taxonomy</a:t>
            </a:r>
          </a:p>
          <a:p>
            <a:pPr marL="171450" indent="-171450">
              <a:buClr>
                <a:schemeClr val="dk2"/>
              </a:buClr>
              <a:buSzPct val="100000"/>
              <a:buFont typeface="Arial" charset="0"/>
              <a:buChar char="•"/>
            </a:pPr>
            <a:r>
              <a:rPr lang="en-US" sz="1000" dirty="0">
                <a:latin typeface="Calibri"/>
                <a:ea typeface="Calibri"/>
                <a:cs typeface="Calibri"/>
                <a:sym typeface="Calibri"/>
              </a:rPr>
              <a:t>Security, Compression and encryption</a:t>
            </a:r>
          </a:p>
          <a:p>
            <a:pPr marL="171450" indent="-171450">
              <a:buClr>
                <a:schemeClr val="dk2"/>
              </a:buClr>
              <a:buSzPct val="100000"/>
              <a:buFont typeface="Arial" charset="0"/>
              <a:buChar char="•"/>
            </a:pPr>
            <a:r>
              <a:rPr lang="en-US" sz="1000" dirty="0">
                <a:latin typeface="Calibri"/>
                <a:ea typeface="Calibri"/>
                <a:cs typeface="Calibri"/>
                <a:sym typeface="Calibri"/>
              </a:rPr>
              <a:t>Storage and data fabric design</a:t>
            </a:r>
          </a:p>
        </p:txBody>
      </p:sp>
      <p:sp>
        <p:nvSpPr>
          <p:cNvPr id="1493" name="Google Shape;1493;p51"/>
          <p:cNvSpPr txBox="1"/>
          <p:nvPr/>
        </p:nvSpPr>
        <p:spPr>
          <a:xfrm>
            <a:off x="4308773" y="1263147"/>
            <a:ext cx="2158073" cy="903317"/>
          </a:xfrm>
          <a:prstGeom prst="rect">
            <a:avLst/>
          </a:prstGeom>
          <a:noFill/>
          <a:ln>
            <a:solidFill>
              <a:schemeClr val="tx1"/>
            </a:solidFill>
            <a:prstDash val="dash"/>
          </a:ln>
        </p:spPr>
        <p:txBody>
          <a:bodyPr spcFirstLastPara="1" wrap="square" lIns="0" tIns="0" rIns="0" bIns="0" anchor="ctr" anchorCtr="0">
            <a:noAutofit/>
          </a:bodyPr>
          <a:lstStyle/>
          <a:p>
            <a:pPr marL="171450" indent="-171450">
              <a:buClr>
                <a:schemeClr val="dk2"/>
              </a:buClr>
              <a:buSzPct val="100000"/>
              <a:buFont typeface="Arial" charset="0"/>
              <a:buChar char="•"/>
            </a:pPr>
            <a:r>
              <a:rPr lang="en-US" sz="1000" dirty="0">
                <a:latin typeface="Calibri"/>
                <a:ea typeface="Calibri"/>
                <a:cs typeface="Calibri"/>
                <a:sym typeface="Calibri"/>
              </a:rPr>
              <a:t>Data Engineering practices</a:t>
            </a:r>
          </a:p>
          <a:p>
            <a:pPr marL="171450" indent="-171450">
              <a:buClr>
                <a:schemeClr val="dk2"/>
              </a:buClr>
              <a:buSzPct val="100000"/>
              <a:buFont typeface="Arial" charset="0"/>
              <a:buChar char="•"/>
            </a:pPr>
            <a:r>
              <a:rPr lang="en-US" sz="1000" dirty="0">
                <a:latin typeface="Calibri"/>
                <a:ea typeface="Calibri"/>
                <a:cs typeface="Calibri"/>
                <a:sym typeface="Calibri"/>
              </a:rPr>
              <a:t>Performance Engineering standards</a:t>
            </a:r>
          </a:p>
          <a:p>
            <a:pPr marL="171450" indent="-171450">
              <a:buClr>
                <a:schemeClr val="dk2"/>
              </a:buClr>
              <a:buSzPct val="100000"/>
              <a:buFont typeface="Arial" charset="0"/>
              <a:buChar char="•"/>
            </a:pPr>
            <a:r>
              <a:rPr lang="en-US" sz="1000" dirty="0">
                <a:latin typeface="Calibri"/>
                <a:ea typeface="Calibri"/>
                <a:cs typeface="Calibri"/>
                <a:sym typeface="Calibri"/>
              </a:rPr>
              <a:t>Templatized pattern driven pipelines</a:t>
            </a:r>
          </a:p>
          <a:p>
            <a:pPr marL="171450" indent="-171450">
              <a:buClr>
                <a:schemeClr val="dk2"/>
              </a:buClr>
              <a:buSzPct val="100000"/>
              <a:buFont typeface="Arial" charset="0"/>
              <a:buChar char="•"/>
            </a:pPr>
            <a:r>
              <a:rPr lang="en-US" sz="1000" dirty="0">
                <a:latin typeface="Calibri"/>
                <a:ea typeface="Calibri"/>
                <a:cs typeface="Calibri"/>
                <a:sym typeface="Calibri"/>
              </a:rPr>
              <a:t>Pipeline parameters</a:t>
            </a:r>
          </a:p>
          <a:p>
            <a:pPr marL="171450" indent="-171450">
              <a:buClr>
                <a:schemeClr val="dk2"/>
              </a:buClr>
              <a:buSzPct val="100000"/>
              <a:buFont typeface="Arial" charset="0"/>
              <a:buChar char="•"/>
            </a:pPr>
            <a:r>
              <a:rPr lang="en-US" sz="1000" dirty="0">
                <a:latin typeface="Calibri"/>
                <a:ea typeface="Calibri"/>
                <a:cs typeface="Calibri"/>
                <a:sym typeface="Calibri"/>
              </a:rPr>
              <a:t>Pipeline elasticity </a:t>
            </a:r>
          </a:p>
        </p:txBody>
      </p:sp>
      <p:sp>
        <p:nvSpPr>
          <p:cNvPr id="1494" name="Google Shape;1494;p51"/>
          <p:cNvSpPr txBox="1"/>
          <p:nvPr/>
        </p:nvSpPr>
        <p:spPr>
          <a:xfrm>
            <a:off x="6509349" y="1304561"/>
            <a:ext cx="2391003" cy="852230"/>
          </a:xfrm>
          <a:prstGeom prst="rect">
            <a:avLst/>
          </a:prstGeom>
          <a:noFill/>
          <a:ln>
            <a:solidFill>
              <a:schemeClr val="tx1"/>
            </a:solidFill>
            <a:prstDash val="dash"/>
          </a:ln>
        </p:spPr>
        <p:txBody>
          <a:bodyPr spcFirstLastPara="1" wrap="square" lIns="0" tIns="0" rIns="0" bIns="0" anchor="ctr" anchorCtr="0">
            <a:noAutofit/>
          </a:bodyPr>
          <a:lstStyle/>
          <a:p>
            <a:pPr marL="171450" indent="-171450">
              <a:lnSpc>
                <a:spcPct val="120000"/>
              </a:lnSpc>
              <a:buClr>
                <a:schemeClr val="dk2"/>
              </a:buClr>
              <a:buSzPct val="100000"/>
              <a:buFont typeface="Arial" charset="0"/>
              <a:buChar char="•"/>
            </a:pPr>
            <a:r>
              <a:rPr lang="en-US" sz="1000" dirty="0">
                <a:latin typeface="Calibri"/>
                <a:ea typeface="Calibri"/>
                <a:cs typeface="Calibri"/>
                <a:sym typeface="Helvetica Neue"/>
              </a:rPr>
              <a:t>AWS Component Usage Assessment</a:t>
            </a:r>
          </a:p>
          <a:p>
            <a:pPr marL="171450" indent="-171450">
              <a:lnSpc>
                <a:spcPct val="120000"/>
              </a:lnSpc>
              <a:buClr>
                <a:schemeClr val="dk2"/>
              </a:buClr>
              <a:buSzPct val="100000"/>
              <a:buFont typeface="Arial" charset="0"/>
              <a:buChar char="•"/>
            </a:pPr>
            <a:r>
              <a:rPr lang="en-US" sz="1000" dirty="0">
                <a:latin typeface="Calibri"/>
                <a:ea typeface="Calibri"/>
                <a:cs typeface="Calibri"/>
                <a:sym typeface="Helvetica Neue"/>
              </a:rPr>
              <a:t>High Availability and Failover</a:t>
            </a:r>
          </a:p>
          <a:p>
            <a:pPr marL="171450" indent="-171450">
              <a:lnSpc>
                <a:spcPct val="120000"/>
              </a:lnSpc>
              <a:buClr>
                <a:schemeClr val="dk2"/>
              </a:buClr>
              <a:buSzPct val="100000"/>
              <a:buFont typeface="Arial" charset="0"/>
              <a:buChar char="•"/>
            </a:pPr>
            <a:r>
              <a:rPr lang="en-US" sz="1000" dirty="0">
                <a:latin typeface="Calibri"/>
                <a:ea typeface="Calibri"/>
                <a:cs typeface="Calibri"/>
                <a:sym typeface="Helvetica Neue"/>
              </a:rPr>
              <a:t>AWS configurations and best practices</a:t>
            </a:r>
          </a:p>
          <a:p>
            <a:pPr marL="171450" indent="-171450">
              <a:lnSpc>
                <a:spcPct val="120000"/>
              </a:lnSpc>
              <a:buClr>
                <a:schemeClr val="dk2"/>
              </a:buClr>
              <a:buSzPct val="100000"/>
              <a:buFont typeface="Arial" charset="0"/>
              <a:buChar char="•"/>
            </a:pPr>
            <a:r>
              <a:rPr lang="en-US" sz="1000" dirty="0">
                <a:latin typeface="Calibri"/>
                <a:ea typeface="Calibri"/>
                <a:cs typeface="Calibri"/>
                <a:sym typeface="Helvetica Neue"/>
              </a:rPr>
              <a:t>Measurement, Monitoring and Logging</a:t>
            </a:r>
          </a:p>
        </p:txBody>
      </p:sp>
      <p:sp>
        <p:nvSpPr>
          <p:cNvPr id="30" name="Title 15">
            <a:extLst>
              <a:ext uri="{FF2B5EF4-FFF2-40B4-BE49-F238E27FC236}">
                <a16:creationId xmlns:a16="http://schemas.microsoft.com/office/drawing/2014/main" id="{79B828D4-57EE-4745-8D2A-9FF65F87E00A}"/>
              </a:ext>
            </a:extLst>
          </p:cNvPr>
          <p:cNvSpPr txBox="1">
            <a:spLocks/>
          </p:cNvSpPr>
          <p:nvPr/>
        </p:nvSpPr>
        <p:spPr>
          <a:xfrm>
            <a:off x="90519" y="185909"/>
            <a:ext cx="8809833" cy="707886"/>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Guiding Tenets: The </a:t>
            </a:r>
            <a:r>
              <a:rPr lang="en-IN" sz="2000" cap="none" dirty="0" err="1"/>
              <a:t>i</a:t>
            </a:r>
            <a:r>
              <a:rPr lang="en-IN" sz="2000" dirty="0" err="1"/>
              <a:t>DNA</a:t>
            </a:r>
            <a:r>
              <a:rPr lang="en-IN" sz="2000" dirty="0"/>
              <a:t> platform was assessed against the following high-level dimensions</a:t>
            </a:r>
          </a:p>
        </p:txBody>
      </p:sp>
      <p:sp>
        <p:nvSpPr>
          <p:cNvPr id="31" name="Rectangle 30">
            <a:extLst>
              <a:ext uri="{FF2B5EF4-FFF2-40B4-BE49-F238E27FC236}">
                <a16:creationId xmlns:a16="http://schemas.microsoft.com/office/drawing/2014/main" id="{9160A9DC-32AA-40F2-A03A-5217B5CFF74C}"/>
              </a:ext>
            </a:extLst>
          </p:cNvPr>
          <p:cNvSpPr/>
          <p:nvPr/>
        </p:nvSpPr>
        <p:spPr>
          <a:xfrm>
            <a:off x="90519" y="857908"/>
            <a:ext cx="8809833" cy="105546"/>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10" name="Rectangle 9"/>
          <p:cNvSpPr/>
          <p:nvPr/>
        </p:nvSpPr>
        <p:spPr>
          <a:xfrm>
            <a:off x="2033449" y="1005418"/>
            <a:ext cx="2217581" cy="291220"/>
          </a:xfrm>
          <a:prstGeom prst="rect">
            <a:avLst/>
          </a:prstGeom>
          <a:solidFill>
            <a:srgbClr val="EFEFE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latin typeface="+mj-lt"/>
              </a:rPr>
              <a:t>Data Management</a:t>
            </a:r>
          </a:p>
        </p:txBody>
      </p:sp>
      <p:sp>
        <p:nvSpPr>
          <p:cNvPr id="43" name="Rectangle 42"/>
          <p:cNvSpPr/>
          <p:nvPr/>
        </p:nvSpPr>
        <p:spPr>
          <a:xfrm>
            <a:off x="4308724" y="1005418"/>
            <a:ext cx="2158122" cy="291220"/>
          </a:xfrm>
          <a:prstGeom prst="rect">
            <a:avLst/>
          </a:prstGeom>
          <a:solidFill>
            <a:srgbClr val="EFEFE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latin typeface="+mj-lt"/>
              </a:rPr>
              <a:t>Data Pipeline Engineering</a:t>
            </a:r>
          </a:p>
        </p:txBody>
      </p:sp>
      <p:sp>
        <p:nvSpPr>
          <p:cNvPr id="44" name="Rectangle 43"/>
          <p:cNvSpPr/>
          <p:nvPr/>
        </p:nvSpPr>
        <p:spPr>
          <a:xfrm>
            <a:off x="6509350" y="1005418"/>
            <a:ext cx="2391003" cy="298409"/>
          </a:xfrm>
          <a:prstGeom prst="rect">
            <a:avLst/>
          </a:prstGeom>
          <a:solidFill>
            <a:srgbClr val="EFEFE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latin typeface="+mj-lt"/>
              </a:rPr>
              <a:t>Infrastructure</a:t>
            </a:r>
          </a:p>
        </p:txBody>
      </p:sp>
      <p:sp>
        <p:nvSpPr>
          <p:cNvPr id="37" name="Shape 126"/>
          <p:cNvSpPr/>
          <p:nvPr/>
        </p:nvSpPr>
        <p:spPr>
          <a:xfrm>
            <a:off x="2983517" y="2274528"/>
            <a:ext cx="3125475" cy="2769464"/>
          </a:xfrm>
          <a:prstGeom prst="blockArc">
            <a:avLst>
              <a:gd name="adj1" fmla="val 10800000"/>
              <a:gd name="adj2" fmla="val 16200000"/>
              <a:gd name="adj3" fmla="val 4642"/>
            </a:avLst>
          </a:prstGeom>
          <a:solidFill>
            <a:srgbClr val="0C0C0C">
              <a:alpha val="1176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39" name="Shape 127"/>
          <p:cNvSpPr/>
          <p:nvPr/>
        </p:nvSpPr>
        <p:spPr>
          <a:xfrm>
            <a:off x="2983517" y="2274528"/>
            <a:ext cx="3125475" cy="2769464"/>
          </a:xfrm>
          <a:prstGeom prst="blockArc">
            <a:avLst>
              <a:gd name="adj1" fmla="val 5400000"/>
              <a:gd name="adj2" fmla="val 10800000"/>
              <a:gd name="adj3" fmla="val 4642"/>
            </a:avLst>
          </a:prstGeom>
          <a:solidFill>
            <a:srgbClr val="0C0C0C">
              <a:alpha val="1176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40" name="Shape 128"/>
          <p:cNvSpPr/>
          <p:nvPr/>
        </p:nvSpPr>
        <p:spPr>
          <a:xfrm>
            <a:off x="2983517" y="2274528"/>
            <a:ext cx="3125475" cy="2769464"/>
          </a:xfrm>
          <a:prstGeom prst="blockArc">
            <a:avLst>
              <a:gd name="adj1" fmla="val 0"/>
              <a:gd name="adj2" fmla="val 5400000"/>
              <a:gd name="adj3" fmla="val 4642"/>
            </a:avLst>
          </a:prstGeom>
          <a:solidFill>
            <a:srgbClr val="0C0C0C">
              <a:alpha val="1176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41" name="Shape 129"/>
          <p:cNvSpPr/>
          <p:nvPr/>
        </p:nvSpPr>
        <p:spPr>
          <a:xfrm>
            <a:off x="2983517" y="2274526"/>
            <a:ext cx="3125475" cy="2769464"/>
          </a:xfrm>
          <a:prstGeom prst="blockArc">
            <a:avLst>
              <a:gd name="adj1" fmla="val 16200000"/>
              <a:gd name="adj2" fmla="val 0"/>
              <a:gd name="adj3" fmla="val 4642"/>
            </a:avLst>
          </a:prstGeom>
          <a:solidFill>
            <a:srgbClr val="0C0C0C">
              <a:alpha val="1176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42" name="Shape 130"/>
          <p:cNvSpPr/>
          <p:nvPr/>
        </p:nvSpPr>
        <p:spPr>
          <a:xfrm>
            <a:off x="3800901" y="2905459"/>
            <a:ext cx="1439100" cy="1275178"/>
          </a:xfrm>
          <a:prstGeom prst="ellipse">
            <a:avLst/>
          </a:prstGeom>
          <a:solidFill>
            <a:srgbClr val="0C0C0C">
              <a:alpha val="1176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45" name="Shape 131"/>
          <p:cNvSpPr txBox="1"/>
          <p:nvPr/>
        </p:nvSpPr>
        <p:spPr>
          <a:xfrm>
            <a:off x="4011664" y="3068207"/>
            <a:ext cx="1017563" cy="901656"/>
          </a:xfrm>
          <a:prstGeom prst="rect">
            <a:avLst/>
          </a:prstGeom>
          <a:noFill/>
          <a:ln>
            <a:noFill/>
          </a:ln>
        </p:spPr>
        <p:txBody>
          <a:bodyPr spcFirstLastPara="1" wrap="square" lIns="17775" tIns="17775" rIns="17775" bIns="17775" anchor="ctr" anchorCtr="0">
            <a:noAutofit/>
          </a:bodyPr>
          <a:lstStyle/>
          <a:p>
            <a:pPr algn="ctr">
              <a:lnSpc>
                <a:spcPct val="90000"/>
              </a:lnSpc>
              <a:buClr>
                <a:srgbClr val="000000"/>
              </a:buClr>
              <a:buSzPts val="3700"/>
            </a:pPr>
            <a:r>
              <a:rPr lang="en-US" sz="1388">
                <a:solidFill>
                  <a:srgbClr val="000000"/>
                </a:solidFill>
                <a:latin typeface="Arial"/>
                <a:ea typeface="Arial"/>
                <a:cs typeface="Arial"/>
                <a:sym typeface="Arial"/>
              </a:rPr>
              <a:t>Technology Assessment</a:t>
            </a:r>
            <a:endParaRPr sz="1388"/>
          </a:p>
        </p:txBody>
      </p:sp>
      <p:sp>
        <p:nvSpPr>
          <p:cNvPr id="48" name="Shape 132"/>
          <p:cNvSpPr/>
          <p:nvPr/>
        </p:nvSpPr>
        <p:spPr>
          <a:xfrm>
            <a:off x="5106349" y="2200808"/>
            <a:ext cx="956073" cy="892685"/>
          </a:xfrm>
          <a:prstGeom prst="ellipse">
            <a:avLst/>
          </a:prstGeom>
          <a:solidFill>
            <a:schemeClr val="accent3">
              <a:lumMod val="75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50" name="Shape 134"/>
          <p:cNvSpPr/>
          <p:nvPr/>
        </p:nvSpPr>
        <p:spPr>
          <a:xfrm>
            <a:off x="5197528" y="4092366"/>
            <a:ext cx="1007438" cy="1007438"/>
          </a:xfrm>
          <a:prstGeom prst="ellipse">
            <a:avLst/>
          </a:prstGeom>
          <a:solidFill>
            <a:schemeClr val="accent4">
              <a:lumMod val="75000"/>
              <a:alpha val="97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51" name="Shape 135"/>
          <p:cNvSpPr txBox="1"/>
          <p:nvPr/>
        </p:nvSpPr>
        <p:spPr>
          <a:xfrm>
            <a:off x="5286445" y="4300664"/>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1050" dirty="0">
                <a:solidFill>
                  <a:schemeClr val="bg1"/>
                </a:solidFill>
              </a:rPr>
              <a:t>Data Pipeline Engineering</a:t>
            </a:r>
            <a:endParaRPr sz="1500" dirty="0">
              <a:solidFill>
                <a:schemeClr val="bg1"/>
              </a:solidFill>
            </a:endParaRPr>
          </a:p>
        </p:txBody>
      </p:sp>
      <p:sp>
        <p:nvSpPr>
          <p:cNvPr id="52" name="Shape 136"/>
          <p:cNvSpPr/>
          <p:nvPr/>
        </p:nvSpPr>
        <p:spPr>
          <a:xfrm>
            <a:off x="2626542" y="3766417"/>
            <a:ext cx="868498" cy="892685"/>
          </a:xfrm>
          <a:prstGeom prst="ellipse">
            <a:avLst/>
          </a:prstGeom>
          <a:solidFill>
            <a:schemeClr val="accent2">
              <a:lumMod val="75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p>
        </p:txBody>
      </p:sp>
      <p:sp>
        <p:nvSpPr>
          <p:cNvPr id="53" name="Shape 137"/>
          <p:cNvSpPr txBox="1"/>
          <p:nvPr/>
        </p:nvSpPr>
        <p:spPr>
          <a:xfrm>
            <a:off x="2645621" y="3880353"/>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1050" dirty="0">
                <a:solidFill>
                  <a:schemeClr val="bg1"/>
                </a:solidFill>
              </a:rPr>
              <a:t>Infrastructure</a:t>
            </a:r>
            <a:endParaRPr sz="1500" dirty="0">
              <a:solidFill>
                <a:schemeClr val="bg1"/>
              </a:solidFill>
            </a:endParaRPr>
          </a:p>
        </p:txBody>
      </p:sp>
      <p:sp>
        <p:nvSpPr>
          <p:cNvPr id="22" name="Shape 136">
            <a:extLst>
              <a:ext uri="{FF2B5EF4-FFF2-40B4-BE49-F238E27FC236}">
                <a16:creationId xmlns:a16="http://schemas.microsoft.com/office/drawing/2014/main" id="{48E3C9DB-B6CC-4E0B-8903-D6E0E030463E}"/>
              </a:ext>
            </a:extLst>
          </p:cNvPr>
          <p:cNvSpPr/>
          <p:nvPr/>
        </p:nvSpPr>
        <p:spPr>
          <a:xfrm>
            <a:off x="2806035" y="2320315"/>
            <a:ext cx="917744" cy="892685"/>
          </a:xfrm>
          <a:prstGeom prst="ellipse">
            <a:avLst/>
          </a:prstGeom>
          <a:solidFill>
            <a:schemeClr val="accent1">
              <a:lumMod val="75000"/>
              <a:alpha val="96000"/>
            </a:schemeClr>
          </a:solidFill>
          <a:ln>
            <a:solidFill>
              <a:schemeClr val="accent1"/>
            </a:solid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675">
              <a:solidFill>
                <a:schemeClr val="bg1"/>
              </a:solidFill>
            </a:endParaRPr>
          </a:p>
        </p:txBody>
      </p:sp>
      <p:sp>
        <p:nvSpPr>
          <p:cNvPr id="23" name="Shape 137">
            <a:extLst>
              <a:ext uri="{FF2B5EF4-FFF2-40B4-BE49-F238E27FC236}">
                <a16:creationId xmlns:a16="http://schemas.microsoft.com/office/drawing/2014/main" id="{35E5A58D-84D1-4C62-ADE7-998A230908C5}"/>
              </a:ext>
            </a:extLst>
          </p:cNvPr>
          <p:cNvSpPr txBox="1"/>
          <p:nvPr/>
        </p:nvSpPr>
        <p:spPr>
          <a:xfrm>
            <a:off x="2825114" y="243425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1050" dirty="0">
                <a:solidFill>
                  <a:schemeClr val="bg1"/>
                </a:solidFill>
              </a:rPr>
              <a:t>Framework</a:t>
            </a:r>
          </a:p>
          <a:p>
            <a:pPr algn="ctr">
              <a:lnSpc>
                <a:spcPct val="90000"/>
              </a:lnSpc>
              <a:buClr>
                <a:srgbClr val="000000"/>
              </a:buClr>
              <a:buSzPts val="2400"/>
            </a:pPr>
            <a:r>
              <a:rPr lang="en-US" sz="1050" dirty="0">
                <a:solidFill>
                  <a:schemeClr val="bg1"/>
                </a:solidFill>
              </a:rPr>
              <a:t>Design </a:t>
            </a:r>
            <a:endParaRPr sz="1500" dirty="0">
              <a:solidFill>
                <a:schemeClr val="bg1"/>
              </a:solidFill>
            </a:endParaRPr>
          </a:p>
        </p:txBody>
      </p:sp>
      <p:sp>
        <p:nvSpPr>
          <p:cNvPr id="26" name="Google Shape;1492;p51">
            <a:extLst>
              <a:ext uri="{FF2B5EF4-FFF2-40B4-BE49-F238E27FC236}">
                <a16:creationId xmlns:a16="http://schemas.microsoft.com/office/drawing/2014/main" id="{F5F06837-BE31-4181-B2D0-E05EE1CBDCCD}"/>
              </a:ext>
            </a:extLst>
          </p:cNvPr>
          <p:cNvSpPr txBox="1"/>
          <p:nvPr/>
        </p:nvSpPr>
        <p:spPr>
          <a:xfrm>
            <a:off x="91440" y="1269863"/>
            <a:ext cx="1873590" cy="888981"/>
          </a:xfrm>
          <a:prstGeom prst="rect">
            <a:avLst/>
          </a:prstGeom>
          <a:noFill/>
          <a:ln>
            <a:solidFill>
              <a:schemeClr val="tx1"/>
            </a:solidFill>
            <a:prstDash val="dash"/>
          </a:ln>
        </p:spPr>
        <p:txBody>
          <a:bodyPr spcFirstLastPara="1" wrap="square" lIns="0" tIns="0" rIns="0" bIns="0" anchor="ctr" anchorCtr="0">
            <a:noAutofit/>
          </a:bodyPr>
          <a:lstStyle/>
          <a:p>
            <a:pPr marL="171450" indent="-171450">
              <a:buClr>
                <a:schemeClr val="dk2"/>
              </a:buClr>
              <a:buSzPct val="100000"/>
              <a:buFont typeface="Arial" charset="0"/>
              <a:buChar char="•"/>
            </a:pPr>
            <a:r>
              <a:rPr lang="en-US" sz="1000" dirty="0">
                <a:latin typeface="Calibri"/>
                <a:ea typeface="Calibri"/>
                <a:cs typeface="Calibri"/>
                <a:sym typeface="Calibri"/>
              </a:rPr>
              <a:t>Standardized Data Model Design</a:t>
            </a:r>
          </a:p>
          <a:p>
            <a:pPr marL="171450" indent="-171450">
              <a:buClr>
                <a:schemeClr val="dk2"/>
              </a:buClr>
              <a:buSzPct val="100000"/>
              <a:buFont typeface="Arial" charset="0"/>
              <a:buChar char="•"/>
            </a:pPr>
            <a:r>
              <a:rPr lang="en-US" sz="1000" dirty="0">
                <a:latin typeface="Calibri"/>
                <a:ea typeface="Calibri"/>
                <a:cs typeface="Calibri"/>
                <a:sym typeface="Calibri"/>
              </a:rPr>
              <a:t>Data Isolation and taxonomy</a:t>
            </a:r>
          </a:p>
          <a:p>
            <a:pPr marL="171450" indent="-171450">
              <a:buClr>
                <a:schemeClr val="dk2"/>
              </a:buClr>
              <a:buSzPct val="100000"/>
              <a:buFont typeface="Arial" charset="0"/>
              <a:buChar char="•"/>
            </a:pPr>
            <a:r>
              <a:rPr lang="en-US" sz="1000" dirty="0">
                <a:latin typeface="Calibri"/>
                <a:ea typeface="Calibri"/>
                <a:cs typeface="Calibri"/>
                <a:sym typeface="Calibri"/>
              </a:rPr>
              <a:t>Security, Compression and encryption</a:t>
            </a:r>
          </a:p>
          <a:p>
            <a:pPr marL="171450" indent="-171450">
              <a:buClr>
                <a:schemeClr val="dk2"/>
              </a:buClr>
              <a:buSzPct val="100000"/>
              <a:buFont typeface="Arial" charset="0"/>
              <a:buChar char="•"/>
            </a:pPr>
            <a:r>
              <a:rPr lang="en-US" sz="1000" dirty="0">
                <a:latin typeface="Calibri"/>
                <a:ea typeface="Calibri"/>
                <a:cs typeface="Calibri"/>
                <a:sym typeface="Calibri"/>
              </a:rPr>
              <a:t>Storage and data fabric design</a:t>
            </a:r>
          </a:p>
        </p:txBody>
      </p:sp>
      <p:sp>
        <p:nvSpPr>
          <p:cNvPr id="27" name="Rectangle 26">
            <a:extLst>
              <a:ext uri="{FF2B5EF4-FFF2-40B4-BE49-F238E27FC236}">
                <a16:creationId xmlns:a16="http://schemas.microsoft.com/office/drawing/2014/main" id="{BBBF8C67-9B3A-43E5-9775-3CA700826B79}"/>
              </a:ext>
            </a:extLst>
          </p:cNvPr>
          <p:cNvSpPr/>
          <p:nvPr/>
        </p:nvSpPr>
        <p:spPr>
          <a:xfrm>
            <a:off x="90519" y="997798"/>
            <a:ext cx="1874511" cy="291220"/>
          </a:xfrm>
          <a:prstGeom prst="rect">
            <a:avLst/>
          </a:prstGeom>
          <a:solidFill>
            <a:srgbClr val="EFEFE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latin typeface="+mj-lt"/>
              </a:rPr>
              <a:t>Framework Design</a:t>
            </a:r>
          </a:p>
        </p:txBody>
      </p:sp>
      <p:sp>
        <p:nvSpPr>
          <p:cNvPr id="54" name="Shape 133">
            <a:extLst>
              <a:ext uri="{FF2B5EF4-FFF2-40B4-BE49-F238E27FC236}">
                <a16:creationId xmlns:a16="http://schemas.microsoft.com/office/drawing/2014/main" id="{5AF4CFA3-ECC8-4007-BED9-651D75229B66}"/>
              </a:ext>
            </a:extLst>
          </p:cNvPr>
          <p:cNvSpPr txBox="1"/>
          <p:nvPr/>
        </p:nvSpPr>
        <p:spPr>
          <a:xfrm>
            <a:off x="5143992" y="2271012"/>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1050" dirty="0">
                <a:solidFill>
                  <a:schemeClr val="bg1"/>
                </a:solidFill>
              </a:rPr>
              <a:t>Data Management</a:t>
            </a:r>
            <a:endParaRPr sz="1500" dirty="0">
              <a:solidFill>
                <a:schemeClr val="bg1"/>
              </a:solidFill>
            </a:endParaRPr>
          </a:p>
        </p:txBody>
      </p:sp>
    </p:spTree>
    <p:extLst>
      <p:ext uri="{BB962C8B-B14F-4D97-AF65-F5344CB8AC3E}">
        <p14:creationId xmlns:p14="http://schemas.microsoft.com/office/powerpoint/2010/main" val="183492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5">
            <a:extLst>
              <a:ext uri="{FF2B5EF4-FFF2-40B4-BE49-F238E27FC236}">
                <a16:creationId xmlns:a16="http://schemas.microsoft.com/office/drawing/2014/main" id="{79B828D4-57EE-4745-8D2A-9FF65F87E00A}"/>
              </a:ext>
            </a:extLst>
          </p:cNvPr>
          <p:cNvSpPr txBox="1">
            <a:spLocks/>
          </p:cNvSpPr>
          <p:nvPr/>
        </p:nvSpPr>
        <p:spPr>
          <a:xfrm>
            <a:off x="119169" y="164795"/>
            <a:ext cx="8299889" cy="707886"/>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FRAMEWORK DESIGN was </a:t>
            </a:r>
            <a:r>
              <a:rPr lang="en-IN" sz="2000"/>
              <a:t>assessed against the INDUSTRY BENCHMARK per below</a:t>
            </a:r>
            <a:endParaRPr lang="en-IN" sz="2000" dirty="0"/>
          </a:p>
        </p:txBody>
      </p:sp>
      <p:sp>
        <p:nvSpPr>
          <p:cNvPr id="15" name="Rectangle 14">
            <a:extLst>
              <a:ext uri="{FF2B5EF4-FFF2-40B4-BE49-F238E27FC236}">
                <a16:creationId xmlns:a16="http://schemas.microsoft.com/office/drawing/2014/main" id="{9160A9DC-32AA-40F2-A03A-5217B5CFF74C}"/>
              </a:ext>
            </a:extLst>
          </p:cNvPr>
          <p:cNvSpPr/>
          <p:nvPr/>
        </p:nvSpPr>
        <p:spPr>
          <a:xfrm>
            <a:off x="119170" y="883160"/>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graphicFrame>
        <p:nvGraphicFramePr>
          <p:cNvPr id="19" name="Diagram 18">
            <a:extLst>
              <a:ext uri="{FF2B5EF4-FFF2-40B4-BE49-F238E27FC236}">
                <a16:creationId xmlns:a16="http://schemas.microsoft.com/office/drawing/2014/main" id="{612BA840-41DB-45C1-A25A-A448CDCE9B36}"/>
              </a:ext>
            </a:extLst>
          </p:cNvPr>
          <p:cNvGraphicFramePr/>
          <p:nvPr/>
        </p:nvGraphicFramePr>
        <p:xfrm>
          <a:off x="1721801" y="1169227"/>
          <a:ext cx="5656984" cy="32314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TextBox 19">
            <a:extLst>
              <a:ext uri="{FF2B5EF4-FFF2-40B4-BE49-F238E27FC236}">
                <a16:creationId xmlns:a16="http://schemas.microsoft.com/office/drawing/2014/main" id="{C30949DF-8460-433B-B80E-E8BC9C7590EE}"/>
              </a:ext>
            </a:extLst>
          </p:cNvPr>
          <p:cNvSpPr txBox="1"/>
          <p:nvPr/>
        </p:nvSpPr>
        <p:spPr>
          <a:xfrm>
            <a:off x="6186858" y="3896562"/>
            <a:ext cx="2814336" cy="646331"/>
          </a:xfrm>
          <a:prstGeom prst="rect">
            <a:avLst/>
          </a:prstGeom>
          <a:solidFill>
            <a:schemeClr val="bg1">
              <a:lumMod val="95000"/>
            </a:schemeClr>
          </a:solidFill>
          <a:ln>
            <a:solidFill>
              <a:schemeClr val="tx1"/>
            </a:solidFill>
            <a:prstDash val="dash"/>
          </a:ln>
        </p:spPr>
        <p:txBody>
          <a:bodyPr wrap="square" rtlCol="0">
            <a:spAutoFit/>
          </a:bodyPr>
          <a:lstStyle/>
          <a:p>
            <a:pPr marL="128588" indent="-128588">
              <a:buFont typeface="Arial" panose="020B0604020202020204" pitchFamily="34" charset="0"/>
              <a:buChar char="•"/>
            </a:pPr>
            <a:r>
              <a:rPr lang="en-US" sz="900" dirty="0"/>
              <a:t>For an existing pattern , a productivity of &lt; 1 day to onboard a dataset.</a:t>
            </a:r>
          </a:p>
          <a:p>
            <a:pPr marL="128588" indent="-128588">
              <a:buFont typeface="Arial" panose="020B0604020202020204" pitchFamily="34" charset="0"/>
              <a:buChar char="•"/>
            </a:pPr>
            <a:r>
              <a:rPr lang="en-US" sz="900" dirty="0"/>
              <a:t>Easy to configure parameters and process in place to do the Ingestion</a:t>
            </a:r>
          </a:p>
        </p:txBody>
      </p:sp>
      <p:sp>
        <p:nvSpPr>
          <p:cNvPr id="21" name="TextBox 20">
            <a:extLst>
              <a:ext uri="{FF2B5EF4-FFF2-40B4-BE49-F238E27FC236}">
                <a16:creationId xmlns:a16="http://schemas.microsoft.com/office/drawing/2014/main" id="{1AAFB5FF-AA2E-4C88-A7EB-6EA167F46207}"/>
              </a:ext>
            </a:extLst>
          </p:cNvPr>
          <p:cNvSpPr txBox="1"/>
          <p:nvPr/>
        </p:nvSpPr>
        <p:spPr>
          <a:xfrm>
            <a:off x="178904" y="3564243"/>
            <a:ext cx="2566622" cy="646331"/>
          </a:xfrm>
          <a:prstGeom prst="rect">
            <a:avLst/>
          </a:prstGeom>
          <a:solidFill>
            <a:schemeClr val="bg1">
              <a:lumMod val="95000"/>
            </a:schemeClr>
          </a:solidFill>
          <a:ln>
            <a:solidFill>
              <a:schemeClr val="tx1"/>
            </a:solidFill>
            <a:prstDash val="dash"/>
          </a:ln>
        </p:spPr>
        <p:txBody>
          <a:bodyPr wrap="square" rtlCol="0">
            <a:spAutoFit/>
          </a:bodyPr>
          <a:lstStyle/>
          <a:p>
            <a:pPr marL="128588" indent="-128588">
              <a:buFont typeface="Arial" panose="020B0604020202020204" pitchFamily="34" charset="0"/>
              <a:buChar char="•"/>
            </a:pPr>
            <a:r>
              <a:rPr lang="en-US" sz="900" dirty="0"/>
              <a:t>Pattern based ingestion, with the parameters to provide inputs.</a:t>
            </a:r>
          </a:p>
          <a:p>
            <a:pPr marL="128588" indent="-128588">
              <a:buFont typeface="Arial" panose="020B0604020202020204" pitchFamily="34" charset="0"/>
              <a:buChar char="•"/>
            </a:pPr>
            <a:r>
              <a:rPr lang="en-US" sz="900" dirty="0"/>
              <a:t>The implementation of the pattern should be abstracted away from the code.</a:t>
            </a:r>
          </a:p>
        </p:txBody>
      </p:sp>
      <p:sp>
        <p:nvSpPr>
          <p:cNvPr id="22" name="Oval 21">
            <a:extLst>
              <a:ext uri="{FF2B5EF4-FFF2-40B4-BE49-F238E27FC236}">
                <a16:creationId xmlns:a16="http://schemas.microsoft.com/office/drawing/2014/main" id="{797F921E-0171-43B7-90A1-12E918BE5884}"/>
              </a:ext>
            </a:extLst>
          </p:cNvPr>
          <p:cNvSpPr/>
          <p:nvPr/>
        </p:nvSpPr>
        <p:spPr>
          <a:xfrm>
            <a:off x="3618860" y="1109916"/>
            <a:ext cx="206627" cy="142982"/>
          </a:xfrm>
          <a:prstGeom prst="ellipse">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1</a:t>
            </a:r>
          </a:p>
        </p:txBody>
      </p:sp>
      <p:sp>
        <p:nvSpPr>
          <p:cNvPr id="23" name="Oval 22">
            <a:extLst>
              <a:ext uri="{FF2B5EF4-FFF2-40B4-BE49-F238E27FC236}">
                <a16:creationId xmlns:a16="http://schemas.microsoft.com/office/drawing/2014/main" id="{682673F3-8A02-4DD5-A554-CE1A0B22C15D}"/>
              </a:ext>
            </a:extLst>
          </p:cNvPr>
          <p:cNvSpPr/>
          <p:nvPr/>
        </p:nvSpPr>
        <p:spPr>
          <a:xfrm>
            <a:off x="5140328" y="2068138"/>
            <a:ext cx="206627" cy="142982"/>
          </a:xfrm>
          <a:prstGeom prst="ellipse">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2</a:t>
            </a:r>
          </a:p>
        </p:txBody>
      </p:sp>
      <p:sp>
        <p:nvSpPr>
          <p:cNvPr id="24" name="TextBox 23">
            <a:extLst>
              <a:ext uri="{FF2B5EF4-FFF2-40B4-BE49-F238E27FC236}">
                <a16:creationId xmlns:a16="http://schemas.microsoft.com/office/drawing/2014/main" id="{EC83ED7D-6002-47A6-8446-52A21DF0D61D}"/>
              </a:ext>
            </a:extLst>
          </p:cNvPr>
          <p:cNvSpPr txBox="1"/>
          <p:nvPr/>
        </p:nvSpPr>
        <p:spPr>
          <a:xfrm>
            <a:off x="55977" y="1993329"/>
            <a:ext cx="2257435" cy="784830"/>
          </a:xfrm>
          <a:prstGeom prst="rect">
            <a:avLst/>
          </a:prstGeom>
          <a:solidFill>
            <a:schemeClr val="bg1">
              <a:lumMod val="95000"/>
            </a:schemeClr>
          </a:solidFill>
          <a:ln>
            <a:solidFill>
              <a:schemeClr val="tx1"/>
            </a:solidFill>
            <a:prstDash val="dash"/>
          </a:ln>
        </p:spPr>
        <p:txBody>
          <a:bodyPr wrap="square" rtlCol="0">
            <a:spAutoFit/>
          </a:bodyPr>
          <a:lstStyle/>
          <a:p>
            <a:pPr marL="128588" indent="-128588">
              <a:buFont typeface="Arial" panose="020B0604020202020204" pitchFamily="34" charset="0"/>
              <a:buChar char="•"/>
            </a:pPr>
            <a:r>
              <a:rPr lang="en-US" sz="900" dirty="0"/>
              <a:t>Configuration Driven &amp; Patten based ingestion.</a:t>
            </a:r>
          </a:p>
          <a:p>
            <a:pPr marL="128588" indent="-128588">
              <a:buFont typeface="Arial" panose="020B0604020202020204" pitchFamily="34" charset="0"/>
              <a:buChar char="•"/>
            </a:pPr>
            <a:r>
              <a:rPr lang="en-US" sz="900" dirty="0"/>
              <a:t>Low Code touchpoints and Deployment / migration to involve only configuration</a:t>
            </a:r>
          </a:p>
        </p:txBody>
      </p:sp>
      <p:sp>
        <p:nvSpPr>
          <p:cNvPr id="25" name="Oval 24">
            <a:extLst>
              <a:ext uri="{FF2B5EF4-FFF2-40B4-BE49-F238E27FC236}">
                <a16:creationId xmlns:a16="http://schemas.microsoft.com/office/drawing/2014/main" id="{5D09E3FD-81A4-4F8D-81FB-C9CAC85CC511}"/>
              </a:ext>
            </a:extLst>
          </p:cNvPr>
          <p:cNvSpPr/>
          <p:nvPr/>
        </p:nvSpPr>
        <p:spPr>
          <a:xfrm>
            <a:off x="4563173" y="3963737"/>
            <a:ext cx="206627" cy="142982"/>
          </a:xfrm>
          <a:prstGeom prst="ellipse">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3</a:t>
            </a:r>
          </a:p>
        </p:txBody>
      </p:sp>
      <p:sp>
        <p:nvSpPr>
          <p:cNvPr id="26" name="Oval 25">
            <a:extLst>
              <a:ext uri="{FF2B5EF4-FFF2-40B4-BE49-F238E27FC236}">
                <a16:creationId xmlns:a16="http://schemas.microsoft.com/office/drawing/2014/main" id="{22EDDC05-BA32-40BB-B5FD-9F0FC687E10A}"/>
              </a:ext>
            </a:extLst>
          </p:cNvPr>
          <p:cNvSpPr/>
          <p:nvPr/>
        </p:nvSpPr>
        <p:spPr>
          <a:xfrm>
            <a:off x="2932741" y="3698510"/>
            <a:ext cx="206627" cy="142982"/>
          </a:xfrm>
          <a:prstGeom prst="ellipse">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4</a:t>
            </a:r>
          </a:p>
        </p:txBody>
      </p:sp>
      <p:sp>
        <p:nvSpPr>
          <p:cNvPr id="27" name="Oval 26">
            <a:extLst>
              <a:ext uri="{FF2B5EF4-FFF2-40B4-BE49-F238E27FC236}">
                <a16:creationId xmlns:a16="http://schemas.microsoft.com/office/drawing/2014/main" id="{FBA92A1D-CFD8-4000-99E7-A12B48F5E98E}"/>
              </a:ext>
            </a:extLst>
          </p:cNvPr>
          <p:cNvSpPr/>
          <p:nvPr/>
        </p:nvSpPr>
        <p:spPr>
          <a:xfrm>
            <a:off x="2390216" y="2068138"/>
            <a:ext cx="231460" cy="142982"/>
          </a:xfrm>
          <a:prstGeom prst="ellipse">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5</a:t>
            </a:r>
          </a:p>
        </p:txBody>
      </p:sp>
      <p:sp>
        <p:nvSpPr>
          <p:cNvPr id="28" name="TextBox 27">
            <a:extLst>
              <a:ext uri="{FF2B5EF4-FFF2-40B4-BE49-F238E27FC236}">
                <a16:creationId xmlns:a16="http://schemas.microsoft.com/office/drawing/2014/main" id="{8E54B3B8-91A0-4304-9EF0-EA329D05A252}"/>
              </a:ext>
            </a:extLst>
          </p:cNvPr>
          <p:cNvSpPr txBox="1"/>
          <p:nvPr/>
        </p:nvSpPr>
        <p:spPr>
          <a:xfrm>
            <a:off x="5320149" y="1030894"/>
            <a:ext cx="3437907" cy="646331"/>
          </a:xfrm>
          <a:prstGeom prst="rect">
            <a:avLst/>
          </a:prstGeom>
          <a:solidFill>
            <a:schemeClr val="bg1">
              <a:lumMod val="95000"/>
            </a:schemeClr>
          </a:solidFill>
          <a:ln>
            <a:solidFill>
              <a:schemeClr val="tx1"/>
            </a:solidFill>
            <a:prstDash val="dash"/>
          </a:ln>
        </p:spPr>
        <p:txBody>
          <a:bodyPr wrap="square" rtlCol="0">
            <a:spAutoFit/>
          </a:bodyPr>
          <a:lstStyle/>
          <a:p>
            <a:pPr marL="128588" indent="-128588">
              <a:buFont typeface="Arial" panose="020B0604020202020204" pitchFamily="34" charset="0"/>
              <a:buChar char="•"/>
            </a:pPr>
            <a:r>
              <a:rPr lang="en-US" sz="900" dirty="0"/>
              <a:t>Enterprise Standards and Rules that are applied into Templates which can be reused</a:t>
            </a:r>
          </a:p>
          <a:p>
            <a:pPr marL="128588" indent="-128588">
              <a:buFont typeface="Arial" panose="020B0604020202020204" pitchFamily="34" charset="0"/>
              <a:buChar char="•"/>
            </a:pPr>
            <a:r>
              <a:rPr lang="en-US" sz="900" dirty="0"/>
              <a:t>Standards that are applicable to specific patterns of the Data (No One size fits all)</a:t>
            </a:r>
          </a:p>
        </p:txBody>
      </p:sp>
      <p:sp>
        <p:nvSpPr>
          <p:cNvPr id="29" name="TextBox 28">
            <a:extLst>
              <a:ext uri="{FF2B5EF4-FFF2-40B4-BE49-F238E27FC236}">
                <a16:creationId xmlns:a16="http://schemas.microsoft.com/office/drawing/2014/main" id="{BA256682-A1E9-4571-96AA-579E67412040}"/>
              </a:ext>
            </a:extLst>
          </p:cNvPr>
          <p:cNvSpPr txBox="1"/>
          <p:nvPr/>
        </p:nvSpPr>
        <p:spPr>
          <a:xfrm>
            <a:off x="6653938" y="2139629"/>
            <a:ext cx="2390671" cy="784830"/>
          </a:xfrm>
          <a:prstGeom prst="rect">
            <a:avLst/>
          </a:prstGeom>
          <a:solidFill>
            <a:schemeClr val="bg1">
              <a:lumMod val="95000"/>
            </a:schemeClr>
          </a:solidFill>
          <a:ln>
            <a:solidFill>
              <a:schemeClr val="tx1"/>
            </a:solidFill>
            <a:prstDash val="dash"/>
          </a:ln>
        </p:spPr>
        <p:txBody>
          <a:bodyPr wrap="square" rtlCol="0">
            <a:spAutoFit/>
          </a:bodyPr>
          <a:lstStyle/>
          <a:p>
            <a:pPr marL="128588" indent="-128588">
              <a:buFont typeface="Arial" panose="020B0604020202020204" pitchFamily="34" charset="0"/>
              <a:buChar char="•"/>
            </a:pPr>
            <a:r>
              <a:rPr lang="en-US" sz="900" dirty="0"/>
              <a:t>Enterprise Features such as MML Added into the Templates</a:t>
            </a:r>
          </a:p>
          <a:p>
            <a:pPr marL="128588" indent="-128588">
              <a:buFont typeface="Arial" panose="020B0604020202020204" pitchFamily="34" charset="0"/>
              <a:buChar char="•"/>
            </a:pPr>
            <a:r>
              <a:rPr lang="en-US" sz="900" dirty="0"/>
              <a:t>Security, Data Governance and Data Management embedded into the Patterns followed</a:t>
            </a:r>
          </a:p>
        </p:txBody>
      </p:sp>
    </p:spTree>
    <p:extLst>
      <p:ext uri="{BB962C8B-B14F-4D97-AF65-F5344CB8AC3E}">
        <p14:creationId xmlns:p14="http://schemas.microsoft.com/office/powerpoint/2010/main" val="44651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30" name="Title 15">
            <a:extLst>
              <a:ext uri="{FF2B5EF4-FFF2-40B4-BE49-F238E27FC236}">
                <a16:creationId xmlns:a16="http://schemas.microsoft.com/office/drawing/2014/main" id="{79B828D4-57EE-4745-8D2A-9FF65F87E00A}"/>
              </a:ext>
            </a:extLst>
          </p:cNvPr>
          <p:cNvSpPr txBox="1">
            <a:spLocks/>
          </p:cNvSpPr>
          <p:nvPr/>
        </p:nvSpPr>
        <p:spPr>
          <a:xfrm>
            <a:off x="441861" y="185909"/>
            <a:ext cx="8458491" cy="707886"/>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Data Management, Pipeline Engineering and infrastructure were referenced against industry standard benchmarks per below</a:t>
            </a:r>
          </a:p>
        </p:txBody>
      </p:sp>
      <p:sp>
        <p:nvSpPr>
          <p:cNvPr id="22" name="Rectangle 21">
            <a:extLst>
              <a:ext uri="{FF2B5EF4-FFF2-40B4-BE49-F238E27FC236}">
                <a16:creationId xmlns:a16="http://schemas.microsoft.com/office/drawing/2014/main" id="{9160A9DC-32AA-40F2-A03A-5217B5CFF74C}"/>
              </a:ext>
            </a:extLst>
          </p:cNvPr>
          <p:cNvSpPr/>
          <p:nvPr/>
        </p:nvSpPr>
        <p:spPr>
          <a:xfrm>
            <a:off x="444485" y="878886"/>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23" name="Shape 148"/>
          <p:cNvSpPr/>
          <p:nvPr/>
        </p:nvSpPr>
        <p:spPr>
          <a:xfrm>
            <a:off x="982139" y="4055318"/>
            <a:ext cx="610200"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S3 </a:t>
            </a:r>
            <a:r>
              <a:rPr lang="en-US" sz="675" kern="0" dirty="0">
                <a:solidFill>
                  <a:srgbClr val="FFFFFF"/>
                </a:solidFill>
                <a:latin typeface="Arial"/>
                <a:ea typeface="Arial"/>
                <a:cs typeface="Arial"/>
                <a:sym typeface="Arial"/>
              </a:rPr>
              <a:t>Structure</a:t>
            </a:r>
            <a:endParaRPr sz="525" kern="0" dirty="0">
              <a:solidFill>
                <a:srgbClr val="000000"/>
              </a:solidFill>
              <a:latin typeface="Arial"/>
              <a:cs typeface="Arial"/>
              <a:sym typeface="Arial"/>
            </a:endParaRPr>
          </a:p>
        </p:txBody>
      </p:sp>
      <p:sp>
        <p:nvSpPr>
          <p:cNvPr id="24" name="Shape 149"/>
          <p:cNvSpPr/>
          <p:nvPr/>
        </p:nvSpPr>
        <p:spPr>
          <a:xfrm>
            <a:off x="1951935" y="4055318"/>
            <a:ext cx="897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Partition  Implementation-</a:t>
            </a:r>
            <a:endParaRPr sz="525" kern="0" dirty="0">
              <a:solidFill>
                <a:srgbClr val="000000"/>
              </a:solidFill>
              <a:latin typeface="Arial"/>
              <a:cs typeface="Arial"/>
              <a:sym typeface="Arial"/>
            </a:endParaRPr>
          </a:p>
        </p:txBody>
      </p:sp>
      <p:sp>
        <p:nvSpPr>
          <p:cNvPr id="25" name="Shape 150"/>
          <p:cNvSpPr/>
          <p:nvPr/>
        </p:nvSpPr>
        <p:spPr>
          <a:xfrm>
            <a:off x="5524431" y="4055318"/>
            <a:ext cx="879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Orchestration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Integration</a:t>
            </a:r>
            <a:endParaRPr sz="525" kern="0" dirty="0">
              <a:solidFill>
                <a:srgbClr val="000000"/>
              </a:solidFill>
              <a:latin typeface="Arial"/>
              <a:cs typeface="Arial"/>
              <a:sym typeface="Arial"/>
            </a:endParaRPr>
          </a:p>
        </p:txBody>
      </p:sp>
      <p:sp>
        <p:nvSpPr>
          <p:cNvPr id="26" name="Shape 151"/>
          <p:cNvSpPr/>
          <p:nvPr/>
        </p:nvSpPr>
        <p:spPr>
          <a:xfrm>
            <a:off x="6698609" y="4055318"/>
            <a:ext cx="1545536"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User Management</a:t>
            </a:r>
            <a:endParaRPr sz="525" kern="0" dirty="0">
              <a:solidFill>
                <a:srgbClr val="000000"/>
              </a:solidFill>
              <a:latin typeface="Arial"/>
              <a:cs typeface="Arial"/>
              <a:sym typeface="Arial"/>
            </a:endParaRPr>
          </a:p>
        </p:txBody>
      </p:sp>
      <p:sp>
        <p:nvSpPr>
          <p:cNvPr id="27" name="Shape 152"/>
          <p:cNvSpPr/>
          <p:nvPr/>
        </p:nvSpPr>
        <p:spPr>
          <a:xfrm>
            <a:off x="974218" y="4413543"/>
            <a:ext cx="785588" cy="292281"/>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High Availability</a:t>
            </a:r>
            <a:endParaRPr sz="525" kern="0" dirty="0">
              <a:solidFill>
                <a:srgbClr val="000000"/>
              </a:solidFill>
              <a:latin typeface="Arial"/>
              <a:cs typeface="Arial"/>
              <a:sym typeface="Arial"/>
            </a:endParaRPr>
          </a:p>
        </p:txBody>
      </p:sp>
      <p:sp>
        <p:nvSpPr>
          <p:cNvPr id="28" name="Shape 153"/>
          <p:cNvSpPr/>
          <p:nvPr/>
        </p:nvSpPr>
        <p:spPr>
          <a:xfrm>
            <a:off x="3326903" y="4055318"/>
            <a:ext cx="758588"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Compression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Design</a:t>
            </a:r>
            <a:endParaRPr sz="525" kern="0" dirty="0">
              <a:solidFill>
                <a:srgbClr val="000000"/>
              </a:solidFill>
              <a:latin typeface="Arial"/>
              <a:cs typeface="Arial"/>
              <a:sym typeface="Arial"/>
            </a:endParaRPr>
          </a:p>
        </p:txBody>
      </p:sp>
      <p:sp>
        <p:nvSpPr>
          <p:cNvPr id="29" name="Shape 154"/>
          <p:cNvSpPr/>
          <p:nvPr/>
        </p:nvSpPr>
        <p:spPr>
          <a:xfrm>
            <a:off x="3205557" y="4413543"/>
            <a:ext cx="704588" cy="292281"/>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Archival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&amp; Clean up-</a:t>
            </a:r>
            <a:endParaRPr sz="525" kern="0" dirty="0">
              <a:solidFill>
                <a:srgbClr val="000000"/>
              </a:solidFill>
              <a:latin typeface="Arial"/>
              <a:cs typeface="Arial"/>
              <a:sym typeface="Arial"/>
            </a:endParaRPr>
          </a:p>
        </p:txBody>
      </p:sp>
      <p:sp>
        <p:nvSpPr>
          <p:cNvPr id="32" name="Shape 155"/>
          <p:cNvSpPr/>
          <p:nvPr/>
        </p:nvSpPr>
        <p:spPr>
          <a:xfrm>
            <a:off x="4208760" y="4423886"/>
            <a:ext cx="815400" cy="281938"/>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Metadata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Management</a:t>
            </a:r>
            <a:endParaRPr sz="525" kern="0" dirty="0">
              <a:solidFill>
                <a:srgbClr val="000000"/>
              </a:solidFill>
              <a:latin typeface="Arial"/>
              <a:cs typeface="Arial"/>
              <a:sym typeface="Arial"/>
            </a:endParaRPr>
          </a:p>
        </p:txBody>
      </p:sp>
      <p:sp>
        <p:nvSpPr>
          <p:cNvPr id="33" name="Shape 156"/>
          <p:cNvSpPr/>
          <p:nvPr/>
        </p:nvSpPr>
        <p:spPr>
          <a:xfrm>
            <a:off x="7578032" y="4410615"/>
            <a:ext cx="666113" cy="295209"/>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Security Governance</a:t>
            </a:r>
            <a:endParaRPr sz="525" kern="0" dirty="0">
              <a:solidFill>
                <a:srgbClr val="000000"/>
              </a:solidFill>
              <a:latin typeface="Arial"/>
              <a:cs typeface="Arial"/>
              <a:sym typeface="Arial"/>
            </a:endParaRPr>
          </a:p>
        </p:txBody>
      </p:sp>
      <p:sp>
        <p:nvSpPr>
          <p:cNvPr id="34" name="Shape 157"/>
          <p:cNvSpPr/>
          <p:nvPr/>
        </p:nvSpPr>
        <p:spPr>
          <a:xfrm>
            <a:off x="6464017" y="4431534"/>
            <a:ext cx="666113" cy="274290"/>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Continuous Dev</a:t>
            </a:r>
            <a:endParaRPr sz="675" kern="0" dirty="0">
              <a:solidFill>
                <a:srgbClr val="FFFFFF"/>
              </a:solidFill>
              <a:latin typeface="Arial"/>
              <a:ea typeface="Arial"/>
              <a:cs typeface="Arial"/>
              <a:sym typeface="Arial"/>
            </a:endParaRPr>
          </a:p>
        </p:txBody>
      </p:sp>
      <p:sp>
        <p:nvSpPr>
          <p:cNvPr id="35" name="Shape 158"/>
          <p:cNvSpPr/>
          <p:nvPr/>
        </p:nvSpPr>
        <p:spPr>
          <a:xfrm>
            <a:off x="2203684" y="4414176"/>
            <a:ext cx="676913" cy="291648"/>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Error/Log</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Framework</a:t>
            </a:r>
            <a:endParaRPr sz="525" kern="0" dirty="0">
              <a:solidFill>
                <a:srgbClr val="000000"/>
              </a:solidFill>
              <a:latin typeface="Arial"/>
              <a:cs typeface="Arial"/>
              <a:sym typeface="Arial"/>
            </a:endParaRPr>
          </a:p>
        </p:txBody>
      </p:sp>
      <p:sp>
        <p:nvSpPr>
          <p:cNvPr id="36" name="Shape 159"/>
          <p:cNvSpPr/>
          <p:nvPr/>
        </p:nvSpPr>
        <p:spPr>
          <a:xfrm>
            <a:off x="4398676" y="4055318"/>
            <a:ext cx="758588"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Info Quality Framework</a:t>
            </a:r>
            <a:endParaRPr sz="525" kern="0" dirty="0">
              <a:solidFill>
                <a:srgbClr val="000000"/>
              </a:solidFill>
              <a:latin typeface="Arial"/>
              <a:cs typeface="Arial"/>
              <a:sym typeface="Arial"/>
            </a:endParaRPr>
          </a:p>
        </p:txBody>
      </p:sp>
      <p:sp>
        <p:nvSpPr>
          <p:cNvPr id="38" name="Shape 160"/>
          <p:cNvSpPr/>
          <p:nvPr/>
        </p:nvSpPr>
        <p:spPr>
          <a:xfrm>
            <a:off x="5305617" y="4431534"/>
            <a:ext cx="766238" cy="274290"/>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Pushdown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Data</a:t>
            </a:r>
            <a:endParaRPr sz="525" kern="0" dirty="0">
              <a:solidFill>
                <a:srgbClr val="000000"/>
              </a:solidFill>
              <a:latin typeface="Arial"/>
              <a:cs typeface="Arial"/>
              <a:sym typeface="Arial"/>
            </a:endParaRPr>
          </a:p>
        </p:txBody>
      </p:sp>
      <p:sp>
        <p:nvSpPr>
          <p:cNvPr id="46" name="Shape 161"/>
          <p:cNvSpPr/>
          <p:nvPr/>
        </p:nvSpPr>
        <p:spPr>
          <a:xfrm>
            <a:off x="956985" y="3090013"/>
            <a:ext cx="877950" cy="3573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Ingestion</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ea typeface="Arial"/>
                <a:cs typeface="Arial"/>
                <a:sym typeface="Arial"/>
              </a:rPr>
              <a:t>Incremental</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cs typeface="Arial"/>
                <a:sym typeface="Arial"/>
              </a:rPr>
              <a:t>Logic</a:t>
            </a:r>
            <a:endParaRPr sz="525" kern="0" dirty="0">
              <a:solidFill>
                <a:srgbClr val="000000"/>
              </a:solidFill>
              <a:latin typeface="Arial"/>
              <a:cs typeface="Arial"/>
              <a:sym typeface="Arial"/>
            </a:endParaRPr>
          </a:p>
        </p:txBody>
      </p:sp>
      <p:sp>
        <p:nvSpPr>
          <p:cNvPr id="47" name="Shape 162"/>
          <p:cNvSpPr/>
          <p:nvPr/>
        </p:nvSpPr>
        <p:spPr>
          <a:xfrm>
            <a:off x="1958424" y="1864549"/>
            <a:ext cx="756900" cy="3771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cs typeface="Arial"/>
                <a:sym typeface="Arial"/>
              </a:rPr>
              <a:t>Database Ingestion Patterns</a:t>
            </a:r>
            <a:endParaRPr sz="525" kern="0">
              <a:solidFill>
                <a:srgbClr val="000000"/>
              </a:solidFill>
              <a:latin typeface="Arial"/>
              <a:cs typeface="Arial"/>
              <a:sym typeface="Arial"/>
            </a:endParaRPr>
          </a:p>
        </p:txBody>
      </p:sp>
      <p:sp>
        <p:nvSpPr>
          <p:cNvPr id="54" name="Shape 163"/>
          <p:cNvSpPr/>
          <p:nvPr/>
        </p:nvSpPr>
        <p:spPr>
          <a:xfrm>
            <a:off x="1958424" y="2334646"/>
            <a:ext cx="756900" cy="33412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History</a:t>
            </a:r>
            <a:endParaRPr sz="525" kern="0">
              <a:solidFill>
                <a:srgbClr val="000000"/>
              </a:solidFill>
              <a:latin typeface="Arial"/>
              <a:cs typeface="Arial"/>
              <a:sym typeface="Arial"/>
            </a:endParaRPr>
          </a:p>
        </p:txBody>
      </p:sp>
      <p:sp>
        <p:nvSpPr>
          <p:cNvPr id="55" name="Shape 164"/>
          <p:cNvSpPr/>
          <p:nvPr/>
        </p:nvSpPr>
        <p:spPr>
          <a:xfrm>
            <a:off x="1958422" y="2748000"/>
            <a:ext cx="756900" cy="3768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600"/>
            </a:pPr>
            <a:r>
              <a:rPr lang="en-US" sz="600" kern="0">
                <a:solidFill>
                  <a:srgbClr val="000000"/>
                </a:solidFill>
                <a:latin typeface="Arial"/>
                <a:ea typeface="Arial"/>
                <a:cs typeface="Arial"/>
                <a:sym typeface="Arial"/>
              </a:rPr>
              <a:t>Micro Event Batch</a:t>
            </a:r>
            <a:endParaRPr sz="525" kern="0">
              <a:solidFill>
                <a:srgbClr val="000000"/>
              </a:solidFill>
              <a:latin typeface="Arial"/>
              <a:cs typeface="Arial"/>
              <a:sym typeface="Arial"/>
            </a:endParaRPr>
          </a:p>
        </p:txBody>
      </p:sp>
      <p:sp>
        <p:nvSpPr>
          <p:cNvPr id="56" name="Shape 165"/>
          <p:cNvSpPr/>
          <p:nvPr/>
        </p:nvSpPr>
        <p:spPr>
          <a:xfrm>
            <a:off x="956990" y="1671284"/>
            <a:ext cx="877950" cy="32332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cs typeface="Arial"/>
                <a:sym typeface="Arial"/>
              </a:rPr>
              <a:t>Metadata Driven Templates</a:t>
            </a:r>
            <a:endParaRPr sz="525" kern="0" dirty="0">
              <a:solidFill>
                <a:srgbClr val="000000"/>
              </a:solidFill>
              <a:latin typeface="Arial"/>
              <a:cs typeface="Arial"/>
              <a:sym typeface="Arial"/>
            </a:endParaRPr>
          </a:p>
        </p:txBody>
      </p:sp>
      <p:sp>
        <p:nvSpPr>
          <p:cNvPr id="57" name="Shape 166"/>
          <p:cNvSpPr/>
          <p:nvPr/>
        </p:nvSpPr>
        <p:spPr>
          <a:xfrm>
            <a:off x="976084" y="1358350"/>
            <a:ext cx="866813" cy="2472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ea typeface="Arial"/>
                <a:cs typeface="Arial"/>
                <a:sym typeface="Arial"/>
              </a:rPr>
              <a:t>Source Identification</a:t>
            </a:r>
            <a:endParaRPr sz="525" kern="0" dirty="0">
              <a:solidFill>
                <a:srgbClr val="000000"/>
              </a:solidFill>
              <a:latin typeface="Arial"/>
              <a:cs typeface="Arial"/>
              <a:sym typeface="Arial"/>
            </a:endParaRPr>
          </a:p>
        </p:txBody>
      </p:sp>
      <p:sp>
        <p:nvSpPr>
          <p:cNvPr id="58" name="Shape 167"/>
          <p:cNvSpPr/>
          <p:nvPr/>
        </p:nvSpPr>
        <p:spPr>
          <a:xfrm>
            <a:off x="956984" y="2591382"/>
            <a:ext cx="877950" cy="3195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Data Mapping</a:t>
            </a:r>
            <a:endParaRPr sz="525" kern="0">
              <a:solidFill>
                <a:srgbClr val="000000"/>
              </a:solidFill>
              <a:latin typeface="Arial"/>
              <a:cs typeface="Arial"/>
              <a:sym typeface="Arial"/>
            </a:endParaRPr>
          </a:p>
          <a:p>
            <a:pPr defTabSz="342900">
              <a:buClr>
                <a:srgbClr val="000000"/>
              </a:buClr>
              <a:buSzPts val="1600"/>
            </a:pPr>
            <a:r>
              <a:rPr lang="en-US" sz="600" kern="0">
                <a:solidFill>
                  <a:srgbClr val="000000"/>
                </a:solidFill>
                <a:latin typeface="Arial"/>
                <a:cs typeface="Arial"/>
                <a:sym typeface="Arial"/>
              </a:rPr>
              <a:t>	Catalog</a:t>
            </a:r>
            <a:endParaRPr sz="600" kern="0">
              <a:solidFill>
                <a:srgbClr val="000000"/>
              </a:solidFill>
              <a:latin typeface="Arial"/>
              <a:ea typeface="Arial"/>
              <a:cs typeface="Arial"/>
              <a:sym typeface="Arial"/>
            </a:endParaRPr>
          </a:p>
        </p:txBody>
      </p:sp>
      <p:sp>
        <p:nvSpPr>
          <p:cNvPr id="59" name="Shape 168"/>
          <p:cNvSpPr/>
          <p:nvPr/>
        </p:nvSpPr>
        <p:spPr>
          <a:xfrm>
            <a:off x="3036718" y="2425405"/>
            <a:ext cx="897413" cy="4632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Define Filter and Column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p:txBody>
      </p:sp>
      <p:sp>
        <p:nvSpPr>
          <p:cNvPr id="60" name="Shape 169"/>
          <p:cNvSpPr/>
          <p:nvPr/>
        </p:nvSpPr>
        <p:spPr>
          <a:xfrm>
            <a:off x="976032" y="2130579"/>
            <a:ext cx="839813" cy="3249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cs typeface="Arial"/>
                <a:sym typeface="Arial"/>
              </a:rPr>
              <a:t>Pushdown Optimization where possible</a:t>
            </a:r>
            <a:endParaRPr sz="525" kern="0" dirty="0">
              <a:solidFill>
                <a:srgbClr val="000000"/>
              </a:solidFill>
              <a:latin typeface="Arial"/>
              <a:cs typeface="Arial"/>
              <a:sym typeface="Arial"/>
            </a:endParaRPr>
          </a:p>
        </p:txBody>
      </p:sp>
      <p:sp>
        <p:nvSpPr>
          <p:cNvPr id="61" name="Shape 170"/>
          <p:cNvSpPr/>
          <p:nvPr/>
        </p:nvSpPr>
        <p:spPr>
          <a:xfrm>
            <a:off x="2932259"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Raw  Layer</a:t>
            </a:r>
            <a:endParaRPr sz="900" b="1" kern="0">
              <a:solidFill>
                <a:srgbClr val="FFFFFF"/>
              </a:solidFill>
              <a:latin typeface="Arial"/>
              <a:cs typeface="Arial"/>
              <a:sym typeface="Arial"/>
            </a:endParaRPr>
          </a:p>
        </p:txBody>
      </p:sp>
      <p:sp>
        <p:nvSpPr>
          <p:cNvPr id="62" name="Shape 171"/>
          <p:cNvSpPr/>
          <p:nvPr/>
        </p:nvSpPr>
        <p:spPr>
          <a:xfrm>
            <a:off x="3073711" y="1369947"/>
            <a:ext cx="845888" cy="4507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Raw Data Layer Design  </a:t>
            </a:r>
            <a:endParaRPr sz="525" kern="0">
              <a:solidFill>
                <a:srgbClr val="000000"/>
              </a:solidFill>
              <a:latin typeface="Arial"/>
              <a:cs typeface="Arial"/>
              <a:sym typeface="Arial"/>
            </a:endParaRPr>
          </a:p>
        </p:txBody>
      </p:sp>
      <p:sp>
        <p:nvSpPr>
          <p:cNvPr id="63" name="Shape 172"/>
          <p:cNvSpPr/>
          <p:nvPr/>
        </p:nvSpPr>
        <p:spPr>
          <a:xfrm>
            <a:off x="3073711" y="1895506"/>
            <a:ext cx="845888" cy="3897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Raw Data </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Merge</a:t>
            </a:r>
            <a:endParaRPr sz="525" kern="0">
              <a:solidFill>
                <a:srgbClr val="000000"/>
              </a:solidFill>
              <a:latin typeface="Arial"/>
              <a:cs typeface="Arial"/>
              <a:sym typeface="Arial"/>
            </a:endParaRPr>
          </a:p>
        </p:txBody>
      </p:sp>
      <p:sp>
        <p:nvSpPr>
          <p:cNvPr id="64" name="Shape 173"/>
          <p:cNvSpPr/>
          <p:nvPr/>
        </p:nvSpPr>
        <p:spPr>
          <a:xfrm>
            <a:off x="4224137" y="1011806"/>
            <a:ext cx="1189350"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dirty="0">
                <a:solidFill>
                  <a:srgbClr val="FFFFFF"/>
                </a:solidFill>
                <a:latin typeface="Arial"/>
                <a:cs typeface="Arial"/>
                <a:sym typeface="Arial"/>
              </a:rPr>
              <a:t>Transform Layer</a:t>
            </a:r>
            <a:endParaRPr sz="900" b="1" kern="0" dirty="0">
              <a:solidFill>
                <a:srgbClr val="FFFFFF"/>
              </a:solidFill>
              <a:latin typeface="Arial"/>
              <a:cs typeface="Arial"/>
              <a:sym typeface="Arial"/>
            </a:endParaRPr>
          </a:p>
        </p:txBody>
      </p:sp>
      <p:sp>
        <p:nvSpPr>
          <p:cNvPr id="65" name="Shape 174"/>
          <p:cNvSpPr/>
          <p:nvPr/>
        </p:nvSpPr>
        <p:spPr>
          <a:xfrm>
            <a:off x="4348283" y="1358306"/>
            <a:ext cx="941063" cy="3958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Hash Key &amp; Xref Design</a:t>
            </a:r>
            <a:endParaRPr sz="525" kern="0">
              <a:solidFill>
                <a:srgbClr val="000000"/>
              </a:solidFill>
              <a:latin typeface="Arial"/>
              <a:cs typeface="Arial"/>
              <a:sym typeface="Arial"/>
            </a:endParaRPr>
          </a:p>
        </p:txBody>
      </p:sp>
      <p:sp>
        <p:nvSpPr>
          <p:cNvPr id="66" name="Shape 175"/>
          <p:cNvSpPr/>
          <p:nvPr/>
        </p:nvSpPr>
        <p:spPr>
          <a:xfrm>
            <a:off x="4348283" y="1814373"/>
            <a:ext cx="941063" cy="3573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 Data Libraries (UDF)</a:t>
            </a:r>
            <a:endParaRPr sz="525" kern="0">
              <a:solidFill>
                <a:srgbClr val="000000"/>
              </a:solidFill>
              <a:latin typeface="Arial"/>
              <a:cs typeface="Arial"/>
              <a:sym typeface="Arial"/>
            </a:endParaRPr>
          </a:p>
        </p:txBody>
      </p:sp>
      <p:sp>
        <p:nvSpPr>
          <p:cNvPr id="67" name="Shape 176"/>
          <p:cNvSpPr/>
          <p:nvPr/>
        </p:nvSpPr>
        <p:spPr>
          <a:xfrm>
            <a:off x="4348285" y="2262651"/>
            <a:ext cx="941063" cy="3291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Incremental </a:t>
            </a:r>
            <a:r>
              <a:rPr lang="en-US" sz="675" kern="0" dirty="0" err="1">
                <a:solidFill>
                  <a:srgbClr val="000000"/>
                </a:solidFill>
                <a:latin typeface="Arial"/>
                <a:ea typeface="Arial"/>
                <a:cs typeface="Arial"/>
                <a:sym typeface="Arial"/>
              </a:rPr>
              <a:t>Xref</a:t>
            </a:r>
            <a:r>
              <a:rPr lang="en-US" sz="675" kern="0" dirty="0">
                <a:solidFill>
                  <a:srgbClr val="000000"/>
                </a:solidFill>
                <a:latin typeface="Arial"/>
                <a:ea typeface="Arial"/>
                <a:cs typeface="Arial"/>
                <a:sym typeface="Arial"/>
              </a:rPr>
              <a:t> Data Load</a:t>
            </a:r>
            <a:endParaRPr sz="525" kern="0" dirty="0">
              <a:solidFill>
                <a:srgbClr val="000000"/>
              </a:solidFill>
              <a:latin typeface="Arial"/>
              <a:cs typeface="Arial"/>
              <a:sym typeface="Arial"/>
            </a:endParaRPr>
          </a:p>
          <a:p>
            <a:pPr algn="ctr" defTabSz="342900">
              <a:buClr>
                <a:srgbClr val="000000"/>
              </a:buClr>
              <a:buSzPts val="1800"/>
            </a:pPr>
            <a:endParaRPr sz="675" kern="0" dirty="0">
              <a:solidFill>
                <a:srgbClr val="000000"/>
              </a:solidFill>
              <a:latin typeface="Arial"/>
              <a:ea typeface="Arial"/>
              <a:cs typeface="Arial"/>
              <a:sym typeface="Arial"/>
            </a:endParaRPr>
          </a:p>
        </p:txBody>
      </p:sp>
      <p:sp>
        <p:nvSpPr>
          <p:cNvPr id="68" name="Shape 177"/>
          <p:cNvSpPr/>
          <p:nvPr/>
        </p:nvSpPr>
        <p:spPr>
          <a:xfrm>
            <a:off x="1958424" y="1358350"/>
            <a:ext cx="756900" cy="42322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ea typeface="Arial"/>
                <a:cs typeface="Arial"/>
                <a:sym typeface="Arial"/>
              </a:rPr>
              <a:t>Ingestion</a:t>
            </a:r>
            <a:endParaRPr sz="525" kern="0" dirty="0">
              <a:solidFill>
                <a:srgbClr val="000000"/>
              </a:solidFill>
              <a:latin typeface="Arial"/>
              <a:cs typeface="Arial"/>
              <a:sym typeface="Arial"/>
            </a:endParaRPr>
          </a:p>
          <a:p>
            <a:pPr algn="ctr" defTabSz="342900">
              <a:buClr>
                <a:srgbClr val="000000"/>
              </a:buClr>
              <a:buSzPts val="1600"/>
            </a:pPr>
            <a:r>
              <a:rPr lang="en-US" sz="600" kern="0" dirty="0">
                <a:solidFill>
                  <a:srgbClr val="000000"/>
                </a:solidFill>
                <a:latin typeface="Arial"/>
                <a:ea typeface="Arial"/>
                <a:cs typeface="Arial"/>
                <a:sym typeface="Arial"/>
              </a:rPr>
              <a:t>Standardization Template</a:t>
            </a:r>
            <a:endParaRPr sz="525" kern="0" dirty="0">
              <a:solidFill>
                <a:srgbClr val="000000"/>
              </a:solidFill>
              <a:latin typeface="Arial"/>
              <a:cs typeface="Arial"/>
              <a:sym typeface="Arial"/>
            </a:endParaRPr>
          </a:p>
        </p:txBody>
      </p:sp>
      <p:sp>
        <p:nvSpPr>
          <p:cNvPr id="69" name="Shape 178"/>
          <p:cNvSpPr/>
          <p:nvPr/>
        </p:nvSpPr>
        <p:spPr>
          <a:xfrm>
            <a:off x="4348285" y="2665559"/>
            <a:ext cx="941063" cy="3291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Xref</a:t>
            </a:r>
            <a:endParaRPr sz="675" kern="0">
              <a:solidFill>
                <a:srgbClr val="000000"/>
              </a:solidFill>
              <a:latin typeface="Arial"/>
              <a:ea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 Rebuild</a:t>
            </a:r>
            <a:endParaRPr sz="525" kern="0">
              <a:solidFill>
                <a:srgbClr val="000000"/>
              </a:solidFill>
              <a:latin typeface="Arial"/>
              <a:cs typeface="Arial"/>
              <a:sym typeface="Arial"/>
            </a:endParaRPr>
          </a:p>
        </p:txBody>
      </p:sp>
      <p:sp>
        <p:nvSpPr>
          <p:cNvPr id="70" name="Shape 179"/>
          <p:cNvSpPr/>
          <p:nvPr/>
        </p:nvSpPr>
        <p:spPr>
          <a:xfrm>
            <a:off x="4348285" y="3060374"/>
            <a:ext cx="941063" cy="3291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Merge</a:t>
            </a:r>
            <a:endParaRPr sz="525" kern="0">
              <a:solidFill>
                <a:srgbClr val="000000"/>
              </a:solidFill>
              <a:latin typeface="Arial"/>
              <a:cs typeface="Arial"/>
              <a:sym typeface="Arial"/>
            </a:endParaRPr>
          </a:p>
        </p:txBody>
      </p:sp>
      <p:sp>
        <p:nvSpPr>
          <p:cNvPr id="71" name="Shape 180"/>
          <p:cNvSpPr/>
          <p:nvPr/>
        </p:nvSpPr>
        <p:spPr>
          <a:xfrm>
            <a:off x="4348285" y="3469060"/>
            <a:ext cx="941063" cy="35730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Tables Definition</a:t>
            </a:r>
            <a:endParaRPr sz="525" kern="0">
              <a:solidFill>
                <a:srgbClr val="000000"/>
              </a:solidFill>
              <a:latin typeface="Arial"/>
              <a:cs typeface="Arial"/>
              <a:sym typeface="Arial"/>
            </a:endParaRPr>
          </a:p>
        </p:txBody>
      </p:sp>
      <p:sp>
        <p:nvSpPr>
          <p:cNvPr id="72" name="Shape 181"/>
          <p:cNvSpPr/>
          <p:nvPr/>
        </p:nvSpPr>
        <p:spPr>
          <a:xfrm>
            <a:off x="5766725"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Consolidation</a:t>
            </a:r>
            <a:endParaRPr sz="900" b="1" kern="0">
              <a:solidFill>
                <a:srgbClr val="FFFFFF"/>
              </a:solidFill>
              <a:latin typeface="Arial"/>
              <a:cs typeface="Arial"/>
              <a:sym typeface="Arial"/>
            </a:endParaRPr>
          </a:p>
          <a:p>
            <a:pPr algn="ctr" defTabSz="342900">
              <a:buClr>
                <a:srgbClr val="000000"/>
              </a:buClr>
              <a:buSzPts val="1800"/>
            </a:pPr>
            <a:r>
              <a:rPr lang="en-US" sz="900" b="1" kern="0">
                <a:solidFill>
                  <a:srgbClr val="FFFFFF"/>
                </a:solidFill>
                <a:latin typeface="Arial"/>
                <a:cs typeface="Arial"/>
                <a:sym typeface="Arial"/>
              </a:rPr>
              <a:t> Layer</a:t>
            </a:r>
            <a:endParaRPr sz="900" b="1" kern="0">
              <a:solidFill>
                <a:srgbClr val="FFFFFF"/>
              </a:solidFill>
              <a:latin typeface="Arial"/>
              <a:cs typeface="Arial"/>
              <a:sym typeface="Arial"/>
            </a:endParaRPr>
          </a:p>
        </p:txBody>
      </p:sp>
      <p:sp>
        <p:nvSpPr>
          <p:cNvPr id="73" name="Shape 182"/>
          <p:cNvSpPr/>
          <p:nvPr/>
        </p:nvSpPr>
        <p:spPr>
          <a:xfrm>
            <a:off x="5864154" y="1388449"/>
            <a:ext cx="913838" cy="3931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Consolidation Data Layer Design</a:t>
            </a:r>
            <a:endParaRPr sz="525" kern="0">
              <a:solidFill>
                <a:srgbClr val="000000"/>
              </a:solidFill>
              <a:latin typeface="Arial"/>
              <a:cs typeface="Arial"/>
              <a:sym typeface="Arial"/>
            </a:endParaRPr>
          </a:p>
        </p:txBody>
      </p:sp>
      <p:sp>
        <p:nvSpPr>
          <p:cNvPr id="74" name="Shape 183"/>
          <p:cNvSpPr/>
          <p:nvPr/>
        </p:nvSpPr>
        <p:spPr>
          <a:xfrm>
            <a:off x="5864154" y="1863355"/>
            <a:ext cx="913838" cy="45855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Derivation &amp; Calculation Design</a:t>
            </a:r>
            <a:endParaRPr sz="525" kern="0">
              <a:solidFill>
                <a:srgbClr val="000000"/>
              </a:solidFill>
              <a:latin typeface="Arial"/>
              <a:cs typeface="Arial"/>
              <a:sym typeface="Arial"/>
            </a:endParaRPr>
          </a:p>
        </p:txBody>
      </p:sp>
      <p:sp>
        <p:nvSpPr>
          <p:cNvPr id="75" name="Shape 184"/>
          <p:cNvSpPr/>
          <p:nvPr/>
        </p:nvSpPr>
        <p:spPr>
          <a:xfrm>
            <a:off x="5864154" y="2453232"/>
            <a:ext cx="913838" cy="2968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Consolidation  Layer  Load</a:t>
            </a:r>
            <a:endParaRPr sz="525" kern="0">
              <a:solidFill>
                <a:srgbClr val="000000"/>
              </a:solidFill>
              <a:latin typeface="Arial"/>
              <a:cs typeface="Arial"/>
              <a:sym typeface="Arial"/>
            </a:endParaRPr>
          </a:p>
        </p:txBody>
      </p:sp>
      <p:sp>
        <p:nvSpPr>
          <p:cNvPr id="76" name="Shape 185"/>
          <p:cNvSpPr/>
          <p:nvPr/>
        </p:nvSpPr>
        <p:spPr>
          <a:xfrm>
            <a:off x="5864154" y="2856192"/>
            <a:ext cx="913838" cy="41613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Dimension  Hierarchy Pre Join Load</a:t>
            </a:r>
            <a:endParaRPr sz="525" kern="0" dirty="0">
              <a:solidFill>
                <a:srgbClr val="000000"/>
              </a:solidFill>
              <a:latin typeface="Arial"/>
              <a:cs typeface="Arial"/>
              <a:sym typeface="Arial"/>
            </a:endParaRPr>
          </a:p>
        </p:txBody>
      </p:sp>
      <p:sp>
        <p:nvSpPr>
          <p:cNvPr id="77" name="Shape 186"/>
          <p:cNvSpPr/>
          <p:nvPr/>
        </p:nvSpPr>
        <p:spPr>
          <a:xfrm>
            <a:off x="7226292"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Aggregate /</a:t>
            </a:r>
            <a:endParaRPr sz="900" b="1" kern="0">
              <a:solidFill>
                <a:srgbClr val="FFFFFF"/>
              </a:solidFill>
              <a:latin typeface="Arial"/>
              <a:cs typeface="Arial"/>
              <a:sym typeface="Arial"/>
            </a:endParaRPr>
          </a:p>
          <a:p>
            <a:pPr algn="ctr" defTabSz="342900">
              <a:buClr>
                <a:srgbClr val="000000"/>
              </a:buClr>
              <a:buSzPts val="1800"/>
            </a:pPr>
            <a:r>
              <a:rPr lang="en-US" sz="900" b="1" kern="0">
                <a:solidFill>
                  <a:srgbClr val="FFFFFF"/>
                </a:solidFill>
                <a:latin typeface="Arial"/>
                <a:cs typeface="Arial"/>
                <a:sym typeface="Arial"/>
              </a:rPr>
              <a:t>Data Access</a:t>
            </a:r>
            <a:endParaRPr sz="900" b="1" kern="0">
              <a:solidFill>
                <a:srgbClr val="FFFFFF"/>
              </a:solidFill>
              <a:latin typeface="Arial"/>
              <a:cs typeface="Arial"/>
              <a:sym typeface="Arial"/>
            </a:endParaRPr>
          </a:p>
        </p:txBody>
      </p:sp>
      <p:sp>
        <p:nvSpPr>
          <p:cNvPr id="78" name="Shape 187"/>
          <p:cNvSpPr/>
          <p:nvPr/>
        </p:nvSpPr>
        <p:spPr>
          <a:xfrm>
            <a:off x="7431558" y="1412224"/>
            <a:ext cx="812588" cy="399263"/>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Data Layer Design</a:t>
            </a:r>
            <a:endParaRPr sz="525" kern="0">
              <a:solidFill>
                <a:srgbClr val="000000"/>
              </a:solidFill>
              <a:latin typeface="Arial"/>
              <a:cs typeface="Arial"/>
              <a:sym typeface="Arial"/>
            </a:endParaRPr>
          </a:p>
        </p:txBody>
      </p:sp>
      <p:sp>
        <p:nvSpPr>
          <p:cNvPr id="79" name="Shape 188"/>
          <p:cNvSpPr/>
          <p:nvPr/>
        </p:nvSpPr>
        <p:spPr>
          <a:xfrm>
            <a:off x="7431558" y="1889380"/>
            <a:ext cx="812588" cy="461813"/>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Alternate Hierarchy</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Xref Design</a:t>
            </a:r>
            <a:endParaRPr sz="525" kern="0">
              <a:solidFill>
                <a:srgbClr val="000000"/>
              </a:solidFill>
              <a:latin typeface="Arial"/>
              <a:cs typeface="Arial"/>
              <a:sym typeface="Arial"/>
            </a:endParaRPr>
          </a:p>
        </p:txBody>
      </p:sp>
      <p:sp>
        <p:nvSpPr>
          <p:cNvPr id="80" name="Shape 189"/>
          <p:cNvSpPr/>
          <p:nvPr/>
        </p:nvSpPr>
        <p:spPr>
          <a:xfrm>
            <a:off x="7431558" y="2412190"/>
            <a:ext cx="812588" cy="2968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Load</a:t>
            </a:r>
            <a:endParaRPr sz="525" kern="0">
              <a:solidFill>
                <a:srgbClr val="000000"/>
              </a:solidFill>
              <a:latin typeface="Arial"/>
              <a:cs typeface="Arial"/>
              <a:sym typeface="Arial"/>
            </a:endParaRPr>
          </a:p>
        </p:txBody>
      </p:sp>
      <p:sp>
        <p:nvSpPr>
          <p:cNvPr id="81" name="Shape 190"/>
          <p:cNvSpPr/>
          <p:nvPr/>
        </p:nvSpPr>
        <p:spPr>
          <a:xfrm>
            <a:off x="7431558" y="2805125"/>
            <a:ext cx="812588" cy="2968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Blended Data Load</a:t>
            </a:r>
            <a:endParaRPr sz="525" kern="0">
              <a:solidFill>
                <a:srgbClr val="000000"/>
              </a:solidFill>
              <a:latin typeface="Arial"/>
              <a:cs typeface="Arial"/>
              <a:sym typeface="Arial"/>
            </a:endParaRPr>
          </a:p>
        </p:txBody>
      </p:sp>
      <p:sp>
        <p:nvSpPr>
          <p:cNvPr id="82" name="Shape 191"/>
          <p:cNvSpPr/>
          <p:nvPr/>
        </p:nvSpPr>
        <p:spPr>
          <a:xfrm>
            <a:off x="5872342" y="3390110"/>
            <a:ext cx="897413" cy="3931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Design for Metric Calculation by Hierarchies</a:t>
            </a:r>
            <a:endParaRPr sz="525" kern="0">
              <a:solidFill>
                <a:srgbClr val="000000"/>
              </a:solidFill>
              <a:latin typeface="Arial"/>
              <a:cs typeface="Arial"/>
              <a:sym typeface="Arial"/>
            </a:endParaRPr>
          </a:p>
        </p:txBody>
      </p:sp>
      <p:sp>
        <p:nvSpPr>
          <p:cNvPr id="83" name="Shape 192"/>
          <p:cNvSpPr/>
          <p:nvPr/>
        </p:nvSpPr>
        <p:spPr>
          <a:xfrm>
            <a:off x="7431558" y="3191610"/>
            <a:ext cx="812588" cy="3633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Publish</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Load</a:t>
            </a:r>
            <a:endParaRPr sz="525" kern="0">
              <a:solidFill>
                <a:srgbClr val="000000"/>
              </a:solidFill>
              <a:latin typeface="Arial"/>
              <a:cs typeface="Arial"/>
              <a:sym typeface="Arial"/>
            </a:endParaRPr>
          </a:p>
        </p:txBody>
      </p:sp>
      <p:sp>
        <p:nvSpPr>
          <p:cNvPr id="84" name="Shape 193"/>
          <p:cNvSpPr/>
          <p:nvPr/>
        </p:nvSpPr>
        <p:spPr>
          <a:xfrm>
            <a:off x="982139" y="1015519"/>
            <a:ext cx="1507656" cy="293175"/>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dirty="0">
                <a:solidFill>
                  <a:srgbClr val="FFFFFF"/>
                </a:solidFill>
                <a:latin typeface="Arial"/>
                <a:cs typeface="Arial"/>
                <a:sym typeface="Arial"/>
              </a:rPr>
              <a:t>Ingestion</a:t>
            </a:r>
            <a:endParaRPr sz="900" b="1" kern="0" dirty="0">
              <a:solidFill>
                <a:srgbClr val="FFFFFF"/>
              </a:solidFill>
              <a:latin typeface="Arial"/>
              <a:cs typeface="Arial"/>
              <a:sym typeface="Arial"/>
            </a:endParaRPr>
          </a:p>
        </p:txBody>
      </p:sp>
      <p:sp>
        <p:nvSpPr>
          <p:cNvPr id="85" name="Shape 194"/>
          <p:cNvSpPr/>
          <p:nvPr/>
        </p:nvSpPr>
        <p:spPr>
          <a:xfrm>
            <a:off x="982139" y="3842539"/>
            <a:ext cx="7262006" cy="186121"/>
          </a:xfrm>
          <a:prstGeom prst="roundRect">
            <a:avLst>
              <a:gd name="adj" fmla="val 16667"/>
            </a:avLst>
          </a:prstGeom>
          <a:solidFill>
            <a:srgbClr val="0070C0"/>
          </a:solidFill>
          <a:ln>
            <a:noFill/>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FFFFFF"/>
              </a:buClr>
              <a:buSzPts val="1800"/>
            </a:pPr>
            <a:r>
              <a:rPr lang="en-US" sz="900" b="1" kern="0" dirty="0">
                <a:solidFill>
                  <a:srgbClr val="FFFFFF"/>
                </a:solidFill>
                <a:latin typeface="Arial"/>
                <a:ea typeface="Arial"/>
                <a:cs typeface="Arial"/>
                <a:sym typeface="Arial"/>
              </a:rPr>
              <a:t>Foundation Management</a:t>
            </a:r>
            <a:endParaRPr sz="700" b="1" kern="0" dirty="0">
              <a:solidFill>
                <a:srgbClr val="000000"/>
              </a:solidFill>
              <a:latin typeface="Arial"/>
              <a:cs typeface="Arial"/>
              <a:sym typeface="Arial"/>
            </a:endParaRPr>
          </a:p>
        </p:txBody>
      </p:sp>
      <p:sp>
        <p:nvSpPr>
          <p:cNvPr id="86" name="Shape 195"/>
          <p:cNvSpPr/>
          <p:nvPr/>
        </p:nvSpPr>
        <p:spPr>
          <a:xfrm>
            <a:off x="1947070" y="3191610"/>
            <a:ext cx="779625" cy="37687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600"/>
            </a:pPr>
            <a:r>
              <a:rPr lang="en-US" sz="600" kern="0">
                <a:solidFill>
                  <a:srgbClr val="000000"/>
                </a:solidFill>
                <a:latin typeface="Arial"/>
                <a:ea typeface="Arial"/>
                <a:cs typeface="Arial"/>
                <a:sym typeface="Arial"/>
              </a:rPr>
              <a:t>Real time</a:t>
            </a:r>
            <a:endParaRPr sz="525" kern="0">
              <a:solidFill>
                <a:srgbClr val="000000"/>
              </a:solidFill>
              <a:latin typeface="Arial"/>
              <a:cs typeface="Arial"/>
              <a:sym typeface="Arial"/>
            </a:endParaRPr>
          </a:p>
        </p:txBody>
      </p:sp>
      <p:sp>
        <p:nvSpPr>
          <p:cNvPr id="87" name="Shape 196"/>
          <p:cNvSpPr/>
          <p:nvPr/>
        </p:nvSpPr>
        <p:spPr>
          <a:xfrm>
            <a:off x="2319242"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ea typeface="Arial"/>
                <a:cs typeface="Arial"/>
                <a:sym typeface="Arial"/>
              </a:rPr>
              <a:t>1</a:t>
            </a:r>
            <a:endParaRPr sz="525" kern="0">
              <a:solidFill>
                <a:srgbClr val="FFFFFF"/>
              </a:solidFill>
              <a:latin typeface="Arial"/>
              <a:cs typeface="Arial"/>
              <a:sym typeface="Arial"/>
            </a:endParaRPr>
          </a:p>
        </p:txBody>
      </p:sp>
      <p:sp>
        <p:nvSpPr>
          <p:cNvPr id="88" name="Shape 197"/>
          <p:cNvSpPr/>
          <p:nvPr/>
        </p:nvSpPr>
        <p:spPr>
          <a:xfrm>
            <a:off x="3809656"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2</a:t>
            </a:r>
            <a:endParaRPr sz="525" kern="0">
              <a:solidFill>
                <a:srgbClr val="FFFFFF"/>
              </a:solidFill>
              <a:latin typeface="Arial"/>
              <a:cs typeface="Arial"/>
              <a:sym typeface="Arial"/>
            </a:endParaRPr>
          </a:p>
        </p:txBody>
      </p:sp>
      <p:sp>
        <p:nvSpPr>
          <p:cNvPr id="89" name="Shape 198"/>
          <p:cNvSpPr/>
          <p:nvPr/>
        </p:nvSpPr>
        <p:spPr>
          <a:xfrm>
            <a:off x="5271528" y="893795"/>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3</a:t>
            </a:r>
            <a:endParaRPr sz="525" kern="0">
              <a:solidFill>
                <a:srgbClr val="FFFFFF"/>
              </a:solidFill>
              <a:latin typeface="Arial"/>
              <a:cs typeface="Arial"/>
              <a:sym typeface="Arial"/>
            </a:endParaRPr>
          </a:p>
        </p:txBody>
      </p:sp>
      <p:sp>
        <p:nvSpPr>
          <p:cNvPr id="90" name="Shape 199"/>
          <p:cNvSpPr/>
          <p:nvPr/>
        </p:nvSpPr>
        <p:spPr>
          <a:xfrm>
            <a:off x="6698609"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4</a:t>
            </a:r>
            <a:endParaRPr sz="525" kern="0">
              <a:solidFill>
                <a:srgbClr val="FFFFFF"/>
              </a:solidFill>
              <a:latin typeface="Arial"/>
              <a:cs typeface="Arial"/>
              <a:sym typeface="Arial"/>
            </a:endParaRPr>
          </a:p>
        </p:txBody>
      </p:sp>
      <p:sp>
        <p:nvSpPr>
          <p:cNvPr id="91" name="Shape 200"/>
          <p:cNvSpPr/>
          <p:nvPr/>
        </p:nvSpPr>
        <p:spPr>
          <a:xfrm>
            <a:off x="8138099"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5</a:t>
            </a:r>
            <a:endParaRPr sz="525" kern="0">
              <a:solidFill>
                <a:srgbClr val="FFFFFF"/>
              </a:solidFill>
              <a:latin typeface="Arial"/>
              <a:cs typeface="Arial"/>
              <a:sym typeface="Arial"/>
            </a:endParaRPr>
          </a:p>
        </p:txBody>
      </p:sp>
      <p:sp>
        <p:nvSpPr>
          <p:cNvPr id="92" name="Shape 200"/>
          <p:cNvSpPr/>
          <p:nvPr/>
        </p:nvSpPr>
        <p:spPr>
          <a:xfrm>
            <a:off x="8109079" y="3770813"/>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dirty="0">
                <a:solidFill>
                  <a:srgbClr val="FFFFFF"/>
                </a:solidFill>
                <a:latin typeface="Arial"/>
                <a:cs typeface="Arial"/>
                <a:sym typeface="Arial"/>
              </a:rPr>
              <a:t>6</a:t>
            </a:r>
            <a:endParaRPr sz="525" kern="0" dirty="0">
              <a:solidFill>
                <a:srgbClr val="FFFFFF"/>
              </a:solidFill>
              <a:latin typeface="Arial"/>
              <a:cs typeface="Arial"/>
              <a:sym typeface="Arial"/>
            </a:endParaRPr>
          </a:p>
        </p:txBody>
      </p:sp>
    </p:spTree>
    <p:extLst>
      <p:ext uri="{BB962C8B-B14F-4D97-AF65-F5344CB8AC3E}">
        <p14:creationId xmlns:p14="http://schemas.microsoft.com/office/powerpoint/2010/main" val="1305188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p:nvPr/>
        </p:nvSpPr>
        <p:spPr>
          <a:xfrm>
            <a:off x="323851" y="463237"/>
            <a:ext cx="6192838" cy="369332"/>
          </a:xfrm>
          <a:prstGeom prst="rect">
            <a:avLst/>
          </a:prstGeom>
          <a:noFill/>
          <a:ln>
            <a:noFill/>
          </a:ln>
        </p:spPr>
        <p:txBody>
          <a:bodyPr spcFirstLastPara="1" wrap="square" lIns="91434" tIns="45713" rIns="91434" bIns="45713" anchor="b" anchorCtr="0">
            <a:noAutofit/>
          </a:bodyPr>
          <a:lstStyle/>
          <a:p>
            <a:pPr>
              <a:buClr>
                <a:srgbClr val="0063C3"/>
              </a:buClr>
              <a:buSzPts val="4800"/>
            </a:pPr>
            <a:r>
              <a:rPr lang="en-US" b="1" dirty="0">
                <a:solidFill>
                  <a:srgbClr val="0063C3"/>
                </a:solidFill>
                <a:latin typeface="Calibri"/>
                <a:ea typeface="Calibri"/>
                <a:cs typeface="Calibri"/>
                <a:sym typeface="Calibri"/>
              </a:rPr>
              <a:t>ASSESSMENT APPROACH</a:t>
            </a:r>
            <a:endParaRPr sz="675" dirty="0"/>
          </a:p>
        </p:txBody>
      </p:sp>
      <p:grpSp>
        <p:nvGrpSpPr>
          <p:cNvPr id="231" name="Shape 231"/>
          <p:cNvGrpSpPr/>
          <p:nvPr/>
        </p:nvGrpSpPr>
        <p:grpSpPr>
          <a:xfrm>
            <a:off x="982111" y="1407720"/>
            <a:ext cx="7179773" cy="2719890"/>
            <a:chOff x="5322887" y="4448235"/>
            <a:chExt cx="7851775" cy="3244851"/>
          </a:xfrm>
        </p:grpSpPr>
        <p:sp>
          <p:nvSpPr>
            <p:cNvPr id="232" name="Shape 232"/>
            <p:cNvSpPr/>
            <p:nvPr/>
          </p:nvSpPr>
          <p:spPr>
            <a:xfrm>
              <a:off x="6453187" y="4954648"/>
              <a:ext cx="1803400" cy="2706688"/>
            </a:xfrm>
            <a:prstGeom prst="rect">
              <a:avLst/>
            </a:prstGeom>
            <a:no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33" name="Shape 233"/>
            <p:cNvSpPr/>
            <p:nvPr/>
          </p:nvSpPr>
          <p:spPr>
            <a:xfrm>
              <a:off x="6502400" y="4946711"/>
              <a:ext cx="5362575" cy="317500"/>
            </a:xfrm>
            <a:prstGeom prst="rect">
              <a:avLst/>
            </a:prstGeom>
            <a:solidFill>
              <a:srgbClr val="808080"/>
            </a:solidFill>
            <a:ln>
              <a:noFill/>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34" name="Shape 234"/>
            <p:cNvSpPr/>
            <p:nvPr/>
          </p:nvSpPr>
          <p:spPr>
            <a:xfrm>
              <a:off x="6511925" y="4448236"/>
              <a:ext cx="1738312" cy="836612"/>
            </a:xfrm>
            <a:prstGeom prst="rightArrow">
              <a:avLst>
                <a:gd name="adj1" fmla="val 73426"/>
                <a:gd name="adj2" fmla="val 63873"/>
              </a:avLst>
            </a:prstGeom>
            <a:solidFill>
              <a:schemeClr val="accent1">
                <a:lumMod val="20000"/>
                <a:lumOff val="80000"/>
              </a:schemeClr>
            </a:solidFill>
            <a:ln w="9525" cap="flat" cmpd="sng">
              <a:solidFill>
                <a:srgbClr val="777579"/>
              </a:solidFill>
              <a:prstDash val="solid"/>
              <a:miter lim="800000"/>
              <a:headEnd type="none" w="sm" len="sm"/>
              <a:tailEnd type="none" w="sm" len="sm"/>
            </a:ln>
            <a:effectLst>
              <a:outerShdw blurRad="44450" dist="27940" dir="5400000" algn="ctr">
                <a:srgbClr val="000000">
                  <a:alpha val="31764"/>
                </a:srgbClr>
              </a:outerShdw>
            </a:effectLst>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35" name="Shape 235"/>
            <p:cNvSpPr/>
            <p:nvPr/>
          </p:nvSpPr>
          <p:spPr>
            <a:xfrm>
              <a:off x="8256587" y="4954648"/>
              <a:ext cx="1806575" cy="2706688"/>
            </a:xfrm>
            <a:prstGeom prst="rect">
              <a:avLst/>
            </a:prstGeom>
            <a:no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36" name="Shape 236"/>
            <p:cNvSpPr/>
            <p:nvPr/>
          </p:nvSpPr>
          <p:spPr>
            <a:xfrm>
              <a:off x="10063162" y="4954648"/>
              <a:ext cx="1806575" cy="2706688"/>
            </a:xfrm>
            <a:prstGeom prst="rect">
              <a:avLst/>
            </a:prstGeom>
            <a:no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37" name="Shape 237"/>
            <p:cNvSpPr/>
            <p:nvPr/>
          </p:nvSpPr>
          <p:spPr>
            <a:xfrm>
              <a:off x="5343975" y="4953061"/>
              <a:ext cx="1189038" cy="2708275"/>
            </a:xfrm>
            <a:prstGeom prst="rect">
              <a:avLst/>
            </a:prstGeom>
            <a:solidFill>
              <a:srgbClr val="EAEAEA"/>
            </a:solid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marL="8334">
                <a:buClr>
                  <a:schemeClr val="dk2"/>
                </a:buClr>
                <a:buSzPts val="2400"/>
              </a:pPr>
              <a:r>
                <a:rPr lang="en-US" sz="900" dirty="0">
                  <a:solidFill>
                    <a:schemeClr val="dk2"/>
                  </a:solidFill>
                  <a:latin typeface="Verdana"/>
                  <a:ea typeface="Verdana"/>
                  <a:cs typeface="Verdana"/>
                  <a:sym typeface="Verdana"/>
                </a:rPr>
                <a:t>Kick off with</a:t>
              </a:r>
              <a:endParaRPr sz="675" dirty="0"/>
            </a:p>
            <a:p>
              <a:pPr marL="8334">
                <a:buClr>
                  <a:schemeClr val="dk2"/>
                </a:buClr>
                <a:buSzPts val="2400"/>
              </a:pPr>
              <a:r>
                <a:rPr lang="en-US" sz="900" dirty="0">
                  <a:solidFill>
                    <a:schemeClr val="dk2"/>
                  </a:solidFill>
                  <a:latin typeface="Verdana"/>
                  <a:ea typeface="Verdana"/>
                  <a:cs typeface="Verdana"/>
                  <a:sym typeface="Verdana"/>
                </a:rPr>
                <a:t>the important</a:t>
              </a:r>
              <a:endParaRPr sz="675" dirty="0"/>
            </a:p>
            <a:p>
              <a:pPr marL="8334">
                <a:buClr>
                  <a:schemeClr val="dk2"/>
                </a:buClr>
                <a:buSzPts val="2400"/>
              </a:pPr>
              <a:r>
                <a:rPr lang="en-US" sz="900" dirty="0">
                  <a:solidFill>
                    <a:schemeClr val="dk2"/>
                  </a:solidFill>
                  <a:latin typeface="Verdana"/>
                  <a:ea typeface="Verdana"/>
                  <a:cs typeface="Verdana"/>
                  <a:sym typeface="Verdana"/>
                </a:rPr>
                <a:t>stakeholders and</a:t>
              </a:r>
              <a:r>
                <a:rPr lang="en-US" sz="675" dirty="0"/>
                <a:t>  </a:t>
              </a:r>
              <a:r>
                <a:rPr lang="en-US" sz="900" dirty="0">
                  <a:solidFill>
                    <a:schemeClr val="dk2"/>
                  </a:solidFill>
                  <a:latin typeface="Verdana"/>
                  <a:ea typeface="Verdana"/>
                  <a:cs typeface="Verdana"/>
                  <a:sym typeface="Verdana"/>
                </a:rPr>
                <a:t>start the assessment.</a:t>
              </a:r>
              <a:endParaRPr sz="900" dirty="0">
                <a:solidFill>
                  <a:schemeClr val="dk2"/>
                </a:solidFill>
                <a:latin typeface="Tahoma"/>
                <a:ea typeface="Tahoma"/>
                <a:cs typeface="Tahoma"/>
                <a:sym typeface="Tahoma"/>
              </a:endParaRPr>
            </a:p>
          </p:txBody>
        </p:sp>
        <p:sp>
          <p:nvSpPr>
            <p:cNvPr id="238" name="Shape 238"/>
            <p:cNvSpPr/>
            <p:nvPr/>
          </p:nvSpPr>
          <p:spPr>
            <a:xfrm>
              <a:off x="11844337" y="4954648"/>
              <a:ext cx="1289050" cy="2706688"/>
            </a:xfrm>
            <a:prstGeom prst="rect">
              <a:avLst/>
            </a:prstGeom>
            <a:solidFill>
              <a:srgbClr val="EAEAEA"/>
            </a:solid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buClr>
                  <a:schemeClr val="dk2"/>
                </a:buClr>
                <a:buSzPts val="2400"/>
              </a:pPr>
              <a:r>
                <a:rPr lang="en-US" sz="900" dirty="0">
                  <a:solidFill>
                    <a:schemeClr val="dk2"/>
                  </a:solidFill>
                  <a:latin typeface="Verdana"/>
                  <a:ea typeface="Verdana"/>
                  <a:cs typeface="Verdana"/>
                  <a:sym typeface="Verdana"/>
                </a:rPr>
                <a:t>Contribute to </a:t>
              </a:r>
              <a:r>
                <a:rPr lang="en-US" sz="900" dirty="0" err="1">
                  <a:solidFill>
                    <a:schemeClr val="dk2"/>
                  </a:solidFill>
                  <a:latin typeface="Verdana"/>
                  <a:ea typeface="Verdana"/>
                  <a:cs typeface="Verdana"/>
                  <a:sym typeface="Verdana"/>
                </a:rPr>
                <a:t>iDNA</a:t>
              </a:r>
              <a:r>
                <a:rPr lang="en-US" sz="900" dirty="0">
                  <a:solidFill>
                    <a:schemeClr val="dk2"/>
                  </a:solidFill>
                  <a:latin typeface="Verdana"/>
                  <a:ea typeface="Verdana"/>
                  <a:cs typeface="Verdana"/>
                  <a:sym typeface="Verdana"/>
                </a:rPr>
                <a:t> roadmap using the assessment inputs.</a:t>
              </a:r>
              <a:endParaRPr sz="900" dirty="0">
                <a:solidFill>
                  <a:schemeClr val="dk2"/>
                </a:solidFill>
                <a:latin typeface="Tahoma"/>
                <a:ea typeface="Tahoma"/>
                <a:cs typeface="Tahoma"/>
                <a:sym typeface="Tahoma"/>
              </a:endParaRPr>
            </a:p>
          </p:txBody>
        </p:sp>
        <p:sp>
          <p:nvSpPr>
            <p:cNvPr id="239" name="Shape 239"/>
            <p:cNvSpPr/>
            <p:nvPr/>
          </p:nvSpPr>
          <p:spPr>
            <a:xfrm>
              <a:off x="8262937" y="4448236"/>
              <a:ext cx="1801813" cy="836612"/>
            </a:xfrm>
            <a:prstGeom prst="rightArrow">
              <a:avLst>
                <a:gd name="adj1" fmla="val 69694"/>
                <a:gd name="adj2" fmla="val 68061"/>
              </a:avLst>
            </a:prstGeom>
            <a:solidFill>
              <a:schemeClr val="accent1">
                <a:lumMod val="20000"/>
                <a:lumOff val="80000"/>
              </a:schemeClr>
            </a:solidFill>
            <a:ln w="9525" cap="flat" cmpd="sng">
              <a:solidFill>
                <a:srgbClr val="777579"/>
              </a:solidFill>
              <a:prstDash val="solid"/>
              <a:miter lim="800000"/>
              <a:headEnd type="none" w="sm" len="sm"/>
              <a:tailEnd type="none" w="sm" len="sm"/>
            </a:ln>
            <a:effectLst>
              <a:outerShdw blurRad="44450" dist="27940" dir="5400000" algn="ctr">
                <a:srgbClr val="000000">
                  <a:alpha val="31764"/>
                </a:srgbClr>
              </a:outerShdw>
            </a:effectLst>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40" name="Shape 240"/>
            <p:cNvSpPr txBox="1"/>
            <p:nvPr/>
          </p:nvSpPr>
          <p:spPr>
            <a:xfrm>
              <a:off x="8345487" y="4578411"/>
              <a:ext cx="1422400" cy="481924"/>
            </a:xfrm>
            <a:prstGeom prst="rect">
              <a:avLst/>
            </a:prstGeom>
            <a:noFill/>
            <a:ln>
              <a:noFill/>
            </a:ln>
          </p:spPr>
          <p:txBody>
            <a:bodyPr spcFirstLastPara="1" wrap="square" lIns="34284" tIns="17138" rIns="34284" bIns="17138" anchor="t" anchorCtr="0">
              <a:noAutofit/>
            </a:bodyPr>
            <a:lstStyle/>
            <a:p>
              <a:pPr algn="ctr">
                <a:buClr>
                  <a:schemeClr val="dk2"/>
                </a:buClr>
                <a:buSzPts val="3200"/>
              </a:pPr>
              <a:r>
                <a:rPr lang="en-US" sz="1200" b="1">
                  <a:latin typeface="Tahoma"/>
                  <a:ea typeface="Tahoma"/>
                  <a:cs typeface="Tahoma"/>
                  <a:sym typeface="Tahoma"/>
                </a:rPr>
                <a:t>Assessment Execution</a:t>
              </a:r>
              <a:endParaRPr sz="675"/>
            </a:p>
          </p:txBody>
        </p:sp>
        <p:sp>
          <p:nvSpPr>
            <p:cNvPr id="241" name="Shape 241"/>
            <p:cNvSpPr/>
            <p:nvPr/>
          </p:nvSpPr>
          <p:spPr>
            <a:xfrm>
              <a:off x="10064750" y="4448236"/>
              <a:ext cx="1766887" cy="836612"/>
            </a:xfrm>
            <a:prstGeom prst="rightArrow">
              <a:avLst>
                <a:gd name="adj1" fmla="val 73426"/>
                <a:gd name="adj2" fmla="val 66898"/>
              </a:avLst>
            </a:prstGeom>
            <a:solidFill>
              <a:schemeClr val="accent1">
                <a:lumMod val="20000"/>
                <a:lumOff val="80000"/>
              </a:schemeClr>
            </a:solidFill>
            <a:ln w="9525" cap="flat" cmpd="sng">
              <a:solidFill>
                <a:srgbClr val="777579"/>
              </a:solidFill>
              <a:prstDash val="solid"/>
              <a:miter lim="800000"/>
              <a:headEnd type="none" w="sm" len="sm"/>
              <a:tailEnd type="none" w="sm" len="sm"/>
            </a:ln>
            <a:effectLst>
              <a:outerShdw blurRad="44450" dist="27940" dir="5400000" algn="ctr">
                <a:srgbClr val="000000">
                  <a:alpha val="31764"/>
                </a:srgbClr>
              </a:outerShdw>
            </a:effectLst>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42" name="Shape 242"/>
            <p:cNvSpPr txBox="1"/>
            <p:nvPr/>
          </p:nvSpPr>
          <p:spPr>
            <a:xfrm>
              <a:off x="10131425" y="4685101"/>
              <a:ext cx="1554162" cy="261615"/>
            </a:xfrm>
            <a:prstGeom prst="rect">
              <a:avLst/>
            </a:prstGeom>
            <a:noFill/>
            <a:ln>
              <a:noFill/>
            </a:ln>
          </p:spPr>
          <p:txBody>
            <a:bodyPr spcFirstLastPara="1" wrap="square" lIns="34284" tIns="17138" rIns="34284" bIns="17138" anchor="t" anchorCtr="0">
              <a:noAutofit/>
            </a:bodyPr>
            <a:lstStyle/>
            <a:p>
              <a:pPr algn="ctr">
                <a:buClr>
                  <a:schemeClr val="dk2"/>
                </a:buClr>
                <a:buSzPts val="3200"/>
              </a:pPr>
              <a:r>
                <a:rPr lang="en-US" sz="1200" b="1">
                  <a:latin typeface="Tahoma"/>
                  <a:ea typeface="Tahoma"/>
                  <a:cs typeface="Tahoma"/>
                  <a:sym typeface="Tahoma"/>
                </a:rPr>
                <a:t>Recommendation</a:t>
              </a:r>
              <a:endParaRPr sz="675"/>
            </a:p>
          </p:txBody>
        </p:sp>
        <p:sp>
          <p:nvSpPr>
            <p:cNvPr id="243" name="Shape 243"/>
            <p:cNvSpPr/>
            <p:nvPr/>
          </p:nvSpPr>
          <p:spPr>
            <a:xfrm>
              <a:off x="5345112" y="4448235"/>
              <a:ext cx="1157288" cy="892175"/>
            </a:xfrm>
            <a:prstGeom prst="rightArrow">
              <a:avLst>
                <a:gd name="adj1" fmla="val 69231"/>
                <a:gd name="adj2" fmla="val 44292"/>
              </a:avLst>
            </a:prstGeom>
            <a:solidFill>
              <a:srgbClr val="0070C0"/>
            </a:solidFill>
            <a:ln>
              <a:noFill/>
            </a:ln>
            <a:effectLst>
              <a:outerShdw blurRad="44450" dist="27940" dir="5400000" algn="ctr">
                <a:srgbClr val="000000">
                  <a:alpha val="31764"/>
                </a:srgbClr>
              </a:outerShdw>
            </a:effectLst>
          </p:spPr>
          <p:txBody>
            <a:bodyPr spcFirstLastPara="1" wrap="square" lIns="34284" tIns="17138" rIns="34284" bIns="17138" anchor="ctr" anchorCtr="0">
              <a:noAutofit/>
            </a:bodyPr>
            <a:lstStyle/>
            <a:p>
              <a:pPr algn="ctr">
                <a:buClr>
                  <a:srgbClr val="000000"/>
                </a:buClr>
                <a:buSzPts val="2800"/>
              </a:pPr>
              <a:endParaRPr sz="1050">
                <a:solidFill>
                  <a:schemeClr val="bg1"/>
                </a:solidFill>
                <a:latin typeface="Tahoma"/>
                <a:ea typeface="Tahoma"/>
                <a:cs typeface="Tahoma"/>
                <a:sym typeface="Tahoma"/>
              </a:endParaRPr>
            </a:p>
          </p:txBody>
        </p:sp>
        <p:sp>
          <p:nvSpPr>
            <p:cNvPr id="244" name="Shape 244"/>
            <p:cNvSpPr txBox="1"/>
            <p:nvPr/>
          </p:nvSpPr>
          <p:spPr>
            <a:xfrm>
              <a:off x="5322887" y="4668898"/>
              <a:ext cx="1039813" cy="261615"/>
            </a:xfrm>
            <a:prstGeom prst="rect">
              <a:avLst/>
            </a:prstGeom>
            <a:noFill/>
            <a:ln>
              <a:noFill/>
            </a:ln>
          </p:spPr>
          <p:txBody>
            <a:bodyPr spcFirstLastPara="1" wrap="square" lIns="34284" tIns="17138" rIns="34284" bIns="17138" anchor="t" anchorCtr="0">
              <a:noAutofit/>
            </a:bodyPr>
            <a:lstStyle/>
            <a:p>
              <a:pPr algn="ctr">
                <a:buClr>
                  <a:schemeClr val="dk2"/>
                </a:buClr>
                <a:buSzPts val="3200"/>
              </a:pPr>
              <a:r>
                <a:rPr lang="en-US" sz="1200" b="1" dirty="0">
                  <a:solidFill>
                    <a:schemeClr val="bg1"/>
                  </a:solidFill>
                  <a:latin typeface="Tahoma"/>
                  <a:ea typeface="Tahoma"/>
                  <a:cs typeface="Tahoma"/>
                  <a:sym typeface="Tahoma"/>
                </a:rPr>
                <a:t>Kick off</a:t>
              </a:r>
              <a:endParaRPr sz="675" dirty="0">
                <a:solidFill>
                  <a:schemeClr val="bg1"/>
                </a:solidFill>
              </a:endParaRPr>
            </a:p>
          </p:txBody>
        </p:sp>
        <p:sp>
          <p:nvSpPr>
            <p:cNvPr id="245" name="Shape 245"/>
            <p:cNvSpPr/>
            <p:nvPr/>
          </p:nvSpPr>
          <p:spPr>
            <a:xfrm>
              <a:off x="11855450" y="4448236"/>
              <a:ext cx="1204912" cy="849312"/>
            </a:xfrm>
            <a:prstGeom prst="rightArrow">
              <a:avLst>
                <a:gd name="adj1" fmla="val 69694"/>
                <a:gd name="adj2" fmla="val 46385"/>
              </a:avLst>
            </a:prstGeom>
            <a:solidFill>
              <a:srgbClr val="0070C0"/>
            </a:solidFill>
            <a:ln>
              <a:noFill/>
            </a:ln>
            <a:effectLst>
              <a:outerShdw blurRad="44450" dist="27940" dir="5400000" algn="ctr">
                <a:srgbClr val="000000">
                  <a:alpha val="31764"/>
                </a:srgbClr>
              </a:outerShdw>
            </a:effectLst>
          </p:spPr>
          <p:txBody>
            <a:bodyPr spcFirstLastPara="1" wrap="square" lIns="34284" tIns="17138" rIns="34284" bIns="17138" anchor="ctr" anchorCtr="0">
              <a:noAutofit/>
            </a:bodyPr>
            <a:lstStyle/>
            <a:p>
              <a:pPr algn="ctr">
                <a:buClr>
                  <a:srgbClr val="000000"/>
                </a:buClr>
                <a:buSzPts val="2800"/>
              </a:pPr>
              <a:endParaRPr sz="1050">
                <a:solidFill>
                  <a:schemeClr val="bg1"/>
                </a:solidFill>
                <a:latin typeface="Tahoma"/>
                <a:ea typeface="Tahoma"/>
                <a:cs typeface="Tahoma"/>
                <a:sym typeface="Tahoma"/>
              </a:endParaRPr>
            </a:p>
          </p:txBody>
        </p:sp>
        <p:sp>
          <p:nvSpPr>
            <p:cNvPr id="246" name="Shape 246"/>
            <p:cNvSpPr txBox="1"/>
            <p:nvPr/>
          </p:nvSpPr>
          <p:spPr>
            <a:xfrm>
              <a:off x="11831637" y="4770498"/>
              <a:ext cx="1082675" cy="234077"/>
            </a:xfrm>
            <a:prstGeom prst="rect">
              <a:avLst/>
            </a:prstGeom>
            <a:noFill/>
            <a:ln>
              <a:noFill/>
            </a:ln>
          </p:spPr>
          <p:txBody>
            <a:bodyPr spcFirstLastPara="1" wrap="square" lIns="34284" tIns="17138" rIns="34284" bIns="17138" anchor="t" anchorCtr="0">
              <a:noAutofit/>
            </a:bodyPr>
            <a:lstStyle/>
            <a:p>
              <a:pPr algn="ctr">
                <a:buClr>
                  <a:schemeClr val="dk2"/>
                </a:buClr>
                <a:buSzPts val="2800"/>
              </a:pPr>
              <a:r>
                <a:rPr lang="en-US" sz="1050" b="1" dirty="0">
                  <a:solidFill>
                    <a:schemeClr val="bg1"/>
                  </a:solidFill>
                  <a:latin typeface="Tahoma"/>
                  <a:ea typeface="Tahoma"/>
                  <a:cs typeface="Tahoma"/>
                  <a:sym typeface="Tahoma"/>
                </a:rPr>
                <a:t>Next Steps</a:t>
              </a:r>
              <a:endParaRPr sz="675" dirty="0">
                <a:solidFill>
                  <a:schemeClr val="bg1"/>
                </a:solidFill>
              </a:endParaRPr>
            </a:p>
          </p:txBody>
        </p:sp>
        <p:cxnSp>
          <p:nvCxnSpPr>
            <p:cNvPr id="247" name="Shape 247"/>
            <p:cNvCxnSpPr/>
            <p:nvPr/>
          </p:nvCxnSpPr>
          <p:spPr>
            <a:xfrm>
              <a:off x="5324475" y="7675623"/>
              <a:ext cx="7850187" cy="0"/>
            </a:xfrm>
            <a:prstGeom prst="straightConnector1">
              <a:avLst/>
            </a:prstGeom>
            <a:noFill/>
            <a:ln w="57150" cap="flat" cmpd="sng">
              <a:solidFill>
                <a:srgbClr val="000000"/>
              </a:solidFill>
              <a:prstDash val="solid"/>
              <a:round/>
              <a:headEnd type="none" w="med" len="med"/>
              <a:tailEnd type="triangle" w="med" len="med"/>
            </a:ln>
          </p:spPr>
        </p:cxnSp>
        <p:sp>
          <p:nvSpPr>
            <p:cNvPr id="248" name="Shape 248"/>
            <p:cNvSpPr/>
            <p:nvPr/>
          </p:nvSpPr>
          <p:spPr>
            <a:xfrm>
              <a:off x="9985375" y="7527986"/>
              <a:ext cx="174625" cy="160337"/>
            </a:xfrm>
            <a:prstGeom prst="star5">
              <a:avLst>
                <a:gd name="adj" fmla="val 19098"/>
                <a:gd name="hf" fmla="val 105146"/>
                <a:gd name="vf" fmla="val 110557"/>
              </a:avLst>
            </a:prstGeom>
            <a:solidFill>
              <a:srgbClr val="F54510"/>
            </a:solid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49" name="Shape 249"/>
            <p:cNvSpPr/>
            <p:nvPr/>
          </p:nvSpPr>
          <p:spPr>
            <a:xfrm>
              <a:off x="11763375" y="7531161"/>
              <a:ext cx="174625" cy="160337"/>
            </a:xfrm>
            <a:prstGeom prst="star5">
              <a:avLst>
                <a:gd name="adj" fmla="val 19098"/>
                <a:gd name="hf" fmla="val 105146"/>
                <a:gd name="vf" fmla="val 110557"/>
              </a:avLst>
            </a:prstGeom>
            <a:solidFill>
              <a:srgbClr val="F54510"/>
            </a:solid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50" name="Shape 250"/>
            <p:cNvSpPr/>
            <p:nvPr/>
          </p:nvSpPr>
          <p:spPr>
            <a:xfrm>
              <a:off x="8162925" y="7532748"/>
              <a:ext cx="174625" cy="160338"/>
            </a:xfrm>
            <a:prstGeom prst="star5">
              <a:avLst>
                <a:gd name="adj" fmla="val 19098"/>
                <a:gd name="hf" fmla="val 105146"/>
                <a:gd name="vf" fmla="val 110557"/>
              </a:avLst>
            </a:prstGeom>
            <a:solidFill>
              <a:srgbClr val="F54510"/>
            </a:solidFill>
            <a:ln w="9525" cap="flat" cmpd="sng">
              <a:solidFill>
                <a:srgbClr val="000000"/>
              </a:solidFill>
              <a:prstDash val="solid"/>
              <a:miter lim="800000"/>
              <a:headEnd type="none" w="sm" len="sm"/>
              <a:tailEnd type="none" w="sm" len="sm"/>
            </a:ln>
          </p:spPr>
          <p:txBody>
            <a:bodyPr spcFirstLastPara="1" wrap="square" lIns="34284" tIns="17138" rIns="34284" bIns="17138" anchor="ctr" anchorCtr="0">
              <a:noAutofit/>
            </a:bodyPr>
            <a:lstStyle/>
            <a:p>
              <a:pPr algn="ctr">
                <a:buClr>
                  <a:srgbClr val="000000"/>
                </a:buClr>
                <a:buSzPts val="2800"/>
              </a:pPr>
              <a:endParaRPr sz="1050">
                <a:solidFill>
                  <a:schemeClr val="dk2"/>
                </a:solidFill>
                <a:latin typeface="Tahoma"/>
                <a:ea typeface="Tahoma"/>
                <a:cs typeface="Tahoma"/>
                <a:sym typeface="Tahoma"/>
              </a:endParaRPr>
            </a:p>
          </p:txBody>
        </p:sp>
        <p:sp>
          <p:nvSpPr>
            <p:cNvPr id="251" name="Shape 251"/>
            <p:cNvSpPr txBox="1"/>
            <p:nvPr/>
          </p:nvSpPr>
          <p:spPr>
            <a:xfrm>
              <a:off x="6573320" y="5337655"/>
              <a:ext cx="1644030" cy="1693618"/>
            </a:xfrm>
            <a:prstGeom prst="rect">
              <a:avLst/>
            </a:prstGeom>
            <a:noFill/>
            <a:ln>
              <a:noFill/>
            </a:ln>
          </p:spPr>
          <p:txBody>
            <a:bodyPr spcFirstLastPara="1" wrap="square" lIns="34284" tIns="17138" rIns="34284" bIns="17138" anchor="t" anchorCtr="0">
              <a:noAutofit/>
            </a:bodyPr>
            <a:lstStyle/>
            <a:p>
              <a:pPr marL="171450" indent="-171450">
                <a:buClr>
                  <a:schemeClr val="dk2"/>
                </a:buClr>
                <a:buSzPct val="100000"/>
                <a:buFont typeface="Arial" charset="0"/>
                <a:buChar char="•"/>
              </a:pPr>
              <a:r>
                <a:rPr lang="en-US" sz="1000" dirty="0">
                  <a:latin typeface="Calibri"/>
                  <a:ea typeface="Calibri"/>
                  <a:cs typeface="Calibri"/>
                  <a:sym typeface="Calibri"/>
                </a:rPr>
                <a:t>Baseline Dimensions and Parameters of Assessment.</a:t>
              </a:r>
              <a:endParaRPr sz="1000" dirty="0">
                <a:latin typeface="Calibri"/>
                <a:ea typeface="Calibri"/>
                <a:cs typeface="Calibri"/>
                <a:sym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Identify critical area in Amgen Landscape which needs to be prioritized higher than others.</a:t>
              </a:r>
              <a:endParaRPr sz="1000" dirty="0">
                <a:latin typeface="Calibri"/>
                <a:ea typeface="Calibri"/>
                <a:cs typeface="Calibri"/>
                <a:sym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Sign off On the Base Line Dimensions and the Parameters for Assessment</a:t>
              </a:r>
              <a:endParaRPr sz="1000" dirty="0">
                <a:latin typeface="Calibri"/>
                <a:ea typeface="Calibri"/>
                <a:cs typeface="Calibri"/>
              </a:endParaRPr>
            </a:p>
          </p:txBody>
        </p:sp>
        <p:sp>
          <p:nvSpPr>
            <p:cNvPr id="252" name="Shape 252"/>
            <p:cNvSpPr txBox="1"/>
            <p:nvPr/>
          </p:nvSpPr>
          <p:spPr>
            <a:xfrm>
              <a:off x="8348573" y="5337655"/>
              <a:ext cx="1592350" cy="2024079"/>
            </a:xfrm>
            <a:prstGeom prst="rect">
              <a:avLst/>
            </a:prstGeom>
            <a:noFill/>
            <a:ln>
              <a:noFill/>
            </a:ln>
          </p:spPr>
          <p:txBody>
            <a:bodyPr spcFirstLastPara="1" wrap="square" lIns="34284" tIns="17138" rIns="34284" bIns="17138" anchor="t" anchorCtr="0">
              <a:noAutofit/>
            </a:bodyPr>
            <a:lstStyle/>
            <a:p>
              <a:pPr>
                <a:buClr>
                  <a:schemeClr val="dk2"/>
                </a:buClr>
                <a:buSzPts val="2400"/>
              </a:pPr>
              <a:r>
                <a:rPr lang="en-US" sz="900" dirty="0">
                  <a:latin typeface="Calibri"/>
                  <a:ea typeface="Calibri"/>
                  <a:cs typeface="Calibri"/>
                  <a:sym typeface="Calibri"/>
                </a:rPr>
                <a:t>Study the Landscape, Interview Critical Stake holders on the following areas.</a:t>
              </a:r>
              <a:endParaRPr sz="675" dirty="0"/>
            </a:p>
            <a:p>
              <a:pPr marL="171450" indent="-171450">
                <a:buClr>
                  <a:schemeClr val="dk2"/>
                </a:buClr>
                <a:buSzPct val="100000"/>
                <a:buFont typeface="Arial" charset="0"/>
                <a:buChar char="•"/>
              </a:pPr>
              <a:endParaRPr sz="1000" dirty="0">
                <a:latin typeface="Calibri"/>
                <a:ea typeface="Calibri"/>
                <a:cs typeface="Calibri"/>
                <a:sym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Process and Governance</a:t>
              </a:r>
              <a:endParaRPr sz="1000" dirty="0">
                <a:latin typeface="Calibri"/>
                <a:ea typeface="Calibri"/>
                <a:cs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Data Architecture</a:t>
              </a:r>
              <a:endParaRPr sz="1000" dirty="0">
                <a:latin typeface="Calibri"/>
                <a:ea typeface="Calibri"/>
                <a:cs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Technology Architecture</a:t>
              </a:r>
              <a:endParaRPr sz="1000" dirty="0">
                <a:latin typeface="Calibri"/>
                <a:ea typeface="Calibri"/>
                <a:cs typeface="Calibri"/>
              </a:endParaRPr>
            </a:p>
            <a:p>
              <a:pPr>
                <a:buClr>
                  <a:srgbClr val="000000"/>
                </a:buClr>
                <a:buSzPts val="2400"/>
              </a:pPr>
              <a:endParaRPr sz="900" dirty="0">
                <a:latin typeface="Calibri"/>
                <a:ea typeface="Calibri"/>
                <a:cs typeface="Calibri"/>
                <a:sym typeface="Calibri"/>
              </a:endParaRPr>
            </a:p>
            <a:p>
              <a:pPr marL="85725" indent="-28575">
                <a:buClr>
                  <a:srgbClr val="000000"/>
                </a:buClr>
                <a:buSzPts val="2400"/>
              </a:pPr>
              <a:endParaRPr sz="900" dirty="0">
                <a:latin typeface="Calibri"/>
                <a:ea typeface="Calibri"/>
                <a:cs typeface="Calibri"/>
                <a:sym typeface="Calibri"/>
              </a:endParaRPr>
            </a:p>
            <a:p>
              <a:pPr marL="85725" indent="-28575">
                <a:buClr>
                  <a:srgbClr val="000000"/>
                </a:buClr>
                <a:buSzPts val="2400"/>
              </a:pPr>
              <a:endParaRPr sz="900" dirty="0">
                <a:latin typeface="Calibri"/>
                <a:ea typeface="Calibri"/>
                <a:cs typeface="Calibri"/>
                <a:sym typeface="Calibri"/>
              </a:endParaRPr>
            </a:p>
            <a:p>
              <a:pPr marL="85725" indent="-28575">
                <a:buClr>
                  <a:srgbClr val="000000"/>
                </a:buClr>
                <a:buSzPts val="2400"/>
              </a:pPr>
              <a:endParaRPr sz="900" dirty="0">
                <a:latin typeface="Calibri"/>
                <a:ea typeface="Calibri"/>
                <a:cs typeface="Calibri"/>
                <a:sym typeface="Calibri"/>
              </a:endParaRPr>
            </a:p>
            <a:p>
              <a:pPr marL="85725" indent="-28575">
                <a:buClr>
                  <a:srgbClr val="000000"/>
                </a:buClr>
                <a:buSzPts val="2400"/>
              </a:pPr>
              <a:endParaRPr sz="900" dirty="0">
                <a:latin typeface="Calibri"/>
                <a:ea typeface="Calibri"/>
                <a:cs typeface="Calibri"/>
                <a:sym typeface="Calibri"/>
              </a:endParaRPr>
            </a:p>
          </p:txBody>
        </p:sp>
        <p:sp>
          <p:nvSpPr>
            <p:cNvPr id="253" name="Shape 253"/>
            <p:cNvSpPr txBox="1"/>
            <p:nvPr/>
          </p:nvSpPr>
          <p:spPr>
            <a:xfrm>
              <a:off x="10112825" y="5319773"/>
              <a:ext cx="1739900" cy="2189310"/>
            </a:xfrm>
            <a:prstGeom prst="rect">
              <a:avLst/>
            </a:prstGeom>
            <a:noFill/>
            <a:ln>
              <a:noFill/>
            </a:ln>
          </p:spPr>
          <p:txBody>
            <a:bodyPr spcFirstLastPara="1" wrap="square" lIns="34284" tIns="17138" rIns="34284" bIns="17138" anchor="t" anchorCtr="0">
              <a:noAutofit/>
            </a:bodyPr>
            <a:lstStyle/>
            <a:p>
              <a:pPr marL="171450" indent="-171450">
                <a:buClr>
                  <a:schemeClr val="dk2"/>
                </a:buClr>
                <a:buSzPct val="100000"/>
                <a:buFont typeface="Arial" charset="0"/>
                <a:buChar char="•"/>
              </a:pPr>
              <a:r>
                <a:rPr lang="en-US" sz="1000" dirty="0">
                  <a:latin typeface="Calibri"/>
                  <a:ea typeface="Calibri"/>
                  <a:cs typeface="Calibri"/>
                  <a:sym typeface="Calibri"/>
                </a:rPr>
                <a:t>Benchmark Amgen  Landscape maturity based on the Dimensions and Identify critical areas of Improvement.</a:t>
              </a:r>
              <a:endParaRPr sz="1000" dirty="0">
                <a:latin typeface="Calibri"/>
                <a:ea typeface="Calibri"/>
                <a:cs typeface="Calibri"/>
                <a:sym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Prioritize Assessment Recommendations with Amgen Team</a:t>
              </a:r>
              <a:endParaRPr sz="1000" dirty="0">
                <a:latin typeface="Calibri"/>
                <a:ea typeface="Calibri"/>
                <a:cs typeface="Calibri"/>
                <a:sym typeface="Calibri"/>
              </a:endParaRPr>
            </a:p>
            <a:p>
              <a:pPr marL="171450" indent="-171450">
                <a:buClr>
                  <a:schemeClr val="dk2"/>
                </a:buClr>
                <a:buSzPct val="100000"/>
                <a:buFont typeface="Arial" charset="0"/>
                <a:buChar char="•"/>
              </a:pPr>
              <a:r>
                <a:rPr lang="en-US" sz="1000" dirty="0">
                  <a:latin typeface="Calibri"/>
                  <a:ea typeface="Calibri"/>
                  <a:cs typeface="Calibri"/>
                  <a:sym typeface="Calibri"/>
                </a:rPr>
                <a:t>Prepare the Assessment Evaluation  Document and Sign off</a:t>
              </a:r>
              <a:endParaRPr sz="1000" dirty="0">
                <a:latin typeface="Calibri"/>
                <a:ea typeface="Calibri"/>
                <a:cs typeface="Calibri"/>
              </a:endParaRPr>
            </a:p>
            <a:p>
              <a:pPr marL="42863">
                <a:buClr>
                  <a:srgbClr val="000000"/>
                </a:buClr>
                <a:buSzPts val="2400"/>
              </a:pPr>
              <a:endParaRPr sz="900" dirty="0">
                <a:solidFill>
                  <a:schemeClr val="dk2"/>
                </a:solidFill>
                <a:latin typeface="Calibri"/>
                <a:ea typeface="Calibri"/>
                <a:cs typeface="Calibri"/>
                <a:sym typeface="Calibri"/>
              </a:endParaRPr>
            </a:p>
          </p:txBody>
        </p:sp>
        <p:sp>
          <p:nvSpPr>
            <p:cNvPr id="254" name="Shape 254"/>
            <p:cNvSpPr txBox="1"/>
            <p:nvPr/>
          </p:nvSpPr>
          <p:spPr>
            <a:xfrm>
              <a:off x="6453187" y="4709216"/>
              <a:ext cx="1562100" cy="261615"/>
            </a:xfrm>
            <a:prstGeom prst="rect">
              <a:avLst/>
            </a:prstGeom>
            <a:noFill/>
            <a:ln>
              <a:noFill/>
            </a:ln>
          </p:spPr>
          <p:txBody>
            <a:bodyPr spcFirstLastPara="1" wrap="square" lIns="34284" tIns="17138" rIns="34284" bIns="17138" anchor="t" anchorCtr="0">
              <a:noAutofit/>
            </a:bodyPr>
            <a:lstStyle/>
            <a:p>
              <a:pPr algn="ctr">
                <a:buClr>
                  <a:schemeClr val="dk2"/>
                </a:buClr>
                <a:buSzPts val="3200"/>
              </a:pPr>
              <a:r>
                <a:rPr lang="en-US" sz="1200" b="1" dirty="0">
                  <a:latin typeface="Tahoma"/>
                  <a:ea typeface="Tahoma"/>
                  <a:cs typeface="Tahoma"/>
                  <a:sym typeface="Tahoma"/>
                </a:rPr>
                <a:t>Assessment Plan</a:t>
              </a:r>
              <a:endParaRPr sz="675" dirty="0"/>
            </a:p>
          </p:txBody>
        </p:sp>
      </p:grpSp>
      <p:sp>
        <p:nvSpPr>
          <p:cNvPr id="27" name="Rectangle 26">
            <a:extLst>
              <a:ext uri="{FF2B5EF4-FFF2-40B4-BE49-F238E27FC236}">
                <a16:creationId xmlns:a16="http://schemas.microsoft.com/office/drawing/2014/main" id="{9160A9DC-32AA-40F2-A03A-5217B5CFF74C}"/>
              </a:ext>
            </a:extLst>
          </p:cNvPr>
          <p:cNvSpPr/>
          <p:nvPr/>
        </p:nvSpPr>
        <p:spPr>
          <a:xfrm>
            <a:off x="433852" y="921418"/>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Tree>
    <p:extLst>
      <p:ext uri="{BB962C8B-B14F-4D97-AF65-F5344CB8AC3E}">
        <p14:creationId xmlns:p14="http://schemas.microsoft.com/office/powerpoint/2010/main" val="203780561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5">
            <a:extLst>
              <a:ext uri="{FF2B5EF4-FFF2-40B4-BE49-F238E27FC236}">
                <a16:creationId xmlns:a16="http://schemas.microsoft.com/office/drawing/2014/main" id="{79B828D4-57EE-4745-8D2A-9FF65F87E00A}"/>
              </a:ext>
            </a:extLst>
          </p:cNvPr>
          <p:cNvSpPr txBox="1">
            <a:spLocks/>
          </p:cNvSpPr>
          <p:nvPr/>
        </p:nvSpPr>
        <p:spPr>
          <a:xfrm>
            <a:off x="280582" y="300255"/>
            <a:ext cx="5917018" cy="400110"/>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a:t>Summary of </a:t>
            </a:r>
            <a:r>
              <a:rPr lang="en-IN" sz="2000" dirty="0"/>
              <a:t>findings across categories </a:t>
            </a:r>
          </a:p>
        </p:txBody>
      </p:sp>
      <p:sp>
        <p:nvSpPr>
          <p:cNvPr id="6" name="Rectangle 5">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2" name="Rectangle 61"/>
          <p:cNvSpPr/>
          <p:nvPr/>
        </p:nvSpPr>
        <p:spPr>
          <a:xfrm>
            <a:off x="700673" y="1233617"/>
            <a:ext cx="2568613" cy="164777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900" dirty="0">
                <a:solidFill>
                  <a:schemeClr val="tx1"/>
                </a:solidFill>
              </a:rPr>
              <a:t>Productivity gains are hard to achieve with the current FW setup due to metadata &amp; process complexity.</a:t>
            </a:r>
          </a:p>
          <a:p>
            <a:pPr marL="285750" indent="-285750">
              <a:buFont typeface="Arial" panose="020B0604020202020204" pitchFamily="34" charset="0"/>
              <a:buChar char="•"/>
            </a:pPr>
            <a:r>
              <a:rPr lang="en-IN" sz="900" dirty="0">
                <a:solidFill>
                  <a:schemeClr val="tx1"/>
                </a:solidFill>
              </a:rPr>
              <a:t>The design does not foster a Codeless or no code paradigm and code base is increased with every additional data source added.</a:t>
            </a:r>
          </a:p>
          <a:p>
            <a:pPr marL="285750" indent="-285750">
              <a:buFont typeface="Arial" panose="020B0604020202020204" pitchFamily="34" charset="0"/>
              <a:buChar char="•"/>
            </a:pPr>
            <a:r>
              <a:rPr lang="en-IN" sz="900" dirty="0">
                <a:solidFill>
                  <a:schemeClr val="tx1"/>
                </a:solidFill>
              </a:rPr>
              <a:t>Framework does not cater to several aspects around security, encryption etc.</a:t>
            </a:r>
          </a:p>
          <a:p>
            <a:pPr marL="285750" indent="-285750">
              <a:buFont typeface="Arial" panose="020B0604020202020204" pitchFamily="34" charset="0"/>
              <a:buChar char="•"/>
            </a:pPr>
            <a:endParaRPr lang="en-IN" sz="1100" dirty="0"/>
          </a:p>
        </p:txBody>
      </p:sp>
      <p:sp>
        <p:nvSpPr>
          <p:cNvPr id="63" name="Rectangle 62"/>
          <p:cNvSpPr/>
          <p:nvPr/>
        </p:nvSpPr>
        <p:spPr>
          <a:xfrm>
            <a:off x="4343891" y="1171907"/>
            <a:ext cx="2491201" cy="164777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900" dirty="0">
                <a:solidFill>
                  <a:schemeClr val="tx1"/>
                </a:solidFill>
              </a:rPr>
              <a:t>7 different foundation layers are used and data is persisted across all 7 zones. The functionality can be achieved in lower zones offering same isolation and reducing complexity.</a:t>
            </a:r>
          </a:p>
          <a:p>
            <a:pPr marL="285750" indent="-285750">
              <a:buFont typeface="Arial" panose="020B0604020202020204" pitchFamily="34" charset="0"/>
              <a:buChar char="•"/>
            </a:pPr>
            <a:endParaRPr lang="en-IN" sz="900" dirty="0">
              <a:solidFill>
                <a:schemeClr val="tx1"/>
              </a:solidFill>
            </a:endParaRPr>
          </a:p>
          <a:p>
            <a:pPr marL="285750" indent="-285750">
              <a:buFont typeface="Arial" panose="020B0604020202020204" pitchFamily="34" charset="0"/>
              <a:buChar char="•"/>
            </a:pPr>
            <a:r>
              <a:rPr lang="en-IN" sz="900" dirty="0">
                <a:solidFill>
                  <a:schemeClr val="tx1"/>
                </a:solidFill>
              </a:rPr>
              <a:t>Data Merges happen at the last stage and unmerged data is present in the earlier zones and is not as usable as merged data.</a:t>
            </a:r>
          </a:p>
        </p:txBody>
      </p:sp>
      <p:sp>
        <p:nvSpPr>
          <p:cNvPr id="64" name="Rectangle 63"/>
          <p:cNvSpPr/>
          <p:nvPr/>
        </p:nvSpPr>
        <p:spPr>
          <a:xfrm>
            <a:off x="4343891" y="3200170"/>
            <a:ext cx="2491201" cy="1508994"/>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900" dirty="0">
                <a:solidFill>
                  <a:schemeClr val="tx1"/>
                </a:solidFill>
              </a:rPr>
              <a:t>High Availability Mechanisms are not enabled for critical components.</a:t>
            </a:r>
          </a:p>
          <a:p>
            <a:pPr marL="285750" indent="-285750">
              <a:buFont typeface="Arial" panose="020B0604020202020204" pitchFamily="34" charset="0"/>
              <a:buChar char="•"/>
            </a:pPr>
            <a:r>
              <a:rPr lang="en-IN" sz="900" dirty="0">
                <a:solidFill>
                  <a:schemeClr val="tx1"/>
                </a:solidFill>
              </a:rPr>
              <a:t>Code base which is not part of Git is leveraged in Jenkins deployments</a:t>
            </a:r>
          </a:p>
        </p:txBody>
      </p:sp>
      <p:sp>
        <p:nvSpPr>
          <p:cNvPr id="65" name="Rectangle 64"/>
          <p:cNvSpPr/>
          <p:nvPr/>
        </p:nvSpPr>
        <p:spPr>
          <a:xfrm>
            <a:off x="702948" y="3231703"/>
            <a:ext cx="2568613" cy="14859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itchFamily="34" charset="0"/>
              <a:buChar char="•"/>
            </a:pPr>
            <a:r>
              <a:rPr lang="en-IN" sz="900" dirty="0">
                <a:solidFill>
                  <a:schemeClr val="tx1"/>
                </a:solidFill>
              </a:rPr>
              <a:t>Dynamic Deployments of Orchestration is breaking the Airflow pipes and multiple deployments happen in a day.</a:t>
            </a:r>
          </a:p>
          <a:p>
            <a:pPr marL="285750" indent="-285750">
              <a:buFont typeface="Arial" pitchFamily="34" charset="0"/>
              <a:buChar char="•"/>
            </a:pPr>
            <a:endParaRPr lang="en-IN" sz="900" dirty="0">
              <a:solidFill>
                <a:schemeClr val="tx1"/>
              </a:solidFill>
            </a:endParaRPr>
          </a:p>
          <a:p>
            <a:pPr marL="285750" indent="-285750">
              <a:buFont typeface="Arial" pitchFamily="34" charset="0"/>
              <a:buChar char="•"/>
            </a:pPr>
            <a:endParaRPr lang="en-IN" sz="900" dirty="0">
              <a:solidFill>
                <a:schemeClr val="tx1"/>
              </a:solidFill>
            </a:endParaRPr>
          </a:p>
          <a:p>
            <a:pPr marL="285750" indent="-285750">
              <a:buFont typeface="Arial" pitchFamily="34" charset="0"/>
              <a:buChar char="•"/>
            </a:pPr>
            <a:r>
              <a:rPr lang="en-IN" sz="900" dirty="0">
                <a:solidFill>
                  <a:schemeClr val="tx1"/>
                </a:solidFill>
              </a:rPr>
              <a:t>Custom Logging mechanisms are adopted while best of breed components are available</a:t>
            </a:r>
          </a:p>
        </p:txBody>
      </p:sp>
      <p:sp>
        <p:nvSpPr>
          <p:cNvPr id="68" name="Rectangle 67"/>
          <p:cNvSpPr/>
          <p:nvPr/>
        </p:nvSpPr>
        <p:spPr>
          <a:xfrm>
            <a:off x="702948" y="942009"/>
            <a:ext cx="2568613" cy="28275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Framework Design</a:t>
            </a:r>
          </a:p>
        </p:txBody>
      </p:sp>
      <p:sp>
        <p:nvSpPr>
          <p:cNvPr id="69" name="Oval 68"/>
          <p:cNvSpPr/>
          <p:nvPr/>
        </p:nvSpPr>
        <p:spPr>
          <a:xfrm>
            <a:off x="500928" y="878210"/>
            <a:ext cx="219807" cy="225609"/>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70" name="Rectangle 69"/>
          <p:cNvSpPr/>
          <p:nvPr/>
        </p:nvSpPr>
        <p:spPr>
          <a:xfrm>
            <a:off x="4343891" y="916931"/>
            <a:ext cx="2491201" cy="282755"/>
          </a:xfrm>
          <a:prstGeom prst="rect">
            <a:avLst/>
          </a:prstGeom>
          <a:solidFill>
            <a:schemeClr val="accent3">
              <a:lumMod val="7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Data Management</a:t>
            </a:r>
          </a:p>
        </p:txBody>
      </p:sp>
      <p:sp>
        <p:nvSpPr>
          <p:cNvPr id="71" name="Oval 70"/>
          <p:cNvSpPr/>
          <p:nvPr/>
        </p:nvSpPr>
        <p:spPr>
          <a:xfrm>
            <a:off x="4194624" y="853132"/>
            <a:ext cx="219807" cy="225609"/>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72" name="Rectangle 71"/>
          <p:cNvSpPr/>
          <p:nvPr/>
        </p:nvSpPr>
        <p:spPr>
          <a:xfrm>
            <a:off x="4343891" y="2948123"/>
            <a:ext cx="2491201" cy="282755"/>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Infrastructure Management</a:t>
            </a:r>
          </a:p>
        </p:txBody>
      </p:sp>
      <p:sp>
        <p:nvSpPr>
          <p:cNvPr id="73" name="Oval 72"/>
          <p:cNvSpPr/>
          <p:nvPr/>
        </p:nvSpPr>
        <p:spPr>
          <a:xfrm>
            <a:off x="4194625" y="2881394"/>
            <a:ext cx="219807" cy="225609"/>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highlight>
                <a:srgbClr val="FF0000"/>
              </a:highlight>
              <a:latin typeface="+mj-lt"/>
            </a:endParaRPr>
          </a:p>
        </p:txBody>
      </p:sp>
      <p:sp>
        <p:nvSpPr>
          <p:cNvPr id="74" name="Rectangle 73"/>
          <p:cNvSpPr/>
          <p:nvPr/>
        </p:nvSpPr>
        <p:spPr>
          <a:xfrm>
            <a:off x="723468" y="2967873"/>
            <a:ext cx="2568613" cy="254977"/>
          </a:xfrm>
          <a:prstGeom prst="rect">
            <a:avLst/>
          </a:prstGeom>
          <a:solidFill>
            <a:schemeClr val="accent4">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Data Pipeline Engineering</a:t>
            </a:r>
          </a:p>
        </p:txBody>
      </p:sp>
      <p:sp>
        <p:nvSpPr>
          <p:cNvPr id="75" name="Oval 74"/>
          <p:cNvSpPr/>
          <p:nvPr/>
        </p:nvSpPr>
        <p:spPr>
          <a:xfrm>
            <a:off x="521448" y="2904074"/>
            <a:ext cx="219807" cy="203445"/>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23" name="Oval 22"/>
          <p:cNvSpPr/>
          <p:nvPr/>
        </p:nvSpPr>
        <p:spPr>
          <a:xfrm>
            <a:off x="7401070" y="1942799"/>
            <a:ext cx="219807" cy="203445"/>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24" name="Oval 23"/>
          <p:cNvSpPr/>
          <p:nvPr/>
        </p:nvSpPr>
        <p:spPr>
          <a:xfrm>
            <a:off x="7401069" y="2753145"/>
            <a:ext cx="219807" cy="203445"/>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25" name="Oval 24"/>
          <p:cNvSpPr/>
          <p:nvPr/>
        </p:nvSpPr>
        <p:spPr>
          <a:xfrm>
            <a:off x="7401069" y="3563491"/>
            <a:ext cx="219807" cy="203445"/>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solidFill>
                <a:schemeClr val="tx1"/>
              </a:solidFill>
              <a:latin typeface="+mj-lt"/>
            </a:endParaRPr>
          </a:p>
        </p:txBody>
      </p:sp>
      <p:sp>
        <p:nvSpPr>
          <p:cNvPr id="3" name="TextBox 2"/>
          <p:cNvSpPr txBox="1"/>
          <p:nvPr/>
        </p:nvSpPr>
        <p:spPr>
          <a:xfrm>
            <a:off x="7620876" y="1435124"/>
            <a:ext cx="819455" cy="307777"/>
          </a:xfrm>
          <a:prstGeom prst="rect">
            <a:avLst/>
          </a:prstGeom>
          <a:noFill/>
        </p:spPr>
        <p:txBody>
          <a:bodyPr wrap="none" rtlCol="0">
            <a:spAutoFit/>
          </a:bodyPr>
          <a:lstStyle/>
          <a:p>
            <a:r>
              <a:rPr lang="en-US" sz="1400" b="1"/>
              <a:t>Legend</a:t>
            </a:r>
            <a:endParaRPr lang="en-US" sz="1400" b="1" dirty="0"/>
          </a:p>
        </p:txBody>
      </p:sp>
      <p:sp>
        <p:nvSpPr>
          <p:cNvPr id="4" name="TextBox 3"/>
          <p:cNvSpPr txBox="1"/>
          <p:nvPr/>
        </p:nvSpPr>
        <p:spPr>
          <a:xfrm>
            <a:off x="7620877" y="1935666"/>
            <a:ext cx="1357585" cy="415498"/>
          </a:xfrm>
          <a:prstGeom prst="rect">
            <a:avLst/>
          </a:prstGeom>
          <a:noFill/>
        </p:spPr>
        <p:txBody>
          <a:bodyPr wrap="square" rtlCol="0">
            <a:spAutoFit/>
          </a:bodyPr>
          <a:lstStyle/>
          <a:p>
            <a:r>
              <a:rPr lang="en-US" sz="1050" b="1" dirty="0"/>
              <a:t>At par/ above Industry reference</a:t>
            </a:r>
          </a:p>
        </p:txBody>
      </p:sp>
      <p:sp>
        <p:nvSpPr>
          <p:cNvPr id="28" name="TextBox 27"/>
          <p:cNvSpPr txBox="1"/>
          <p:nvPr/>
        </p:nvSpPr>
        <p:spPr>
          <a:xfrm>
            <a:off x="7620877" y="2713909"/>
            <a:ext cx="1230009" cy="577081"/>
          </a:xfrm>
          <a:prstGeom prst="rect">
            <a:avLst/>
          </a:prstGeom>
          <a:noFill/>
        </p:spPr>
        <p:txBody>
          <a:bodyPr wrap="square" rtlCol="0">
            <a:spAutoFit/>
          </a:bodyPr>
          <a:lstStyle/>
          <a:p>
            <a:r>
              <a:rPr lang="en-US" sz="1050" b="1" dirty="0"/>
              <a:t>Opportunity for moderate improvements</a:t>
            </a:r>
          </a:p>
        </p:txBody>
      </p:sp>
      <p:sp>
        <p:nvSpPr>
          <p:cNvPr id="29" name="TextBox 28"/>
          <p:cNvSpPr txBox="1"/>
          <p:nvPr/>
        </p:nvSpPr>
        <p:spPr>
          <a:xfrm>
            <a:off x="7620876" y="3531388"/>
            <a:ext cx="1230009" cy="577081"/>
          </a:xfrm>
          <a:prstGeom prst="rect">
            <a:avLst/>
          </a:prstGeom>
          <a:noFill/>
        </p:spPr>
        <p:txBody>
          <a:bodyPr wrap="square" rtlCol="0">
            <a:spAutoFit/>
          </a:bodyPr>
          <a:lstStyle/>
          <a:p>
            <a:r>
              <a:rPr lang="en-US" sz="1050" b="1" dirty="0"/>
              <a:t>Opportunity for significant improvements</a:t>
            </a:r>
          </a:p>
        </p:txBody>
      </p:sp>
      <p:sp>
        <p:nvSpPr>
          <p:cNvPr id="2" name="TextBox 1"/>
          <p:cNvSpPr txBox="1"/>
          <p:nvPr/>
        </p:nvSpPr>
        <p:spPr>
          <a:xfrm>
            <a:off x="2238721" y="2618150"/>
            <a:ext cx="818707" cy="230832"/>
          </a:xfrm>
          <a:prstGeom prst="rect">
            <a:avLst/>
          </a:prstGeom>
          <a:noFill/>
        </p:spPr>
        <p:txBody>
          <a:bodyPr wrap="square" rtlCol="0">
            <a:spAutoFit/>
          </a:bodyPr>
          <a:lstStyle/>
          <a:p>
            <a:r>
              <a:rPr lang="en-US" sz="900" b="1" u="sng" dirty="0">
                <a:solidFill>
                  <a:srgbClr val="0070C0"/>
                </a:solidFill>
                <a:hlinkClick r:id="rId2" action="ppaction://hlinksldjump"/>
              </a:rPr>
              <a:t>DETAILS</a:t>
            </a:r>
            <a:endParaRPr lang="en-US" sz="900" b="1" u="sng" dirty="0">
              <a:solidFill>
                <a:srgbClr val="0070C0"/>
              </a:solidFill>
            </a:endParaRPr>
          </a:p>
        </p:txBody>
      </p:sp>
      <p:sp>
        <p:nvSpPr>
          <p:cNvPr id="32" name="TextBox 31">
            <a:hlinkClick r:id="rId3" action="ppaction://hlinksldjump"/>
          </p:cNvPr>
          <p:cNvSpPr txBox="1"/>
          <p:nvPr/>
        </p:nvSpPr>
        <p:spPr>
          <a:xfrm>
            <a:off x="5981313" y="2618150"/>
            <a:ext cx="818707" cy="230832"/>
          </a:xfrm>
          <a:prstGeom prst="rect">
            <a:avLst/>
          </a:prstGeom>
          <a:noFill/>
        </p:spPr>
        <p:txBody>
          <a:bodyPr wrap="square" rtlCol="0">
            <a:spAutoFit/>
          </a:bodyPr>
          <a:lstStyle/>
          <a:p>
            <a:r>
              <a:rPr lang="en-US" sz="900" b="1" u="sng" dirty="0">
                <a:solidFill>
                  <a:srgbClr val="0070C0"/>
                </a:solidFill>
              </a:rPr>
              <a:t>DETAILS</a:t>
            </a:r>
          </a:p>
        </p:txBody>
      </p:sp>
      <p:sp>
        <p:nvSpPr>
          <p:cNvPr id="33" name="TextBox 32"/>
          <p:cNvSpPr txBox="1"/>
          <p:nvPr/>
        </p:nvSpPr>
        <p:spPr>
          <a:xfrm>
            <a:off x="6016385" y="4478331"/>
            <a:ext cx="818707" cy="230832"/>
          </a:xfrm>
          <a:prstGeom prst="rect">
            <a:avLst/>
          </a:prstGeom>
          <a:noFill/>
        </p:spPr>
        <p:txBody>
          <a:bodyPr wrap="square" rtlCol="0">
            <a:spAutoFit/>
          </a:bodyPr>
          <a:lstStyle/>
          <a:p>
            <a:r>
              <a:rPr lang="en-US" sz="900" b="1" u="sng" dirty="0">
                <a:solidFill>
                  <a:srgbClr val="0070C0"/>
                </a:solidFill>
                <a:hlinkClick r:id="rId3" action="ppaction://hlinksldjump"/>
              </a:rPr>
              <a:t>DETAILS</a:t>
            </a:r>
            <a:endParaRPr lang="en-US" sz="900" b="1" u="sng" dirty="0">
              <a:solidFill>
                <a:srgbClr val="0070C0"/>
              </a:solidFill>
            </a:endParaRPr>
          </a:p>
        </p:txBody>
      </p:sp>
      <p:sp>
        <p:nvSpPr>
          <p:cNvPr id="34" name="TextBox 33"/>
          <p:cNvSpPr txBox="1"/>
          <p:nvPr/>
        </p:nvSpPr>
        <p:spPr>
          <a:xfrm>
            <a:off x="2242252" y="4478331"/>
            <a:ext cx="818707" cy="230832"/>
          </a:xfrm>
          <a:prstGeom prst="rect">
            <a:avLst/>
          </a:prstGeom>
          <a:noFill/>
        </p:spPr>
        <p:txBody>
          <a:bodyPr wrap="square" rtlCol="0">
            <a:spAutoFit/>
          </a:bodyPr>
          <a:lstStyle/>
          <a:p>
            <a:r>
              <a:rPr lang="en-US" sz="900" b="1" u="sng" dirty="0">
                <a:solidFill>
                  <a:srgbClr val="0070C0"/>
                </a:solidFill>
                <a:hlinkClick r:id="rId4" action="ppaction://hlinksldjump"/>
              </a:rPr>
              <a:t>DETAILS</a:t>
            </a:r>
            <a:endParaRPr lang="en-US" sz="900" b="1" u="sng" dirty="0">
              <a:solidFill>
                <a:srgbClr val="0070C0"/>
              </a:solidFill>
            </a:endParaRPr>
          </a:p>
        </p:txBody>
      </p:sp>
      <p:sp>
        <p:nvSpPr>
          <p:cNvPr id="27" name="TextBox 26">
            <a:hlinkClick r:id="rId5" action="ppaction://hlinksldjump"/>
          </p:cNvPr>
          <p:cNvSpPr txBox="1"/>
          <p:nvPr/>
        </p:nvSpPr>
        <p:spPr>
          <a:xfrm>
            <a:off x="5999924" y="1827383"/>
            <a:ext cx="818707" cy="230832"/>
          </a:xfrm>
          <a:prstGeom prst="rect">
            <a:avLst/>
          </a:prstGeom>
          <a:noFill/>
        </p:spPr>
        <p:txBody>
          <a:bodyPr wrap="square" rtlCol="0">
            <a:spAutoFit/>
          </a:bodyPr>
          <a:lstStyle/>
          <a:p>
            <a:r>
              <a:rPr lang="en-US" sz="900" b="1" u="sng" dirty="0">
                <a:solidFill>
                  <a:srgbClr val="0070C0"/>
                </a:solidFill>
              </a:rPr>
              <a:t>DETAILS</a:t>
            </a:r>
          </a:p>
        </p:txBody>
      </p:sp>
      <p:sp>
        <p:nvSpPr>
          <p:cNvPr id="30" name="TextBox 29"/>
          <p:cNvSpPr txBox="1"/>
          <p:nvPr/>
        </p:nvSpPr>
        <p:spPr>
          <a:xfrm>
            <a:off x="2238720" y="3704512"/>
            <a:ext cx="818707" cy="230832"/>
          </a:xfrm>
          <a:prstGeom prst="rect">
            <a:avLst/>
          </a:prstGeom>
          <a:noFill/>
        </p:spPr>
        <p:txBody>
          <a:bodyPr wrap="square" rtlCol="0">
            <a:spAutoFit/>
          </a:bodyPr>
          <a:lstStyle/>
          <a:p>
            <a:r>
              <a:rPr lang="en-US" sz="900" b="1" u="sng" dirty="0">
                <a:solidFill>
                  <a:srgbClr val="0070C0"/>
                </a:solidFill>
                <a:hlinkClick r:id="rId6" action="ppaction://hlinksldjump"/>
              </a:rPr>
              <a:t>DETAILS</a:t>
            </a:r>
            <a:endParaRPr lang="en-US" sz="900" b="1" u="sng" dirty="0">
              <a:solidFill>
                <a:srgbClr val="0070C0"/>
              </a:solidFill>
            </a:endParaRPr>
          </a:p>
        </p:txBody>
      </p:sp>
    </p:spTree>
    <p:extLst>
      <p:ext uri="{BB962C8B-B14F-4D97-AF65-F5344CB8AC3E}">
        <p14:creationId xmlns:p14="http://schemas.microsoft.com/office/powerpoint/2010/main" val="451678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1384995"/>
          </a:xfrm>
          <a:prstGeom prst="rect">
            <a:avLst/>
          </a:prstGeom>
          <a:noFill/>
        </p:spPr>
        <p:txBody>
          <a:bodyPr wrap="square" rtlCol="0">
            <a:spAutoFit/>
          </a:bodyPr>
          <a:lstStyle/>
          <a:p>
            <a:r>
              <a:rPr lang="en-US" sz="2800" b="1" dirty="0">
                <a:solidFill>
                  <a:srgbClr val="FFFFFF"/>
                </a:solidFill>
              </a:rPr>
              <a:t>Detailed Findings:</a:t>
            </a:r>
          </a:p>
          <a:p>
            <a:r>
              <a:rPr lang="en-US" sz="2800" b="1" dirty="0">
                <a:solidFill>
                  <a:srgbClr val="FFFFFF"/>
                </a:solidFill>
              </a:rPr>
              <a:t>Framework Design</a:t>
            </a:r>
          </a:p>
          <a:p>
            <a:endParaRPr lang="en-US" sz="2800" b="1" dirty="0">
              <a:solidFill>
                <a:srgbClr val="FFFFFF"/>
              </a:solidFill>
            </a:endParaRPr>
          </a:p>
        </p:txBody>
      </p:sp>
    </p:spTree>
    <p:extLst>
      <p:ext uri="{BB962C8B-B14F-4D97-AF65-F5344CB8AC3E}">
        <p14:creationId xmlns:p14="http://schemas.microsoft.com/office/powerpoint/2010/main" val="183011434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98F61270-3458-46AF-BC02-1B330F7EFB80}"/>
              </a:ext>
            </a:extLst>
          </p:cNvPr>
          <p:cNvSpPr txBox="1"/>
          <p:nvPr/>
        </p:nvSpPr>
        <p:spPr>
          <a:xfrm>
            <a:off x="1391144" y="1080482"/>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  Total Parameters to be replaced </a:t>
            </a:r>
          </a:p>
        </p:txBody>
      </p:sp>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a:xfrm>
            <a:off x="215533" y="68470"/>
            <a:ext cx="8416925" cy="707846"/>
          </a:xfrm>
        </p:spPr>
        <p:txBody>
          <a:bodyPr/>
          <a:lstStyle/>
          <a:p>
            <a:r>
              <a:rPr lang="en-US" sz="2000" dirty="0"/>
              <a:t>IDNA PROCESS TOUCHPOINTS TO ONBOARD A SOURCE BASED ON CURRENT FRAMEWORK DESIGN</a:t>
            </a:r>
          </a:p>
        </p:txBody>
      </p:sp>
      <p:sp>
        <p:nvSpPr>
          <p:cNvPr id="3" name="Rectangle 2">
            <a:extLst>
              <a:ext uri="{FF2B5EF4-FFF2-40B4-BE49-F238E27FC236}">
                <a16:creationId xmlns:a16="http://schemas.microsoft.com/office/drawing/2014/main" id="{B6740AAE-044E-4181-AE5F-8271B831BAF7}"/>
              </a:ext>
            </a:extLst>
          </p:cNvPr>
          <p:cNvSpPr/>
          <p:nvPr/>
        </p:nvSpPr>
        <p:spPr>
          <a:xfrm>
            <a:off x="264143" y="2688525"/>
            <a:ext cx="797237"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rPr>
              <a:t>S3</a:t>
            </a:r>
          </a:p>
        </p:txBody>
      </p:sp>
      <p:sp>
        <p:nvSpPr>
          <p:cNvPr id="11" name="Rectangle 10">
            <a:extLst>
              <a:ext uri="{FF2B5EF4-FFF2-40B4-BE49-F238E27FC236}">
                <a16:creationId xmlns:a16="http://schemas.microsoft.com/office/drawing/2014/main" id="{5EF28E46-768B-4B17-82BA-6ED0BCE0AC74}"/>
              </a:ext>
            </a:extLst>
          </p:cNvPr>
          <p:cNvSpPr/>
          <p:nvPr/>
        </p:nvSpPr>
        <p:spPr>
          <a:xfrm>
            <a:off x="1695377" y="2688525"/>
            <a:ext cx="797237"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Landing</a:t>
            </a:r>
            <a:endParaRPr lang="en-IN" sz="1200" b="1" dirty="0">
              <a:solidFill>
                <a:schemeClr val="bg1"/>
              </a:solidFill>
            </a:endParaRPr>
          </a:p>
        </p:txBody>
      </p:sp>
      <p:sp>
        <p:nvSpPr>
          <p:cNvPr id="12" name="Rectangle 11">
            <a:extLst>
              <a:ext uri="{FF2B5EF4-FFF2-40B4-BE49-F238E27FC236}">
                <a16:creationId xmlns:a16="http://schemas.microsoft.com/office/drawing/2014/main" id="{96EDAD4C-00E6-458B-BBBE-C9FEB0564213}"/>
              </a:ext>
            </a:extLst>
          </p:cNvPr>
          <p:cNvSpPr/>
          <p:nvPr/>
        </p:nvSpPr>
        <p:spPr>
          <a:xfrm>
            <a:off x="2977524" y="2688525"/>
            <a:ext cx="797237"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Source</a:t>
            </a:r>
          </a:p>
        </p:txBody>
      </p:sp>
      <p:sp>
        <p:nvSpPr>
          <p:cNvPr id="13" name="Rectangle 12">
            <a:extLst>
              <a:ext uri="{FF2B5EF4-FFF2-40B4-BE49-F238E27FC236}">
                <a16:creationId xmlns:a16="http://schemas.microsoft.com/office/drawing/2014/main" id="{932272C3-7F6D-45DD-905C-EC9A65C53487}"/>
              </a:ext>
            </a:extLst>
          </p:cNvPr>
          <p:cNvSpPr/>
          <p:nvPr/>
        </p:nvSpPr>
        <p:spPr>
          <a:xfrm>
            <a:off x="4329245" y="2683555"/>
            <a:ext cx="982462"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Organized</a:t>
            </a:r>
          </a:p>
        </p:txBody>
      </p:sp>
      <p:sp>
        <p:nvSpPr>
          <p:cNvPr id="14" name="Rectangle 13">
            <a:extLst>
              <a:ext uri="{FF2B5EF4-FFF2-40B4-BE49-F238E27FC236}">
                <a16:creationId xmlns:a16="http://schemas.microsoft.com/office/drawing/2014/main" id="{F2D888C9-7572-45E4-80F0-90AB46F81440}"/>
              </a:ext>
            </a:extLst>
          </p:cNvPr>
          <p:cNvSpPr/>
          <p:nvPr/>
        </p:nvSpPr>
        <p:spPr>
          <a:xfrm>
            <a:off x="5680968" y="2688524"/>
            <a:ext cx="940005"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Unified</a:t>
            </a:r>
          </a:p>
        </p:txBody>
      </p:sp>
      <p:pic>
        <p:nvPicPr>
          <p:cNvPr id="15" name="Picture 14">
            <a:extLst>
              <a:ext uri="{FF2B5EF4-FFF2-40B4-BE49-F238E27FC236}">
                <a16:creationId xmlns:a16="http://schemas.microsoft.com/office/drawing/2014/main" id="{ECB1AE63-11D1-489E-8726-E60816BF56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396" y="3238282"/>
            <a:ext cx="254083" cy="304385"/>
          </a:xfrm>
          <a:prstGeom prst="rect">
            <a:avLst/>
          </a:prstGeom>
        </p:spPr>
      </p:pic>
      <p:sp>
        <p:nvSpPr>
          <p:cNvPr id="16" name="Rectangle 15">
            <a:extLst>
              <a:ext uri="{FF2B5EF4-FFF2-40B4-BE49-F238E27FC236}">
                <a16:creationId xmlns:a16="http://schemas.microsoft.com/office/drawing/2014/main" id="{42AB8ADC-4340-4319-B0A7-A49122FD8CA5}"/>
              </a:ext>
            </a:extLst>
          </p:cNvPr>
          <p:cNvSpPr/>
          <p:nvPr/>
        </p:nvSpPr>
        <p:spPr>
          <a:xfrm>
            <a:off x="1470988" y="2338579"/>
            <a:ext cx="5337313" cy="1654458"/>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17" name="Rectangle 16">
            <a:extLst>
              <a:ext uri="{FF2B5EF4-FFF2-40B4-BE49-F238E27FC236}">
                <a16:creationId xmlns:a16="http://schemas.microsoft.com/office/drawing/2014/main" id="{10945750-5966-4D3F-9D45-06AD5C284DF8}"/>
              </a:ext>
            </a:extLst>
          </p:cNvPr>
          <p:cNvSpPr/>
          <p:nvPr/>
        </p:nvSpPr>
        <p:spPr>
          <a:xfrm>
            <a:off x="6955282" y="2678585"/>
            <a:ext cx="797237"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Services Layer</a:t>
            </a:r>
          </a:p>
        </p:txBody>
      </p:sp>
      <p:sp>
        <p:nvSpPr>
          <p:cNvPr id="18" name="Rectangle 17">
            <a:extLst>
              <a:ext uri="{FF2B5EF4-FFF2-40B4-BE49-F238E27FC236}">
                <a16:creationId xmlns:a16="http://schemas.microsoft.com/office/drawing/2014/main" id="{F6502360-2002-4791-B304-6EE9AE820BE0}"/>
              </a:ext>
            </a:extLst>
          </p:cNvPr>
          <p:cNvSpPr/>
          <p:nvPr/>
        </p:nvSpPr>
        <p:spPr>
          <a:xfrm>
            <a:off x="8128561" y="2674326"/>
            <a:ext cx="797237"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Metrics</a:t>
            </a:r>
          </a:p>
        </p:txBody>
      </p:sp>
      <p:cxnSp>
        <p:nvCxnSpPr>
          <p:cNvPr id="20" name="Straight Arrow Connector 19">
            <a:extLst>
              <a:ext uri="{FF2B5EF4-FFF2-40B4-BE49-F238E27FC236}">
                <a16:creationId xmlns:a16="http://schemas.microsoft.com/office/drawing/2014/main" id="{A51327E0-10A6-4E11-90B2-8BCB36DC0A05}"/>
              </a:ext>
            </a:extLst>
          </p:cNvPr>
          <p:cNvCxnSpPr>
            <a:cxnSpLocks/>
          </p:cNvCxnSpPr>
          <p:nvPr/>
        </p:nvCxnSpPr>
        <p:spPr>
          <a:xfrm>
            <a:off x="1140890" y="2975110"/>
            <a:ext cx="540925"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1717AEB-5533-41D5-882C-DFD963467A5D}"/>
              </a:ext>
            </a:extLst>
          </p:cNvPr>
          <p:cNvCxnSpPr>
            <a:cxnSpLocks/>
          </p:cNvCxnSpPr>
          <p:nvPr/>
        </p:nvCxnSpPr>
        <p:spPr>
          <a:xfrm>
            <a:off x="2574232" y="2975110"/>
            <a:ext cx="403292"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F03AD3-CB80-4736-AD1B-28B1601D1012}"/>
              </a:ext>
            </a:extLst>
          </p:cNvPr>
          <p:cNvCxnSpPr>
            <a:cxnSpLocks/>
          </p:cNvCxnSpPr>
          <p:nvPr/>
        </p:nvCxnSpPr>
        <p:spPr>
          <a:xfrm>
            <a:off x="3846441" y="2975110"/>
            <a:ext cx="403292"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D8261EF-8E74-4E7A-B226-0E864C4276AE}"/>
              </a:ext>
            </a:extLst>
          </p:cNvPr>
          <p:cNvCxnSpPr>
            <a:cxnSpLocks/>
          </p:cNvCxnSpPr>
          <p:nvPr/>
        </p:nvCxnSpPr>
        <p:spPr>
          <a:xfrm>
            <a:off x="2107093" y="3356932"/>
            <a:ext cx="0" cy="867189"/>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3EBBBFE-3D01-4BD2-98BB-56F9624BC1D9}"/>
              </a:ext>
            </a:extLst>
          </p:cNvPr>
          <p:cNvCxnSpPr>
            <a:cxnSpLocks/>
          </p:cNvCxnSpPr>
          <p:nvPr/>
        </p:nvCxnSpPr>
        <p:spPr>
          <a:xfrm>
            <a:off x="3389241" y="3356932"/>
            <a:ext cx="0" cy="867189"/>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18DB894-BB4F-4165-B303-D218784EB56F}"/>
              </a:ext>
            </a:extLst>
          </p:cNvPr>
          <p:cNvSpPr/>
          <p:nvPr/>
        </p:nvSpPr>
        <p:spPr>
          <a:xfrm>
            <a:off x="4329245" y="3356931"/>
            <a:ext cx="982462"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Cleansed</a:t>
            </a:r>
          </a:p>
        </p:txBody>
      </p:sp>
      <p:sp>
        <p:nvSpPr>
          <p:cNvPr id="26" name="Rectangle 25">
            <a:extLst>
              <a:ext uri="{FF2B5EF4-FFF2-40B4-BE49-F238E27FC236}">
                <a16:creationId xmlns:a16="http://schemas.microsoft.com/office/drawing/2014/main" id="{F1A1136E-03BD-46C8-90A5-3B6B92A05E0F}"/>
              </a:ext>
            </a:extLst>
          </p:cNvPr>
          <p:cNvSpPr/>
          <p:nvPr/>
        </p:nvSpPr>
        <p:spPr>
          <a:xfrm>
            <a:off x="5694067" y="3390475"/>
            <a:ext cx="940005" cy="549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rPr>
              <a:t>Published</a:t>
            </a:r>
          </a:p>
        </p:txBody>
      </p:sp>
      <p:cxnSp>
        <p:nvCxnSpPr>
          <p:cNvPr id="10" name="Connector: Elbow 9">
            <a:extLst>
              <a:ext uri="{FF2B5EF4-FFF2-40B4-BE49-F238E27FC236}">
                <a16:creationId xmlns:a16="http://schemas.microsoft.com/office/drawing/2014/main" id="{D6162BEF-F5C4-4B71-A8FC-DF495B487589}"/>
              </a:ext>
            </a:extLst>
          </p:cNvPr>
          <p:cNvCxnSpPr>
            <a:cxnSpLocks/>
            <a:stCxn id="26" idx="3"/>
            <a:endCxn id="17" idx="2"/>
          </p:cNvCxnSpPr>
          <p:nvPr/>
        </p:nvCxnSpPr>
        <p:spPr>
          <a:xfrm flipV="1">
            <a:off x="6634072" y="3227722"/>
            <a:ext cx="719829" cy="437322"/>
          </a:xfrm>
          <a:prstGeom prst="bentConnector2">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36E89FE-C2D5-4562-BEFC-48E0A735C79D}"/>
              </a:ext>
            </a:extLst>
          </p:cNvPr>
          <p:cNvCxnSpPr>
            <a:cxnSpLocks/>
          </p:cNvCxnSpPr>
          <p:nvPr/>
        </p:nvCxnSpPr>
        <p:spPr>
          <a:xfrm>
            <a:off x="5311707" y="3631500"/>
            <a:ext cx="403292"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A2A2E0-E023-4CD8-9F75-E864ACC4797D}"/>
              </a:ext>
            </a:extLst>
          </p:cNvPr>
          <p:cNvCxnSpPr>
            <a:cxnSpLocks/>
          </p:cNvCxnSpPr>
          <p:nvPr/>
        </p:nvCxnSpPr>
        <p:spPr>
          <a:xfrm>
            <a:off x="5367128" y="3018184"/>
            <a:ext cx="293962"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07FE4CF-9953-427E-9B59-0B4480F8DF1A}"/>
              </a:ext>
            </a:extLst>
          </p:cNvPr>
          <p:cNvCxnSpPr>
            <a:cxnSpLocks/>
          </p:cNvCxnSpPr>
          <p:nvPr/>
        </p:nvCxnSpPr>
        <p:spPr>
          <a:xfrm flipH="1">
            <a:off x="6213021" y="3979810"/>
            <a:ext cx="3012" cy="307982"/>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8593E54-7487-4817-8369-AB76A108C380}"/>
              </a:ext>
            </a:extLst>
          </p:cNvPr>
          <p:cNvCxnSpPr>
            <a:cxnSpLocks/>
          </p:cNvCxnSpPr>
          <p:nvPr/>
        </p:nvCxnSpPr>
        <p:spPr>
          <a:xfrm flipH="1">
            <a:off x="4766428" y="3939612"/>
            <a:ext cx="50428" cy="291609"/>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24FDF36-480F-46FB-9686-3A03DD93EB39}"/>
              </a:ext>
            </a:extLst>
          </p:cNvPr>
          <p:cNvCxnSpPr>
            <a:cxnSpLocks/>
          </p:cNvCxnSpPr>
          <p:nvPr/>
        </p:nvCxnSpPr>
        <p:spPr>
          <a:xfrm>
            <a:off x="7822093" y="2953152"/>
            <a:ext cx="293962"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EB4E849-D686-4532-908C-EF5C4DD3F5BF}"/>
              </a:ext>
            </a:extLst>
          </p:cNvPr>
          <p:cNvSpPr txBox="1"/>
          <p:nvPr/>
        </p:nvSpPr>
        <p:spPr>
          <a:xfrm>
            <a:off x="1674299" y="862167"/>
            <a:ext cx="515391" cy="307777"/>
          </a:xfrm>
          <a:prstGeom prst="rect">
            <a:avLst/>
          </a:prstGeom>
          <a:solidFill>
            <a:schemeClr val="bg2"/>
          </a:solidFill>
        </p:spPr>
        <p:txBody>
          <a:bodyPr wrap="square" rtlCol="0">
            <a:spAutoFit/>
          </a:bodyPr>
          <a:lstStyle/>
          <a:p>
            <a:pPr algn="ctr"/>
            <a:r>
              <a:rPr lang="en-IN" sz="1400" b="1" dirty="0"/>
              <a:t>50+</a:t>
            </a:r>
            <a:endParaRPr lang="en-IN" b="1" dirty="0"/>
          </a:p>
        </p:txBody>
      </p:sp>
      <p:sp>
        <p:nvSpPr>
          <p:cNvPr id="46" name="TextBox 45">
            <a:extLst>
              <a:ext uri="{FF2B5EF4-FFF2-40B4-BE49-F238E27FC236}">
                <a16:creationId xmlns:a16="http://schemas.microsoft.com/office/drawing/2014/main" id="{3343041B-848B-4C39-930C-B30BC695A01B}"/>
              </a:ext>
            </a:extLst>
          </p:cNvPr>
          <p:cNvSpPr txBox="1"/>
          <p:nvPr/>
        </p:nvSpPr>
        <p:spPr>
          <a:xfrm>
            <a:off x="2880163" y="1103256"/>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Total of. </a:t>
            </a:r>
            <a:r>
              <a:rPr lang="en-IN" sz="600" b="1" dirty="0" err="1"/>
              <a:t>deployements</a:t>
            </a:r>
            <a:endParaRPr lang="en-IN" sz="600" b="1" dirty="0"/>
          </a:p>
          <a:p>
            <a:pPr algn="ctr"/>
            <a:endParaRPr lang="en-IN" sz="600" b="1" dirty="0"/>
          </a:p>
        </p:txBody>
      </p:sp>
      <p:sp>
        <p:nvSpPr>
          <p:cNvPr id="47" name="TextBox 46">
            <a:extLst>
              <a:ext uri="{FF2B5EF4-FFF2-40B4-BE49-F238E27FC236}">
                <a16:creationId xmlns:a16="http://schemas.microsoft.com/office/drawing/2014/main" id="{0C33F836-8E4A-40FF-A27F-A2646DF5351C}"/>
              </a:ext>
            </a:extLst>
          </p:cNvPr>
          <p:cNvSpPr txBox="1"/>
          <p:nvPr/>
        </p:nvSpPr>
        <p:spPr>
          <a:xfrm>
            <a:off x="3186745" y="907690"/>
            <a:ext cx="468537" cy="307777"/>
          </a:xfrm>
          <a:prstGeom prst="rect">
            <a:avLst/>
          </a:prstGeom>
          <a:solidFill>
            <a:schemeClr val="tx1">
              <a:lumMod val="65000"/>
              <a:lumOff val="35000"/>
            </a:schemeClr>
          </a:solidFill>
        </p:spPr>
        <p:txBody>
          <a:bodyPr wrap="square" rtlCol="0">
            <a:spAutoFit/>
          </a:bodyPr>
          <a:lstStyle/>
          <a:p>
            <a:pPr algn="ctr"/>
            <a:r>
              <a:rPr lang="en-IN" sz="1400" b="1" dirty="0"/>
              <a:t>2</a:t>
            </a:r>
            <a:endParaRPr lang="en-IN" b="1" dirty="0"/>
          </a:p>
        </p:txBody>
      </p:sp>
      <p:sp>
        <p:nvSpPr>
          <p:cNvPr id="49" name="TextBox 48">
            <a:extLst>
              <a:ext uri="{FF2B5EF4-FFF2-40B4-BE49-F238E27FC236}">
                <a16:creationId xmlns:a16="http://schemas.microsoft.com/office/drawing/2014/main" id="{0A3C9F2E-652D-46C5-B002-7DFA0CAD31DF}"/>
              </a:ext>
            </a:extLst>
          </p:cNvPr>
          <p:cNvSpPr txBox="1"/>
          <p:nvPr/>
        </p:nvSpPr>
        <p:spPr>
          <a:xfrm>
            <a:off x="4320303" y="1103256"/>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Total time per </a:t>
            </a:r>
            <a:r>
              <a:rPr lang="en-IN" sz="600" b="1" dirty="0" err="1"/>
              <a:t>deployeent</a:t>
            </a:r>
            <a:r>
              <a:rPr lang="en-IN" sz="600" b="1" dirty="0"/>
              <a:t> (mins)</a:t>
            </a:r>
          </a:p>
        </p:txBody>
      </p:sp>
      <p:sp>
        <p:nvSpPr>
          <p:cNvPr id="50" name="TextBox 49">
            <a:extLst>
              <a:ext uri="{FF2B5EF4-FFF2-40B4-BE49-F238E27FC236}">
                <a16:creationId xmlns:a16="http://schemas.microsoft.com/office/drawing/2014/main" id="{23313F22-4F93-43BB-A31A-5513E5D505FA}"/>
              </a:ext>
            </a:extLst>
          </p:cNvPr>
          <p:cNvSpPr txBox="1"/>
          <p:nvPr/>
        </p:nvSpPr>
        <p:spPr>
          <a:xfrm>
            <a:off x="4626885" y="907690"/>
            <a:ext cx="468537" cy="307777"/>
          </a:xfrm>
          <a:prstGeom prst="rect">
            <a:avLst/>
          </a:prstGeom>
          <a:solidFill>
            <a:schemeClr val="accent4">
              <a:lumMod val="60000"/>
              <a:lumOff val="40000"/>
            </a:schemeClr>
          </a:solidFill>
        </p:spPr>
        <p:txBody>
          <a:bodyPr wrap="square" rtlCol="0">
            <a:spAutoFit/>
          </a:bodyPr>
          <a:lstStyle/>
          <a:p>
            <a:pPr algn="ctr"/>
            <a:r>
              <a:rPr lang="en-IN" sz="1400" b="1" dirty="0"/>
              <a:t>15</a:t>
            </a:r>
            <a:endParaRPr lang="en-IN" b="1" dirty="0"/>
          </a:p>
        </p:txBody>
      </p:sp>
      <p:sp>
        <p:nvSpPr>
          <p:cNvPr id="51" name="TextBox 50">
            <a:extLst>
              <a:ext uri="{FF2B5EF4-FFF2-40B4-BE49-F238E27FC236}">
                <a16:creationId xmlns:a16="http://schemas.microsoft.com/office/drawing/2014/main" id="{4306A6A8-F355-4170-99B9-4DC0B342CE75}"/>
              </a:ext>
            </a:extLst>
          </p:cNvPr>
          <p:cNvSpPr txBox="1"/>
          <p:nvPr/>
        </p:nvSpPr>
        <p:spPr>
          <a:xfrm>
            <a:off x="3690897" y="1747334"/>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  Total no. of python files. Of this </a:t>
            </a:r>
          </a:p>
        </p:txBody>
      </p:sp>
      <p:sp>
        <p:nvSpPr>
          <p:cNvPr id="52" name="TextBox 51">
            <a:extLst>
              <a:ext uri="{FF2B5EF4-FFF2-40B4-BE49-F238E27FC236}">
                <a16:creationId xmlns:a16="http://schemas.microsoft.com/office/drawing/2014/main" id="{5B2C4794-EAD5-4969-9F4A-C5FF85315BD6}"/>
              </a:ext>
            </a:extLst>
          </p:cNvPr>
          <p:cNvSpPr txBox="1"/>
          <p:nvPr/>
        </p:nvSpPr>
        <p:spPr>
          <a:xfrm>
            <a:off x="3997479" y="1551768"/>
            <a:ext cx="468537" cy="307777"/>
          </a:xfrm>
          <a:prstGeom prst="rect">
            <a:avLst/>
          </a:prstGeom>
          <a:solidFill>
            <a:srgbClr val="FFFF00"/>
          </a:solidFill>
        </p:spPr>
        <p:txBody>
          <a:bodyPr wrap="square" rtlCol="0">
            <a:spAutoFit/>
          </a:bodyPr>
          <a:lstStyle/>
          <a:p>
            <a:pPr algn="ctr"/>
            <a:r>
              <a:rPr lang="en-IN" sz="1400" b="1" dirty="0"/>
              <a:t>20</a:t>
            </a:r>
            <a:endParaRPr lang="en-IN" b="1" dirty="0"/>
          </a:p>
        </p:txBody>
      </p:sp>
      <p:sp>
        <p:nvSpPr>
          <p:cNvPr id="53" name="TextBox 52">
            <a:extLst>
              <a:ext uri="{FF2B5EF4-FFF2-40B4-BE49-F238E27FC236}">
                <a16:creationId xmlns:a16="http://schemas.microsoft.com/office/drawing/2014/main" id="{3019D4BB-CAF6-4AEF-AEDB-6C1DBB2C5B74}"/>
              </a:ext>
            </a:extLst>
          </p:cNvPr>
          <p:cNvSpPr txBox="1"/>
          <p:nvPr/>
        </p:nvSpPr>
        <p:spPr>
          <a:xfrm>
            <a:off x="2432859" y="1767212"/>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  Total </a:t>
            </a:r>
            <a:r>
              <a:rPr lang="en-IN" sz="600" b="1" dirty="0" err="1"/>
              <a:t>no.of</a:t>
            </a:r>
            <a:r>
              <a:rPr lang="en-IN" sz="600" b="1" dirty="0"/>
              <a:t> SQL codes</a:t>
            </a:r>
          </a:p>
          <a:p>
            <a:pPr algn="ctr"/>
            <a:endParaRPr lang="en-IN" sz="600" b="1" dirty="0"/>
          </a:p>
        </p:txBody>
      </p:sp>
      <p:sp>
        <p:nvSpPr>
          <p:cNvPr id="54" name="TextBox 53">
            <a:extLst>
              <a:ext uri="{FF2B5EF4-FFF2-40B4-BE49-F238E27FC236}">
                <a16:creationId xmlns:a16="http://schemas.microsoft.com/office/drawing/2014/main" id="{62A906D0-9F01-4591-A0EF-871959855737}"/>
              </a:ext>
            </a:extLst>
          </p:cNvPr>
          <p:cNvSpPr txBox="1"/>
          <p:nvPr/>
        </p:nvSpPr>
        <p:spPr>
          <a:xfrm>
            <a:off x="2739441" y="1571646"/>
            <a:ext cx="468537" cy="307777"/>
          </a:xfrm>
          <a:prstGeom prst="rect">
            <a:avLst/>
          </a:prstGeom>
          <a:solidFill>
            <a:schemeClr val="accent2"/>
          </a:solidFill>
        </p:spPr>
        <p:txBody>
          <a:bodyPr wrap="square" rtlCol="0">
            <a:spAutoFit/>
          </a:bodyPr>
          <a:lstStyle/>
          <a:p>
            <a:pPr algn="ctr"/>
            <a:r>
              <a:rPr lang="en-IN" sz="1400" b="1" dirty="0"/>
              <a:t>15</a:t>
            </a:r>
            <a:endParaRPr lang="en-IN" b="1" dirty="0"/>
          </a:p>
        </p:txBody>
      </p:sp>
      <p:sp>
        <p:nvSpPr>
          <p:cNvPr id="55" name="TextBox 54">
            <a:extLst>
              <a:ext uri="{FF2B5EF4-FFF2-40B4-BE49-F238E27FC236}">
                <a16:creationId xmlns:a16="http://schemas.microsoft.com/office/drawing/2014/main" id="{56FE0E7C-CF91-4FFA-9BC6-6332A14DD3B8}"/>
              </a:ext>
            </a:extLst>
          </p:cNvPr>
          <p:cNvSpPr txBox="1"/>
          <p:nvPr/>
        </p:nvSpPr>
        <p:spPr>
          <a:xfrm>
            <a:off x="5675181" y="1102449"/>
            <a:ext cx="1075531" cy="369332"/>
          </a:xfrm>
          <a:prstGeom prst="rect">
            <a:avLst/>
          </a:prstGeom>
          <a:noFill/>
          <a:ln>
            <a:solidFill>
              <a:schemeClr val="tx1"/>
            </a:solidFill>
          </a:ln>
        </p:spPr>
        <p:txBody>
          <a:bodyPr wrap="square" rtlCol="0">
            <a:spAutoFit/>
          </a:bodyPr>
          <a:lstStyle/>
          <a:p>
            <a:pPr algn="ctr"/>
            <a:endParaRPr lang="en-IN" sz="600" b="1" dirty="0"/>
          </a:p>
          <a:p>
            <a:pPr algn="ctr"/>
            <a:r>
              <a:rPr lang="en-IN" sz="600" b="1" dirty="0"/>
              <a:t>Total of. JSON files</a:t>
            </a:r>
          </a:p>
          <a:p>
            <a:pPr algn="ctr"/>
            <a:endParaRPr lang="en-IN" sz="600" b="1" dirty="0"/>
          </a:p>
        </p:txBody>
      </p:sp>
      <p:sp>
        <p:nvSpPr>
          <p:cNvPr id="56" name="TextBox 55">
            <a:extLst>
              <a:ext uri="{FF2B5EF4-FFF2-40B4-BE49-F238E27FC236}">
                <a16:creationId xmlns:a16="http://schemas.microsoft.com/office/drawing/2014/main" id="{1A76DF0D-BB35-4041-A1FB-B823797E8F10}"/>
              </a:ext>
            </a:extLst>
          </p:cNvPr>
          <p:cNvSpPr txBox="1"/>
          <p:nvPr/>
        </p:nvSpPr>
        <p:spPr>
          <a:xfrm>
            <a:off x="5981763" y="906883"/>
            <a:ext cx="468537" cy="307777"/>
          </a:xfrm>
          <a:prstGeom prst="rect">
            <a:avLst/>
          </a:prstGeom>
          <a:solidFill>
            <a:schemeClr val="accent6">
              <a:lumMod val="20000"/>
              <a:lumOff val="80000"/>
            </a:schemeClr>
          </a:solidFill>
        </p:spPr>
        <p:txBody>
          <a:bodyPr wrap="square" rtlCol="0">
            <a:spAutoFit/>
          </a:bodyPr>
          <a:lstStyle/>
          <a:p>
            <a:pPr algn="ctr"/>
            <a:r>
              <a:rPr lang="en-IN" sz="1400" b="1" dirty="0"/>
              <a:t>6</a:t>
            </a:r>
          </a:p>
        </p:txBody>
      </p:sp>
      <p:sp>
        <p:nvSpPr>
          <p:cNvPr id="57" name="TextBox 56">
            <a:extLst>
              <a:ext uri="{FF2B5EF4-FFF2-40B4-BE49-F238E27FC236}">
                <a16:creationId xmlns:a16="http://schemas.microsoft.com/office/drawing/2014/main" id="{6AA0EB73-AC27-4DDB-BD2C-5441F9E755A5}"/>
              </a:ext>
            </a:extLst>
          </p:cNvPr>
          <p:cNvSpPr txBox="1"/>
          <p:nvPr/>
        </p:nvSpPr>
        <p:spPr>
          <a:xfrm>
            <a:off x="4854911" y="1748826"/>
            <a:ext cx="1075531" cy="369332"/>
          </a:xfrm>
          <a:prstGeom prst="rect">
            <a:avLst/>
          </a:prstGeom>
          <a:noFill/>
          <a:ln>
            <a:solidFill>
              <a:schemeClr val="tx1"/>
            </a:solidFill>
          </a:ln>
        </p:spPr>
        <p:txBody>
          <a:bodyPr wrap="square" rtlCol="0">
            <a:spAutoFit/>
          </a:bodyPr>
          <a:lstStyle/>
          <a:p>
            <a:pPr algn="ctr"/>
            <a:endParaRPr lang="en-IN" sz="600" b="1" dirty="0"/>
          </a:p>
          <a:p>
            <a:pPr algn="ctr"/>
            <a:endParaRPr lang="en-IN" sz="600" b="1" dirty="0"/>
          </a:p>
          <a:p>
            <a:pPr algn="ctr"/>
            <a:r>
              <a:rPr lang="en-IN" sz="600" b="1" dirty="0"/>
              <a:t>  Total no. of </a:t>
            </a:r>
            <a:r>
              <a:rPr lang="en-IN" sz="600" b="1" dirty="0" err="1"/>
              <a:t>Dags</a:t>
            </a:r>
            <a:endParaRPr lang="en-IN" sz="600" b="1" dirty="0"/>
          </a:p>
        </p:txBody>
      </p:sp>
      <p:sp>
        <p:nvSpPr>
          <p:cNvPr id="58" name="TextBox 57">
            <a:extLst>
              <a:ext uri="{FF2B5EF4-FFF2-40B4-BE49-F238E27FC236}">
                <a16:creationId xmlns:a16="http://schemas.microsoft.com/office/drawing/2014/main" id="{53AC6F61-70E4-420D-AC46-466F746FB32E}"/>
              </a:ext>
            </a:extLst>
          </p:cNvPr>
          <p:cNvSpPr txBox="1"/>
          <p:nvPr/>
        </p:nvSpPr>
        <p:spPr>
          <a:xfrm>
            <a:off x="5161493" y="1553260"/>
            <a:ext cx="468537" cy="307777"/>
          </a:xfrm>
          <a:prstGeom prst="rect">
            <a:avLst/>
          </a:prstGeom>
          <a:solidFill>
            <a:schemeClr val="bg2"/>
          </a:solidFill>
        </p:spPr>
        <p:txBody>
          <a:bodyPr wrap="square" rtlCol="0">
            <a:spAutoFit/>
          </a:bodyPr>
          <a:lstStyle/>
          <a:p>
            <a:pPr algn="ctr"/>
            <a:r>
              <a:rPr lang="en-IN" sz="1400" b="1" dirty="0"/>
              <a:t>10</a:t>
            </a:r>
            <a:endParaRPr lang="en-IN" b="1" dirty="0"/>
          </a:p>
        </p:txBody>
      </p:sp>
      <p:grpSp>
        <p:nvGrpSpPr>
          <p:cNvPr id="59" name="Group 58">
            <a:extLst>
              <a:ext uri="{FF2B5EF4-FFF2-40B4-BE49-F238E27FC236}">
                <a16:creationId xmlns:a16="http://schemas.microsoft.com/office/drawing/2014/main" id="{1F463905-5E64-492F-81FB-39781E2C0D18}"/>
              </a:ext>
            </a:extLst>
          </p:cNvPr>
          <p:cNvGrpSpPr/>
          <p:nvPr/>
        </p:nvGrpSpPr>
        <p:grpSpPr>
          <a:xfrm>
            <a:off x="8426669" y="138787"/>
            <a:ext cx="583324" cy="565465"/>
            <a:chOff x="2871051" y="2320315"/>
            <a:chExt cx="907079" cy="868790"/>
          </a:xfrm>
        </p:grpSpPr>
        <p:sp>
          <p:nvSpPr>
            <p:cNvPr id="60" name="Shape 136">
              <a:extLst>
                <a:ext uri="{FF2B5EF4-FFF2-40B4-BE49-F238E27FC236}">
                  <a16:creationId xmlns:a16="http://schemas.microsoft.com/office/drawing/2014/main" id="{91BE9B06-C339-4636-B06C-24A717731566}"/>
                </a:ext>
              </a:extLst>
            </p:cNvPr>
            <p:cNvSpPr/>
            <p:nvPr/>
          </p:nvSpPr>
          <p:spPr>
            <a:xfrm>
              <a:off x="2871051" y="2320315"/>
              <a:ext cx="907079" cy="868790"/>
            </a:xfrm>
            <a:prstGeom prst="ellipse">
              <a:avLst/>
            </a:prstGeom>
            <a:solidFill>
              <a:srgbClr val="0063C3">
                <a:alpha val="8900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61" name="Shape 137">
              <a:extLst>
                <a:ext uri="{FF2B5EF4-FFF2-40B4-BE49-F238E27FC236}">
                  <a16:creationId xmlns:a16="http://schemas.microsoft.com/office/drawing/2014/main" id="{0AFDA563-DBC5-42A2-BD34-A5A667D1889F}"/>
                </a:ext>
              </a:extLst>
            </p:cNvPr>
            <p:cNvSpPr txBox="1"/>
            <p:nvPr/>
          </p:nvSpPr>
          <p:spPr>
            <a:xfrm>
              <a:off x="2906394" y="243425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Framework</a:t>
              </a:r>
            </a:p>
            <a:p>
              <a:pPr algn="ctr">
                <a:lnSpc>
                  <a:spcPct val="90000"/>
                </a:lnSpc>
                <a:buClr>
                  <a:srgbClr val="000000"/>
                </a:buClr>
                <a:buSzPts val="2400"/>
              </a:pPr>
              <a:r>
                <a:rPr lang="en-US" sz="800" dirty="0">
                  <a:solidFill>
                    <a:schemeClr val="bg1"/>
                  </a:solidFill>
                </a:rPr>
                <a:t>Design </a:t>
              </a:r>
              <a:endParaRPr sz="800" dirty="0">
                <a:solidFill>
                  <a:schemeClr val="bg1"/>
                </a:solidFill>
              </a:endParaRPr>
            </a:p>
          </p:txBody>
        </p:sp>
      </p:grpSp>
      <p:sp>
        <p:nvSpPr>
          <p:cNvPr id="4" name="Oval 3">
            <a:extLst>
              <a:ext uri="{FF2B5EF4-FFF2-40B4-BE49-F238E27FC236}">
                <a16:creationId xmlns:a16="http://schemas.microsoft.com/office/drawing/2014/main" id="{93E2DFD1-15B9-4A44-9398-37205A4C8539}"/>
              </a:ext>
            </a:extLst>
          </p:cNvPr>
          <p:cNvSpPr/>
          <p:nvPr/>
        </p:nvSpPr>
        <p:spPr>
          <a:xfrm>
            <a:off x="1655960" y="2625173"/>
            <a:ext cx="173736" cy="173205"/>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2" name="Oval 61">
            <a:extLst>
              <a:ext uri="{FF2B5EF4-FFF2-40B4-BE49-F238E27FC236}">
                <a16:creationId xmlns:a16="http://schemas.microsoft.com/office/drawing/2014/main" id="{B6155076-9FBA-466A-9865-5AA5A7AB8164}"/>
              </a:ext>
            </a:extLst>
          </p:cNvPr>
          <p:cNvSpPr/>
          <p:nvPr/>
        </p:nvSpPr>
        <p:spPr>
          <a:xfrm>
            <a:off x="5623405" y="2614886"/>
            <a:ext cx="173736" cy="173205"/>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3" name="Oval 62">
            <a:extLst>
              <a:ext uri="{FF2B5EF4-FFF2-40B4-BE49-F238E27FC236}">
                <a16:creationId xmlns:a16="http://schemas.microsoft.com/office/drawing/2014/main" id="{899D223B-5E61-4747-8995-3B6C89ADA649}"/>
              </a:ext>
            </a:extLst>
          </p:cNvPr>
          <p:cNvSpPr/>
          <p:nvPr/>
        </p:nvSpPr>
        <p:spPr>
          <a:xfrm>
            <a:off x="2924045" y="2625173"/>
            <a:ext cx="173736" cy="173205"/>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4" name="Oval 63">
            <a:extLst>
              <a:ext uri="{FF2B5EF4-FFF2-40B4-BE49-F238E27FC236}">
                <a16:creationId xmlns:a16="http://schemas.microsoft.com/office/drawing/2014/main" id="{1D0E7203-72FF-43F6-9F28-F2FCB1D89E22}"/>
              </a:ext>
            </a:extLst>
          </p:cNvPr>
          <p:cNvSpPr/>
          <p:nvPr/>
        </p:nvSpPr>
        <p:spPr>
          <a:xfrm>
            <a:off x="6906603" y="2625173"/>
            <a:ext cx="173736" cy="173205"/>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5" name="Oval 64">
            <a:extLst>
              <a:ext uri="{FF2B5EF4-FFF2-40B4-BE49-F238E27FC236}">
                <a16:creationId xmlns:a16="http://schemas.microsoft.com/office/drawing/2014/main" id="{8F019793-4BD1-4A70-8EB0-16C94AF0A531}"/>
              </a:ext>
            </a:extLst>
          </p:cNvPr>
          <p:cNvSpPr/>
          <p:nvPr/>
        </p:nvSpPr>
        <p:spPr>
          <a:xfrm>
            <a:off x="7665651" y="4465913"/>
            <a:ext cx="173736" cy="173205"/>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 name="TextBox 4">
            <a:extLst>
              <a:ext uri="{FF2B5EF4-FFF2-40B4-BE49-F238E27FC236}">
                <a16:creationId xmlns:a16="http://schemas.microsoft.com/office/drawing/2014/main" id="{10CFAE8B-33FD-4150-94AC-1F5C35A949E0}"/>
              </a:ext>
            </a:extLst>
          </p:cNvPr>
          <p:cNvSpPr txBox="1"/>
          <p:nvPr/>
        </p:nvSpPr>
        <p:spPr>
          <a:xfrm>
            <a:off x="7822092" y="4400208"/>
            <a:ext cx="1282669" cy="307777"/>
          </a:xfrm>
          <a:prstGeom prst="rect">
            <a:avLst/>
          </a:prstGeom>
          <a:noFill/>
        </p:spPr>
        <p:txBody>
          <a:bodyPr wrap="square" rtlCol="0">
            <a:spAutoFit/>
          </a:bodyPr>
          <a:lstStyle/>
          <a:p>
            <a:r>
              <a:rPr lang="en-IN" sz="700" b="1" dirty="0"/>
              <a:t>Significant scope </a:t>
            </a:r>
            <a:r>
              <a:rPr lang="en-IN" sz="700" b="1"/>
              <a:t>for optimization</a:t>
            </a:r>
            <a:endParaRPr lang="en-IN" sz="700" b="1" dirty="0"/>
          </a:p>
        </p:txBody>
      </p:sp>
      <p:sp>
        <p:nvSpPr>
          <p:cNvPr id="66" name="TextBox 65">
            <a:extLst>
              <a:ext uri="{FF2B5EF4-FFF2-40B4-BE49-F238E27FC236}">
                <a16:creationId xmlns:a16="http://schemas.microsoft.com/office/drawing/2014/main" id="{2D39C330-8A88-49E9-9795-3CA039BAB9F7}"/>
              </a:ext>
            </a:extLst>
          </p:cNvPr>
          <p:cNvSpPr txBox="1"/>
          <p:nvPr/>
        </p:nvSpPr>
        <p:spPr>
          <a:xfrm>
            <a:off x="7194666" y="954682"/>
            <a:ext cx="1807717" cy="307777"/>
          </a:xfrm>
          <a:prstGeom prst="rect">
            <a:avLst/>
          </a:prstGeom>
          <a:solidFill>
            <a:schemeClr val="accent3"/>
          </a:solidFill>
        </p:spPr>
        <p:txBody>
          <a:bodyPr wrap="square" rtlCol="0">
            <a:spAutoFit/>
          </a:bodyPr>
          <a:lstStyle/>
          <a:p>
            <a:r>
              <a:rPr lang="en-IN" sz="700" b="1" dirty="0"/>
              <a:t>Numbers are based on Trial Card &amp; XSUNT load experience</a:t>
            </a:r>
          </a:p>
        </p:txBody>
      </p:sp>
      <p:sp>
        <p:nvSpPr>
          <p:cNvPr id="67" name="Rectangle 66">
            <a:extLst>
              <a:ext uri="{FF2B5EF4-FFF2-40B4-BE49-F238E27FC236}">
                <a16:creationId xmlns:a16="http://schemas.microsoft.com/office/drawing/2014/main" id="{9160A9DC-32AA-40F2-A03A-5217B5CFF74C}"/>
              </a:ext>
            </a:extLst>
          </p:cNvPr>
          <p:cNvSpPr/>
          <p:nvPr/>
        </p:nvSpPr>
        <p:spPr>
          <a:xfrm>
            <a:off x="215533" y="762873"/>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8" name="TextBox 67">
            <a:extLst>
              <a:ext uri="{FF2B5EF4-FFF2-40B4-BE49-F238E27FC236}">
                <a16:creationId xmlns:a16="http://schemas.microsoft.com/office/drawing/2014/main" id="{D4A68CE4-4DD4-4D1A-8E08-9E3C36125D3D}"/>
              </a:ext>
            </a:extLst>
          </p:cNvPr>
          <p:cNvSpPr txBox="1"/>
          <p:nvPr/>
        </p:nvSpPr>
        <p:spPr>
          <a:xfrm>
            <a:off x="1622178" y="4287792"/>
            <a:ext cx="1499294" cy="630942"/>
          </a:xfrm>
          <a:prstGeom prst="rect">
            <a:avLst/>
          </a:prstGeom>
          <a:noFill/>
        </p:spPr>
        <p:txBody>
          <a:bodyPr wrap="square" rtlCol="0">
            <a:spAutoFit/>
          </a:bodyPr>
          <a:lstStyle/>
          <a:p>
            <a:r>
              <a:rPr lang="en-IN" sz="700" b="1" dirty="0"/>
              <a:t>20 parameters</a:t>
            </a:r>
          </a:p>
          <a:p>
            <a:r>
              <a:rPr lang="en-IN" sz="700" b="1" dirty="0"/>
              <a:t>3 JSON </a:t>
            </a:r>
          </a:p>
          <a:p>
            <a:r>
              <a:rPr lang="en-IN" sz="700" b="1" dirty="0"/>
              <a:t>10 Python Files</a:t>
            </a:r>
          </a:p>
          <a:p>
            <a:r>
              <a:rPr lang="en-IN" sz="700" b="1" dirty="0"/>
              <a:t>1 sub </a:t>
            </a:r>
            <a:r>
              <a:rPr lang="en-IN" sz="700" b="1" dirty="0" err="1"/>
              <a:t>dag</a:t>
            </a:r>
            <a:endParaRPr lang="en-IN" sz="700" b="1" dirty="0"/>
          </a:p>
          <a:p>
            <a:endParaRPr lang="en-IN" sz="700" b="1" dirty="0"/>
          </a:p>
        </p:txBody>
      </p:sp>
      <p:sp>
        <p:nvSpPr>
          <p:cNvPr id="69" name="TextBox 68">
            <a:extLst>
              <a:ext uri="{FF2B5EF4-FFF2-40B4-BE49-F238E27FC236}">
                <a16:creationId xmlns:a16="http://schemas.microsoft.com/office/drawing/2014/main" id="{5702529D-5F45-44A8-87CE-C5E42B7D2503}"/>
              </a:ext>
            </a:extLst>
          </p:cNvPr>
          <p:cNvSpPr txBox="1"/>
          <p:nvPr/>
        </p:nvSpPr>
        <p:spPr>
          <a:xfrm>
            <a:off x="3225994" y="4306234"/>
            <a:ext cx="1425509" cy="523220"/>
          </a:xfrm>
          <a:prstGeom prst="rect">
            <a:avLst/>
          </a:prstGeom>
          <a:noFill/>
        </p:spPr>
        <p:txBody>
          <a:bodyPr wrap="square" rtlCol="0">
            <a:spAutoFit/>
          </a:bodyPr>
          <a:lstStyle/>
          <a:p>
            <a:r>
              <a:rPr lang="en-IN" sz="700" b="1" dirty="0"/>
              <a:t>2 SQL Codes</a:t>
            </a:r>
          </a:p>
          <a:p>
            <a:r>
              <a:rPr lang="en-IN" sz="700" b="1" dirty="0"/>
              <a:t>5 parameters</a:t>
            </a:r>
          </a:p>
          <a:p>
            <a:r>
              <a:rPr lang="en-IN" sz="700" b="1" dirty="0"/>
              <a:t>3 JSON</a:t>
            </a:r>
          </a:p>
          <a:p>
            <a:endParaRPr lang="en-IN" sz="700" b="1" dirty="0"/>
          </a:p>
        </p:txBody>
      </p:sp>
      <p:sp>
        <p:nvSpPr>
          <p:cNvPr id="70" name="TextBox 69">
            <a:extLst>
              <a:ext uri="{FF2B5EF4-FFF2-40B4-BE49-F238E27FC236}">
                <a16:creationId xmlns:a16="http://schemas.microsoft.com/office/drawing/2014/main" id="{E026C8D8-0A0B-4AD4-9931-5B442FDC7FB2}"/>
              </a:ext>
            </a:extLst>
          </p:cNvPr>
          <p:cNvSpPr txBox="1"/>
          <p:nvPr/>
        </p:nvSpPr>
        <p:spPr>
          <a:xfrm>
            <a:off x="4547901" y="4154854"/>
            <a:ext cx="1425509" cy="738664"/>
          </a:xfrm>
          <a:prstGeom prst="rect">
            <a:avLst/>
          </a:prstGeom>
          <a:noFill/>
        </p:spPr>
        <p:txBody>
          <a:bodyPr wrap="square" rtlCol="0">
            <a:spAutoFit/>
          </a:bodyPr>
          <a:lstStyle/>
          <a:p>
            <a:r>
              <a:rPr lang="en-IN" sz="700" b="1" dirty="0"/>
              <a:t>2 SQL Codes</a:t>
            </a:r>
          </a:p>
          <a:p>
            <a:r>
              <a:rPr lang="en-IN" sz="700" b="1" dirty="0"/>
              <a:t>30 parameters</a:t>
            </a:r>
          </a:p>
          <a:p>
            <a:r>
              <a:rPr lang="en-IN" sz="700" b="1" dirty="0"/>
              <a:t>3 JSON</a:t>
            </a:r>
          </a:p>
          <a:p>
            <a:r>
              <a:rPr lang="en-IN" sz="700" b="1" dirty="0"/>
              <a:t>4 sub </a:t>
            </a:r>
            <a:r>
              <a:rPr lang="en-IN" sz="700" b="1" dirty="0" err="1"/>
              <a:t>dags</a:t>
            </a:r>
            <a:endParaRPr lang="en-IN" sz="700" b="1" dirty="0"/>
          </a:p>
          <a:p>
            <a:r>
              <a:rPr lang="en-IN" sz="700" b="1" dirty="0"/>
              <a:t>4 python files</a:t>
            </a:r>
          </a:p>
          <a:p>
            <a:endParaRPr lang="en-IN" sz="700" b="1" dirty="0"/>
          </a:p>
        </p:txBody>
      </p:sp>
      <p:sp>
        <p:nvSpPr>
          <p:cNvPr id="71" name="TextBox 70">
            <a:extLst>
              <a:ext uri="{FF2B5EF4-FFF2-40B4-BE49-F238E27FC236}">
                <a16:creationId xmlns:a16="http://schemas.microsoft.com/office/drawing/2014/main" id="{0B4B4FBC-0D3F-4D9B-9BC6-00D5C5EAB1E8}"/>
              </a:ext>
            </a:extLst>
          </p:cNvPr>
          <p:cNvSpPr txBox="1"/>
          <p:nvPr/>
        </p:nvSpPr>
        <p:spPr>
          <a:xfrm>
            <a:off x="6012811" y="4243743"/>
            <a:ext cx="1425509" cy="630942"/>
          </a:xfrm>
          <a:prstGeom prst="rect">
            <a:avLst/>
          </a:prstGeom>
          <a:noFill/>
        </p:spPr>
        <p:txBody>
          <a:bodyPr wrap="square" rtlCol="0">
            <a:spAutoFit/>
          </a:bodyPr>
          <a:lstStyle/>
          <a:p>
            <a:r>
              <a:rPr lang="en-IN" sz="700" b="1" dirty="0"/>
              <a:t>2 SQL Codes</a:t>
            </a:r>
          </a:p>
          <a:p>
            <a:r>
              <a:rPr lang="en-IN" sz="700" b="1" dirty="0"/>
              <a:t>5 parameters</a:t>
            </a:r>
          </a:p>
          <a:p>
            <a:r>
              <a:rPr lang="en-IN" sz="700" b="1" dirty="0"/>
              <a:t>3 JSON</a:t>
            </a:r>
          </a:p>
          <a:p>
            <a:r>
              <a:rPr lang="en-IN" sz="700" b="1" dirty="0"/>
              <a:t>1 sub </a:t>
            </a:r>
            <a:r>
              <a:rPr lang="en-IN" sz="700" b="1" dirty="0" err="1"/>
              <a:t>dag</a:t>
            </a:r>
            <a:endParaRPr lang="en-IN" sz="700" b="1" dirty="0"/>
          </a:p>
          <a:p>
            <a:endParaRPr lang="en-IN" sz="700" b="1" dirty="0"/>
          </a:p>
        </p:txBody>
      </p:sp>
      <p:sp>
        <p:nvSpPr>
          <p:cNvPr id="72" name="TextBox 71">
            <a:extLst>
              <a:ext uri="{FF2B5EF4-FFF2-40B4-BE49-F238E27FC236}">
                <a16:creationId xmlns:a16="http://schemas.microsoft.com/office/drawing/2014/main" id="{0460DE7B-271F-4860-AD9D-EC4A5AB9F1BF}"/>
              </a:ext>
            </a:extLst>
          </p:cNvPr>
          <p:cNvSpPr txBox="1"/>
          <p:nvPr/>
        </p:nvSpPr>
        <p:spPr>
          <a:xfrm>
            <a:off x="7736642" y="3446383"/>
            <a:ext cx="1425509" cy="630942"/>
          </a:xfrm>
          <a:prstGeom prst="rect">
            <a:avLst/>
          </a:prstGeom>
          <a:noFill/>
        </p:spPr>
        <p:txBody>
          <a:bodyPr wrap="square" rtlCol="0">
            <a:spAutoFit/>
          </a:bodyPr>
          <a:lstStyle/>
          <a:p>
            <a:r>
              <a:rPr lang="en-IN" sz="700" b="1" dirty="0"/>
              <a:t>2 SQL Codes</a:t>
            </a:r>
          </a:p>
          <a:p>
            <a:r>
              <a:rPr lang="en-IN" sz="700" b="1" dirty="0"/>
              <a:t>5 parameters</a:t>
            </a:r>
          </a:p>
          <a:p>
            <a:r>
              <a:rPr lang="en-IN" sz="700" b="1" dirty="0"/>
              <a:t>3 JSON</a:t>
            </a:r>
          </a:p>
          <a:p>
            <a:r>
              <a:rPr lang="en-IN" sz="700" b="1" dirty="0"/>
              <a:t>1 sub </a:t>
            </a:r>
            <a:r>
              <a:rPr lang="en-IN" sz="700" b="1" dirty="0" err="1"/>
              <a:t>dag</a:t>
            </a:r>
            <a:endParaRPr lang="en-IN" sz="700" b="1" dirty="0"/>
          </a:p>
          <a:p>
            <a:endParaRPr lang="en-IN" sz="700" b="1" dirty="0"/>
          </a:p>
        </p:txBody>
      </p:sp>
      <p:pic>
        <p:nvPicPr>
          <p:cNvPr id="73" name="Picture 72">
            <a:extLst>
              <a:ext uri="{FF2B5EF4-FFF2-40B4-BE49-F238E27FC236}">
                <a16:creationId xmlns:a16="http://schemas.microsoft.com/office/drawing/2014/main" id="{ED59B28B-C910-4E50-AA67-B0FFCEB3F0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V="1">
            <a:off x="1378065" y="4574387"/>
            <a:ext cx="274320" cy="274320"/>
          </a:xfrm>
          <a:prstGeom prst="rect">
            <a:avLst/>
          </a:prstGeom>
          <a:noFill/>
          <a:ln>
            <a:noFill/>
          </a:ln>
        </p:spPr>
      </p:pic>
      <p:pic>
        <p:nvPicPr>
          <p:cNvPr id="74" name="Picture 73" descr="A close up of a logo&#10;&#10;Description generated with very high confidence">
            <a:extLst>
              <a:ext uri="{FF2B5EF4-FFF2-40B4-BE49-F238E27FC236}">
                <a16:creationId xmlns:a16="http://schemas.microsoft.com/office/drawing/2014/main" id="{206BD258-4FEF-4476-8106-6C92477D64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8851" y="4304956"/>
            <a:ext cx="274320" cy="274320"/>
          </a:xfrm>
          <a:prstGeom prst="rect">
            <a:avLst/>
          </a:prstGeom>
          <a:noFill/>
          <a:ln>
            <a:noFill/>
          </a:ln>
        </p:spPr>
      </p:pic>
      <p:pic>
        <p:nvPicPr>
          <p:cNvPr id="75" name="Picture 74" descr="A close up of a logo&#10;&#10;Description generated with very high confidence">
            <a:extLst>
              <a:ext uri="{FF2B5EF4-FFF2-40B4-BE49-F238E27FC236}">
                <a16:creationId xmlns:a16="http://schemas.microsoft.com/office/drawing/2014/main" id="{41ED5D85-3905-4DF1-BA43-5C701DF0F0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23148" y="4387356"/>
            <a:ext cx="274320" cy="274320"/>
          </a:xfrm>
          <a:prstGeom prst="rect">
            <a:avLst/>
          </a:prstGeom>
          <a:noFill/>
          <a:ln>
            <a:noFill/>
          </a:ln>
        </p:spPr>
      </p:pic>
      <p:pic>
        <p:nvPicPr>
          <p:cNvPr id="76" name="Picture 75" descr="A close up of a logo&#10;&#10;Description generated with very high confidence">
            <a:extLst>
              <a:ext uri="{FF2B5EF4-FFF2-40B4-BE49-F238E27FC236}">
                <a16:creationId xmlns:a16="http://schemas.microsoft.com/office/drawing/2014/main" id="{950A9E7E-C596-4242-9B5D-BE2C56C2EF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565" y="4311310"/>
            <a:ext cx="274320" cy="274320"/>
          </a:xfrm>
          <a:prstGeom prst="rect">
            <a:avLst/>
          </a:prstGeom>
          <a:noFill/>
          <a:ln>
            <a:noFill/>
          </a:ln>
        </p:spPr>
      </p:pic>
      <p:pic>
        <p:nvPicPr>
          <p:cNvPr id="77" name="Picture 76">
            <a:extLst>
              <a:ext uri="{FF2B5EF4-FFF2-40B4-BE49-F238E27FC236}">
                <a16:creationId xmlns:a16="http://schemas.microsoft.com/office/drawing/2014/main" id="{59EAC69F-632D-4661-B1A5-E05DEF7E52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V="1">
            <a:off x="4333948" y="4588616"/>
            <a:ext cx="274320" cy="274320"/>
          </a:xfrm>
          <a:prstGeom prst="rect">
            <a:avLst/>
          </a:prstGeom>
          <a:noFill/>
          <a:ln>
            <a:noFill/>
          </a:ln>
        </p:spPr>
      </p:pic>
      <p:pic>
        <p:nvPicPr>
          <p:cNvPr id="78" name="Picture 77" descr="A close up of a logo&#10;&#10;Description generated with very high confidence">
            <a:extLst>
              <a:ext uri="{FF2B5EF4-FFF2-40B4-BE49-F238E27FC236}">
                <a16:creationId xmlns:a16="http://schemas.microsoft.com/office/drawing/2014/main" id="{199447E0-E3E8-4060-9F6A-550A5D5AD5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80779" y="4538355"/>
            <a:ext cx="274320" cy="274320"/>
          </a:xfrm>
          <a:prstGeom prst="rect">
            <a:avLst/>
          </a:prstGeom>
          <a:noFill/>
          <a:ln>
            <a:noFill/>
          </a:ln>
        </p:spPr>
      </p:pic>
      <p:pic>
        <p:nvPicPr>
          <p:cNvPr id="79" name="Picture 78" descr="A close up of a logo&#10;&#10;Description generated with very high confidence">
            <a:extLst>
              <a:ext uri="{FF2B5EF4-FFF2-40B4-BE49-F238E27FC236}">
                <a16:creationId xmlns:a16="http://schemas.microsoft.com/office/drawing/2014/main" id="{ABB3D356-E045-40EC-AD3A-59A8EE9EBA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5784" y="3754063"/>
            <a:ext cx="274320" cy="274320"/>
          </a:xfrm>
          <a:prstGeom prst="rect">
            <a:avLst/>
          </a:prstGeom>
          <a:noFill/>
          <a:ln>
            <a:noFill/>
          </a:ln>
        </p:spPr>
      </p:pic>
      <p:pic>
        <p:nvPicPr>
          <p:cNvPr id="80" name="Picture 79">
            <a:extLst>
              <a:ext uri="{FF2B5EF4-FFF2-40B4-BE49-F238E27FC236}">
                <a16:creationId xmlns:a16="http://schemas.microsoft.com/office/drawing/2014/main" id="{C6B083AE-F142-4412-9020-C72EC18C06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82854" y="4245241"/>
            <a:ext cx="274320" cy="274320"/>
          </a:xfrm>
          <a:prstGeom prst="rect">
            <a:avLst/>
          </a:prstGeom>
          <a:noFill/>
          <a:ln>
            <a:noFill/>
          </a:ln>
        </p:spPr>
      </p:pic>
      <p:pic>
        <p:nvPicPr>
          <p:cNvPr id="81" name="Picture 80">
            <a:extLst>
              <a:ext uri="{FF2B5EF4-FFF2-40B4-BE49-F238E27FC236}">
                <a16:creationId xmlns:a16="http://schemas.microsoft.com/office/drawing/2014/main" id="{71C6BDED-1D50-4BB5-8E3F-F601360DD3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8320" y="3450492"/>
            <a:ext cx="274320" cy="274320"/>
          </a:xfrm>
          <a:prstGeom prst="rect">
            <a:avLst/>
          </a:prstGeom>
          <a:noFill/>
          <a:ln>
            <a:noFill/>
          </a:ln>
        </p:spPr>
      </p:pic>
      <p:sp>
        <p:nvSpPr>
          <p:cNvPr id="82" name="TextBox 81">
            <a:extLst>
              <a:ext uri="{FF2B5EF4-FFF2-40B4-BE49-F238E27FC236}">
                <a16:creationId xmlns:a16="http://schemas.microsoft.com/office/drawing/2014/main" id="{8B2A936F-A0AB-4768-9AE8-8565953A7CB5}"/>
              </a:ext>
            </a:extLst>
          </p:cNvPr>
          <p:cNvSpPr txBox="1"/>
          <p:nvPr/>
        </p:nvSpPr>
        <p:spPr>
          <a:xfrm>
            <a:off x="6372570" y="1843154"/>
            <a:ext cx="1425509" cy="630942"/>
          </a:xfrm>
          <a:prstGeom prst="rect">
            <a:avLst/>
          </a:prstGeom>
          <a:noFill/>
        </p:spPr>
        <p:txBody>
          <a:bodyPr wrap="square" rtlCol="0">
            <a:spAutoFit/>
          </a:bodyPr>
          <a:lstStyle/>
          <a:p>
            <a:r>
              <a:rPr lang="en-IN" sz="700" b="1" dirty="0"/>
              <a:t>2 SQL Codes</a:t>
            </a:r>
          </a:p>
          <a:p>
            <a:r>
              <a:rPr lang="en-IN" sz="700" b="1" dirty="0"/>
              <a:t>5 parameters</a:t>
            </a:r>
          </a:p>
          <a:p>
            <a:r>
              <a:rPr lang="en-IN" sz="700" b="1" dirty="0"/>
              <a:t>3 JSON</a:t>
            </a:r>
          </a:p>
          <a:p>
            <a:r>
              <a:rPr lang="en-IN" sz="700" b="1" dirty="0"/>
              <a:t>1 sub </a:t>
            </a:r>
            <a:r>
              <a:rPr lang="en-IN" sz="700" b="1" dirty="0" err="1"/>
              <a:t>dag</a:t>
            </a:r>
            <a:endParaRPr lang="en-IN" sz="700" b="1" dirty="0"/>
          </a:p>
          <a:p>
            <a:endParaRPr lang="en-IN" sz="700" b="1" dirty="0"/>
          </a:p>
        </p:txBody>
      </p:sp>
      <p:cxnSp>
        <p:nvCxnSpPr>
          <p:cNvPr id="83" name="Connector: Elbow 9">
            <a:extLst>
              <a:ext uri="{FF2B5EF4-FFF2-40B4-BE49-F238E27FC236}">
                <a16:creationId xmlns:a16="http://schemas.microsoft.com/office/drawing/2014/main" id="{D6162BEF-F5C4-4B71-A8FC-DF495B487589}"/>
              </a:ext>
            </a:extLst>
          </p:cNvPr>
          <p:cNvCxnSpPr>
            <a:cxnSpLocks/>
          </p:cNvCxnSpPr>
          <p:nvPr/>
        </p:nvCxnSpPr>
        <p:spPr>
          <a:xfrm rot="5400000" flipH="1" flipV="1">
            <a:off x="5350711" y="1637058"/>
            <a:ext cx="516262" cy="1576732"/>
          </a:xfrm>
          <a:prstGeom prst="bentConnector2">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4" name="Picture 83">
            <a:extLst>
              <a:ext uri="{FF2B5EF4-FFF2-40B4-BE49-F238E27FC236}">
                <a16:creationId xmlns:a16="http://schemas.microsoft.com/office/drawing/2014/main" id="{700545A3-3CBC-4F64-89C8-1B8688C7F4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39135" y="1972435"/>
            <a:ext cx="274320" cy="274320"/>
          </a:xfrm>
          <a:prstGeom prst="rect">
            <a:avLst/>
          </a:prstGeom>
          <a:noFill/>
          <a:ln>
            <a:noFill/>
          </a:ln>
        </p:spPr>
      </p:pic>
      <p:sp>
        <p:nvSpPr>
          <p:cNvPr id="85" name="TextBox 84"/>
          <p:cNvSpPr txBox="1"/>
          <p:nvPr/>
        </p:nvSpPr>
        <p:spPr>
          <a:xfrm>
            <a:off x="7575480" y="4231221"/>
            <a:ext cx="550151" cy="215444"/>
          </a:xfrm>
          <a:prstGeom prst="rect">
            <a:avLst/>
          </a:prstGeom>
          <a:noFill/>
        </p:spPr>
        <p:txBody>
          <a:bodyPr wrap="none" rtlCol="0">
            <a:spAutoFit/>
          </a:bodyPr>
          <a:lstStyle/>
          <a:p>
            <a:r>
              <a:rPr lang="en-US" sz="800" b="1" u="sng" dirty="0"/>
              <a:t>Legend</a:t>
            </a:r>
          </a:p>
        </p:txBody>
      </p:sp>
    </p:spTree>
    <p:extLst>
      <p:ext uri="{BB962C8B-B14F-4D97-AF65-F5344CB8AC3E}">
        <p14:creationId xmlns:p14="http://schemas.microsoft.com/office/powerpoint/2010/main" val="11868955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5">
            <a:extLst>
              <a:ext uri="{FF2B5EF4-FFF2-40B4-BE49-F238E27FC236}">
                <a16:creationId xmlns:a16="http://schemas.microsoft.com/office/drawing/2014/main" id="{79B828D4-57EE-4745-8D2A-9FF65F87E00A}"/>
              </a:ext>
            </a:extLst>
          </p:cNvPr>
          <p:cNvSpPr txBox="1">
            <a:spLocks/>
          </p:cNvSpPr>
          <p:nvPr/>
        </p:nvSpPr>
        <p:spPr>
          <a:xfrm>
            <a:off x="218962" y="303936"/>
            <a:ext cx="6689838" cy="400110"/>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a:t>Framework design  </a:t>
            </a:r>
            <a:r>
              <a:rPr lang="en-IN" sz="2000" dirty="0"/>
              <a:t>related Observations (1/2)</a:t>
            </a:r>
          </a:p>
        </p:txBody>
      </p:sp>
      <p:sp>
        <p:nvSpPr>
          <p:cNvPr id="6" name="Rectangle 5">
            <a:extLst>
              <a:ext uri="{FF2B5EF4-FFF2-40B4-BE49-F238E27FC236}">
                <a16:creationId xmlns:a16="http://schemas.microsoft.com/office/drawing/2014/main" id="{9160A9DC-32AA-40F2-A03A-5217B5CFF74C}"/>
              </a:ext>
            </a:extLst>
          </p:cNvPr>
          <p:cNvSpPr/>
          <p:nvPr/>
        </p:nvSpPr>
        <p:spPr>
          <a:xfrm>
            <a:off x="218963" y="708320"/>
            <a:ext cx="8645540" cy="5217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2" name="Rectangle 61"/>
          <p:cNvSpPr/>
          <p:nvPr/>
        </p:nvSpPr>
        <p:spPr>
          <a:xfrm>
            <a:off x="226106" y="1151907"/>
            <a:ext cx="4333159" cy="2287896"/>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900" b="1" u="sng" dirty="0" err="1">
                <a:solidFill>
                  <a:schemeClr val="tx1"/>
                </a:solidFill>
              </a:rPr>
              <a:t>Consisent</a:t>
            </a:r>
            <a:r>
              <a:rPr lang="en-IN" sz="900" b="1" u="sng" dirty="0">
                <a:solidFill>
                  <a:schemeClr val="tx1"/>
                </a:solidFill>
              </a:rPr>
              <a:t> with Industry</a:t>
            </a:r>
          </a:p>
          <a:p>
            <a:pPr marL="285750" indent="-285750">
              <a:buFont typeface="Arial" panose="020B0604020202020204" pitchFamily="34" charset="0"/>
              <a:buChar char="•"/>
            </a:pPr>
            <a:r>
              <a:rPr lang="en-US" sz="900" dirty="0">
                <a:solidFill>
                  <a:schemeClr val="tx1"/>
                </a:solidFill>
              </a:rPr>
              <a:t>The standardization of CDL leveraging multiple zones and </a:t>
            </a:r>
            <a:r>
              <a:rPr lang="en-US" sz="900" dirty="0" err="1">
                <a:solidFill>
                  <a:schemeClr val="tx1"/>
                </a:solidFill>
              </a:rPr>
              <a:t>configuratoin</a:t>
            </a:r>
            <a:r>
              <a:rPr lang="en-US" sz="900" dirty="0">
                <a:solidFill>
                  <a:schemeClr val="tx1"/>
                </a:solidFill>
              </a:rPr>
              <a:t> is available.</a:t>
            </a:r>
          </a:p>
          <a:p>
            <a:pPr marL="285750" indent="-285750">
              <a:buFont typeface="Arial" panose="020B0604020202020204" pitchFamily="34" charset="0"/>
              <a:buChar char="•"/>
            </a:pPr>
            <a:r>
              <a:rPr lang="en-US" sz="900" dirty="0">
                <a:solidFill>
                  <a:schemeClr val="tx1"/>
                </a:solidFill>
              </a:rPr>
              <a:t>Data Quality is performed as part of the Process</a:t>
            </a:r>
            <a:endParaRPr lang="en-US" sz="1000" dirty="0">
              <a:solidFill>
                <a:schemeClr val="tx1"/>
              </a:solidFill>
            </a:endParaRPr>
          </a:p>
          <a:p>
            <a:r>
              <a:rPr lang="en-IN" sz="1100" b="1" u="sng" dirty="0">
                <a:solidFill>
                  <a:schemeClr val="tx1"/>
                </a:solidFill>
                <a:latin typeface="+mj-lt"/>
              </a:rPr>
              <a:t>Outliers</a:t>
            </a:r>
          </a:p>
          <a:p>
            <a:pPr marL="285750" indent="-285750">
              <a:buFont typeface="Arial" panose="020B0604020202020204" pitchFamily="34" charset="0"/>
              <a:buChar char="•"/>
            </a:pPr>
            <a:r>
              <a:rPr lang="en-US" sz="900" dirty="0">
                <a:solidFill>
                  <a:schemeClr val="tx1"/>
                </a:solidFill>
              </a:rPr>
              <a:t>The Typical Industry Benchmarks to get to stitched data is around 2-3 layers and 2 more layers for the Business KPI Computation.</a:t>
            </a:r>
          </a:p>
          <a:p>
            <a:pPr marL="285750" indent="-285750">
              <a:buFont typeface="Arial" panose="020B0604020202020204" pitchFamily="34" charset="0"/>
              <a:buChar char="•"/>
            </a:pPr>
            <a:r>
              <a:rPr lang="en-US" sz="900" dirty="0" err="1">
                <a:solidFill>
                  <a:schemeClr val="tx1"/>
                </a:solidFill>
              </a:rPr>
              <a:t>iDNA</a:t>
            </a:r>
            <a:r>
              <a:rPr lang="en-US" sz="900" dirty="0">
                <a:solidFill>
                  <a:schemeClr val="tx1"/>
                </a:solidFill>
              </a:rPr>
              <a:t> has 7 Layers for Data Ingestion and data is promoted to Multiple different Hops</a:t>
            </a:r>
          </a:p>
          <a:p>
            <a:pPr marL="285750" indent="-285750">
              <a:buFont typeface="Arial" panose="020B0604020202020204" pitchFamily="34" charset="0"/>
              <a:buChar char="•"/>
            </a:pPr>
            <a:r>
              <a:rPr lang="en-US" sz="900" dirty="0">
                <a:solidFill>
                  <a:schemeClr val="tx1"/>
                </a:solidFill>
              </a:rPr>
              <a:t>Encryption / Decryption, Key management and Data Security aspects are missing</a:t>
            </a:r>
          </a:p>
          <a:p>
            <a:pPr marL="285750" indent="-285750">
              <a:buFont typeface="Arial" panose="020B0604020202020204" pitchFamily="34" charset="0"/>
              <a:buChar char="•"/>
            </a:pPr>
            <a:r>
              <a:rPr lang="en-US" sz="900" dirty="0">
                <a:solidFill>
                  <a:schemeClr val="tx1"/>
                </a:solidFill>
              </a:rPr>
              <a:t>Merge processing is done as the Last step of the process and till the Merge process the data is basically unusable.</a:t>
            </a:r>
          </a:p>
          <a:p>
            <a:pPr marL="285750" indent="-285750">
              <a:buFont typeface="Arial" panose="020B0604020202020204" pitchFamily="34" charset="0"/>
              <a:buChar char="•"/>
            </a:pPr>
            <a:r>
              <a:rPr lang="en-US" sz="900" dirty="0">
                <a:solidFill>
                  <a:schemeClr val="tx1"/>
                </a:solidFill>
              </a:rPr>
              <a:t>DQ and Integrity checks also increase with number of landing zones.</a:t>
            </a:r>
          </a:p>
          <a:p>
            <a:pPr marL="285750" indent="-285750">
              <a:buFont typeface="Arial" panose="020B0604020202020204" pitchFamily="34" charset="0"/>
              <a:buChar char="•"/>
            </a:pPr>
            <a:r>
              <a:rPr lang="en-US" sz="900" dirty="0">
                <a:solidFill>
                  <a:schemeClr val="tx1"/>
                </a:solidFill>
              </a:rPr>
              <a:t>One Size fit all is followed, certain CDL Columns are added where it is not application , like Dimensional columns get tagged with Time fields etc. </a:t>
            </a:r>
          </a:p>
          <a:p>
            <a:endParaRPr lang="en-IN" sz="1100" b="1" u="sng" dirty="0">
              <a:solidFill>
                <a:schemeClr val="tx1"/>
              </a:solidFill>
              <a:latin typeface="+mj-lt"/>
            </a:endParaRPr>
          </a:p>
        </p:txBody>
      </p:sp>
      <p:sp>
        <p:nvSpPr>
          <p:cNvPr id="68" name="Rectangle 67"/>
          <p:cNvSpPr/>
          <p:nvPr/>
        </p:nvSpPr>
        <p:spPr>
          <a:xfrm>
            <a:off x="221255" y="892656"/>
            <a:ext cx="4333159" cy="25497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Standardization</a:t>
            </a:r>
          </a:p>
        </p:txBody>
      </p:sp>
      <p:sp>
        <p:nvSpPr>
          <p:cNvPr id="39" name="Oval 38">
            <a:extLst>
              <a:ext uri="{FF2B5EF4-FFF2-40B4-BE49-F238E27FC236}">
                <a16:creationId xmlns:a16="http://schemas.microsoft.com/office/drawing/2014/main" id="{7BEA672F-B8D8-43B4-A76E-41344286CEFF}"/>
              </a:ext>
            </a:extLst>
          </p:cNvPr>
          <p:cNvSpPr/>
          <p:nvPr/>
        </p:nvSpPr>
        <p:spPr>
          <a:xfrm>
            <a:off x="159597" y="817739"/>
            <a:ext cx="137160" cy="13716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43" name="Rectangle 42">
            <a:extLst>
              <a:ext uri="{FF2B5EF4-FFF2-40B4-BE49-F238E27FC236}">
                <a16:creationId xmlns:a16="http://schemas.microsoft.com/office/drawing/2014/main" id="{18059BEB-78B9-4140-AFDB-AFA968FC5B90}"/>
              </a:ext>
            </a:extLst>
          </p:cNvPr>
          <p:cNvSpPr/>
          <p:nvPr/>
        </p:nvSpPr>
        <p:spPr>
          <a:xfrm>
            <a:off x="4673144" y="1159980"/>
            <a:ext cx="4333159" cy="3157708"/>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900" b="1" u="sng" dirty="0" err="1">
                <a:solidFill>
                  <a:schemeClr val="tx1"/>
                </a:solidFill>
              </a:rPr>
              <a:t>Consisent</a:t>
            </a:r>
            <a:r>
              <a:rPr lang="en-IN" sz="900" b="1" u="sng" dirty="0">
                <a:solidFill>
                  <a:schemeClr val="tx1"/>
                </a:solidFill>
              </a:rPr>
              <a:t> with Industry</a:t>
            </a:r>
          </a:p>
          <a:p>
            <a:pPr marL="285750" indent="-285750">
              <a:buFont typeface="Arial" panose="020B0604020202020204" pitchFamily="34" charset="0"/>
              <a:buChar char="•"/>
            </a:pPr>
            <a:r>
              <a:rPr lang="en-US" sz="900" dirty="0">
                <a:solidFill>
                  <a:schemeClr val="tx1"/>
                </a:solidFill>
              </a:rPr>
              <a:t>Enterprise aspects around tagging Data Loads to Domains and Sub domains are available.</a:t>
            </a:r>
          </a:p>
          <a:p>
            <a:pPr marL="285750" indent="-285750">
              <a:buFont typeface="Arial" panose="020B0604020202020204" pitchFamily="34" charset="0"/>
              <a:buChar char="•"/>
            </a:pPr>
            <a:r>
              <a:rPr lang="en-US" sz="900" dirty="0">
                <a:solidFill>
                  <a:schemeClr val="tx1"/>
                </a:solidFill>
              </a:rPr>
              <a:t>The unified Models are adopted to bring the data into a standard form</a:t>
            </a:r>
          </a:p>
          <a:p>
            <a:pPr marL="285750" indent="-285750">
              <a:buFont typeface="Arial" panose="020B0604020202020204" pitchFamily="34" charset="0"/>
              <a:buChar char="•"/>
            </a:pPr>
            <a:r>
              <a:rPr lang="en-US" sz="900" dirty="0">
                <a:solidFill>
                  <a:schemeClr val="tx1"/>
                </a:solidFill>
              </a:rPr>
              <a:t>Measurement Monitoring and Logging is handled and a separate Log management data base is there</a:t>
            </a:r>
          </a:p>
          <a:p>
            <a:pPr marL="285750" indent="-285750">
              <a:buFont typeface="Arial" panose="020B0604020202020204" pitchFamily="34" charset="0"/>
              <a:buChar char="•"/>
            </a:pPr>
            <a:r>
              <a:rPr lang="en-US" sz="900" dirty="0">
                <a:solidFill>
                  <a:schemeClr val="tx1"/>
                </a:solidFill>
              </a:rPr>
              <a:t>Epoch Id based tagging / Batch Id based tagging of the Data sets is there.</a:t>
            </a:r>
          </a:p>
          <a:p>
            <a:r>
              <a:rPr lang="en-IN" sz="1100" b="1" u="sng" dirty="0">
                <a:solidFill>
                  <a:schemeClr val="tx1"/>
                </a:solidFill>
                <a:latin typeface="+mj-lt"/>
              </a:rPr>
              <a:t>Outliers</a:t>
            </a:r>
          </a:p>
          <a:p>
            <a:pPr marL="285750" indent="-285750">
              <a:buFont typeface="Arial" panose="020B0604020202020204" pitchFamily="34" charset="0"/>
              <a:buChar char="•"/>
            </a:pPr>
            <a:r>
              <a:rPr lang="en-US" sz="900" dirty="0">
                <a:solidFill>
                  <a:schemeClr val="tx1"/>
                </a:solidFill>
              </a:rPr>
              <a:t>Data tagging on batch Id is there and this tag is carried for 6 layers before it is applied, this is very cumbersome to manage and maintain.</a:t>
            </a:r>
          </a:p>
          <a:p>
            <a:pPr marL="285750" indent="-285750">
              <a:buFont typeface="Arial" panose="020B0604020202020204" pitchFamily="34" charset="0"/>
              <a:buChar char="•"/>
            </a:pPr>
            <a:r>
              <a:rPr lang="en-US" sz="900" dirty="0">
                <a:solidFill>
                  <a:schemeClr val="tx1"/>
                </a:solidFill>
              </a:rPr>
              <a:t>Several Customizations to the Scheduler and Just In Time Deployments to the DAG are adopted to enable Batch Id Tagging on the DAG, the same could have been enabled in Logging.</a:t>
            </a:r>
          </a:p>
          <a:p>
            <a:pPr marL="285750" indent="-285750">
              <a:buFont typeface="Arial" panose="020B0604020202020204" pitchFamily="34" charset="0"/>
              <a:buChar char="•"/>
            </a:pPr>
            <a:r>
              <a:rPr lang="en-US" sz="900" dirty="0">
                <a:solidFill>
                  <a:schemeClr val="tx1"/>
                </a:solidFill>
              </a:rPr>
              <a:t>Custom Logging solution is adopted while Amgen has Kibana and Elastic search capabilities.</a:t>
            </a:r>
          </a:p>
          <a:p>
            <a:pPr marL="285750" indent="-285750">
              <a:buFont typeface="Arial" panose="020B0604020202020204" pitchFamily="34" charset="0"/>
              <a:buChar char="•"/>
            </a:pPr>
            <a:r>
              <a:rPr lang="en-US" sz="900" dirty="0">
                <a:solidFill>
                  <a:schemeClr val="tx1"/>
                </a:solidFill>
              </a:rPr>
              <a:t>Only Process Logs are compiled and System Logs from Airflow / Databricks and other components are not mixed.</a:t>
            </a:r>
          </a:p>
          <a:p>
            <a:pPr marL="285750" indent="-285750">
              <a:buFont typeface="Arial" panose="020B0604020202020204" pitchFamily="34" charset="0"/>
              <a:buChar char="•"/>
            </a:pPr>
            <a:r>
              <a:rPr lang="en-US" sz="900" dirty="0">
                <a:solidFill>
                  <a:schemeClr val="tx1"/>
                </a:solidFill>
              </a:rPr>
              <a:t>Key management based credentials are not there and an environment and Parameter files are used.</a:t>
            </a:r>
          </a:p>
          <a:p>
            <a:pPr marL="285750" indent="-285750">
              <a:buFont typeface="Arial" panose="020B0604020202020204" pitchFamily="34" charset="0"/>
              <a:buChar char="•"/>
            </a:pPr>
            <a:r>
              <a:rPr lang="en-US" sz="900" dirty="0">
                <a:solidFill>
                  <a:schemeClr val="tx1"/>
                </a:solidFill>
              </a:rPr>
              <a:t>Heartbeat processes are handled in Jenkins which does not seem to be highly available and poses challenges on the fidelity of the heartbeats.</a:t>
            </a:r>
          </a:p>
          <a:p>
            <a:endParaRPr lang="en-IN" sz="1100" b="1" u="sng" dirty="0">
              <a:solidFill>
                <a:schemeClr val="tx1"/>
              </a:solidFill>
              <a:latin typeface="+mj-lt"/>
            </a:endParaRPr>
          </a:p>
        </p:txBody>
      </p:sp>
      <p:sp>
        <p:nvSpPr>
          <p:cNvPr id="44" name="Rectangle 43">
            <a:extLst>
              <a:ext uri="{FF2B5EF4-FFF2-40B4-BE49-F238E27FC236}">
                <a16:creationId xmlns:a16="http://schemas.microsoft.com/office/drawing/2014/main" id="{22947D15-54F8-463C-8377-A38BEB26A172}"/>
              </a:ext>
            </a:extLst>
          </p:cNvPr>
          <p:cNvSpPr/>
          <p:nvPr/>
        </p:nvSpPr>
        <p:spPr>
          <a:xfrm>
            <a:off x="4675437" y="900729"/>
            <a:ext cx="4333159" cy="25497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Enterprise Hardening</a:t>
            </a:r>
          </a:p>
        </p:txBody>
      </p:sp>
      <p:sp>
        <p:nvSpPr>
          <p:cNvPr id="52" name="Oval 51">
            <a:extLst>
              <a:ext uri="{FF2B5EF4-FFF2-40B4-BE49-F238E27FC236}">
                <a16:creationId xmlns:a16="http://schemas.microsoft.com/office/drawing/2014/main" id="{2826306A-DA71-4153-9543-1E5C9DB91255}"/>
              </a:ext>
            </a:extLst>
          </p:cNvPr>
          <p:cNvSpPr/>
          <p:nvPr/>
        </p:nvSpPr>
        <p:spPr>
          <a:xfrm>
            <a:off x="4625545" y="825812"/>
            <a:ext cx="137160" cy="137160"/>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grpSp>
        <p:nvGrpSpPr>
          <p:cNvPr id="19" name="Group 18">
            <a:extLst>
              <a:ext uri="{FF2B5EF4-FFF2-40B4-BE49-F238E27FC236}">
                <a16:creationId xmlns:a16="http://schemas.microsoft.com/office/drawing/2014/main" id="{1F463905-5E64-492F-81FB-39781E2C0D18}"/>
              </a:ext>
            </a:extLst>
          </p:cNvPr>
          <p:cNvGrpSpPr/>
          <p:nvPr/>
        </p:nvGrpSpPr>
        <p:grpSpPr>
          <a:xfrm>
            <a:off x="8426669" y="47297"/>
            <a:ext cx="583324" cy="565465"/>
            <a:chOff x="2871051" y="2320315"/>
            <a:chExt cx="907079" cy="868790"/>
          </a:xfrm>
        </p:grpSpPr>
        <p:sp>
          <p:nvSpPr>
            <p:cNvPr id="20" name="Shape 136">
              <a:extLst>
                <a:ext uri="{FF2B5EF4-FFF2-40B4-BE49-F238E27FC236}">
                  <a16:creationId xmlns:a16="http://schemas.microsoft.com/office/drawing/2014/main" id="{91BE9B06-C339-4636-B06C-24A717731566}"/>
                </a:ext>
              </a:extLst>
            </p:cNvPr>
            <p:cNvSpPr/>
            <p:nvPr/>
          </p:nvSpPr>
          <p:spPr>
            <a:xfrm>
              <a:off x="2871051" y="2320315"/>
              <a:ext cx="907079" cy="868790"/>
            </a:xfrm>
            <a:prstGeom prst="ellipse">
              <a:avLst/>
            </a:prstGeom>
            <a:solidFill>
              <a:srgbClr val="0063C3">
                <a:alpha val="8900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21" name="Shape 137">
              <a:extLst>
                <a:ext uri="{FF2B5EF4-FFF2-40B4-BE49-F238E27FC236}">
                  <a16:creationId xmlns:a16="http://schemas.microsoft.com/office/drawing/2014/main" id="{0AFDA563-DBC5-42A2-BD34-A5A667D1889F}"/>
                </a:ext>
              </a:extLst>
            </p:cNvPr>
            <p:cNvSpPr txBox="1"/>
            <p:nvPr/>
          </p:nvSpPr>
          <p:spPr>
            <a:xfrm>
              <a:off x="2906394" y="243425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Framework</a:t>
              </a:r>
            </a:p>
            <a:p>
              <a:pPr algn="ctr">
                <a:lnSpc>
                  <a:spcPct val="90000"/>
                </a:lnSpc>
                <a:buClr>
                  <a:srgbClr val="000000"/>
                </a:buClr>
                <a:buSzPts val="2400"/>
              </a:pPr>
              <a:r>
                <a:rPr lang="en-US" sz="800" dirty="0">
                  <a:solidFill>
                    <a:schemeClr val="bg1"/>
                  </a:solidFill>
                </a:rPr>
                <a:t>Design </a:t>
              </a:r>
              <a:endParaRPr sz="800" dirty="0">
                <a:solidFill>
                  <a:schemeClr val="bg1"/>
                </a:solidFill>
              </a:endParaRPr>
            </a:p>
          </p:txBody>
        </p:sp>
      </p:grpSp>
      <p:sp>
        <p:nvSpPr>
          <p:cNvPr id="22" name="Oval 21"/>
          <p:cNvSpPr/>
          <p:nvPr/>
        </p:nvSpPr>
        <p:spPr>
          <a:xfrm>
            <a:off x="1134835" y="4026863"/>
            <a:ext cx="134226" cy="137174"/>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23" name="Oval 22"/>
          <p:cNvSpPr/>
          <p:nvPr/>
        </p:nvSpPr>
        <p:spPr>
          <a:xfrm>
            <a:off x="1134835" y="4250942"/>
            <a:ext cx="134226" cy="13717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24" name="Oval 23"/>
          <p:cNvSpPr/>
          <p:nvPr/>
        </p:nvSpPr>
        <p:spPr>
          <a:xfrm>
            <a:off x="1134836" y="4461564"/>
            <a:ext cx="134226" cy="13717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solidFill>
                <a:schemeClr val="tx1"/>
              </a:solidFill>
              <a:latin typeface="+mj-lt"/>
            </a:endParaRPr>
          </a:p>
        </p:txBody>
      </p:sp>
      <p:sp>
        <p:nvSpPr>
          <p:cNvPr id="25" name="TextBox 24"/>
          <p:cNvSpPr txBox="1"/>
          <p:nvPr/>
        </p:nvSpPr>
        <p:spPr>
          <a:xfrm>
            <a:off x="1064955" y="3745432"/>
            <a:ext cx="550151" cy="215444"/>
          </a:xfrm>
          <a:prstGeom prst="rect">
            <a:avLst/>
          </a:prstGeom>
          <a:noFill/>
        </p:spPr>
        <p:txBody>
          <a:bodyPr wrap="none" rtlCol="0">
            <a:spAutoFit/>
          </a:bodyPr>
          <a:lstStyle/>
          <a:p>
            <a:r>
              <a:rPr lang="en-US" sz="800" b="1" u="sng"/>
              <a:t>Legend</a:t>
            </a:r>
            <a:endParaRPr lang="en-US" sz="800" b="1" u="sng" dirty="0"/>
          </a:p>
        </p:txBody>
      </p:sp>
      <p:sp>
        <p:nvSpPr>
          <p:cNvPr id="26" name="TextBox 25"/>
          <p:cNvSpPr txBox="1"/>
          <p:nvPr/>
        </p:nvSpPr>
        <p:spPr>
          <a:xfrm>
            <a:off x="1269061" y="4019729"/>
            <a:ext cx="2715108" cy="169277"/>
          </a:xfrm>
          <a:prstGeom prst="rect">
            <a:avLst/>
          </a:prstGeom>
          <a:noFill/>
        </p:spPr>
        <p:txBody>
          <a:bodyPr wrap="square" rtlCol="0">
            <a:spAutoFit/>
          </a:bodyPr>
          <a:lstStyle/>
          <a:p>
            <a:r>
              <a:rPr lang="en-US" sz="500" b="1" dirty="0"/>
              <a:t>At par/ above Industry reference</a:t>
            </a:r>
          </a:p>
        </p:txBody>
      </p:sp>
      <p:sp>
        <p:nvSpPr>
          <p:cNvPr id="27" name="TextBox 26"/>
          <p:cNvSpPr txBox="1"/>
          <p:nvPr/>
        </p:nvSpPr>
        <p:spPr>
          <a:xfrm>
            <a:off x="1269062" y="4211705"/>
            <a:ext cx="2459962" cy="169277"/>
          </a:xfrm>
          <a:prstGeom prst="rect">
            <a:avLst/>
          </a:prstGeom>
          <a:noFill/>
        </p:spPr>
        <p:txBody>
          <a:bodyPr wrap="square" rtlCol="0">
            <a:spAutoFit/>
          </a:bodyPr>
          <a:lstStyle/>
          <a:p>
            <a:r>
              <a:rPr lang="en-US" sz="500" b="1" dirty="0"/>
              <a:t>Opportunity for moderate improvements</a:t>
            </a:r>
          </a:p>
        </p:txBody>
      </p:sp>
      <p:sp>
        <p:nvSpPr>
          <p:cNvPr id="28" name="TextBox 27"/>
          <p:cNvSpPr txBox="1"/>
          <p:nvPr/>
        </p:nvSpPr>
        <p:spPr>
          <a:xfrm>
            <a:off x="1269062" y="4429460"/>
            <a:ext cx="2459962" cy="169277"/>
          </a:xfrm>
          <a:prstGeom prst="rect">
            <a:avLst/>
          </a:prstGeom>
          <a:noFill/>
        </p:spPr>
        <p:txBody>
          <a:bodyPr wrap="square" rtlCol="0">
            <a:spAutoFit/>
          </a:bodyPr>
          <a:lstStyle/>
          <a:p>
            <a:r>
              <a:rPr lang="en-US" sz="500" b="1" dirty="0"/>
              <a:t>Opportunity for significant improvements</a:t>
            </a:r>
          </a:p>
        </p:txBody>
      </p:sp>
    </p:spTree>
    <p:extLst>
      <p:ext uri="{BB962C8B-B14F-4D97-AF65-F5344CB8AC3E}">
        <p14:creationId xmlns:p14="http://schemas.microsoft.com/office/powerpoint/2010/main" val="58757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5">
            <a:extLst>
              <a:ext uri="{FF2B5EF4-FFF2-40B4-BE49-F238E27FC236}">
                <a16:creationId xmlns:a16="http://schemas.microsoft.com/office/drawing/2014/main" id="{79B828D4-57EE-4745-8D2A-9FF65F87E00A}"/>
              </a:ext>
            </a:extLst>
          </p:cNvPr>
          <p:cNvSpPr txBox="1">
            <a:spLocks/>
          </p:cNvSpPr>
          <p:nvPr/>
        </p:nvSpPr>
        <p:spPr>
          <a:xfrm>
            <a:off x="363537" y="301076"/>
            <a:ext cx="6067743" cy="400110"/>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Framework design related Observations (2/2)</a:t>
            </a:r>
          </a:p>
        </p:txBody>
      </p:sp>
      <p:sp>
        <p:nvSpPr>
          <p:cNvPr id="6" name="Rectangle 5">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2" name="Rectangle 61"/>
          <p:cNvSpPr/>
          <p:nvPr/>
        </p:nvSpPr>
        <p:spPr>
          <a:xfrm>
            <a:off x="218963" y="1151907"/>
            <a:ext cx="2140884" cy="2287896"/>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100" b="1" u="sng" dirty="0" err="1">
                <a:solidFill>
                  <a:schemeClr val="tx1"/>
                </a:solidFill>
                <a:latin typeface="+mj-lt"/>
              </a:rPr>
              <a:t>Consisent</a:t>
            </a:r>
            <a:r>
              <a:rPr lang="en-IN" sz="1100" b="1" u="sng" dirty="0">
                <a:solidFill>
                  <a:schemeClr val="tx1"/>
                </a:solidFill>
                <a:latin typeface="+mj-lt"/>
              </a:rPr>
              <a:t> with Industry</a:t>
            </a:r>
          </a:p>
          <a:p>
            <a:pPr marL="285750" indent="-285750">
              <a:buFont typeface="Arial" panose="020B0604020202020204" pitchFamily="34" charset="0"/>
              <a:buChar char="•"/>
            </a:pPr>
            <a:r>
              <a:rPr lang="en-US" sz="900" dirty="0">
                <a:solidFill>
                  <a:schemeClr val="tx1"/>
                </a:solidFill>
              </a:rPr>
              <a:t>Configuration Driven Patterns are adopted </a:t>
            </a:r>
          </a:p>
          <a:p>
            <a:r>
              <a:rPr lang="en-IN" sz="1100" b="1" u="sng" dirty="0">
                <a:solidFill>
                  <a:schemeClr val="tx1"/>
                </a:solidFill>
                <a:latin typeface="+mj-lt"/>
              </a:rPr>
              <a:t>Outliers</a:t>
            </a:r>
          </a:p>
          <a:p>
            <a:pPr marL="285750" indent="-285750">
              <a:buFont typeface="Arial" panose="020B0604020202020204" pitchFamily="34" charset="0"/>
              <a:buChar char="•"/>
            </a:pPr>
            <a:r>
              <a:rPr lang="en-US" sz="900" dirty="0">
                <a:solidFill>
                  <a:schemeClr val="tx1"/>
                </a:solidFill>
              </a:rPr>
              <a:t>The Over engineering on the Ingestion and multiple hops leave us with 35+ parameters and 8-9 different Python Code components to be changed for onboarding data.</a:t>
            </a:r>
          </a:p>
          <a:p>
            <a:pPr marL="285750" indent="-285750">
              <a:buFont typeface="Arial" panose="020B0604020202020204" pitchFamily="34" charset="0"/>
              <a:buChar char="•"/>
            </a:pPr>
            <a:r>
              <a:rPr lang="en-US" sz="900" dirty="0">
                <a:solidFill>
                  <a:schemeClr val="tx1"/>
                </a:solidFill>
              </a:rPr>
              <a:t>The effective time to Ingest a data does not pose any significant gains over doing it without a framework.</a:t>
            </a:r>
          </a:p>
          <a:p>
            <a:endParaRPr lang="en-IN" sz="1100" b="1" u="sng" dirty="0">
              <a:solidFill>
                <a:schemeClr val="tx1"/>
              </a:solidFill>
              <a:latin typeface="+mj-lt"/>
            </a:endParaRPr>
          </a:p>
        </p:txBody>
      </p:sp>
      <p:sp>
        <p:nvSpPr>
          <p:cNvPr id="68" name="Rectangle 67"/>
          <p:cNvSpPr/>
          <p:nvPr/>
        </p:nvSpPr>
        <p:spPr>
          <a:xfrm>
            <a:off x="221256" y="892656"/>
            <a:ext cx="2140884" cy="25497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Productivity Gain</a:t>
            </a:r>
          </a:p>
        </p:txBody>
      </p:sp>
      <p:sp>
        <p:nvSpPr>
          <p:cNvPr id="39" name="Oval 38">
            <a:extLst>
              <a:ext uri="{FF2B5EF4-FFF2-40B4-BE49-F238E27FC236}">
                <a16:creationId xmlns:a16="http://schemas.microsoft.com/office/drawing/2014/main" id="{7BEA672F-B8D8-43B4-A76E-41344286CEFF}"/>
              </a:ext>
            </a:extLst>
          </p:cNvPr>
          <p:cNvSpPr/>
          <p:nvPr/>
        </p:nvSpPr>
        <p:spPr>
          <a:xfrm>
            <a:off x="159597" y="817739"/>
            <a:ext cx="137160" cy="1371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43" name="Rectangle 42">
            <a:extLst>
              <a:ext uri="{FF2B5EF4-FFF2-40B4-BE49-F238E27FC236}">
                <a16:creationId xmlns:a16="http://schemas.microsoft.com/office/drawing/2014/main" id="{18059BEB-78B9-4140-AFDB-AFA968FC5B90}"/>
              </a:ext>
            </a:extLst>
          </p:cNvPr>
          <p:cNvSpPr/>
          <p:nvPr/>
        </p:nvSpPr>
        <p:spPr>
          <a:xfrm>
            <a:off x="2483641" y="1178012"/>
            <a:ext cx="3084721" cy="396548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000" b="1" u="sng" dirty="0" err="1">
                <a:solidFill>
                  <a:schemeClr val="tx1"/>
                </a:solidFill>
              </a:rPr>
              <a:t>Consisent</a:t>
            </a:r>
            <a:r>
              <a:rPr lang="en-IN" sz="1000" b="1" u="sng" dirty="0">
                <a:solidFill>
                  <a:schemeClr val="tx1"/>
                </a:solidFill>
              </a:rPr>
              <a:t> with Industry</a:t>
            </a:r>
          </a:p>
          <a:p>
            <a:pPr marL="285750" indent="-285750">
              <a:buFont typeface="Arial" panose="020B0604020202020204" pitchFamily="34" charset="0"/>
              <a:buChar char="•"/>
            </a:pPr>
            <a:r>
              <a:rPr lang="en-US" sz="900" dirty="0">
                <a:solidFill>
                  <a:schemeClr val="tx1"/>
                </a:solidFill>
              </a:rPr>
              <a:t>Enterprise aspects around tagging Data Loads to Domains and Sub domains are available.</a:t>
            </a:r>
          </a:p>
          <a:p>
            <a:pPr marL="285750" indent="-285750">
              <a:buFont typeface="Arial" panose="020B0604020202020204" pitchFamily="34" charset="0"/>
              <a:buChar char="•"/>
            </a:pPr>
            <a:r>
              <a:rPr lang="en-US" sz="900" dirty="0">
                <a:solidFill>
                  <a:schemeClr val="tx1"/>
                </a:solidFill>
              </a:rPr>
              <a:t>The unified Models are adopted to bring the data into a standard form</a:t>
            </a:r>
          </a:p>
          <a:p>
            <a:pPr marL="285750" indent="-285750">
              <a:buFont typeface="Arial" panose="020B0604020202020204" pitchFamily="34" charset="0"/>
              <a:buChar char="•"/>
            </a:pPr>
            <a:r>
              <a:rPr lang="en-US" sz="900" dirty="0">
                <a:solidFill>
                  <a:schemeClr val="tx1"/>
                </a:solidFill>
              </a:rPr>
              <a:t>Measurement Monitoring and Logging is handled and a separate Log management data base is there</a:t>
            </a:r>
          </a:p>
          <a:p>
            <a:pPr marL="285750" indent="-285750">
              <a:buFont typeface="Arial" panose="020B0604020202020204" pitchFamily="34" charset="0"/>
              <a:buChar char="•"/>
            </a:pPr>
            <a:r>
              <a:rPr lang="en-US" sz="900" dirty="0">
                <a:solidFill>
                  <a:schemeClr val="tx1"/>
                </a:solidFill>
              </a:rPr>
              <a:t>Epoch Id based tagging / Batch Id based tagging of the Data sets is there.</a:t>
            </a:r>
          </a:p>
          <a:p>
            <a:r>
              <a:rPr lang="en-IN" sz="1100" b="1" u="sng" dirty="0">
                <a:solidFill>
                  <a:schemeClr val="tx1"/>
                </a:solidFill>
                <a:latin typeface="+mj-lt"/>
              </a:rPr>
              <a:t>Outliers</a:t>
            </a:r>
          </a:p>
          <a:p>
            <a:pPr marL="285750" indent="-285750">
              <a:buFont typeface="Arial" panose="020B0604020202020204" pitchFamily="34" charset="0"/>
              <a:buChar char="•"/>
            </a:pPr>
            <a:r>
              <a:rPr lang="en-US" sz="900" dirty="0">
                <a:solidFill>
                  <a:schemeClr val="tx1"/>
                </a:solidFill>
              </a:rPr>
              <a:t>The Framework is highly tailored to the components chosen, there are not patterns and abstractions available to abstract the component from the capability.</a:t>
            </a:r>
          </a:p>
          <a:p>
            <a:pPr marL="285750" indent="-285750">
              <a:buFont typeface="Arial" panose="020B0604020202020204" pitchFamily="34" charset="0"/>
              <a:buChar char="•"/>
            </a:pPr>
            <a:r>
              <a:rPr lang="en-US" sz="900" dirty="0">
                <a:solidFill>
                  <a:schemeClr val="tx1"/>
                </a:solidFill>
              </a:rPr>
              <a:t>In case Amgen decides to leverage a different tech stack instead of Databricks/</a:t>
            </a:r>
            <a:r>
              <a:rPr lang="en-US" sz="900" dirty="0" err="1">
                <a:solidFill>
                  <a:schemeClr val="tx1"/>
                </a:solidFill>
              </a:rPr>
              <a:t>Airfow</a:t>
            </a:r>
            <a:r>
              <a:rPr lang="en-US" sz="900" dirty="0">
                <a:solidFill>
                  <a:schemeClr val="tx1"/>
                </a:solidFill>
              </a:rPr>
              <a:t> </a:t>
            </a:r>
            <a:r>
              <a:rPr lang="en-US" sz="900" dirty="0" err="1">
                <a:solidFill>
                  <a:schemeClr val="tx1"/>
                </a:solidFill>
              </a:rPr>
              <a:t>etc</a:t>
            </a:r>
            <a:r>
              <a:rPr lang="en-US" sz="900" dirty="0">
                <a:solidFill>
                  <a:schemeClr val="tx1"/>
                </a:solidFill>
              </a:rPr>
              <a:t>, there will be significant re-engineering.</a:t>
            </a:r>
          </a:p>
          <a:p>
            <a:pPr marL="285750" indent="-285750">
              <a:buFont typeface="Arial" panose="020B0604020202020204" pitchFamily="34" charset="0"/>
              <a:buChar char="•"/>
            </a:pPr>
            <a:r>
              <a:rPr lang="en-US" sz="900" dirty="0">
                <a:solidFill>
                  <a:schemeClr val="tx1"/>
                </a:solidFill>
              </a:rPr>
              <a:t>While Templates are available, the patterns are again based on components.</a:t>
            </a:r>
          </a:p>
          <a:p>
            <a:pPr marL="285750" indent="-285750">
              <a:buFont typeface="Arial" panose="020B0604020202020204" pitchFamily="34" charset="0"/>
              <a:buChar char="•"/>
            </a:pPr>
            <a:r>
              <a:rPr lang="en-US" sz="900" dirty="0">
                <a:solidFill>
                  <a:schemeClr val="tx1"/>
                </a:solidFill>
              </a:rPr>
              <a:t>Some of the patterns are non-standard such as the patterns used to execute SQL in the services layer.</a:t>
            </a:r>
          </a:p>
          <a:p>
            <a:pPr marL="285750" indent="-285750">
              <a:buFont typeface="Arial" panose="020B0604020202020204" pitchFamily="34" charset="0"/>
              <a:buChar char="•"/>
            </a:pPr>
            <a:r>
              <a:rPr lang="en-US" sz="900" dirty="0">
                <a:solidFill>
                  <a:schemeClr val="tx1"/>
                </a:solidFill>
              </a:rPr>
              <a:t>Significant level of Component specific customizations around Logging, Orchestration and Execution are there which are embedded into the templates this will lock Amgen into this specific stack.</a:t>
            </a:r>
          </a:p>
          <a:p>
            <a:endParaRPr lang="en-IN" sz="1100" b="1" u="sng" dirty="0">
              <a:solidFill>
                <a:schemeClr val="tx1"/>
              </a:solidFill>
              <a:latin typeface="+mj-lt"/>
            </a:endParaRPr>
          </a:p>
        </p:txBody>
      </p:sp>
      <p:sp>
        <p:nvSpPr>
          <p:cNvPr id="44" name="Rectangle 43">
            <a:extLst>
              <a:ext uri="{FF2B5EF4-FFF2-40B4-BE49-F238E27FC236}">
                <a16:creationId xmlns:a16="http://schemas.microsoft.com/office/drawing/2014/main" id="{22947D15-54F8-463C-8377-A38BEB26A172}"/>
              </a:ext>
            </a:extLst>
          </p:cNvPr>
          <p:cNvSpPr/>
          <p:nvPr/>
        </p:nvSpPr>
        <p:spPr>
          <a:xfrm>
            <a:off x="2485934" y="918762"/>
            <a:ext cx="3084721" cy="25497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Capability Driven</a:t>
            </a:r>
          </a:p>
        </p:txBody>
      </p:sp>
      <p:sp>
        <p:nvSpPr>
          <p:cNvPr id="16" name="Oval 15">
            <a:extLst>
              <a:ext uri="{FF2B5EF4-FFF2-40B4-BE49-F238E27FC236}">
                <a16:creationId xmlns:a16="http://schemas.microsoft.com/office/drawing/2014/main" id="{60672B79-8CC6-4A54-8D1E-9BBE3EB72922}"/>
              </a:ext>
            </a:extLst>
          </p:cNvPr>
          <p:cNvSpPr/>
          <p:nvPr/>
        </p:nvSpPr>
        <p:spPr>
          <a:xfrm>
            <a:off x="2424516" y="843845"/>
            <a:ext cx="137160" cy="1371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17" name="Rectangle 16">
            <a:extLst>
              <a:ext uri="{FF2B5EF4-FFF2-40B4-BE49-F238E27FC236}">
                <a16:creationId xmlns:a16="http://schemas.microsoft.com/office/drawing/2014/main" id="{22D447E5-2FCB-41CF-98C4-AD47A4D8FF3F}"/>
              </a:ext>
            </a:extLst>
          </p:cNvPr>
          <p:cNvSpPr/>
          <p:nvPr/>
        </p:nvSpPr>
        <p:spPr>
          <a:xfrm>
            <a:off x="5674051" y="1159266"/>
            <a:ext cx="3360620" cy="3532866"/>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900" b="1" u="sng" dirty="0" err="1">
                <a:solidFill>
                  <a:schemeClr val="tx1"/>
                </a:solidFill>
              </a:rPr>
              <a:t>Consisent</a:t>
            </a:r>
            <a:r>
              <a:rPr lang="en-IN" sz="900" b="1" u="sng" dirty="0">
                <a:solidFill>
                  <a:schemeClr val="tx1"/>
                </a:solidFill>
              </a:rPr>
              <a:t> with Industry</a:t>
            </a:r>
          </a:p>
          <a:p>
            <a:pPr marL="285750" indent="-285750">
              <a:buFont typeface="Arial" panose="020B0604020202020204" pitchFamily="34" charset="0"/>
              <a:buChar char="•"/>
            </a:pPr>
            <a:r>
              <a:rPr lang="en-US" sz="900" dirty="0">
                <a:solidFill>
                  <a:schemeClr val="tx1"/>
                </a:solidFill>
              </a:rPr>
              <a:t>Enterprise aspects around tagging Data Loads to Domains and Sub domains are available.</a:t>
            </a:r>
          </a:p>
          <a:p>
            <a:pPr marL="285750" indent="-285750">
              <a:buFont typeface="Arial" panose="020B0604020202020204" pitchFamily="34" charset="0"/>
              <a:buChar char="•"/>
            </a:pPr>
            <a:r>
              <a:rPr lang="en-US" sz="900" dirty="0">
                <a:solidFill>
                  <a:schemeClr val="tx1"/>
                </a:solidFill>
              </a:rPr>
              <a:t>The unified Models are adopted to bring the data into a standard form</a:t>
            </a:r>
          </a:p>
          <a:p>
            <a:pPr marL="285750" indent="-285750">
              <a:buFont typeface="Arial" panose="020B0604020202020204" pitchFamily="34" charset="0"/>
              <a:buChar char="•"/>
            </a:pPr>
            <a:r>
              <a:rPr lang="en-US" sz="900" dirty="0">
                <a:solidFill>
                  <a:schemeClr val="tx1"/>
                </a:solidFill>
              </a:rPr>
              <a:t>Measurement Monitoring and Logging is handled and a separate Log management data base is there</a:t>
            </a:r>
          </a:p>
          <a:p>
            <a:pPr marL="285750" indent="-285750">
              <a:buFont typeface="Arial" panose="020B0604020202020204" pitchFamily="34" charset="0"/>
              <a:buChar char="•"/>
            </a:pPr>
            <a:r>
              <a:rPr lang="en-US" sz="900" dirty="0">
                <a:solidFill>
                  <a:schemeClr val="tx1"/>
                </a:solidFill>
              </a:rPr>
              <a:t>Epoch Id based tagging / Batch Id based tagging of the Data sets is there.</a:t>
            </a:r>
          </a:p>
          <a:p>
            <a:r>
              <a:rPr lang="en-IN" sz="1100" b="1" u="sng" dirty="0">
                <a:solidFill>
                  <a:schemeClr val="tx1"/>
                </a:solidFill>
                <a:latin typeface="+mj-lt"/>
              </a:rPr>
              <a:t>Outliers</a:t>
            </a:r>
          </a:p>
          <a:p>
            <a:pPr marL="285750" indent="-285750">
              <a:buFont typeface="Arial" panose="020B0604020202020204" pitchFamily="34" charset="0"/>
              <a:buChar char="•"/>
            </a:pPr>
            <a:r>
              <a:rPr lang="en-US" sz="900" dirty="0">
                <a:solidFill>
                  <a:schemeClr val="tx1"/>
                </a:solidFill>
              </a:rPr>
              <a:t>The Framework required certain code snippets to be altered and code base to be promoted instead of the code being the same and the configurations promoted.</a:t>
            </a:r>
          </a:p>
          <a:p>
            <a:pPr marL="285750" indent="-285750">
              <a:buFont typeface="Arial" panose="020B0604020202020204" pitchFamily="34" charset="0"/>
              <a:buChar char="•"/>
            </a:pPr>
            <a:r>
              <a:rPr lang="en-US" sz="900" dirty="0">
                <a:solidFill>
                  <a:schemeClr val="tx1"/>
                </a:solidFill>
              </a:rPr>
              <a:t>The number of components to be promoted and the components available as JSON, files make it difficult to wrap a UI based screen over the Framework.</a:t>
            </a:r>
          </a:p>
          <a:p>
            <a:pPr marL="285750" indent="-285750">
              <a:buFont typeface="Arial" panose="020B0604020202020204" pitchFamily="34" charset="0"/>
              <a:buChar char="•"/>
            </a:pPr>
            <a:r>
              <a:rPr lang="en-US" sz="900" dirty="0">
                <a:solidFill>
                  <a:schemeClr val="tx1"/>
                </a:solidFill>
              </a:rPr>
              <a:t>Code promotion and creation requires local testing and is hard to replicate a distributed environment.</a:t>
            </a:r>
          </a:p>
          <a:p>
            <a:endParaRPr lang="en-IN" sz="1100" b="1" u="sng" dirty="0">
              <a:solidFill>
                <a:schemeClr val="tx1"/>
              </a:solidFill>
              <a:latin typeface="+mj-lt"/>
            </a:endParaRPr>
          </a:p>
        </p:txBody>
      </p:sp>
      <p:sp>
        <p:nvSpPr>
          <p:cNvPr id="18" name="Rectangle 17">
            <a:extLst>
              <a:ext uri="{FF2B5EF4-FFF2-40B4-BE49-F238E27FC236}">
                <a16:creationId xmlns:a16="http://schemas.microsoft.com/office/drawing/2014/main" id="{4744C104-CA22-46BB-916F-47189122FBF7}"/>
              </a:ext>
            </a:extLst>
          </p:cNvPr>
          <p:cNvSpPr/>
          <p:nvPr/>
        </p:nvSpPr>
        <p:spPr>
          <a:xfrm>
            <a:off x="5676344" y="900015"/>
            <a:ext cx="3360620" cy="28527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latin typeface="+mj-lt"/>
              </a:rPr>
              <a:t>Codeless/Low Code</a:t>
            </a:r>
          </a:p>
        </p:txBody>
      </p:sp>
      <p:sp>
        <p:nvSpPr>
          <p:cNvPr id="19" name="Oval 18">
            <a:extLst>
              <a:ext uri="{FF2B5EF4-FFF2-40B4-BE49-F238E27FC236}">
                <a16:creationId xmlns:a16="http://schemas.microsoft.com/office/drawing/2014/main" id="{DB81553E-4CAA-4DC8-BE95-6CD1BFB3DEFB}"/>
              </a:ext>
            </a:extLst>
          </p:cNvPr>
          <p:cNvSpPr/>
          <p:nvPr/>
        </p:nvSpPr>
        <p:spPr>
          <a:xfrm>
            <a:off x="5614925" y="825098"/>
            <a:ext cx="137160" cy="13716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grpSp>
        <p:nvGrpSpPr>
          <p:cNvPr id="23" name="Group 22">
            <a:extLst>
              <a:ext uri="{FF2B5EF4-FFF2-40B4-BE49-F238E27FC236}">
                <a16:creationId xmlns:a16="http://schemas.microsoft.com/office/drawing/2014/main" id="{1F463905-5E64-492F-81FB-39781E2C0D18}"/>
              </a:ext>
            </a:extLst>
          </p:cNvPr>
          <p:cNvGrpSpPr/>
          <p:nvPr/>
        </p:nvGrpSpPr>
        <p:grpSpPr>
          <a:xfrm>
            <a:off x="8426669" y="70946"/>
            <a:ext cx="583324" cy="565465"/>
            <a:chOff x="2871051" y="2320315"/>
            <a:chExt cx="907079" cy="868790"/>
          </a:xfrm>
        </p:grpSpPr>
        <p:sp>
          <p:nvSpPr>
            <p:cNvPr id="24" name="Shape 136">
              <a:extLst>
                <a:ext uri="{FF2B5EF4-FFF2-40B4-BE49-F238E27FC236}">
                  <a16:creationId xmlns:a16="http://schemas.microsoft.com/office/drawing/2014/main" id="{91BE9B06-C339-4636-B06C-24A717731566}"/>
                </a:ext>
              </a:extLst>
            </p:cNvPr>
            <p:cNvSpPr/>
            <p:nvPr/>
          </p:nvSpPr>
          <p:spPr>
            <a:xfrm>
              <a:off x="2871051" y="2320315"/>
              <a:ext cx="907079" cy="868790"/>
            </a:xfrm>
            <a:prstGeom prst="ellipse">
              <a:avLst/>
            </a:prstGeom>
            <a:solidFill>
              <a:srgbClr val="0063C3">
                <a:alpha val="89000"/>
              </a:srgb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25" name="Shape 137">
              <a:extLst>
                <a:ext uri="{FF2B5EF4-FFF2-40B4-BE49-F238E27FC236}">
                  <a16:creationId xmlns:a16="http://schemas.microsoft.com/office/drawing/2014/main" id="{0AFDA563-DBC5-42A2-BD34-A5A667D1889F}"/>
                </a:ext>
              </a:extLst>
            </p:cNvPr>
            <p:cNvSpPr txBox="1"/>
            <p:nvPr/>
          </p:nvSpPr>
          <p:spPr>
            <a:xfrm>
              <a:off x="2906394" y="243425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Framework</a:t>
              </a:r>
            </a:p>
            <a:p>
              <a:pPr algn="ctr">
                <a:lnSpc>
                  <a:spcPct val="90000"/>
                </a:lnSpc>
                <a:buClr>
                  <a:srgbClr val="000000"/>
                </a:buClr>
                <a:buSzPts val="2400"/>
              </a:pPr>
              <a:r>
                <a:rPr lang="en-US" sz="800" dirty="0">
                  <a:solidFill>
                    <a:schemeClr val="bg1"/>
                  </a:solidFill>
                </a:rPr>
                <a:t>Design </a:t>
              </a:r>
              <a:endParaRPr sz="800" dirty="0">
                <a:solidFill>
                  <a:schemeClr val="bg1"/>
                </a:solidFill>
              </a:endParaRPr>
            </a:p>
          </p:txBody>
        </p:sp>
      </p:grpSp>
      <p:sp>
        <p:nvSpPr>
          <p:cNvPr id="26" name="Oval 25"/>
          <p:cNvSpPr/>
          <p:nvPr/>
        </p:nvSpPr>
        <p:spPr>
          <a:xfrm>
            <a:off x="245177" y="3848485"/>
            <a:ext cx="134226" cy="137174"/>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29" name="Oval 28"/>
          <p:cNvSpPr/>
          <p:nvPr/>
        </p:nvSpPr>
        <p:spPr>
          <a:xfrm>
            <a:off x="245177" y="4072564"/>
            <a:ext cx="134226" cy="13717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34" name="Oval 33"/>
          <p:cNvSpPr/>
          <p:nvPr/>
        </p:nvSpPr>
        <p:spPr>
          <a:xfrm>
            <a:off x="245178" y="4283186"/>
            <a:ext cx="134226" cy="13717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solidFill>
                <a:schemeClr val="tx1"/>
              </a:solidFill>
              <a:latin typeface="+mj-lt"/>
            </a:endParaRPr>
          </a:p>
        </p:txBody>
      </p:sp>
      <p:sp>
        <p:nvSpPr>
          <p:cNvPr id="35" name="TextBox 34"/>
          <p:cNvSpPr txBox="1"/>
          <p:nvPr/>
        </p:nvSpPr>
        <p:spPr>
          <a:xfrm>
            <a:off x="175297" y="3567054"/>
            <a:ext cx="550151" cy="215444"/>
          </a:xfrm>
          <a:prstGeom prst="rect">
            <a:avLst/>
          </a:prstGeom>
          <a:noFill/>
        </p:spPr>
        <p:txBody>
          <a:bodyPr wrap="none" rtlCol="0">
            <a:spAutoFit/>
          </a:bodyPr>
          <a:lstStyle/>
          <a:p>
            <a:r>
              <a:rPr lang="en-US" sz="800" b="1" u="sng"/>
              <a:t>Legend</a:t>
            </a:r>
            <a:endParaRPr lang="en-US" sz="800" b="1" u="sng" dirty="0"/>
          </a:p>
        </p:txBody>
      </p:sp>
      <p:sp>
        <p:nvSpPr>
          <p:cNvPr id="36" name="TextBox 35"/>
          <p:cNvSpPr txBox="1"/>
          <p:nvPr/>
        </p:nvSpPr>
        <p:spPr>
          <a:xfrm>
            <a:off x="379403" y="3841351"/>
            <a:ext cx="2715108" cy="169277"/>
          </a:xfrm>
          <a:prstGeom prst="rect">
            <a:avLst/>
          </a:prstGeom>
          <a:noFill/>
        </p:spPr>
        <p:txBody>
          <a:bodyPr wrap="square" rtlCol="0">
            <a:spAutoFit/>
          </a:bodyPr>
          <a:lstStyle/>
          <a:p>
            <a:r>
              <a:rPr lang="en-US" sz="500" b="1" dirty="0"/>
              <a:t>At par/ above Industry reference</a:t>
            </a:r>
          </a:p>
        </p:txBody>
      </p:sp>
      <p:sp>
        <p:nvSpPr>
          <p:cNvPr id="37" name="TextBox 36"/>
          <p:cNvSpPr txBox="1"/>
          <p:nvPr/>
        </p:nvSpPr>
        <p:spPr>
          <a:xfrm>
            <a:off x="379404" y="4033327"/>
            <a:ext cx="2459962" cy="169277"/>
          </a:xfrm>
          <a:prstGeom prst="rect">
            <a:avLst/>
          </a:prstGeom>
          <a:noFill/>
        </p:spPr>
        <p:txBody>
          <a:bodyPr wrap="square" rtlCol="0">
            <a:spAutoFit/>
          </a:bodyPr>
          <a:lstStyle/>
          <a:p>
            <a:r>
              <a:rPr lang="en-US" sz="500" b="1" dirty="0"/>
              <a:t>Opportunity for moderate improvements</a:t>
            </a:r>
          </a:p>
        </p:txBody>
      </p:sp>
      <p:sp>
        <p:nvSpPr>
          <p:cNvPr id="38" name="TextBox 37"/>
          <p:cNvSpPr txBox="1"/>
          <p:nvPr/>
        </p:nvSpPr>
        <p:spPr>
          <a:xfrm>
            <a:off x="379404" y="4251082"/>
            <a:ext cx="2459962" cy="169277"/>
          </a:xfrm>
          <a:prstGeom prst="rect">
            <a:avLst/>
          </a:prstGeom>
          <a:noFill/>
        </p:spPr>
        <p:txBody>
          <a:bodyPr wrap="square" rtlCol="0">
            <a:spAutoFit/>
          </a:bodyPr>
          <a:lstStyle/>
          <a:p>
            <a:r>
              <a:rPr lang="en-US" sz="500" b="1" dirty="0"/>
              <a:t>Opportunity for significant improvements</a:t>
            </a:r>
          </a:p>
        </p:txBody>
      </p:sp>
    </p:spTree>
    <p:extLst>
      <p:ext uri="{BB962C8B-B14F-4D97-AF65-F5344CB8AC3E}">
        <p14:creationId xmlns:p14="http://schemas.microsoft.com/office/powerpoint/2010/main" val="124867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1815882"/>
          </a:xfrm>
          <a:prstGeom prst="rect">
            <a:avLst/>
          </a:prstGeom>
          <a:noFill/>
        </p:spPr>
        <p:txBody>
          <a:bodyPr wrap="square" rtlCol="0">
            <a:spAutoFit/>
          </a:bodyPr>
          <a:lstStyle/>
          <a:p>
            <a:r>
              <a:rPr lang="en-US" sz="2800" b="1" dirty="0">
                <a:solidFill>
                  <a:srgbClr val="FFFFFF"/>
                </a:solidFill>
              </a:rPr>
              <a:t>Detailed Findings:</a:t>
            </a:r>
          </a:p>
          <a:p>
            <a:r>
              <a:rPr lang="en-US" sz="2800" b="1" dirty="0">
                <a:solidFill>
                  <a:srgbClr val="FFFFFF"/>
                </a:solidFill>
              </a:rPr>
              <a:t>Data Management, Pipeline Engineering &amp; Infrastructure</a:t>
            </a:r>
          </a:p>
          <a:p>
            <a:endParaRPr lang="en-US" sz="2800" b="1" dirty="0">
              <a:solidFill>
                <a:srgbClr val="FFFFFF"/>
              </a:solidFill>
            </a:endParaRPr>
          </a:p>
        </p:txBody>
      </p:sp>
    </p:spTree>
    <p:extLst>
      <p:ext uri="{BB962C8B-B14F-4D97-AF65-F5344CB8AC3E}">
        <p14:creationId xmlns:p14="http://schemas.microsoft.com/office/powerpoint/2010/main" val="2863041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30" name="Title 15">
            <a:extLst>
              <a:ext uri="{FF2B5EF4-FFF2-40B4-BE49-F238E27FC236}">
                <a16:creationId xmlns:a16="http://schemas.microsoft.com/office/drawing/2014/main" id="{79B828D4-57EE-4745-8D2A-9FF65F87E00A}"/>
              </a:ext>
            </a:extLst>
          </p:cNvPr>
          <p:cNvSpPr txBox="1">
            <a:spLocks/>
          </p:cNvSpPr>
          <p:nvPr/>
        </p:nvSpPr>
        <p:spPr>
          <a:xfrm>
            <a:off x="440584" y="463509"/>
            <a:ext cx="8458491" cy="400110"/>
          </a:xfrm>
          <a:prstGeom prst="rect">
            <a:avLst/>
          </a:prstGeom>
        </p:spPr>
        <p:txBody>
          <a:bodyPr vert="horz" wrap="square" lIns="91440" tIns="45720" rIns="91440" bIns="45720" rtlCol="0" anchor="b"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Assessment Findings: High Level View</a:t>
            </a:r>
          </a:p>
        </p:txBody>
      </p:sp>
      <p:sp>
        <p:nvSpPr>
          <p:cNvPr id="22" name="Rectangle 21">
            <a:extLst>
              <a:ext uri="{FF2B5EF4-FFF2-40B4-BE49-F238E27FC236}">
                <a16:creationId xmlns:a16="http://schemas.microsoft.com/office/drawing/2014/main" id="{9160A9DC-32AA-40F2-A03A-5217B5CFF74C}"/>
              </a:ext>
            </a:extLst>
          </p:cNvPr>
          <p:cNvSpPr/>
          <p:nvPr/>
        </p:nvSpPr>
        <p:spPr>
          <a:xfrm>
            <a:off x="444485" y="878886"/>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23" name="Shape 148"/>
          <p:cNvSpPr/>
          <p:nvPr/>
        </p:nvSpPr>
        <p:spPr>
          <a:xfrm>
            <a:off x="768779" y="4085798"/>
            <a:ext cx="610200"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S3 </a:t>
            </a:r>
            <a:r>
              <a:rPr lang="en-US" sz="675" kern="0" dirty="0">
                <a:solidFill>
                  <a:srgbClr val="FFFFFF"/>
                </a:solidFill>
                <a:latin typeface="Arial"/>
                <a:ea typeface="Arial"/>
                <a:cs typeface="Arial"/>
                <a:sym typeface="Arial"/>
              </a:rPr>
              <a:t>Structure</a:t>
            </a:r>
            <a:endParaRPr sz="525" kern="0" dirty="0">
              <a:solidFill>
                <a:srgbClr val="000000"/>
              </a:solidFill>
              <a:latin typeface="Arial"/>
              <a:cs typeface="Arial"/>
              <a:sym typeface="Arial"/>
            </a:endParaRPr>
          </a:p>
        </p:txBody>
      </p:sp>
      <p:sp>
        <p:nvSpPr>
          <p:cNvPr id="24" name="Shape 149"/>
          <p:cNvSpPr/>
          <p:nvPr/>
        </p:nvSpPr>
        <p:spPr>
          <a:xfrm>
            <a:off x="1738575" y="4085798"/>
            <a:ext cx="897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Partition  Implementation-</a:t>
            </a:r>
            <a:endParaRPr sz="525" kern="0" dirty="0">
              <a:solidFill>
                <a:srgbClr val="000000"/>
              </a:solidFill>
              <a:latin typeface="Arial"/>
              <a:cs typeface="Arial"/>
              <a:sym typeface="Arial"/>
            </a:endParaRPr>
          </a:p>
        </p:txBody>
      </p:sp>
      <p:sp>
        <p:nvSpPr>
          <p:cNvPr id="25" name="Shape 150"/>
          <p:cNvSpPr/>
          <p:nvPr/>
        </p:nvSpPr>
        <p:spPr>
          <a:xfrm>
            <a:off x="5311071" y="4085798"/>
            <a:ext cx="879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Orchestration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Integration</a:t>
            </a:r>
            <a:endParaRPr sz="525" kern="0" dirty="0">
              <a:solidFill>
                <a:srgbClr val="000000"/>
              </a:solidFill>
              <a:latin typeface="Arial"/>
              <a:cs typeface="Arial"/>
              <a:sym typeface="Arial"/>
            </a:endParaRPr>
          </a:p>
        </p:txBody>
      </p:sp>
      <p:sp>
        <p:nvSpPr>
          <p:cNvPr id="26" name="Shape 151"/>
          <p:cNvSpPr/>
          <p:nvPr/>
        </p:nvSpPr>
        <p:spPr>
          <a:xfrm>
            <a:off x="6485249" y="4085798"/>
            <a:ext cx="1545536"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User Management</a:t>
            </a:r>
            <a:endParaRPr sz="525" kern="0" dirty="0">
              <a:solidFill>
                <a:srgbClr val="000000"/>
              </a:solidFill>
              <a:latin typeface="Arial"/>
              <a:cs typeface="Arial"/>
              <a:sym typeface="Arial"/>
            </a:endParaRPr>
          </a:p>
        </p:txBody>
      </p:sp>
      <p:sp>
        <p:nvSpPr>
          <p:cNvPr id="27" name="Shape 152"/>
          <p:cNvSpPr/>
          <p:nvPr/>
        </p:nvSpPr>
        <p:spPr>
          <a:xfrm>
            <a:off x="760858" y="4444023"/>
            <a:ext cx="785588" cy="292281"/>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High Availability</a:t>
            </a:r>
            <a:endParaRPr sz="525" kern="0" dirty="0">
              <a:solidFill>
                <a:srgbClr val="000000"/>
              </a:solidFill>
              <a:latin typeface="Arial"/>
              <a:cs typeface="Arial"/>
              <a:sym typeface="Arial"/>
            </a:endParaRPr>
          </a:p>
        </p:txBody>
      </p:sp>
      <p:sp>
        <p:nvSpPr>
          <p:cNvPr id="28" name="Shape 153"/>
          <p:cNvSpPr/>
          <p:nvPr/>
        </p:nvSpPr>
        <p:spPr>
          <a:xfrm>
            <a:off x="3113543" y="4085798"/>
            <a:ext cx="758588"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Compression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Design</a:t>
            </a:r>
            <a:endParaRPr sz="525" kern="0" dirty="0">
              <a:solidFill>
                <a:srgbClr val="000000"/>
              </a:solidFill>
              <a:latin typeface="Arial"/>
              <a:cs typeface="Arial"/>
              <a:sym typeface="Arial"/>
            </a:endParaRPr>
          </a:p>
        </p:txBody>
      </p:sp>
      <p:sp>
        <p:nvSpPr>
          <p:cNvPr id="29" name="Shape 154"/>
          <p:cNvSpPr/>
          <p:nvPr/>
        </p:nvSpPr>
        <p:spPr>
          <a:xfrm>
            <a:off x="2992197" y="4444023"/>
            <a:ext cx="704588" cy="292281"/>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Archival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&amp; Clean up-</a:t>
            </a:r>
            <a:endParaRPr sz="525" kern="0" dirty="0">
              <a:solidFill>
                <a:srgbClr val="000000"/>
              </a:solidFill>
              <a:latin typeface="Arial"/>
              <a:cs typeface="Arial"/>
              <a:sym typeface="Arial"/>
            </a:endParaRPr>
          </a:p>
        </p:txBody>
      </p:sp>
      <p:sp>
        <p:nvSpPr>
          <p:cNvPr id="32" name="Shape 155"/>
          <p:cNvSpPr/>
          <p:nvPr/>
        </p:nvSpPr>
        <p:spPr>
          <a:xfrm>
            <a:off x="3995400" y="4454366"/>
            <a:ext cx="815400" cy="281938"/>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Metadata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Management</a:t>
            </a:r>
            <a:endParaRPr sz="525" kern="0" dirty="0">
              <a:solidFill>
                <a:srgbClr val="000000"/>
              </a:solidFill>
              <a:latin typeface="Arial"/>
              <a:cs typeface="Arial"/>
              <a:sym typeface="Arial"/>
            </a:endParaRPr>
          </a:p>
        </p:txBody>
      </p:sp>
      <p:sp>
        <p:nvSpPr>
          <p:cNvPr id="33" name="Shape 156"/>
          <p:cNvSpPr/>
          <p:nvPr/>
        </p:nvSpPr>
        <p:spPr>
          <a:xfrm>
            <a:off x="7364672" y="4441095"/>
            <a:ext cx="666113" cy="295209"/>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Security Governance</a:t>
            </a:r>
            <a:endParaRPr sz="525" kern="0" dirty="0">
              <a:solidFill>
                <a:srgbClr val="000000"/>
              </a:solidFill>
              <a:latin typeface="Arial"/>
              <a:cs typeface="Arial"/>
              <a:sym typeface="Arial"/>
            </a:endParaRPr>
          </a:p>
        </p:txBody>
      </p:sp>
      <p:sp>
        <p:nvSpPr>
          <p:cNvPr id="34" name="Shape 157"/>
          <p:cNvSpPr/>
          <p:nvPr/>
        </p:nvSpPr>
        <p:spPr>
          <a:xfrm>
            <a:off x="6250657" y="4462014"/>
            <a:ext cx="666113" cy="274290"/>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Continuous Dev</a:t>
            </a:r>
            <a:endParaRPr sz="675" kern="0" dirty="0">
              <a:solidFill>
                <a:srgbClr val="FFFFFF"/>
              </a:solidFill>
              <a:latin typeface="Arial"/>
              <a:ea typeface="Arial"/>
              <a:cs typeface="Arial"/>
              <a:sym typeface="Arial"/>
            </a:endParaRPr>
          </a:p>
        </p:txBody>
      </p:sp>
      <p:sp>
        <p:nvSpPr>
          <p:cNvPr id="35" name="Shape 158"/>
          <p:cNvSpPr/>
          <p:nvPr/>
        </p:nvSpPr>
        <p:spPr>
          <a:xfrm>
            <a:off x="1990324" y="4444656"/>
            <a:ext cx="676913" cy="291648"/>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Error/Log</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Framework</a:t>
            </a:r>
            <a:endParaRPr sz="525" kern="0" dirty="0">
              <a:solidFill>
                <a:srgbClr val="000000"/>
              </a:solidFill>
              <a:latin typeface="Arial"/>
              <a:cs typeface="Arial"/>
              <a:sym typeface="Arial"/>
            </a:endParaRPr>
          </a:p>
        </p:txBody>
      </p:sp>
      <p:sp>
        <p:nvSpPr>
          <p:cNvPr id="36" name="Shape 159"/>
          <p:cNvSpPr/>
          <p:nvPr/>
        </p:nvSpPr>
        <p:spPr>
          <a:xfrm>
            <a:off x="4185316" y="4085798"/>
            <a:ext cx="758588"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Info Quality Framework</a:t>
            </a:r>
            <a:endParaRPr sz="525" kern="0" dirty="0">
              <a:solidFill>
                <a:srgbClr val="000000"/>
              </a:solidFill>
              <a:latin typeface="Arial"/>
              <a:cs typeface="Arial"/>
              <a:sym typeface="Arial"/>
            </a:endParaRPr>
          </a:p>
        </p:txBody>
      </p:sp>
      <p:sp>
        <p:nvSpPr>
          <p:cNvPr id="38" name="Shape 160"/>
          <p:cNvSpPr/>
          <p:nvPr/>
        </p:nvSpPr>
        <p:spPr>
          <a:xfrm>
            <a:off x="5092257" y="4462014"/>
            <a:ext cx="766238" cy="274290"/>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Pushdown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Data</a:t>
            </a:r>
            <a:endParaRPr sz="525" kern="0" dirty="0">
              <a:solidFill>
                <a:srgbClr val="000000"/>
              </a:solidFill>
              <a:latin typeface="Arial"/>
              <a:cs typeface="Arial"/>
              <a:sym typeface="Arial"/>
            </a:endParaRPr>
          </a:p>
        </p:txBody>
      </p:sp>
      <p:sp>
        <p:nvSpPr>
          <p:cNvPr id="46" name="Shape 161"/>
          <p:cNvSpPr/>
          <p:nvPr/>
        </p:nvSpPr>
        <p:spPr>
          <a:xfrm>
            <a:off x="956985" y="3090013"/>
            <a:ext cx="877950" cy="3573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Ingestion</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ea typeface="Arial"/>
                <a:cs typeface="Arial"/>
                <a:sym typeface="Arial"/>
              </a:rPr>
              <a:t>Incremental</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cs typeface="Arial"/>
                <a:sym typeface="Arial"/>
              </a:rPr>
              <a:t>Logic</a:t>
            </a:r>
            <a:endParaRPr sz="525" kern="0" dirty="0">
              <a:solidFill>
                <a:srgbClr val="000000"/>
              </a:solidFill>
              <a:latin typeface="Arial"/>
              <a:cs typeface="Arial"/>
              <a:sym typeface="Arial"/>
            </a:endParaRPr>
          </a:p>
        </p:txBody>
      </p:sp>
      <p:sp>
        <p:nvSpPr>
          <p:cNvPr id="47" name="Shape 162"/>
          <p:cNvSpPr/>
          <p:nvPr/>
        </p:nvSpPr>
        <p:spPr>
          <a:xfrm>
            <a:off x="1958424" y="1864549"/>
            <a:ext cx="756900" cy="3771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cs typeface="Arial"/>
                <a:sym typeface="Arial"/>
              </a:rPr>
              <a:t>Database Ingestion Patterns</a:t>
            </a:r>
            <a:endParaRPr sz="525" kern="0">
              <a:solidFill>
                <a:srgbClr val="000000"/>
              </a:solidFill>
              <a:latin typeface="Arial"/>
              <a:cs typeface="Arial"/>
              <a:sym typeface="Arial"/>
            </a:endParaRPr>
          </a:p>
        </p:txBody>
      </p:sp>
      <p:sp>
        <p:nvSpPr>
          <p:cNvPr id="54" name="Shape 163"/>
          <p:cNvSpPr/>
          <p:nvPr/>
        </p:nvSpPr>
        <p:spPr>
          <a:xfrm>
            <a:off x="1958424" y="2334646"/>
            <a:ext cx="756900" cy="33412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History</a:t>
            </a:r>
            <a:endParaRPr sz="525" kern="0">
              <a:solidFill>
                <a:srgbClr val="000000"/>
              </a:solidFill>
              <a:latin typeface="Arial"/>
              <a:cs typeface="Arial"/>
              <a:sym typeface="Arial"/>
            </a:endParaRPr>
          </a:p>
        </p:txBody>
      </p:sp>
      <p:sp>
        <p:nvSpPr>
          <p:cNvPr id="55" name="Shape 164"/>
          <p:cNvSpPr/>
          <p:nvPr/>
        </p:nvSpPr>
        <p:spPr>
          <a:xfrm>
            <a:off x="1958422" y="2748000"/>
            <a:ext cx="756900" cy="3768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600"/>
            </a:pPr>
            <a:r>
              <a:rPr lang="en-US" sz="600" kern="0">
                <a:solidFill>
                  <a:srgbClr val="000000"/>
                </a:solidFill>
                <a:latin typeface="Arial"/>
                <a:ea typeface="Arial"/>
                <a:cs typeface="Arial"/>
                <a:sym typeface="Arial"/>
              </a:rPr>
              <a:t>Micro Event Batch</a:t>
            </a:r>
            <a:endParaRPr sz="525" kern="0">
              <a:solidFill>
                <a:srgbClr val="000000"/>
              </a:solidFill>
              <a:latin typeface="Arial"/>
              <a:cs typeface="Arial"/>
              <a:sym typeface="Arial"/>
            </a:endParaRPr>
          </a:p>
        </p:txBody>
      </p:sp>
      <p:sp>
        <p:nvSpPr>
          <p:cNvPr id="56" name="Shape 165"/>
          <p:cNvSpPr/>
          <p:nvPr/>
        </p:nvSpPr>
        <p:spPr>
          <a:xfrm>
            <a:off x="956990" y="1703183"/>
            <a:ext cx="877950" cy="32332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cs typeface="Arial"/>
                <a:sym typeface="Arial"/>
              </a:rPr>
              <a:t>Metadata Driven Templates</a:t>
            </a:r>
            <a:endParaRPr sz="525" kern="0" dirty="0">
              <a:solidFill>
                <a:srgbClr val="000000"/>
              </a:solidFill>
              <a:latin typeface="Arial"/>
              <a:cs typeface="Arial"/>
              <a:sym typeface="Arial"/>
            </a:endParaRPr>
          </a:p>
        </p:txBody>
      </p:sp>
      <p:sp>
        <p:nvSpPr>
          <p:cNvPr id="57" name="Shape 166"/>
          <p:cNvSpPr/>
          <p:nvPr/>
        </p:nvSpPr>
        <p:spPr>
          <a:xfrm>
            <a:off x="976084" y="1358350"/>
            <a:ext cx="866813" cy="2472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ea typeface="Arial"/>
                <a:cs typeface="Arial"/>
                <a:sym typeface="Arial"/>
              </a:rPr>
              <a:t>Source Identification</a:t>
            </a:r>
            <a:endParaRPr sz="525" kern="0" dirty="0">
              <a:solidFill>
                <a:srgbClr val="000000"/>
              </a:solidFill>
              <a:latin typeface="Arial"/>
              <a:cs typeface="Arial"/>
              <a:sym typeface="Arial"/>
            </a:endParaRPr>
          </a:p>
        </p:txBody>
      </p:sp>
      <p:sp>
        <p:nvSpPr>
          <p:cNvPr id="58" name="Shape 167"/>
          <p:cNvSpPr/>
          <p:nvPr/>
        </p:nvSpPr>
        <p:spPr>
          <a:xfrm>
            <a:off x="956984" y="2591382"/>
            <a:ext cx="877950" cy="3195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Data Mapping</a:t>
            </a:r>
            <a:endParaRPr sz="525" kern="0">
              <a:solidFill>
                <a:srgbClr val="000000"/>
              </a:solidFill>
              <a:latin typeface="Arial"/>
              <a:cs typeface="Arial"/>
              <a:sym typeface="Arial"/>
            </a:endParaRPr>
          </a:p>
          <a:p>
            <a:pPr defTabSz="342900">
              <a:buClr>
                <a:srgbClr val="000000"/>
              </a:buClr>
              <a:buSzPts val="1600"/>
            </a:pPr>
            <a:r>
              <a:rPr lang="en-US" sz="600" kern="0">
                <a:solidFill>
                  <a:srgbClr val="000000"/>
                </a:solidFill>
                <a:latin typeface="Arial"/>
                <a:cs typeface="Arial"/>
                <a:sym typeface="Arial"/>
              </a:rPr>
              <a:t>	Catalog</a:t>
            </a:r>
            <a:endParaRPr sz="600" kern="0">
              <a:solidFill>
                <a:srgbClr val="000000"/>
              </a:solidFill>
              <a:latin typeface="Arial"/>
              <a:ea typeface="Arial"/>
              <a:cs typeface="Arial"/>
              <a:sym typeface="Arial"/>
            </a:endParaRPr>
          </a:p>
        </p:txBody>
      </p:sp>
      <p:sp>
        <p:nvSpPr>
          <p:cNvPr id="59" name="Shape 168"/>
          <p:cNvSpPr/>
          <p:nvPr/>
        </p:nvSpPr>
        <p:spPr>
          <a:xfrm>
            <a:off x="3036718" y="2425405"/>
            <a:ext cx="897413" cy="4632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Define Filter and Column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p:txBody>
      </p:sp>
      <p:sp>
        <p:nvSpPr>
          <p:cNvPr id="60" name="Shape 169"/>
          <p:cNvSpPr/>
          <p:nvPr/>
        </p:nvSpPr>
        <p:spPr>
          <a:xfrm>
            <a:off x="976032" y="2130579"/>
            <a:ext cx="839813" cy="3249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cs typeface="Arial"/>
                <a:sym typeface="Arial"/>
              </a:rPr>
              <a:t>Pushdown Optimization where possible</a:t>
            </a:r>
            <a:endParaRPr sz="525" kern="0" dirty="0">
              <a:solidFill>
                <a:srgbClr val="000000"/>
              </a:solidFill>
              <a:latin typeface="Arial"/>
              <a:cs typeface="Arial"/>
              <a:sym typeface="Arial"/>
            </a:endParaRPr>
          </a:p>
        </p:txBody>
      </p:sp>
      <p:sp>
        <p:nvSpPr>
          <p:cNvPr id="61" name="Shape 170"/>
          <p:cNvSpPr/>
          <p:nvPr/>
        </p:nvSpPr>
        <p:spPr>
          <a:xfrm>
            <a:off x="2932259"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Raw  Layer</a:t>
            </a:r>
            <a:endParaRPr sz="900" b="1" kern="0">
              <a:solidFill>
                <a:srgbClr val="FFFFFF"/>
              </a:solidFill>
              <a:latin typeface="Arial"/>
              <a:cs typeface="Arial"/>
              <a:sym typeface="Arial"/>
            </a:endParaRPr>
          </a:p>
        </p:txBody>
      </p:sp>
      <p:sp>
        <p:nvSpPr>
          <p:cNvPr id="62" name="Shape 171"/>
          <p:cNvSpPr/>
          <p:nvPr/>
        </p:nvSpPr>
        <p:spPr>
          <a:xfrm>
            <a:off x="3073711" y="1369947"/>
            <a:ext cx="845888" cy="4507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Raw Data Layer Design  </a:t>
            </a:r>
            <a:endParaRPr sz="525" kern="0">
              <a:solidFill>
                <a:srgbClr val="000000"/>
              </a:solidFill>
              <a:latin typeface="Arial"/>
              <a:cs typeface="Arial"/>
              <a:sym typeface="Arial"/>
            </a:endParaRPr>
          </a:p>
        </p:txBody>
      </p:sp>
      <p:sp>
        <p:nvSpPr>
          <p:cNvPr id="63" name="Shape 172"/>
          <p:cNvSpPr/>
          <p:nvPr/>
        </p:nvSpPr>
        <p:spPr>
          <a:xfrm>
            <a:off x="3073711" y="1895506"/>
            <a:ext cx="845888" cy="3897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Raw Data </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Merge</a:t>
            </a:r>
            <a:endParaRPr sz="525" kern="0">
              <a:solidFill>
                <a:srgbClr val="000000"/>
              </a:solidFill>
              <a:latin typeface="Arial"/>
              <a:cs typeface="Arial"/>
              <a:sym typeface="Arial"/>
            </a:endParaRPr>
          </a:p>
        </p:txBody>
      </p:sp>
      <p:sp>
        <p:nvSpPr>
          <p:cNvPr id="64" name="Shape 173"/>
          <p:cNvSpPr/>
          <p:nvPr/>
        </p:nvSpPr>
        <p:spPr>
          <a:xfrm>
            <a:off x="4224137" y="1011806"/>
            <a:ext cx="1189350"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dirty="0">
                <a:solidFill>
                  <a:srgbClr val="FFFFFF"/>
                </a:solidFill>
                <a:latin typeface="Arial"/>
                <a:cs typeface="Arial"/>
                <a:sym typeface="Arial"/>
              </a:rPr>
              <a:t>Transform Layer</a:t>
            </a:r>
            <a:endParaRPr sz="900" b="1" kern="0" dirty="0">
              <a:solidFill>
                <a:srgbClr val="FFFFFF"/>
              </a:solidFill>
              <a:latin typeface="Arial"/>
              <a:cs typeface="Arial"/>
              <a:sym typeface="Arial"/>
            </a:endParaRPr>
          </a:p>
        </p:txBody>
      </p:sp>
      <p:sp>
        <p:nvSpPr>
          <p:cNvPr id="65" name="Shape 174"/>
          <p:cNvSpPr/>
          <p:nvPr/>
        </p:nvSpPr>
        <p:spPr>
          <a:xfrm>
            <a:off x="4348283" y="1358306"/>
            <a:ext cx="941063" cy="3958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Hash Key &amp; Xref Design</a:t>
            </a:r>
            <a:endParaRPr sz="525" kern="0">
              <a:solidFill>
                <a:srgbClr val="000000"/>
              </a:solidFill>
              <a:latin typeface="Arial"/>
              <a:cs typeface="Arial"/>
              <a:sym typeface="Arial"/>
            </a:endParaRPr>
          </a:p>
        </p:txBody>
      </p:sp>
      <p:sp>
        <p:nvSpPr>
          <p:cNvPr id="66" name="Shape 175"/>
          <p:cNvSpPr/>
          <p:nvPr/>
        </p:nvSpPr>
        <p:spPr>
          <a:xfrm>
            <a:off x="4348283" y="1814373"/>
            <a:ext cx="941063" cy="3573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 Data Libraries (UDF)</a:t>
            </a:r>
            <a:endParaRPr sz="525" kern="0">
              <a:solidFill>
                <a:srgbClr val="000000"/>
              </a:solidFill>
              <a:latin typeface="Arial"/>
              <a:cs typeface="Arial"/>
              <a:sym typeface="Arial"/>
            </a:endParaRPr>
          </a:p>
        </p:txBody>
      </p:sp>
      <p:sp>
        <p:nvSpPr>
          <p:cNvPr id="67" name="Shape 176"/>
          <p:cNvSpPr/>
          <p:nvPr/>
        </p:nvSpPr>
        <p:spPr>
          <a:xfrm>
            <a:off x="4348285" y="2262651"/>
            <a:ext cx="941063" cy="3291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Incremental </a:t>
            </a:r>
            <a:r>
              <a:rPr lang="en-US" sz="675" kern="0" dirty="0" err="1">
                <a:solidFill>
                  <a:srgbClr val="000000"/>
                </a:solidFill>
                <a:latin typeface="Arial"/>
                <a:ea typeface="Arial"/>
                <a:cs typeface="Arial"/>
                <a:sym typeface="Arial"/>
              </a:rPr>
              <a:t>Xref</a:t>
            </a:r>
            <a:r>
              <a:rPr lang="en-US" sz="675" kern="0" dirty="0">
                <a:solidFill>
                  <a:srgbClr val="000000"/>
                </a:solidFill>
                <a:latin typeface="Arial"/>
                <a:ea typeface="Arial"/>
                <a:cs typeface="Arial"/>
                <a:sym typeface="Arial"/>
              </a:rPr>
              <a:t> Data Load</a:t>
            </a:r>
            <a:endParaRPr sz="525" kern="0" dirty="0">
              <a:solidFill>
                <a:srgbClr val="000000"/>
              </a:solidFill>
              <a:latin typeface="Arial"/>
              <a:cs typeface="Arial"/>
              <a:sym typeface="Arial"/>
            </a:endParaRPr>
          </a:p>
          <a:p>
            <a:pPr algn="ctr" defTabSz="342900">
              <a:buClr>
                <a:srgbClr val="000000"/>
              </a:buClr>
              <a:buSzPts val="1800"/>
            </a:pPr>
            <a:endParaRPr sz="675" kern="0" dirty="0">
              <a:solidFill>
                <a:srgbClr val="000000"/>
              </a:solidFill>
              <a:latin typeface="Arial"/>
              <a:ea typeface="Arial"/>
              <a:cs typeface="Arial"/>
              <a:sym typeface="Arial"/>
            </a:endParaRPr>
          </a:p>
        </p:txBody>
      </p:sp>
      <p:sp>
        <p:nvSpPr>
          <p:cNvPr id="68" name="Shape 177"/>
          <p:cNvSpPr/>
          <p:nvPr/>
        </p:nvSpPr>
        <p:spPr>
          <a:xfrm>
            <a:off x="1958424" y="1358350"/>
            <a:ext cx="756900" cy="42322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ea typeface="Arial"/>
                <a:cs typeface="Arial"/>
                <a:sym typeface="Arial"/>
              </a:rPr>
              <a:t>Ingestion</a:t>
            </a:r>
            <a:endParaRPr sz="525" kern="0" dirty="0">
              <a:solidFill>
                <a:srgbClr val="000000"/>
              </a:solidFill>
              <a:latin typeface="Arial"/>
              <a:cs typeface="Arial"/>
              <a:sym typeface="Arial"/>
            </a:endParaRPr>
          </a:p>
          <a:p>
            <a:pPr algn="ctr" defTabSz="342900">
              <a:buClr>
                <a:srgbClr val="000000"/>
              </a:buClr>
              <a:buSzPts val="1600"/>
            </a:pPr>
            <a:r>
              <a:rPr lang="en-US" sz="600" kern="0" dirty="0">
                <a:solidFill>
                  <a:srgbClr val="000000"/>
                </a:solidFill>
                <a:latin typeface="Arial"/>
                <a:ea typeface="Arial"/>
                <a:cs typeface="Arial"/>
                <a:sym typeface="Arial"/>
              </a:rPr>
              <a:t>Standardization Template</a:t>
            </a:r>
            <a:endParaRPr sz="525" kern="0" dirty="0">
              <a:solidFill>
                <a:srgbClr val="000000"/>
              </a:solidFill>
              <a:latin typeface="Arial"/>
              <a:cs typeface="Arial"/>
              <a:sym typeface="Arial"/>
            </a:endParaRPr>
          </a:p>
        </p:txBody>
      </p:sp>
      <p:sp>
        <p:nvSpPr>
          <p:cNvPr id="69" name="Shape 178"/>
          <p:cNvSpPr/>
          <p:nvPr/>
        </p:nvSpPr>
        <p:spPr>
          <a:xfrm>
            <a:off x="4348285" y="2665559"/>
            <a:ext cx="941063" cy="3291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Xref</a:t>
            </a:r>
            <a:endParaRPr sz="675" kern="0">
              <a:solidFill>
                <a:srgbClr val="000000"/>
              </a:solidFill>
              <a:latin typeface="Arial"/>
              <a:ea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 Rebuild</a:t>
            </a:r>
            <a:endParaRPr sz="525" kern="0">
              <a:solidFill>
                <a:srgbClr val="000000"/>
              </a:solidFill>
              <a:latin typeface="Arial"/>
              <a:cs typeface="Arial"/>
              <a:sym typeface="Arial"/>
            </a:endParaRPr>
          </a:p>
        </p:txBody>
      </p:sp>
      <p:sp>
        <p:nvSpPr>
          <p:cNvPr id="70" name="Shape 179"/>
          <p:cNvSpPr/>
          <p:nvPr/>
        </p:nvSpPr>
        <p:spPr>
          <a:xfrm>
            <a:off x="4348285" y="3060374"/>
            <a:ext cx="941063" cy="3291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Merge</a:t>
            </a:r>
            <a:endParaRPr sz="525" kern="0">
              <a:solidFill>
                <a:srgbClr val="000000"/>
              </a:solidFill>
              <a:latin typeface="Arial"/>
              <a:cs typeface="Arial"/>
              <a:sym typeface="Arial"/>
            </a:endParaRPr>
          </a:p>
        </p:txBody>
      </p:sp>
      <p:sp>
        <p:nvSpPr>
          <p:cNvPr id="71" name="Shape 180"/>
          <p:cNvSpPr/>
          <p:nvPr/>
        </p:nvSpPr>
        <p:spPr>
          <a:xfrm>
            <a:off x="4348285" y="3469060"/>
            <a:ext cx="941063" cy="35730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Transformation</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Tables Definition</a:t>
            </a:r>
            <a:endParaRPr sz="525" kern="0">
              <a:solidFill>
                <a:srgbClr val="000000"/>
              </a:solidFill>
              <a:latin typeface="Arial"/>
              <a:cs typeface="Arial"/>
              <a:sym typeface="Arial"/>
            </a:endParaRPr>
          </a:p>
        </p:txBody>
      </p:sp>
      <p:sp>
        <p:nvSpPr>
          <p:cNvPr id="72" name="Shape 181"/>
          <p:cNvSpPr/>
          <p:nvPr/>
        </p:nvSpPr>
        <p:spPr>
          <a:xfrm>
            <a:off x="5766725"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Consolidation</a:t>
            </a:r>
            <a:endParaRPr sz="900" b="1" kern="0">
              <a:solidFill>
                <a:srgbClr val="FFFFFF"/>
              </a:solidFill>
              <a:latin typeface="Arial"/>
              <a:cs typeface="Arial"/>
              <a:sym typeface="Arial"/>
            </a:endParaRPr>
          </a:p>
          <a:p>
            <a:pPr algn="ctr" defTabSz="342900">
              <a:buClr>
                <a:srgbClr val="000000"/>
              </a:buClr>
              <a:buSzPts val="1800"/>
            </a:pPr>
            <a:r>
              <a:rPr lang="en-US" sz="900" b="1" kern="0">
                <a:solidFill>
                  <a:srgbClr val="FFFFFF"/>
                </a:solidFill>
                <a:latin typeface="Arial"/>
                <a:cs typeface="Arial"/>
                <a:sym typeface="Arial"/>
              </a:rPr>
              <a:t> Layer</a:t>
            </a:r>
            <a:endParaRPr sz="900" b="1" kern="0">
              <a:solidFill>
                <a:srgbClr val="FFFFFF"/>
              </a:solidFill>
              <a:latin typeface="Arial"/>
              <a:cs typeface="Arial"/>
              <a:sym typeface="Arial"/>
            </a:endParaRPr>
          </a:p>
        </p:txBody>
      </p:sp>
      <p:sp>
        <p:nvSpPr>
          <p:cNvPr id="73" name="Shape 182"/>
          <p:cNvSpPr/>
          <p:nvPr/>
        </p:nvSpPr>
        <p:spPr>
          <a:xfrm>
            <a:off x="5864154" y="1388449"/>
            <a:ext cx="913838" cy="3931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Consolidation Data Layer Design</a:t>
            </a:r>
            <a:endParaRPr sz="525" kern="0">
              <a:solidFill>
                <a:srgbClr val="000000"/>
              </a:solidFill>
              <a:latin typeface="Arial"/>
              <a:cs typeface="Arial"/>
              <a:sym typeface="Arial"/>
            </a:endParaRPr>
          </a:p>
        </p:txBody>
      </p:sp>
      <p:sp>
        <p:nvSpPr>
          <p:cNvPr id="74" name="Shape 183"/>
          <p:cNvSpPr/>
          <p:nvPr/>
        </p:nvSpPr>
        <p:spPr>
          <a:xfrm>
            <a:off x="5864154" y="1863355"/>
            <a:ext cx="913838" cy="458550"/>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Derivation &amp; Calculation Design</a:t>
            </a:r>
            <a:endParaRPr sz="525" kern="0">
              <a:solidFill>
                <a:srgbClr val="000000"/>
              </a:solidFill>
              <a:latin typeface="Arial"/>
              <a:cs typeface="Arial"/>
              <a:sym typeface="Arial"/>
            </a:endParaRPr>
          </a:p>
        </p:txBody>
      </p:sp>
      <p:sp>
        <p:nvSpPr>
          <p:cNvPr id="75" name="Shape 184"/>
          <p:cNvSpPr/>
          <p:nvPr/>
        </p:nvSpPr>
        <p:spPr>
          <a:xfrm>
            <a:off x="5864154" y="2453232"/>
            <a:ext cx="913838" cy="2968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Consolidation  Layer  Load</a:t>
            </a:r>
            <a:endParaRPr sz="525" kern="0">
              <a:solidFill>
                <a:srgbClr val="000000"/>
              </a:solidFill>
              <a:latin typeface="Arial"/>
              <a:cs typeface="Arial"/>
              <a:sym typeface="Arial"/>
            </a:endParaRPr>
          </a:p>
        </p:txBody>
      </p:sp>
      <p:sp>
        <p:nvSpPr>
          <p:cNvPr id="76" name="Shape 185"/>
          <p:cNvSpPr/>
          <p:nvPr/>
        </p:nvSpPr>
        <p:spPr>
          <a:xfrm>
            <a:off x="5864154" y="2856192"/>
            <a:ext cx="913838" cy="41613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Dimension  Hierarchy Pre Join Load</a:t>
            </a:r>
            <a:endParaRPr sz="525" kern="0" dirty="0">
              <a:solidFill>
                <a:srgbClr val="000000"/>
              </a:solidFill>
              <a:latin typeface="Arial"/>
              <a:cs typeface="Arial"/>
              <a:sym typeface="Arial"/>
            </a:endParaRPr>
          </a:p>
        </p:txBody>
      </p:sp>
      <p:sp>
        <p:nvSpPr>
          <p:cNvPr id="77" name="Shape 186"/>
          <p:cNvSpPr/>
          <p:nvPr/>
        </p:nvSpPr>
        <p:spPr>
          <a:xfrm>
            <a:off x="7226292" y="1011806"/>
            <a:ext cx="1106325" cy="296888"/>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a:solidFill>
                  <a:srgbClr val="FFFFFF"/>
                </a:solidFill>
                <a:latin typeface="Arial"/>
                <a:cs typeface="Arial"/>
                <a:sym typeface="Arial"/>
              </a:rPr>
              <a:t>Aggregate /</a:t>
            </a:r>
            <a:endParaRPr sz="900" b="1" kern="0">
              <a:solidFill>
                <a:srgbClr val="FFFFFF"/>
              </a:solidFill>
              <a:latin typeface="Arial"/>
              <a:cs typeface="Arial"/>
              <a:sym typeface="Arial"/>
            </a:endParaRPr>
          </a:p>
          <a:p>
            <a:pPr algn="ctr" defTabSz="342900">
              <a:buClr>
                <a:srgbClr val="000000"/>
              </a:buClr>
              <a:buSzPts val="1800"/>
            </a:pPr>
            <a:r>
              <a:rPr lang="en-US" sz="900" b="1" kern="0">
                <a:solidFill>
                  <a:srgbClr val="FFFFFF"/>
                </a:solidFill>
                <a:latin typeface="Arial"/>
                <a:cs typeface="Arial"/>
                <a:sym typeface="Arial"/>
              </a:rPr>
              <a:t>Data Access</a:t>
            </a:r>
            <a:endParaRPr sz="900" b="1" kern="0">
              <a:solidFill>
                <a:srgbClr val="FFFFFF"/>
              </a:solidFill>
              <a:latin typeface="Arial"/>
              <a:cs typeface="Arial"/>
              <a:sym typeface="Arial"/>
            </a:endParaRPr>
          </a:p>
        </p:txBody>
      </p:sp>
      <p:sp>
        <p:nvSpPr>
          <p:cNvPr id="78" name="Shape 187"/>
          <p:cNvSpPr/>
          <p:nvPr/>
        </p:nvSpPr>
        <p:spPr>
          <a:xfrm>
            <a:off x="7431558" y="1412224"/>
            <a:ext cx="812588" cy="399263"/>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Data Layer Design</a:t>
            </a:r>
            <a:endParaRPr sz="525" kern="0">
              <a:solidFill>
                <a:srgbClr val="000000"/>
              </a:solidFill>
              <a:latin typeface="Arial"/>
              <a:cs typeface="Arial"/>
              <a:sym typeface="Arial"/>
            </a:endParaRPr>
          </a:p>
        </p:txBody>
      </p:sp>
      <p:sp>
        <p:nvSpPr>
          <p:cNvPr id="79" name="Shape 188"/>
          <p:cNvSpPr/>
          <p:nvPr/>
        </p:nvSpPr>
        <p:spPr>
          <a:xfrm>
            <a:off x="7431558" y="1889380"/>
            <a:ext cx="812588" cy="461813"/>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Alternate Hierarchy</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Xref Design</a:t>
            </a:r>
            <a:endParaRPr sz="525" kern="0">
              <a:solidFill>
                <a:srgbClr val="000000"/>
              </a:solidFill>
              <a:latin typeface="Arial"/>
              <a:cs typeface="Arial"/>
              <a:sym typeface="Arial"/>
            </a:endParaRPr>
          </a:p>
        </p:txBody>
      </p:sp>
      <p:sp>
        <p:nvSpPr>
          <p:cNvPr id="80" name="Shape 189"/>
          <p:cNvSpPr/>
          <p:nvPr/>
        </p:nvSpPr>
        <p:spPr>
          <a:xfrm>
            <a:off x="7431558" y="2412190"/>
            <a:ext cx="812588" cy="2968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Load</a:t>
            </a:r>
            <a:endParaRPr sz="525" kern="0">
              <a:solidFill>
                <a:srgbClr val="000000"/>
              </a:solidFill>
              <a:latin typeface="Arial"/>
              <a:cs typeface="Arial"/>
              <a:sym typeface="Arial"/>
            </a:endParaRPr>
          </a:p>
        </p:txBody>
      </p:sp>
      <p:sp>
        <p:nvSpPr>
          <p:cNvPr id="81" name="Shape 190"/>
          <p:cNvSpPr/>
          <p:nvPr/>
        </p:nvSpPr>
        <p:spPr>
          <a:xfrm>
            <a:off x="7431558" y="2805125"/>
            <a:ext cx="812588" cy="2968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Blended Data Load</a:t>
            </a:r>
            <a:endParaRPr sz="525" kern="0">
              <a:solidFill>
                <a:srgbClr val="000000"/>
              </a:solidFill>
              <a:latin typeface="Arial"/>
              <a:cs typeface="Arial"/>
              <a:sym typeface="Arial"/>
            </a:endParaRPr>
          </a:p>
        </p:txBody>
      </p:sp>
      <p:sp>
        <p:nvSpPr>
          <p:cNvPr id="82" name="Shape 191"/>
          <p:cNvSpPr/>
          <p:nvPr/>
        </p:nvSpPr>
        <p:spPr>
          <a:xfrm>
            <a:off x="5872342" y="3390110"/>
            <a:ext cx="897413" cy="393188"/>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Design for Metric Calculation by Hierarchies</a:t>
            </a:r>
            <a:endParaRPr sz="525" kern="0">
              <a:solidFill>
                <a:srgbClr val="000000"/>
              </a:solidFill>
              <a:latin typeface="Arial"/>
              <a:cs typeface="Arial"/>
              <a:sym typeface="Arial"/>
            </a:endParaRPr>
          </a:p>
        </p:txBody>
      </p:sp>
      <p:sp>
        <p:nvSpPr>
          <p:cNvPr id="83" name="Shape 192"/>
          <p:cNvSpPr/>
          <p:nvPr/>
        </p:nvSpPr>
        <p:spPr>
          <a:xfrm>
            <a:off x="7431558" y="3191610"/>
            <a:ext cx="812588" cy="3633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Aggregate Publish</a:t>
            </a:r>
            <a:endParaRPr sz="525" kern="0">
              <a:solidFill>
                <a:srgbClr val="000000"/>
              </a:solidFill>
              <a:latin typeface="Arial"/>
              <a:cs typeface="Arial"/>
              <a:sym typeface="Arial"/>
            </a:endParaRPr>
          </a:p>
          <a:p>
            <a:pPr algn="ctr" defTabSz="342900">
              <a:buClr>
                <a:srgbClr val="000000"/>
              </a:buClr>
              <a:buSzPts val="1800"/>
            </a:pPr>
            <a:r>
              <a:rPr lang="en-US" sz="675" kern="0">
                <a:solidFill>
                  <a:srgbClr val="000000"/>
                </a:solidFill>
                <a:latin typeface="Arial"/>
                <a:ea typeface="Arial"/>
                <a:cs typeface="Arial"/>
                <a:sym typeface="Arial"/>
              </a:rPr>
              <a:t>Load</a:t>
            </a:r>
            <a:endParaRPr sz="525" kern="0">
              <a:solidFill>
                <a:srgbClr val="000000"/>
              </a:solidFill>
              <a:latin typeface="Arial"/>
              <a:cs typeface="Arial"/>
              <a:sym typeface="Arial"/>
            </a:endParaRPr>
          </a:p>
        </p:txBody>
      </p:sp>
      <p:sp>
        <p:nvSpPr>
          <p:cNvPr id="84" name="Shape 193"/>
          <p:cNvSpPr/>
          <p:nvPr/>
        </p:nvSpPr>
        <p:spPr>
          <a:xfrm>
            <a:off x="982139" y="1015519"/>
            <a:ext cx="1507656" cy="293175"/>
          </a:xfrm>
          <a:prstGeom prst="roundRect">
            <a:avLst>
              <a:gd name="adj" fmla="val 16667"/>
            </a:avLst>
          </a:prstGeom>
          <a:solidFill>
            <a:srgbClr val="93C47D"/>
          </a:solidFill>
          <a:ln w="25400" cap="flat" cmpd="sng">
            <a:solidFill>
              <a:schemeClr val="dk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900" b="1" kern="0" dirty="0">
                <a:solidFill>
                  <a:srgbClr val="FFFFFF"/>
                </a:solidFill>
                <a:latin typeface="Arial"/>
                <a:cs typeface="Arial"/>
                <a:sym typeface="Arial"/>
              </a:rPr>
              <a:t>Ingestion</a:t>
            </a:r>
            <a:endParaRPr sz="900" b="1" kern="0" dirty="0">
              <a:solidFill>
                <a:srgbClr val="FFFFFF"/>
              </a:solidFill>
              <a:latin typeface="Arial"/>
              <a:cs typeface="Arial"/>
              <a:sym typeface="Arial"/>
            </a:endParaRPr>
          </a:p>
        </p:txBody>
      </p:sp>
      <p:sp>
        <p:nvSpPr>
          <p:cNvPr id="85" name="Shape 194"/>
          <p:cNvSpPr/>
          <p:nvPr/>
        </p:nvSpPr>
        <p:spPr>
          <a:xfrm>
            <a:off x="768779" y="3873019"/>
            <a:ext cx="7262006" cy="153025"/>
          </a:xfrm>
          <a:prstGeom prst="roundRect">
            <a:avLst>
              <a:gd name="adj" fmla="val 16667"/>
            </a:avLst>
          </a:prstGeom>
          <a:solidFill>
            <a:srgbClr val="0070C0"/>
          </a:solidFill>
          <a:ln>
            <a:noFill/>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FFFFFF"/>
              </a:buClr>
              <a:buSzPts val="1800"/>
            </a:pPr>
            <a:r>
              <a:rPr lang="en-US" sz="900" b="1" kern="0" dirty="0">
                <a:solidFill>
                  <a:srgbClr val="FFFFFF"/>
                </a:solidFill>
                <a:latin typeface="Arial"/>
                <a:ea typeface="Arial"/>
                <a:cs typeface="Arial"/>
                <a:sym typeface="Arial"/>
              </a:rPr>
              <a:t>Infrastructure and Data Management</a:t>
            </a:r>
            <a:endParaRPr sz="700" b="1" kern="0" dirty="0">
              <a:solidFill>
                <a:srgbClr val="000000"/>
              </a:solidFill>
              <a:latin typeface="Arial"/>
              <a:cs typeface="Arial"/>
              <a:sym typeface="Arial"/>
            </a:endParaRPr>
          </a:p>
        </p:txBody>
      </p:sp>
      <p:sp>
        <p:nvSpPr>
          <p:cNvPr id="86" name="Shape 195"/>
          <p:cNvSpPr/>
          <p:nvPr/>
        </p:nvSpPr>
        <p:spPr>
          <a:xfrm>
            <a:off x="1947070" y="3191610"/>
            <a:ext cx="779625" cy="376875"/>
          </a:xfrm>
          <a:prstGeom prst="roundRect">
            <a:avLst>
              <a:gd name="adj" fmla="val 16667"/>
            </a:avLst>
          </a:prstGeom>
          <a:solidFill>
            <a:schemeClr val="bg1">
              <a:lumMod val="85000"/>
            </a:schemeClr>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a:solidFill>
                  <a:srgbClr val="000000"/>
                </a:solidFill>
                <a:latin typeface="Arial"/>
                <a:ea typeface="Arial"/>
                <a:cs typeface="Arial"/>
                <a:sym typeface="Arial"/>
              </a:rPr>
              <a:t>Ingestion</a:t>
            </a:r>
            <a:endParaRPr sz="525" kern="0">
              <a:solidFill>
                <a:srgbClr val="000000"/>
              </a:solidFill>
              <a:latin typeface="Arial"/>
              <a:cs typeface="Arial"/>
              <a:sym typeface="Arial"/>
            </a:endParaRPr>
          </a:p>
          <a:p>
            <a:pPr algn="ctr" defTabSz="342900">
              <a:buClr>
                <a:srgbClr val="000000"/>
              </a:buClr>
              <a:buSzPts val="1600"/>
            </a:pPr>
            <a:r>
              <a:rPr lang="en-US" sz="600" kern="0">
                <a:solidFill>
                  <a:srgbClr val="000000"/>
                </a:solidFill>
                <a:latin typeface="Arial"/>
                <a:ea typeface="Arial"/>
                <a:cs typeface="Arial"/>
                <a:sym typeface="Arial"/>
              </a:rPr>
              <a:t>Real time</a:t>
            </a:r>
            <a:endParaRPr sz="525" kern="0">
              <a:solidFill>
                <a:srgbClr val="000000"/>
              </a:solidFill>
              <a:latin typeface="Arial"/>
              <a:cs typeface="Arial"/>
              <a:sym typeface="Arial"/>
            </a:endParaRPr>
          </a:p>
        </p:txBody>
      </p:sp>
      <p:sp>
        <p:nvSpPr>
          <p:cNvPr id="87" name="Shape 196"/>
          <p:cNvSpPr/>
          <p:nvPr/>
        </p:nvSpPr>
        <p:spPr>
          <a:xfrm>
            <a:off x="2319242"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ea typeface="Arial"/>
                <a:cs typeface="Arial"/>
                <a:sym typeface="Arial"/>
              </a:rPr>
              <a:t>1</a:t>
            </a:r>
            <a:endParaRPr sz="525" kern="0">
              <a:solidFill>
                <a:srgbClr val="FFFFFF"/>
              </a:solidFill>
              <a:latin typeface="Arial"/>
              <a:cs typeface="Arial"/>
              <a:sym typeface="Arial"/>
            </a:endParaRPr>
          </a:p>
        </p:txBody>
      </p:sp>
      <p:sp>
        <p:nvSpPr>
          <p:cNvPr id="88" name="Shape 197"/>
          <p:cNvSpPr/>
          <p:nvPr/>
        </p:nvSpPr>
        <p:spPr>
          <a:xfrm>
            <a:off x="3809656"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2</a:t>
            </a:r>
            <a:endParaRPr sz="525" kern="0">
              <a:solidFill>
                <a:srgbClr val="FFFFFF"/>
              </a:solidFill>
              <a:latin typeface="Arial"/>
              <a:cs typeface="Arial"/>
              <a:sym typeface="Arial"/>
            </a:endParaRPr>
          </a:p>
        </p:txBody>
      </p:sp>
      <p:sp>
        <p:nvSpPr>
          <p:cNvPr id="89" name="Shape 198"/>
          <p:cNvSpPr/>
          <p:nvPr/>
        </p:nvSpPr>
        <p:spPr>
          <a:xfrm>
            <a:off x="5271528" y="893795"/>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3</a:t>
            </a:r>
            <a:endParaRPr sz="525" kern="0">
              <a:solidFill>
                <a:srgbClr val="FFFFFF"/>
              </a:solidFill>
              <a:latin typeface="Arial"/>
              <a:cs typeface="Arial"/>
              <a:sym typeface="Arial"/>
            </a:endParaRPr>
          </a:p>
        </p:txBody>
      </p:sp>
      <p:sp>
        <p:nvSpPr>
          <p:cNvPr id="90" name="Shape 199"/>
          <p:cNvSpPr/>
          <p:nvPr/>
        </p:nvSpPr>
        <p:spPr>
          <a:xfrm>
            <a:off x="6698609"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4</a:t>
            </a:r>
            <a:endParaRPr sz="525" kern="0">
              <a:solidFill>
                <a:srgbClr val="FFFFFF"/>
              </a:solidFill>
              <a:latin typeface="Arial"/>
              <a:cs typeface="Arial"/>
              <a:sym typeface="Arial"/>
            </a:endParaRPr>
          </a:p>
        </p:txBody>
      </p:sp>
      <p:sp>
        <p:nvSpPr>
          <p:cNvPr id="91" name="Shape 200"/>
          <p:cNvSpPr/>
          <p:nvPr/>
        </p:nvSpPr>
        <p:spPr>
          <a:xfrm>
            <a:off x="8138099" y="903226"/>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a:solidFill>
                  <a:srgbClr val="FFFFFF"/>
                </a:solidFill>
                <a:latin typeface="Arial"/>
                <a:cs typeface="Arial"/>
                <a:sym typeface="Arial"/>
              </a:rPr>
              <a:t>5</a:t>
            </a:r>
            <a:endParaRPr sz="525" kern="0">
              <a:solidFill>
                <a:srgbClr val="FFFFFF"/>
              </a:solidFill>
              <a:latin typeface="Arial"/>
              <a:cs typeface="Arial"/>
              <a:sym typeface="Arial"/>
            </a:endParaRPr>
          </a:p>
        </p:txBody>
      </p:sp>
      <p:sp>
        <p:nvSpPr>
          <p:cNvPr id="92" name="Shape 200"/>
          <p:cNvSpPr/>
          <p:nvPr/>
        </p:nvSpPr>
        <p:spPr>
          <a:xfrm>
            <a:off x="7895719" y="3801293"/>
            <a:ext cx="223538" cy="232200"/>
          </a:xfrm>
          <a:prstGeom prst="ellipse">
            <a:avLst/>
          </a:prstGeom>
          <a:solidFill>
            <a:srgbClr val="0000FF"/>
          </a:solidFill>
          <a:ln w="9525" cap="flat" cmpd="sng">
            <a:solidFill>
              <a:srgbClr val="FFFF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34284" tIns="17138" rIns="34284" bIns="17138" anchor="ctr" anchorCtr="0">
            <a:noAutofit/>
          </a:bodyPr>
          <a:lstStyle/>
          <a:p>
            <a:pPr algn="ctr" defTabSz="342900">
              <a:buClr>
                <a:srgbClr val="000000"/>
              </a:buClr>
              <a:buSzPts val="1800"/>
            </a:pPr>
            <a:r>
              <a:rPr lang="en-US" sz="675" b="1" kern="0" dirty="0">
                <a:solidFill>
                  <a:srgbClr val="FFFFFF"/>
                </a:solidFill>
                <a:latin typeface="Arial"/>
                <a:cs typeface="Arial"/>
                <a:sym typeface="Arial"/>
              </a:rPr>
              <a:t>6</a:t>
            </a:r>
            <a:endParaRPr sz="525" kern="0" dirty="0">
              <a:solidFill>
                <a:srgbClr val="FFFFFF"/>
              </a:solidFill>
              <a:latin typeface="Arial"/>
              <a:cs typeface="Arial"/>
              <a:sym typeface="Arial"/>
            </a:endParaRPr>
          </a:p>
        </p:txBody>
      </p:sp>
      <p:pic>
        <p:nvPicPr>
          <p:cNvPr id="1026"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18536" y="1302489"/>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18536" y="1708603"/>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2113" y="1368804"/>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2113" y="1774918"/>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6966" y="2317865"/>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6966" y="2723979"/>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7452" y="1355441"/>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90906" y="2370854"/>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00"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4704" y="1311245"/>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1"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7947" y="2633463"/>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5894" y="3435748"/>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6303" y="3342296"/>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0292" y="1469845"/>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106"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0292" y="1875959"/>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145" y="2418906"/>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8"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145" y="2825020"/>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4687" y="1455279"/>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14"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4687" y="2307965"/>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9540" y="2850912"/>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16"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4687" y="3171113"/>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9974" y="2084159"/>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3299" y="2555608"/>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5353" y="3046785"/>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19867" y="3144731"/>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24334" y="1872524"/>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4704" y="3083544"/>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3078" y="1823910"/>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3861" y="1883213"/>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5772" y="2259153"/>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4739" y="4075319"/>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1327" y="4398323"/>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4406" y="4408356"/>
            <a:ext cx="148856" cy="148856"/>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6503" y="4046938"/>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29"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8369" y="4046753"/>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30"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6269" y="4064678"/>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7512" y="4043336"/>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3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1360" y="4059140"/>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363" y="4403123"/>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34"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1669" y="4415571"/>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6352" y="4421799"/>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1450" y="4415615"/>
            <a:ext cx="186903" cy="186903"/>
          </a:xfrm>
          <a:prstGeom prst="rect">
            <a:avLst/>
          </a:prstGeom>
          <a:noFill/>
          <a:extLst>
            <a:ext uri="{909E8E84-426E-40DD-AFC4-6F175D3DCCD1}">
              <a14:hiddenFill xmlns:a14="http://schemas.microsoft.com/office/drawing/2010/main">
                <a:solidFill>
                  <a:srgbClr val="FFFFFF"/>
                </a:solidFill>
              </a14:hiddenFill>
            </a:ext>
          </a:extLst>
        </p:spPr>
      </p:pic>
      <p:sp>
        <p:nvSpPr>
          <p:cNvPr id="103" name="Shape 194">
            <a:extLst>
              <a:ext uri="{FF2B5EF4-FFF2-40B4-BE49-F238E27FC236}">
                <a16:creationId xmlns:a16="http://schemas.microsoft.com/office/drawing/2014/main" id="{F5087C7C-C0A3-4D94-B236-010704D39EA1}"/>
              </a:ext>
            </a:extLst>
          </p:cNvPr>
          <p:cNvSpPr/>
          <p:nvPr/>
        </p:nvSpPr>
        <p:spPr>
          <a:xfrm rot="16200000">
            <a:off x="-625780" y="2247019"/>
            <a:ext cx="2564256" cy="208347"/>
          </a:xfrm>
          <a:prstGeom prst="roundRect">
            <a:avLst>
              <a:gd name="adj" fmla="val 16667"/>
            </a:avLst>
          </a:prstGeom>
          <a:solidFill>
            <a:srgbClr val="0070C0"/>
          </a:solidFill>
          <a:ln>
            <a:noFill/>
          </a:ln>
          <a:effectLst>
            <a:outerShdw blurRad="63500" sx="102000" sy="102000" algn="ctr" rotWithShape="0">
              <a:srgbClr val="000000">
                <a:alpha val="40000"/>
              </a:srgbClr>
            </a:outerShdw>
          </a:effectLst>
        </p:spPr>
        <p:txBody>
          <a:bodyPr spcFirstLastPara="1" wrap="square" lIns="34284" tIns="17138" rIns="34284" bIns="17138" anchor="ctr" anchorCtr="0">
            <a:noAutofit/>
          </a:bodyPr>
          <a:lstStyle/>
          <a:p>
            <a:pPr algn="ctr" defTabSz="342900">
              <a:buClr>
                <a:srgbClr val="FFFFFF"/>
              </a:buClr>
              <a:buSzPts val="1800"/>
            </a:pPr>
            <a:r>
              <a:rPr lang="en-US" sz="900" b="1" kern="0" dirty="0">
                <a:solidFill>
                  <a:srgbClr val="FFFFFF"/>
                </a:solidFill>
                <a:latin typeface="Arial"/>
                <a:ea typeface="Arial"/>
                <a:cs typeface="Arial"/>
                <a:sym typeface="Arial"/>
              </a:rPr>
              <a:t>Data Pipeline Engineering</a:t>
            </a:r>
            <a:endParaRPr sz="700" b="1" kern="0" dirty="0">
              <a:solidFill>
                <a:srgbClr val="000000"/>
              </a:solidFill>
              <a:latin typeface="Arial"/>
              <a:cs typeface="Arial"/>
              <a:sym typeface="Arial"/>
            </a:endParaRPr>
          </a:p>
        </p:txBody>
      </p:sp>
      <p:grpSp>
        <p:nvGrpSpPr>
          <p:cNvPr id="3" name="Group 2"/>
          <p:cNvGrpSpPr/>
          <p:nvPr/>
        </p:nvGrpSpPr>
        <p:grpSpPr>
          <a:xfrm>
            <a:off x="7087938" y="96759"/>
            <a:ext cx="2007444" cy="652662"/>
            <a:chOff x="7087938" y="96759"/>
            <a:chExt cx="2007444" cy="652662"/>
          </a:xfrm>
        </p:grpSpPr>
        <p:grpSp>
          <p:nvGrpSpPr>
            <p:cNvPr id="141" name="Group 140">
              <a:extLst>
                <a:ext uri="{FF2B5EF4-FFF2-40B4-BE49-F238E27FC236}">
                  <a16:creationId xmlns:a16="http://schemas.microsoft.com/office/drawing/2014/main" id="{93C02397-34EF-4133-B7C5-CD726DD40B7B}"/>
                </a:ext>
              </a:extLst>
            </p:cNvPr>
            <p:cNvGrpSpPr/>
            <p:nvPr/>
          </p:nvGrpSpPr>
          <p:grpSpPr>
            <a:xfrm>
              <a:off x="7087938" y="96759"/>
              <a:ext cx="1980846" cy="652662"/>
              <a:chOff x="6281382" y="2527076"/>
              <a:chExt cx="2683742" cy="865555"/>
            </a:xfrm>
          </p:grpSpPr>
          <p:sp>
            <p:nvSpPr>
              <p:cNvPr id="142" name="Shape 133">
                <a:extLst>
                  <a:ext uri="{FF2B5EF4-FFF2-40B4-BE49-F238E27FC236}">
                    <a16:creationId xmlns:a16="http://schemas.microsoft.com/office/drawing/2014/main" id="{04595CB7-8342-4C11-8CA4-26A20556F2ED}"/>
                  </a:ext>
                </a:extLst>
              </p:cNvPr>
              <p:cNvSpPr txBox="1"/>
              <p:nvPr/>
            </p:nvSpPr>
            <p:spPr>
              <a:xfrm>
                <a:off x="8105221" y="260172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Management</a:t>
                </a:r>
                <a:endParaRPr sz="800" dirty="0">
                  <a:solidFill>
                    <a:schemeClr val="bg1"/>
                  </a:solidFill>
                </a:endParaRPr>
              </a:p>
            </p:txBody>
          </p:sp>
          <p:sp>
            <p:nvSpPr>
              <p:cNvPr id="143" name="Shape 132">
                <a:extLst>
                  <a:ext uri="{FF2B5EF4-FFF2-40B4-BE49-F238E27FC236}">
                    <a16:creationId xmlns:a16="http://schemas.microsoft.com/office/drawing/2014/main" id="{BEA0DD74-1526-462B-A474-F19F3B12035C}"/>
                  </a:ext>
                </a:extLst>
              </p:cNvPr>
              <p:cNvSpPr/>
              <p:nvPr/>
            </p:nvSpPr>
            <p:spPr>
              <a:xfrm>
                <a:off x="8051286" y="2530695"/>
                <a:ext cx="843806" cy="836127"/>
              </a:xfrm>
              <a:prstGeom prst="ellipse">
                <a:avLst/>
              </a:prstGeom>
              <a:solidFill>
                <a:schemeClr val="accent3">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dirty="0">
                  <a:solidFill>
                    <a:schemeClr val="bg1"/>
                  </a:solidFill>
                </a:endParaRPr>
              </a:p>
            </p:txBody>
          </p:sp>
          <p:sp>
            <p:nvSpPr>
              <p:cNvPr id="144" name="Shape 134">
                <a:extLst>
                  <a:ext uri="{FF2B5EF4-FFF2-40B4-BE49-F238E27FC236}">
                    <a16:creationId xmlns:a16="http://schemas.microsoft.com/office/drawing/2014/main" id="{51554935-34E2-4DE9-8D47-37F83A3AB30F}"/>
                  </a:ext>
                </a:extLst>
              </p:cNvPr>
              <p:cNvSpPr/>
              <p:nvPr/>
            </p:nvSpPr>
            <p:spPr>
              <a:xfrm>
                <a:off x="6281382" y="2527076"/>
                <a:ext cx="879748" cy="865555"/>
              </a:xfrm>
              <a:prstGeom prst="ellipse">
                <a:avLst/>
              </a:prstGeom>
              <a:solidFill>
                <a:schemeClr val="accent4">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145" name="Shape 135">
                <a:extLst>
                  <a:ext uri="{FF2B5EF4-FFF2-40B4-BE49-F238E27FC236}">
                    <a16:creationId xmlns:a16="http://schemas.microsoft.com/office/drawing/2014/main" id="{F154D0BB-7AAA-42B6-BA07-27AFC6323750}"/>
                  </a:ext>
                </a:extLst>
              </p:cNvPr>
              <p:cNvSpPr txBox="1"/>
              <p:nvPr/>
            </p:nvSpPr>
            <p:spPr>
              <a:xfrm>
                <a:off x="6291304" y="2628745"/>
                <a:ext cx="859903" cy="631308"/>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Pipeline Engineering</a:t>
                </a:r>
                <a:endParaRPr sz="800" dirty="0">
                  <a:solidFill>
                    <a:schemeClr val="bg1"/>
                  </a:solidFill>
                </a:endParaRPr>
              </a:p>
            </p:txBody>
          </p:sp>
          <p:sp>
            <p:nvSpPr>
              <p:cNvPr id="146" name="Shape 136">
                <a:extLst>
                  <a:ext uri="{FF2B5EF4-FFF2-40B4-BE49-F238E27FC236}">
                    <a16:creationId xmlns:a16="http://schemas.microsoft.com/office/drawing/2014/main" id="{2C488059-D303-4FEB-81A3-30D3B3DCCF04}"/>
                  </a:ext>
                </a:extLst>
              </p:cNvPr>
              <p:cNvSpPr/>
              <p:nvPr/>
            </p:nvSpPr>
            <p:spPr>
              <a:xfrm>
                <a:off x="7188343" y="2529332"/>
                <a:ext cx="853866" cy="845384"/>
              </a:xfrm>
              <a:prstGeom prst="ellipse">
                <a:avLst/>
              </a:prstGeom>
              <a:solidFill>
                <a:schemeClr val="accent2">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147" name="Shape 137">
                <a:extLst>
                  <a:ext uri="{FF2B5EF4-FFF2-40B4-BE49-F238E27FC236}">
                    <a16:creationId xmlns:a16="http://schemas.microsoft.com/office/drawing/2014/main" id="{69E41905-2048-4EF5-A9DE-799BC91D487F}"/>
                  </a:ext>
                </a:extLst>
              </p:cNvPr>
              <p:cNvSpPr txBox="1"/>
              <p:nvPr/>
            </p:nvSpPr>
            <p:spPr>
              <a:xfrm>
                <a:off x="7183343" y="2642456"/>
                <a:ext cx="859903" cy="615051"/>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Infrastructure</a:t>
                </a:r>
                <a:endParaRPr sz="800" dirty="0">
                  <a:solidFill>
                    <a:schemeClr val="bg1"/>
                  </a:solidFill>
                </a:endParaRPr>
              </a:p>
            </p:txBody>
          </p:sp>
        </p:grpSp>
        <p:sp>
          <p:nvSpPr>
            <p:cNvPr id="148" name="Rectangle 147"/>
            <p:cNvSpPr/>
            <p:nvPr/>
          </p:nvSpPr>
          <p:spPr>
            <a:xfrm>
              <a:off x="8313019" y="233713"/>
              <a:ext cx="782363" cy="338554"/>
            </a:xfrm>
            <a:prstGeom prst="rect">
              <a:avLst/>
            </a:prstGeom>
          </p:spPr>
          <p:txBody>
            <a:bodyPr wrap="square">
              <a:spAutoFit/>
            </a:bodyPr>
            <a:lstStyle/>
            <a:p>
              <a:pPr lvl="0" algn="ctr"/>
              <a:r>
                <a:rPr lang="en-US" sz="800">
                  <a:solidFill>
                    <a:schemeClr val="bg1"/>
                  </a:solidFill>
                </a:rPr>
                <a:t>Data Management</a:t>
              </a:r>
            </a:p>
          </p:txBody>
        </p:sp>
      </p:grpSp>
      <p:pic>
        <p:nvPicPr>
          <p:cNvPr id="149" name="Picture 148" descr="mage result for check mar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3257" y="3936718"/>
            <a:ext cx="186903" cy="18690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4" descr="mage result for cross m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36188" y="4241093"/>
            <a:ext cx="148856" cy="148856"/>
          </a:xfrm>
          <a:prstGeom prst="rect">
            <a:avLst/>
          </a:prstGeom>
          <a:noFill/>
          <a:extLst>
            <a:ext uri="{909E8E84-426E-40DD-AFC4-6F175D3DCCD1}">
              <a14:hiddenFill xmlns:a14="http://schemas.microsoft.com/office/drawing/2010/main">
                <a:solidFill>
                  <a:srgbClr val="FFFFFF"/>
                </a:solidFill>
              </a14:hiddenFill>
            </a:ext>
          </a:extLst>
        </p:spPr>
      </p:pic>
      <p:sp>
        <p:nvSpPr>
          <p:cNvPr id="151" name="TextBox 150"/>
          <p:cNvSpPr txBox="1"/>
          <p:nvPr/>
        </p:nvSpPr>
        <p:spPr>
          <a:xfrm>
            <a:off x="8358106" y="3557976"/>
            <a:ext cx="550151" cy="215444"/>
          </a:xfrm>
          <a:prstGeom prst="rect">
            <a:avLst/>
          </a:prstGeom>
          <a:noFill/>
        </p:spPr>
        <p:txBody>
          <a:bodyPr wrap="none" rtlCol="0">
            <a:spAutoFit/>
          </a:bodyPr>
          <a:lstStyle/>
          <a:p>
            <a:r>
              <a:rPr lang="en-US" sz="800" b="1" u="sng" dirty="0"/>
              <a:t>Legend</a:t>
            </a:r>
          </a:p>
        </p:txBody>
      </p:sp>
      <p:sp>
        <p:nvSpPr>
          <p:cNvPr id="152" name="TextBox 151"/>
          <p:cNvSpPr txBox="1"/>
          <p:nvPr/>
        </p:nvSpPr>
        <p:spPr>
          <a:xfrm>
            <a:off x="8462737" y="3878376"/>
            <a:ext cx="648973" cy="307777"/>
          </a:xfrm>
          <a:prstGeom prst="rect">
            <a:avLst/>
          </a:prstGeom>
          <a:noFill/>
        </p:spPr>
        <p:txBody>
          <a:bodyPr wrap="square" rtlCol="0">
            <a:spAutoFit/>
          </a:bodyPr>
          <a:lstStyle/>
          <a:p>
            <a:r>
              <a:rPr lang="en-US" sz="700" b="1" dirty="0"/>
              <a:t>Meets standards </a:t>
            </a:r>
          </a:p>
        </p:txBody>
      </p:sp>
      <p:sp>
        <p:nvSpPr>
          <p:cNvPr id="153" name="TextBox 152"/>
          <p:cNvSpPr txBox="1"/>
          <p:nvPr/>
        </p:nvSpPr>
        <p:spPr>
          <a:xfrm>
            <a:off x="8458254" y="4153613"/>
            <a:ext cx="648973" cy="415498"/>
          </a:xfrm>
          <a:prstGeom prst="rect">
            <a:avLst/>
          </a:prstGeom>
          <a:noFill/>
        </p:spPr>
        <p:txBody>
          <a:bodyPr wrap="square" rtlCol="0">
            <a:spAutoFit/>
          </a:bodyPr>
          <a:lstStyle/>
          <a:p>
            <a:r>
              <a:rPr lang="en-US" sz="700" b="1" dirty="0"/>
              <a:t>Does not meet standards </a:t>
            </a:r>
          </a:p>
        </p:txBody>
      </p:sp>
    </p:spTree>
    <p:extLst>
      <p:ext uri="{BB962C8B-B14F-4D97-AF65-F5344CB8AC3E}">
        <p14:creationId xmlns:p14="http://schemas.microsoft.com/office/powerpoint/2010/main" val="773642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7E4264-7AC8-4B0C-996E-1E9D21EA0770}"/>
              </a:ext>
            </a:extLst>
          </p:cNvPr>
          <p:cNvSpPr txBox="1"/>
          <p:nvPr/>
        </p:nvSpPr>
        <p:spPr>
          <a:xfrm>
            <a:off x="253009" y="1047881"/>
            <a:ext cx="3643582" cy="600164"/>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There are 7 different layers for foundation</a:t>
            </a:r>
          </a:p>
          <a:p>
            <a:pPr marL="285750" indent="-285750">
              <a:buFont typeface="Arial" panose="020B0604020202020204" pitchFamily="34" charset="0"/>
              <a:buChar char="•"/>
            </a:pPr>
            <a:r>
              <a:rPr lang="en-IN" sz="1100" dirty="0"/>
              <a:t>This causes excess redundancy and possibility of Data integrity challenges</a:t>
            </a:r>
          </a:p>
        </p:txBody>
      </p:sp>
      <p:sp>
        <p:nvSpPr>
          <p:cNvPr id="6" name="TextBox 5">
            <a:extLst>
              <a:ext uri="{FF2B5EF4-FFF2-40B4-BE49-F238E27FC236}">
                <a16:creationId xmlns:a16="http://schemas.microsoft.com/office/drawing/2014/main" id="{5D435B49-E8DD-4D52-9516-C93B1AFB836E}"/>
              </a:ext>
            </a:extLst>
          </p:cNvPr>
          <p:cNvSpPr txBox="1"/>
          <p:nvPr/>
        </p:nvSpPr>
        <p:spPr>
          <a:xfrm>
            <a:off x="253009" y="770882"/>
            <a:ext cx="1814782" cy="276999"/>
          </a:xfrm>
          <a:prstGeom prst="rect">
            <a:avLst/>
          </a:prstGeom>
          <a:solidFill>
            <a:schemeClr val="accent2">
              <a:lumMod val="75000"/>
              <a:alpha val="81000"/>
            </a:schemeClr>
          </a:solidFill>
        </p:spPr>
        <p:txBody>
          <a:bodyPr wrap="square" rtlCol="0">
            <a:spAutoFit/>
          </a:bodyPr>
          <a:lstStyle/>
          <a:p>
            <a:r>
              <a:rPr lang="en-IN" sz="1200" b="1" dirty="0">
                <a:solidFill>
                  <a:schemeClr val="bg1"/>
                </a:solidFill>
              </a:rPr>
              <a:t>Data Layers   </a:t>
            </a:r>
          </a:p>
        </p:txBody>
      </p:sp>
      <p:sp>
        <p:nvSpPr>
          <p:cNvPr id="7" name="TextBox 6">
            <a:extLst>
              <a:ext uri="{FF2B5EF4-FFF2-40B4-BE49-F238E27FC236}">
                <a16:creationId xmlns:a16="http://schemas.microsoft.com/office/drawing/2014/main" id="{4DC13627-B9B9-437C-9767-F5AFCDB4B287}"/>
              </a:ext>
            </a:extLst>
          </p:cNvPr>
          <p:cNvSpPr txBox="1"/>
          <p:nvPr/>
        </p:nvSpPr>
        <p:spPr>
          <a:xfrm>
            <a:off x="253009" y="2008659"/>
            <a:ext cx="3643582" cy="1107996"/>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Just in Time deployments of Code is part of the Airflow execution, this is very non-standard and Airflow refresh of these codes are taking some time resulting in Broken DAG issues.</a:t>
            </a:r>
          </a:p>
          <a:p>
            <a:pPr marL="285750" indent="-285750">
              <a:buFont typeface="Arial" panose="020B0604020202020204" pitchFamily="34" charset="0"/>
              <a:buChar char="•"/>
            </a:pPr>
            <a:r>
              <a:rPr lang="en-IN" sz="1100" dirty="0"/>
              <a:t>Epoch ID based tagging with log analysis will perform similar operations</a:t>
            </a:r>
          </a:p>
        </p:txBody>
      </p:sp>
      <p:sp>
        <p:nvSpPr>
          <p:cNvPr id="8" name="TextBox 7">
            <a:extLst>
              <a:ext uri="{FF2B5EF4-FFF2-40B4-BE49-F238E27FC236}">
                <a16:creationId xmlns:a16="http://schemas.microsoft.com/office/drawing/2014/main" id="{CAAB87A7-07EC-4EB0-A64A-73D3CA239819}"/>
              </a:ext>
            </a:extLst>
          </p:cNvPr>
          <p:cNvSpPr txBox="1"/>
          <p:nvPr/>
        </p:nvSpPr>
        <p:spPr>
          <a:xfrm>
            <a:off x="253009" y="1731660"/>
            <a:ext cx="1814782" cy="276999"/>
          </a:xfrm>
          <a:prstGeom prst="rect">
            <a:avLst/>
          </a:prstGeom>
          <a:solidFill>
            <a:schemeClr val="accent4">
              <a:lumMod val="75000"/>
              <a:alpha val="81000"/>
            </a:schemeClr>
          </a:solidFill>
        </p:spPr>
        <p:txBody>
          <a:bodyPr wrap="square" rtlCol="0">
            <a:spAutoFit/>
          </a:bodyPr>
          <a:lstStyle>
            <a:defPPr>
              <a:defRPr lang="en-US"/>
            </a:defPPr>
            <a:lvl1pPr>
              <a:defRPr sz="1200" b="1">
                <a:solidFill>
                  <a:schemeClr val="bg1"/>
                </a:solidFill>
              </a:defRPr>
            </a:lvl1pPr>
          </a:lstStyle>
          <a:p>
            <a:r>
              <a:rPr lang="en-IN" dirty="0"/>
              <a:t>Dynamic Deployment</a:t>
            </a:r>
          </a:p>
        </p:txBody>
      </p:sp>
      <p:sp>
        <p:nvSpPr>
          <p:cNvPr id="9" name="TextBox 8">
            <a:extLst>
              <a:ext uri="{FF2B5EF4-FFF2-40B4-BE49-F238E27FC236}">
                <a16:creationId xmlns:a16="http://schemas.microsoft.com/office/drawing/2014/main" id="{66D4EC2F-87F1-4D92-931C-CAAB5B36C532}"/>
              </a:ext>
            </a:extLst>
          </p:cNvPr>
          <p:cNvSpPr txBox="1"/>
          <p:nvPr/>
        </p:nvSpPr>
        <p:spPr>
          <a:xfrm>
            <a:off x="4527588" y="1047650"/>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There are 7 different layers in CDL while the final layer handles the merges.</a:t>
            </a:r>
          </a:p>
          <a:p>
            <a:pPr marL="285750" indent="-285750">
              <a:buFont typeface="Arial" panose="020B0604020202020204" pitchFamily="34" charset="0"/>
              <a:buChar char="•"/>
            </a:pPr>
            <a:r>
              <a:rPr lang="en-IN" sz="1100" dirty="0"/>
              <a:t>Most consumption will happen in the 7</a:t>
            </a:r>
            <a:r>
              <a:rPr lang="en-IN" sz="1100" baseline="30000" dirty="0"/>
              <a:t>th</a:t>
            </a:r>
            <a:r>
              <a:rPr lang="en-IN" sz="1100" dirty="0"/>
              <a:t> layer and the remaining six might not be consumed, this does not cater to the Data Isolation needs</a:t>
            </a:r>
          </a:p>
        </p:txBody>
      </p:sp>
      <p:sp>
        <p:nvSpPr>
          <p:cNvPr id="10" name="TextBox 9">
            <a:extLst>
              <a:ext uri="{FF2B5EF4-FFF2-40B4-BE49-F238E27FC236}">
                <a16:creationId xmlns:a16="http://schemas.microsoft.com/office/drawing/2014/main" id="{D6C05D41-D446-4779-A32D-750714C33BD7}"/>
              </a:ext>
            </a:extLst>
          </p:cNvPr>
          <p:cNvSpPr txBox="1"/>
          <p:nvPr/>
        </p:nvSpPr>
        <p:spPr>
          <a:xfrm>
            <a:off x="4527588" y="770651"/>
            <a:ext cx="1814782" cy="276999"/>
          </a:xfrm>
          <a:prstGeom prst="rect">
            <a:avLst/>
          </a:prstGeom>
          <a:solidFill>
            <a:schemeClr val="accent3">
              <a:lumMod val="75000"/>
              <a:alpha val="78000"/>
            </a:schemeClr>
          </a:solidFill>
        </p:spPr>
        <p:txBody>
          <a:bodyPr wrap="square" rtlCol="0">
            <a:spAutoFit/>
          </a:bodyPr>
          <a:lstStyle>
            <a:defPPr>
              <a:defRPr lang="en-US"/>
            </a:defPPr>
            <a:lvl1pPr>
              <a:defRPr sz="1200" b="1">
                <a:solidFill>
                  <a:schemeClr val="bg1"/>
                </a:solidFill>
              </a:defRPr>
            </a:lvl1pPr>
          </a:lstStyle>
          <a:p>
            <a:r>
              <a:rPr lang="en-IN" dirty="0">
                <a:solidFill>
                  <a:schemeClr val="tx1"/>
                </a:solidFill>
              </a:rPr>
              <a:t>Data Isolation</a:t>
            </a:r>
          </a:p>
        </p:txBody>
      </p:sp>
      <p:sp>
        <p:nvSpPr>
          <p:cNvPr id="11" name="TextBox 10">
            <a:extLst>
              <a:ext uri="{FF2B5EF4-FFF2-40B4-BE49-F238E27FC236}">
                <a16:creationId xmlns:a16="http://schemas.microsoft.com/office/drawing/2014/main" id="{FC7688A4-82C1-4C9D-A957-8726294BEEAE}"/>
              </a:ext>
            </a:extLst>
          </p:cNvPr>
          <p:cNvSpPr txBox="1"/>
          <p:nvPr/>
        </p:nvSpPr>
        <p:spPr>
          <a:xfrm>
            <a:off x="253009" y="3500098"/>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Aspects around Data Security and encryption are not implements.</a:t>
            </a:r>
          </a:p>
          <a:p>
            <a:pPr marL="285750" indent="-285750">
              <a:buFont typeface="Arial" panose="020B0604020202020204" pitchFamily="34" charset="0"/>
              <a:buChar char="•"/>
            </a:pPr>
            <a:r>
              <a:rPr lang="en-IN" sz="1100" dirty="0"/>
              <a:t>There are domains such as Customer domain which generally is more sensitive and required specific mechanisms to handle.</a:t>
            </a:r>
          </a:p>
        </p:txBody>
      </p:sp>
      <p:sp>
        <p:nvSpPr>
          <p:cNvPr id="12" name="TextBox 11">
            <a:extLst>
              <a:ext uri="{FF2B5EF4-FFF2-40B4-BE49-F238E27FC236}">
                <a16:creationId xmlns:a16="http://schemas.microsoft.com/office/drawing/2014/main" id="{4F1877B5-061D-4C02-A68C-484101B0186E}"/>
              </a:ext>
            </a:extLst>
          </p:cNvPr>
          <p:cNvSpPr txBox="1"/>
          <p:nvPr/>
        </p:nvSpPr>
        <p:spPr>
          <a:xfrm>
            <a:off x="253008" y="3223099"/>
            <a:ext cx="2170151" cy="276999"/>
          </a:xfrm>
          <a:prstGeom prst="rect">
            <a:avLst/>
          </a:prstGeom>
          <a:solidFill>
            <a:schemeClr val="accent3">
              <a:lumMod val="75000"/>
              <a:alpha val="78000"/>
            </a:schemeClr>
          </a:solidFill>
        </p:spPr>
        <p:txBody>
          <a:bodyPr wrap="square" rtlCol="0">
            <a:spAutoFit/>
          </a:bodyPr>
          <a:lstStyle/>
          <a:p>
            <a:r>
              <a:rPr lang="en-IN" sz="1200" b="1" dirty="0"/>
              <a:t>Data Classification</a:t>
            </a:r>
          </a:p>
        </p:txBody>
      </p:sp>
      <p:sp>
        <p:nvSpPr>
          <p:cNvPr id="13" name="TextBox 12">
            <a:extLst>
              <a:ext uri="{FF2B5EF4-FFF2-40B4-BE49-F238E27FC236}">
                <a16:creationId xmlns:a16="http://schemas.microsoft.com/office/drawing/2014/main" id="{6E1DFA9C-C82C-4E53-8C9E-6B8981576EB3}"/>
              </a:ext>
            </a:extLst>
          </p:cNvPr>
          <p:cNvSpPr txBox="1"/>
          <p:nvPr/>
        </p:nvSpPr>
        <p:spPr>
          <a:xfrm>
            <a:off x="4532325" y="2387420"/>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A template (dictionary) is used for storing all the rules, it is cumbersome to maintain.</a:t>
            </a:r>
          </a:p>
          <a:p>
            <a:pPr marL="285750" indent="-285750">
              <a:buFont typeface="Arial" panose="020B0604020202020204" pitchFamily="34" charset="0"/>
              <a:buChar char="•"/>
            </a:pPr>
            <a:r>
              <a:rPr lang="en-IN" sz="1100" dirty="0"/>
              <a:t>Scaling and modifying these rules will be difficult</a:t>
            </a:r>
          </a:p>
          <a:p>
            <a:pPr marL="285750" indent="-285750">
              <a:buFont typeface="Arial" panose="020B0604020202020204" pitchFamily="34" charset="0"/>
              <a:buChar char="•"/>
            </a:pPr>
            <a:r>
              <a:rPr lang="en-IN" sz="1100" dirty="0"/>
              <a:t>Domain Library based methods are easier to manage</a:t>
            </a:r>
          </a:p>
        </p:txBody>
      </p:sp>
      <p:sp>
        <p:nvSpPr>
          <p:cNvPr id="14" name="TextBox 13">
            <a:extLst>
              <a:ext uri="{FF2B5EF4-FFF2-40B4-BE49-F238E27FC236}">
                <a16:creationId xmlns:a16="http://schemas.microsoft.com/office/drawing/2014/main" id="{26AF426E-C6FA-4942-B992-1BB39EC8C0F3}"/>
              </a:ext>
            </a:extLst>
          </p:cNvPr>
          <p:cNvSpPr txBox="1"/>
          <p:nvPr/>
        </p:nvSpPr>
        <p:spPr>
          <a:xfrm>
            <a:off x="4532324" y="2110421"/>
            <a:ext cx="2121901" cy="276999"/>
          </a:xfrm>
          <a:prstGeom prst="rect">
            <a:avLst/>
          </a:prstGeom>
          <a:solidFill>
            <a:schemeClr val="accent4">
              <a:lumMod val="75000"/>
              <a:alpha val="81000"/>
            </a:schemeClr>
          </a:solidFill>
        </p:spPr>
        <p:txBody>
          <a:bodyPr wrap="square" rtlCol="0">
            <a:spAutoFit/>
          </a:bodyPr>
          <a:lstStyle>
            <a:defPPr>
              <a:defRPr lang="en-US"/>
            </a:defPPr>
            <a:lvl1pPr>
              <a:defRPr sz="1200" b="1">
                <a:solidFill>
                  <a:schemeClr val="bg1"/>
                </a:solidFill>
              </a:defRPr>
            </a:lvl1pPr>
          </a:lstStyle>
          <a:p>
            <a:r>
              <a:rPr lang="en-IN" dirty="0"/>
              <a:t>Custom vs Best of Breed</a:t>
            </a:r>
          </a:p>
        </p:txBody>
      </p:sp>
      <p:sp>
        <p:nvSpPr>
          <p:cNvPr id="15" name="Oval 14">
            <a:extLst>
              <a:ext uri="{FF2B5EF4-FFF2-40B4-BE49-F238E27FC236}">
                <a16:creationId xmlns:a16="http://schemas.microsoft.com/office/drawing/2014/main" id="{5353FAF9-1E54-4BCF-A057-F1BC0988700F}"/>
              </a:ext>
            </a:extLst>
          </p:cNvPr>
          <p:cNvSpPr>
            <a:spLocks noChangeAspect="1"/>
          </p:cNvSpPr>
          <p:nvPr/>
        </p:nvSpPr>
        <p:spPr>
          <a:xfrm>
            <a:off x="4458749" y="2066598"/>
            <a:ext cx="181262"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24" name="Oval 23">
            <a:extLst>
              <a:ext uri="{FF2B5EF4-FFF2-40B4-BE49-F238E27FC236}">
                <a16:creationId xmlns:a16="http://schemas.microsoft.com/office/drawing/2014/main" id="{FDC5EC69-5E3F-4E91-85D4-A1B9DEEC1EEE}"/>
              </a:ext>
            </a:extLst>
          </p:cNvPr>
          <p:cNvSpPr>
            <a:spLocks noChangeAspect="1"/>
          </p:cNvSpPr>
          <p:nvPr/>
        </p:nvSpPr>
        <p:spPr>
          <a:xfrm>
            <a:off x="163619" y="723474"/>
            <a:ext cx="181262" cy="182880"/>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dirty="0">
              <a:solidFill>
                <a:schemeClr val="tx1"/>
              </a:solidFill>
              <a:latin typeface="+mj-lt"/>
            </a:endParaRPr>
          </a:p>
        </p:txBody>
      </p:sp>
      <p:sp>
        <p:nvSpPr>
          <p:cNvPr id="25" name="Oval 24">
            <a:extLst>
              <a:ext uri="{FF2B5EF4-FFF2-40B4-BE49-F238E27FC236}">
                <a16:creationId xmlns:a16="http://schemas.microsoft.com/office/drawing/2014/main" id="{0CC925AA-343C-4422-854C-3040813133F7}"/>
              </a:ext>
            </a:extLst>
          </p:cNvPr>
          <p:cNvSpPr>
            <a:spLocks noChangeAspect="1"/>
          </p:cNvSpPr>
          <p:nvPr/>
        </p:nvSpPr>
        <p:spPr>
          <a:xfrm>
            <a:off x="155810" y="1717872"/>
            <a:ext cx="181262" cy="18288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dirty="0">
              <a:solidFill>
                <a:schemeClr val="tx1"/>
              </a:solidFill>
              <a:latin typeface="+mj-lt"/>
            </a:endParaRPr>
          </a:p>
        </p:txBody>
      </p:sp>
      <p:sp>
        <p:nvSpPr>
          <p:cNvPr id="26" name="Oval 25">
            <a:extLst>
              <a:ext uri="{FF2B5EF4-FFF2-40B4-BE49-F238E27FC236}">
                <a16:creationId xmlns:a16="http://schemas.microsoft.com/office/drawing/2014/main" id="{CD7C7358-7EFF-47C3-8589-23960C9387FD}"/>
              </a:ext>
            </a:extLst>
          </p:cNvPr>
          <p:cNvSpPr>
            <a:spLocks noChangeAspect="1"/>
          </p:cNvSpPr>
          <p:nvPr/>
        </p:nvSpPr>
        <p:spPr>
          <a:xfrm>
            <a:off x="4458749" y="711184"/>
            <a:ext cx="181262"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27" name="Oval 26">
            <a:extLst>
              <a:ext uri="{FF2B5EF4-FFF2-40B4-BE49-F238E27FC236}">
                <a16:creationId xmlns:a16="http://schemas.microsoft.com/office/drawing/2014/main" id="{00510CF0-59C6-4E13-AC65-1C59324A2981}"/>
              </a:ext>
            </a:extLst>
          </p:cNvPr>
          <p:cNvSpPr>
            <a:spLocks noChangeAspect="1"/>
          </p:cNvSpPr>
          <p:nvPr/>
        </p:nvSpPr>
        <p:spPr>
          <a:xfrm>
            <a:off x="163619" y="3194664"/>
            <a:ext cx="181262"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58" name="Oval 57"/>
          <p:cNvSpPr/>
          <p:nvPr/>
        </p:nvSpPr>
        <p:spPr>
          <a:xfrm>
            <a:off x="5135759" y="4230968"/>
            <a:ext cx="134226" cy="137174"/>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59" name="Oval 58"/>
          <p:cNvSpPr/>
          <p:nvPr/>
        </p:nvSpPr>
        <p:spPr>
          <a:xfrm>
            <a:off x="5135759" y="4430555"/>
            <a:ext cx="134226" cy="13717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60" name="Oval 59"/>
          <p:cNvSpPr/>
          <p:nvPr/>
        </p:nvSpPr>
        <p:spPr>
          <a:xfrm>
            <a:off x="5135760" y="4600357"/>
            <a:ext cx="134226" cy="13717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solidFill>
                <a:schemeClr val="tx1"/>
              </a:solidFill>
              <a:latin typeface="+mj-lt"/>
            </a:endParaRPr>
          </a:p>
        </p:txBody>
      </p:sp>
      <p:sp>
        <p:nvSpPr>
          <p:cNvPr id="61" name="TextBox 60"/>
          <p:cNvSpPr txBox="1"/>
          <p:nvPr/>
        </p:nvSpPr>
        <p:spPr>
          <a:xfrm>
            <a:off x="5071516" y="3982205"/>
            <a:ext cx="550151" cy="215444"/>
          </a:xfrm>
          <a:prstGeom prst="rect">
            <a:avLst/>
          </a:prstGeom>
          <a:noFill/>
        </p:spPr>
        <p:txBody>
          <a:bodyPr wrap="none" rtlCol="0">
            <a:spAutoFit/>
          </a:bodyPr>
          <a:lstStyle/>
          <a:p>
            <a:r>
              <a:rPr lang="en-US" sz="800" b="1" u="sng"/>
              <a:t>Legend</a:t>
            </a:r>
            <a:endParaRPr lang="en-US" sz="800" b="1" u="sng" dirty="0"/>
          </a:p>
        </p:txBody>
      </p:sp>
      <p:sp>
        <p:nvSpPr>
          <p:cNvPr id="62" name="TextBox 61"/>
          <p:cNvSpPr txBox="1"/>
          <p:nvPr/>
        </p:nvSpPr>
        <p:spPr>
          <a:xfrm>
            <a:off x="5269985" y="4231998"/>
            <a:ext cx="2715108" cy="169277"/>
          </a:xfrm>
          <a:prstGeom prst="rect">
            <a:avLst/>
          </a:prstGeom>
          <a:noFill/>
        </p:spPr>
        <p:txBody>
          <a:bodyPr wrap="square" rtlCol="0">
            <a:spAutoFit/>
          </a:bodyPr>
          <a:lstStyle/>
          <a:p>
            <a:r>
              <a:rPr lang="en-US" sz="500" b="1" dirty="0"/>
              <a:t>At par/ above Industry reference</a:t>
            </a:r>
          </a:p>
        </p:txBody>
      </p:sp>
      <p:sp>
        <p:nvSpPr>
          <p:cNvPr id="63" name="TextBox 62"/>
          <p:cNvSpPr txBox="1"/>
          <p:nvPr/>
        </p:nvSpPr>
        <p:spPr>
          <a:xfrm>
            <a:off x="5269986" y="4415810"/>
            <a:ext cx="2459962" cy="169277"/>
          </a:xfrm>
          <a:prstGeom prst="rect">
            <a:avLst/>
          </a:prstGeom>
          <a:noFill/>
        </p:spPr>
        <p:txBody>
          <a:bodyPr wrap="square" rtlCol="0">
            <a:spAutoFit/>
          </a:bodyPr>
          <a:lstStyle/>
          <a:p>
            <a:r>
              <a:rPr lang="en-US" sz="500" b="1" dirty="0"/>
              <a:t>Opportunity for moderate improvements</a:t>
            </a:r>
          </a:p>
        </p:txBody>
      </p:sp>
      <p:sp>
        <p:nvSpPr>
          <p:cNvPr id="64" name="TextBox 63"/>
          <p:cNvSpPr txBox="1"/>
          <p:nvPr/>
        </p:nvSpPr>
        <p:spPr>
          <a:xfrm>
            <a:off x="5269986" y="4568253"/>
            <a:ext cx="2459962" cy="169277"/>
          </a:xfrm>
          <a:prstGeom prst="rect">
            <a:avLst/>
          </a:prstGeom>
          <a:noFill/>
        </p:spPr>
        <p:txBody>
          <a:bodyPr wrap="square" rtlCol="0">
            <a:spAutoFit/>
          </a:bodyPr>
          <a:lstStyle/>
          <a:p>
            <a:r>
              <a:rPr lang="en-US" sz="500" b="1" dirty="0"/>
              <a:t>Opportunity for significant improvements</a:t>
            </a:r>
          </a:p>
        </p:txBody>
      </p:sp>
      <p:grpSp>
        <p:nvGrpSpPr>
          <p:cNvPr id="65" name="Group 64"/>
          <p:cNvGrpSpPr/>
          <p:nvPr/>
        </p:nvGrpSpPr>
        <p:grpSpPr>
          <a:xfrm>
            <a:off x="7087938" y="6955"/>
            <a:ext cx="2007444" cy="652662"/>
            <a:chOff x="7087938" y="6955"/>
            <a:chExt cx="2007444" cy="652662"/>
          </a:xfrm>
        </p:grpSpPr>
        <p:grpSp>
          <p:nvGrpSpPr>
            <p:cNvPr id="66" name="Group 65">
              <a:extLst>
                <a:ext uri="{FF2B5EF4-FFF2-40B4-BE49-F238E27FC236}">
                  <a16:creationId xmlns:a16="http://schemas.microsoft.com/office/drawing/2014/main" id="{93C02397-34EF-4133-B7C5-CD726DD40B7B}"/>
                </a:ext>
              </a:extLst>
            </p:cNvPr>
            <p:cNvGrpSpPr/>
            <p:nvPr/>
          </p:nvGrpSpPr>
          <p:grpSpPr>
            <a:xfrm>
              <a:off x="7087938" y="6955"/>
              <a:ext cx="1980846" cy="652662"/>
              <a:chOff x="6281382" y="2527076"/>
              <a:chExt cx="2683742" cy="865555"/>
            </a:xfrm>
          </p:grpSpPr>
          <p:sp>
            <p:nvSpPr>
              <p:cNvPr id="68" name="Shape 133">
                <a:extLst>
                  <a:ext uri="{FF2B5EF4-FFF2-40B4-BE49-F238E27FC236}">
                    <a16:creationId xmlns:a16="http://schemas.microsoft.com/office/drawing/2014/main" id="{04595CB7-8342-4C11-8CA4-26A20556F2ED}"/>
                  </a:ext>
                </a:extLst>
              </p:cNvPr>
              <p:cNvSpPr txBox="1"/>
              <p:nvPr/>
            </p:nvSpPr>
            <p:spPr>
              <a:xfrm>
                <a:off x="8105221" y="260172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Management</a:t>
                </a:r>
                <a:endParaRPr sz="800" dirty="0">
                  <a:solidFill>
                    <a:schemeClr val="bg1"/>
                  </a:solidFill>
                </a:endParaRPr>
              </a:p>
            </p:txBody>
          </p:sp>
          <p:sp>
            <p:nvSpPr>
              <p:cNvPr id="69" name="Shape 132">
                <a:extLst>
                  <a:ext uri="{FF2B5EF4-FFF2-40B4-BE49-F238E27FC236}">
                    <a16:creationId xmlns:a16="http://schemas.microsoft.com/office/drawing/2014/main" id="{BEA0DD74-1526-462B-A474-F19F3B12035C}"/>
                  </a:ext>
                </a:extLst>
              </p:cNvPr>
              <p:cNvSpPr/>
              <p:nvPr/>
            </p:nvSpPr>
            <p:spPr>
              <a:xfrm>
                <a:off x="8051286" y="2530695"/>
                <a:ext cx="843806" cy="836127"/>
              </a:xfrm>
              <a:prstGeom prst="ellipse">
                <a:avLst/>
              </a:prstGeom>
              <a:solidFill>
                <a:schemeClr val="accent3">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dirty="0">
                  <a:solidFill>
                    <a:schemeClr val="bg1"/>
                  </a:solidFill>
                </a:endParaRPr>
              </a:p>
            </p:txBody>
          </p:sp>
          <p:sp>
            <p:nvSpPr>
              <p:cNvPr id="70" name="Shape 134">
                <a:extLst>
                  <a:ext uri="{FF2B5EF4-FFF2-40B4-BE49-F238E27FC236}">
                    <a16:creationId xmlns:a16="http://schemas.microsoft.com/office/drawing/2014/main" id="{51554935-34E2-4DE9-8D47-37F83A3AB30F}"/>
                  </a:ext>
                </a:extLst>
              </p:cNvPr>
              <p:cNvSpPr/>
              <p:nvPr/>
            </p:nvSpPr>
            <p:spPr>
              <a:xfrm>
                <a:off x="6281382" y="2527076"/>
                <a:ext cx="879748" cy="865555"/>
              </a:xfrm>
              <a:prstGeom prst="ellipse">
                <a:avLst/>
              </a:prstGeom>
              <a:solidFill>
                <a:schemeClr val="accent4">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71" name="Shape 135">
                <a:extLst>
                  <a:ext uri="{FF2B5EF4-FFF2-40B4-BE49-F238E27FC236}">
                    <a16:creationId xmlns:a16="http://schemas.microsoft.com/office/drawing/2014/main" id="{F154D0BB-7AAA-42B6-BA07-27AFC6323750}"/>
                  </a:ext>
                </a:extLst>
              </p:cNvPr>
              <p:cNvSpPr txBox="1"/>
              <p:nvPr/>
            </p:nvSpPr>
            <p:spPr>
              <a:xfrm>
                <a:off x="6291304" y="2628745"/>
                <a:ext cx="859903" cy="631308"/>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Pipeline Engineering</a:t>
                </a:r>
                <a:endParaRPr sz="800" dirty="0">
                  <a:solidFill>
                    <a:schemeClr val="bg1"/>
                  </a:solidFill>
                </a:endParaRPr>
              </a:p>
            </p:txBody>
          </p:sp>
          <p:sp>
            <p:nvSpPr>
              <p:cNvPr id="72" name="Shape 136">
                <a:extLst>
                  <a:ext uri="{FF2B5EF4-FFF2-40B4-BE49-F238E27FC236}">
                    <a16:creationId xmlns:a16="http://schemas.microsoft.com/office/drawing/2014/main" id="{2C488059-D303-4FEB-81A3-30D3B3DCCF04}"/>
                  </a:ext>
                </a:extLst>
              </p:cNvPr>
              <p:cNvSpPr/>
              <p:nvPr/>
            </p:nvSpPr>
            <p:spPr>
              <a:xfrm>
                <a:off x="7188343" y="2529332"/>
                <a:ext cx="853866" cy="845384"/>
              </a:xfrm>
              <a:prstGeom prst="ellipse">
                <a:avLst/>
              </a:prstGeom>
              <a:solidFill>
                <a:schemeClr val="accent2">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73" name="Shape 137">
                <a:extLst>
                  <a:ext uri="{FF2B5EF4-FFF2-40B4-BE49-F238E27FC236}">
                    <a16:creationId xmlns:a16="http://schemas.microsoft.com/office/drawing/2014/main" id="{69E41905-2048-4EF5-A9DE-799BC91D487F}"/>
                  </a:ext>
                </a:extLst>
              </p:cNvPr>
              <p:cNvSpPr txBox="1"/>
              <p:nvPr/>
            </p:nvSpPr>
            <p:spPr>
              <a:xfrm>
                <a:off x="7183343" y="2642456"/>
                <a:ext cx="859903" cy="615051"/>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Infrastructure</a:t>
                </a:r>
                <a:endParaRPr sz="800" dirty="0">
                  <a:solidFill>
                    <a:schemeClr val="bg1"/>
                  </a:solidFill>
                </a:endParaRPr>
              </a:p>
            </p:txBody>
          </p:sp>
        </p:grpSp>
        <p:sp>
          <p:nvSpPr>
            <p:cNvPr id="67" name="Rectangle 66"/>
            <p:cNvSpPr/>
            <p:nvPr/>
          </p:nvSpPr>
          <p:spPr>
            <a:xfrm>
              <a:off x="8313019" y="160237"/>
              <a:ext cx="782363" cy="338554"/>
            </a:xfrm>
            <a:prstGeom prst="rect">
              <a:avLst/>
            </a:prstGeom>
          </p:spPr>
          <p:txBody>
            <a:bodyPr wrap="square">
              <a:spAutoFit/>
            </a:bodyPr>
            <a:lstStyle/>
            <a:p>
              <a:pPr lvl="0" algn="ctr"/>
              <a:r>
                <a:rPr lang="en-US" sz="800">
                  <a:solidFill>
                    <a:schemeClr val="bg1"/>
                  </a:solidFill>
                </a:rPr>
                <a:t>Data Management</a:t>
              </a:r>
            </a:p>
          </p:txBody>
        </p:sp>
      </p:grpSp>
      <p:sp>
        <p:nvSpPr>
          <p:cNvPr id="74" name="Rectangle 73">
            <a:extLst>
              <a:ext uri="{FF2B5EF4-FFF2-40B4-BE49-F238E27FC236}">
                <a16:creationId xmlns:a16="http://schemas.microsoft.com/office/drawing/2014/main" id="{9160A9DC-32AA-40F2-A03A-5217B5CFF74C}"/>
              </a:ext>
            </a:extLst>
          </p:cNvPr>
          <p:cNvSpPr/>
          <p:nvPr/>
        </p:nvSpPr>
        <p:spPr>
          <a:xfrm>
            <a:off x="218963" y="626677"/>
            <a:ext cx="8645540" cy="5217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35" name="Title 1">
            <a:extLst>
              <a:ext uri="{FF2B5EF4-FFF2-40B4-BE49-F238E27FC236}">
                <a16:creationId xmlns:a16="http://schemas.microsoft.com/office/drawing/2014/main" id="{6DEBCF56-EF74-4924-A5AA-689BDED62753}"/>
              </a:ext>
            </a:extLst>
          </p:cNvPr>
          <p:cNvSpPr txBox="1">
            <a:spLocks/>
          </p:cNvSpPr>
          <p:nvPr/>
        </p:nvSpPr>
        <p:spPr>
          <a:xfrm>
            <a:off x="123469" y="188690"/>
            <a:ext cx="8416925" cy="400110"/>
          </a:xfrm>
          <a:prstGeom prst="rect">
            <a:avLst/>
          </a:prstGeom>
        </p:spPr>
        <p:txBody>
          <a:bodyPr vert="horz"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Summary of our findings (1/2)</a:t>
            </a:r>
          </a:p>
        </p:txBody>
      </p:sp>
    </p:spTree>
    <p:extLst>
      <p:ext uri="{BB962C8B-B14F-4D97-AF65-F5344CB8AC3E}">
        <p14:creationId xmlns:p14="http://schemas.microsoft.com/office/powerpoint/2010/main" val="370281034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50B48147-D378-412D-8238-9F3B6760C954}"/>
              </a:ext>
            </a:extLst>
          </p:cNvPr>
          <p:cNvSpPr txBox="1"/>
          <p:nvPr/>
        </p:nvSpPr>
        <p:spPr>
          <a:xfrm>
            <a:off x="4527588" y="3683279"/>
            <a:ext cx="2498052" cy="276999"/>
          </a:xfrm>
          <a:prstGeom prst="rect">
            <a:avLst/>
          </a:prstGeom>
          <a:solidFill>
            <a:schemeClr val="accent2">
              <a:lumMod val="75000"/>
              <a:alpha val="82000"/>
            </a:schemeClr>
          </a:solidFill>
        </p:spPr>
        <p:txBody>
          <a:bodyPr wrap="square" rtlCol="0">
            <a:spAutoFit/>
          </a:bodyPr>
          <a:lstStyle/>
          <a:p>
            <a:r>
              <a:rPr lang="en-IN" sz="1200" b="1" dirty="0">
                <a:solidFill>
                  <a:schemeClr val="bg1"/>
                </a:solidFill>
              </a:rPr>
              <a:t>Security &amp; Governance </a:t>
            </a:r>
          </a:p>
        </p:txBody>
      </p:sp>
      <p:sp>
        <p:nvSpPr>
          <p:cNvPr id="20" name="Title 1">
            <a:extLst>
              <a:ext uri="{FF2B5EF4-FFF2-40B4-BE49-F238E27FC236}">
                <a16:creationId xmlns:a16="http://schemas.microsoft.com/office/drawing/2014/main" id="{BC6B98F2-34BC-4C7A-8010-93C9EBE454BC}"/>
              </a:ext>
            </a:extLst>
          </p:cNvPr>
          <p:cNvSpPr txBox="1">
            <a:spLocks/>
          </p:cNvSpPr>
          <p:nvPr/>
        </p:nvSpPr>
        <p:spPr>
          <a:xfrm>
            <a:off x="123469" y="188690"/>
            <a:ext cx="8416925" cy="400110"/>
          </a:xfrm>
          <a:prstGeom prst="rect">
            <a:avLst/>
          </a:prstGeom>
        </p:spPr>
        <p:txBody>
          <a:bodyPr vert="horz"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Summary of our findings  (2/2)</a:t>
            </a:r>
          </a:p>
        </p:txBody>
      </p:sp>
      <p:sp>
        <p:nvSpPr>
          <p:cNvPr id="4" name="TextBox 3">
            <a:extLst>
              <a:ext uri="{FF2B5EF4-FFF2-40B4-BE49-F238E27FC236}">
                <a16:creationId xmlns:a16="http://schemas.microsoft.com/office/drawing/2014/main" id="{EA7E4264-7AC8-4B0C-996E-1E9D21EA0770}"/>
              </a:ext>
            </a:extLst>
          </p:cNvPr>
          <p:cNvSpPr txBox="1"/>
          <p:nvPr/>
        </p:nvSpPr>
        <p:spPr>
          <a:xfrm>
            <a:off x="253009" y="1077085"/>
            <a:ext cx="3643582" cy="600164"/>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Airflow uses Celery mode with 2 executers</a:t>
            </a:r>
          </a:p>
          <a:p>
            <a:pPr marL="285750" indent="-285750">
              <a:buFont typeface="Arial" panose="020B0604020202020204" pitchFamily="34" charset="0"/>
              <a:buChar char="•"/>
            </a:pPr>
            <a:r>
              <a:rPr lang="en-IN" sz="1100" dirty="0"/>
              <a:t>No High Availability was observed</a:t>
            </a:r>
          </a:p>
          <a:p>
            <a:pPr marL="285750" indent="-285750">
              <a:buFont typeface="Arial" panose="020B0604020202020204" pitchFamily="34" charset="0"/>
              <a:buChar char="•"/>
            </a:pPr>
            <a:r>
              <a:rPr lang="en-IN" sz="1100" dirty="0"/>
              <a:t>EKS/ECS can be implemented </a:t>
            </a:r>
          </a:p>
        </p:txBody>
      </p:sp>
      <p:sp>
        <p:nvSpPr>
          <p:cNvPr id="6" name="TextBox 5">
            <a:extLst>
              <a:ext uri="{FF2B5EF4-FFF2-40B4-BE49-F238E27FC236}">
                <a16:creationId xmlns:a16="http://schemas.microsoft.com/office/drawing/2014/main" id="{5D435B49-E8DD-4D52-9516-C93B1AFB836E}"/>
              </a:ext>
            </a:extLst>
          </p:cNvPr>
          <p:cNvSpPr txBox="1"/>
          <p:nvPr/>
        </p:nvSpPr>
        <p:spPr>
          <a:xfrm>
            <a:off x="253009" y="800086"/>
            <a:ext cx="1814782" cy="276999"/>
          </a:xfrm>
          <a:prstGeom prst="rect">
            <a:avLst/>
          </a:prstGeom>
          <a:solidFill>
            <a:schemeClr val="accent2">
              <a:lumMod val="75000"/>
              <a:alpha val="82000"/>
            </a:schemeClr>
          </a:solidFill>
        </p:spPr>
        <p:txBody>
          <a:bodyPr wrap="square" rtlCol="0">
            <a:spAutoFit/>
          </a:bodyPr>
          <a:lstStyle/>
          <a:p>
            <a:r>
              <a:rPr lang="en-IN" sz="1200" b="1" dirty="0">
                <a:solidFill>
                  <a:schemeClr val="bg1"/>
                </a:solidFill>
              </a:rPr>
              <a:t>High Availability    </a:t>
            </a:r>
          </a:p>
        </p:txBody>
      </p:sp>
      <p:sp>
        <p:nvSpPr>
          <p:cNvPr id="7" name="TextBox 6">
            <a:extLst>
              <a:ext uri="{FF2B5EF4-FFF2-40B4-BE49-F238E27FC236}">
                <a16:creationId xmlns:a16="http://schemas.microsoft.com/office/drawing/2014/main" id="{4DC13627-B9B9-437C-9767-F5AFCDB4B287}"/>
              </a:ext>
            </a:extLst>
          </p:cNvPr>
          <p:cNvSpPr txBox="1"/>
          <p:nvPr/>
        </p:nvSpPr>
        <p:spPr>
          <a:xfrm>
            <a:off x="253009" y="1997043"/>
            <a:ext cx="3643582" cy="1277273"/>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JSON is used for storing metadata and DQ rules which is difficult to manage.</a:t>
            </a:r>
          </a:p>
          <a:p>
            <a:pPr marL="285750" indent="-285750">
              <a:buFont typeface="Arial" panose="020B0604020202020204" pitchFamily="34" charset="0"/>
              <a:buChar char="•"/>
            </a:pPr>
            <a:r>
              <a:rPr lang="en-IN" sz="1100" dirty="0"/>
              <a:t>An excel based template is used for adding new rules which can lead to integrity challenges.</a:t>
            </a:r>
          </a:p>
          <a:p>
            <a:pPr marL="285750" indent="-285750">
              <a:buFont typeface="Arial" panose="020B0604020202020204" pitchFamily="34" charset="0"/>
              <a:buChar char="•"/>
            </a:pPr>
            <a:r>
              <a:rPr lang="en-IN" sz="1100" dirty="0"/>
              <a:t>Archival for intermediate layers is not present</a:t>
            </a:r>
          </a:p>
          <a:p>
            <a:pPr marL="285750" indent="-285750">
              <a:buFont typeface="Arial" panose="020B0604020202020204" pitchFamily="34" charset="0"/>
              <a:buChar char="•"/>
            </a:pPr>
            <a:r>
              <a:rPr lang="en-IN" sz="1100" dirty="0"/>
              <a:t>Hard coding is done while performing column rename operations. This has to be parametrized </a:t>
            </a:r>
          </a:p>
        </p:txBody>
      </p:sp>
      <p:sp>
        <p:nvSpPr>
          <p:cNvPr id="8" name="TextBox 7">
            <a:extLst>
              <a:ext uri="{FF2B5EF4-FFF2-40B4-BE49-F238E27FC236}">
                <a16:creationId xmlns:a16="http://schemas.microsoft.com/office/drawing/2014/main" id="{CAAB87A7-07EC-4EB0-A64A-73D3CA239819}"/>
              </a:ext>
            </a:extLst>
          </p:cNvPr>
          <p:cNvSpPr txBox="1"/>
          <p:nvPr/>
        </p:nvSpPr>
        <p:spPr>
          <a:xfrm>
            <a:off x="253009" y="1720044"/>
            <a:ext cx="1814782" cy="276999"/>
          </a:xfrm>
          <a:prstGeom prst="rect">
            <a:avLst/>
          </a:prstGeom>
          <a:solidFill>
            <a:schemeClr val="accent4">
              <a:lumMod val="75000"/>
              <a:alpha val="80000"/>
            </a:schemeClr>
          </a:solidFill>
        </p:spPr>
        <p:txBody>
          <a:bodyPr wrap="square" rtlCol="0">
            <a:spAutoFit/>
          </a:bodyPr>
          <a:lstStyle>
            <a:defPPr>
              <a:defRPr lang="en-US"/>
            </a:defPPr>
            <a:lvl1pPr>
              <a:defRPr sz="1200" b="1">
                <a:solidFill>
                  <a:schemeClr val="bg1"/>
                </a:solidFill>
              </a:defRPr>
            </a:lvl1pPr>
          </a:lstStyle>
          <a:p>
            <a:r>
              <a:rPr lang="en-IN" dirty="0"/>
              <a:t>Process and Standard</a:t>
            </a:r>
          </a:p>
        </p:txBody>
      </p:sp>
      <p:sp>
        <p:nvSpPr>
          <p:cNvPr id="9" name="TextBox 8">
            <a:extLst>
              <a:ext uri="{FF2B5EF4-FFF2-40B4-BE49-F238E27FC236}">
                <a16:creationId xmlns:a16="http://schemas.microsoft.com/office/drawing/2014/main" id="{66D4EC2F-87F1-4D92-931C-CAAB5B36C532}"/>
              </a:ext>
            </a:extLst>
          </p:cNvPr>
          <p:cNvSpPr txBox="1"/>
          <p:nvPr/>
        </p:nvSpPr>
        <p:spPr>
          <a:xfrm>
            <a:off x="4527588" y="1074858"/>
            <a:ext cx="3643582" cy="1107996"/>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Partitioning is done only based on batch id and date fields. Review of Data distribution is needed</a:t>
            </a:r>
          </a:p>
          <a:p>
            <a:pPr marL="285750" indent="-285750">
              <a:buFont typeface="Arial" panose="020B0604020202020204" pitchFamily="34" charset="0"/>
              <a:buChar char="•"/>
            </a:pPr>
            <a:r>
              <a:rPr lang="en-IN" sz="1100" dirty="0"/>
              <a:t>Gzip compression is used. Compression techniques should ideally depend on the need, </a:t>
            </a:r>
            <a:r>
              <a:rPr lang="en-IN" sz="1100" dirty="0" err="1"/>
              <a:t>i.e</a:t>
            </a:r>
            <a:r>
              <a:rPr lang="en-IN" sz="1100" dirty="0"/>
              <a:t>, space or performance optimization. But the same method has been used everywhere</a:t>
            </a:r>
          </a:p>
        </p:txBody>
      </p:sp>
      <p:sp>
        <p:nvSpPr>
          <p:cNvPr id="10" name="TextBox 9">
            <a:extLst>
              <a:ext uri="{FF2B5EF4-FFF2-40B4-BE49-F238E27FC236}">
                <a16:creationId xmlns:a16="http://schemas.microsoft.com/office/drawing/2014/main" id="{D6C05D41-D446-4779-A32D-750714C33BD7}"/>
              </a:ext>
            </a:extLst>
          </p:cNvPr>
          <p:cNvSpPr txBox="1"/>
          <p:nvPr/>
        </p:nvSpPr>
        <p:spPr>
          <a:xfrm>
            <a:off x="4527588" y="797859"/>
            <a:ext cx="2167126" cy="276999"/>
          </a:xfrm>
          <a:prstGeom prst="rect">
            <a:avLst/>
          </a:prstGeom>
          <a:solidFill>
            <a:schemeClr val="accent4">
              <a:lumMod val="75000"/>
              <a:alpha val="80000"/>
            </a:schemeClr>
          </a:solidFill>
        </p:spPr>
        <p:txBody>
          <a:bodyPr wrap="square" rtlCol="0">
            <a:spAutoFit/>
          </a:bodyPr>
          <a:lstStyle>
            <a:defPPr>
              <a:defRPr lang="en-US"/>
            </a:defPPr>
            <a:lvl1pPr>
              <a:defRPr sz="1200" b="1">
                <a:solidFill>
                  <a:schemeClr val="bg1"/>
                </a:solidFill>
              </a:defRPr>
            </a:lvl1pPr>
          </a:lstStyle>
          <a:p>
            <a:r>
              <a:rPr lang="en-IN" dirty="0"/>
              <a:t>Data Engineering</a:t>
            </a:r>
          </a:p>
        </p:txBody>
      </p:sp>
      <p:sp>
        <p:nvSpPr>
          <p:cNvPr id="11" name="TextBox 10">
            <a:extLst>
              <a:ext uri="{FF2B5EF4-FFF2-40B4-BE49-F238E27FC236}">
                <a16:creationId xmlns:a16="http://schemas.microsoft.com/office/drawing/2014/main" id="{FC7688A4-82C1-4C9D-A957-8726294BEEAE}"/>
              </a:ext>
            </a:extLst>
          </p:cNvPr>
          <p:cNvSpPr txBox="1"/>
          <p:nvPr/>
        </p:nvSpPr>
        <p:spPr>
          <a:xfrm>
            <a:off x="253009" y="3598066"/>
            <a:ext cx="3643582" cy="76944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Cluster Spin up and spin down is not optimized as it occurs often</a:t>
            </a:r>
          </a:p>
          <a:p>
            <a:pPr marL="285750" indent="-285750">
              <a:buFont typeface="Arial" panose="020B0604020202020204" pitchFamily="34" charset="0"/>
              <a:buChar char="•"/>
            </a:pPr>
            <a:r>
              <a:rPr lang="en-IN" sz="1100" dirty="0"/>
              <a:t>Broken </a:t>
            </a:r>
            <a:r>
              <a:rPr lang="en-IN" sz="1100" dirty="0" err="1"/>
              <a:t>dag</a:t>
            </a:r>
            <a:r>
              <a:rPr lang="en-IN" sz="1100" dirty="0"/>
              <a:t> issue is very frequent as batch id is dynamically attached to </a:t>
            </a:r>
            <a:r>
              <a:rPr lang="en-IN" sz="1100" dirty="0" err="1"/>
              <a:t>airlflow</a:t>
            </a:r>
            <a:r>
              <a:rPr lang="en-IN" sz="1100" dirty="0"/>
              <a:t> </a:t>
            </a:r>
            <a:r>
              <a:rPr lang="en-IN" sz="1100" dirty="0" err="1"/>
              <a:t>dag</a:t>
            </a:r>
            <a:endParaRPr lang="en-IN" sz="1100" dirty="0"/>
          </a:p>
        </p:txBody>
      </p:sp>
      <p:sp>
        <p:nvSpPr>
          <p:cNvPr id="12" name="TextBox 11">
            <a:extLst>
              <a:ext uri="{FF2B5EF4-FFF2-40B4-BE49-F238E27FC236}">
                <a16:creationId xmlns:a16="http://schemas.microsoft.com/office/drawing/2014/main" id="{4F1877B5-061D-4C02-A68C-484101B0186E}"/>
              </a:ext>
            </a:extLst>
          </p:cNvPr>
          <p:cNvSpPr txBox="1"/>
          <p:nvPr/>
        </p:nvSpPr>
        <p:spPr>
          <a:xfrm>
            <a:off x="253008" y="3321067"/>
            <a:ext cx="2170151" cy="276999"/>
          </a:xfrm>
          <a:prstGeom prst="rect">
            <a:avLst/>
          </a:prstGeom>
          <a:solidFill>
            <a:schemeClr val="accent4">
              <a:lumMod val="75000"/>
              <a:alpha val="80000"/>
            </a:schemeClr>
          </a:solidFill>
        </p:spPr>
        <p:txBody>
          <a:bodyPr wrap="square" rtlCol="0">
            <a:spAutoFit/>
          </a:bodyPr>
          <a:lstStyle/>
          <a:p>
            <a:r>
              <a:rPr lang="en-IN" sz="1200" b="1" dirty="0">
                <a:solidFill>
                  <a:schemeClr val="bg1"/>
                </a:solidFill>
              </a:rPr>
              <a:t>Pipeline Optimization</a:t>
            </a:r>
          </a:p>
        </p:txBody>
      </p:sp>
      <p:sp>
        <p:nvSpPr>
          <p:cNvPr id="13" name="TextBox 12">
            <a:extLst>
              <a:ext uri="{FF2B5EF4-FFF2-40B4-BE49-F238E27FC236}">
                <a16:creationId xmlns:a16="http://schemas.microsoft.com/office/drawing/2014/main" id="{6E1DFA9C-C82C-4E53-8C9E-6B8981576EB3}"/>
              </a:ext>
            </a:extLst>
          </p:cNvPr>
          <p:cNvSpPr txBox="1"/>
          <p:nvPr/>
        </p:nvSpPr>
        <p:spPr>
          <a:xfrm>
            <a:off x="4537979" y="2693284"/>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A template (dictionary) is used for storing all the rules, it is cumbersome to maintain.</a:t>
            </a:r>
          </a:p>
          <a:p>
            <a:pPr marL="285750" indent="-285750">
              <a:buFont typeface="Arial" panose="020B0604020202020204" pitchFamily="34" charset="0"/>
              <a:buChar char="•"/>
            </a:pPr>
            <a:r>
              <a:rPr lang="en-IN" sz="1100" dirty="0"/>
              <a:t>Scaling and modifying these rules difficult</a:t>
            </a:r>
          </a:p>
          <a:p>
            <a:pPr marL="285750" indent="-285750">
              <a:buFont typeface="Arial" panose="020B0604020202020204" pitchFamily="34" charset="0"/>
              <a:buChar char="•"/>
            </a:pPr>
            <a:r>
              <a:rPr lang="en-IN" sz="1100" dirty="0"/>
              <a:t>Domain Library based methods are easier to manage</a:t>
            </a:r>
          </a:p>
        </p:txBody>
      </p:sp>
      <p:sp>
        <p:nvSpPr>
          <p:cNvPr id="14" name="TextBox 13">
            <a:extLst>
              <a:ext uri="{FF2B5EF4-FFF2-40B4-BE49-F238E27FC236}">
                <a16:creationId xmlns:a16="http://schemas.microsoft.com/office/drawing/2014/main" id="{26AF426E-C6FA-4942-B992-1BB39EC8C0F3}"/>
              </a:ext>
            </a:extLst>
          </p:cNvPr>
          <p:cNvSpPr txBox="1"/>
          <p:nvPr/>
        </p:nvSpPr>
        <p:spPr>
          <a:xfrm>
            <a:off x="4537979" y="2416285"/>
            <a:ext cx="1814782" cy="276999"/>
          </a:xfrm>
          <a:prstGeom prst="rect">
            <a:avLst/>
          </a:prstGeom>
          <a:solidFill>
            <a:schemeClr val="accent3">
              <a:lumMod val="75000"/>
              <a:alpha val="83000"/>
            </a:schemeClr>
          </a:solidFill>
        </p:spPr>
        <p:txBody>
          <a:bodyPr wrap="square" rtlCol="0">
            <a:spAutoFit/>
          </a:bodyPr>
          <a:lstStyle/>
          <a:p>
            <a:r>
              <a:rPr lang="en-IN" sz="1200" b="1" dirty="0">
                <a:solidFill>
                  <a:schemeClr val="bg1"/>
                </a:solidFill>
              </a:rPr>
              <a:t>Metrics Engine</a:t>
            </a:r>
          </a:p>
        </p:txBody>
      </p:sp>
      <p:sp>
        <p:nvSpPr>
          <p:cNvPr id="17" name="TextBox 16">
            <a:extLst>
              <a:ext uri="{FF2B5EF4-FFF2-40B4-BE49-F238E27FC236}">
                <a16:creationId xmlns:a16="http://schemas.microsoft.com/office/drawing/2014/main" id="{0C639448-499D-4A08-9811-69DCB88EC7CC}"/>
              </a:ext>
            </a:extLst>
          </p:cNvPr>
          <p:cNvSpPr txBox="1"/>
          <p:nvPr/>
        </p:nvSpPr>
        <p:spPr>
          <a:xfrm>
            <a:off x="4527588" y="3946776"/>
            <a:ext cx="3643582" cy="76944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Security passwords are clear text</a:t>
            </a:r>
          </a:p>
          <a:p>
            <a:pPr marL="285750" indent="-285750">
              <a:buFont typeface="Arial" panose="020B0604020202020204" pitchFamily="34" charset="0"/>
              <a:buChar char="•"/>
            </a:pPr>
            <a:r>
              <a:rPr lang="en-IN" sz="1100" dirty="0"/>
              <a:t>Key Management Systems are not Used</a:t>
            </a:r>
          </a:p>
          <a:p>
            <a:pPr marL="285750" indent="-285750">
              <a:buFont typeface="Arial" panose="020B0604020202020204" pitchFamily="34" charset="0"/>
              <a:buChar char="•"/>
            </a:pPr>
            <a:r>
              <a:rPr lang="en-IN" sz="1100" dirty="0"/>
              <a:t>User Management is not strong , every one has </a:t>
            </a:r>
            <a:r>
              <a:rPr lang="en-IN" sz="1100" dirty="0" err="1"/>
              <a:t>Sudo</a:t>
            </a:r>
            <a:r>
              <a:rPr lang="en-IN" sz="1100" dirty="0"/>
              <a:t> access.</a:t>
            </a:r>
          </a:p>
        </p:txBody>
      </p:sp>
      <p:sp>
        <p:nvSpPr>
          <p:cNvPr id="15" name="Oval 14">
            <a:extLst>
              <a:ext uri="{FF2B5EF4-FFF2-40B4-BE49-F238E27FC236}">
                <a16:creationId xmlns:a16="http://schemas.microsoft.com/office/drawing/2014/main" id="{5353FAF9-1E54-4BCF-A057-F1BC0988700F}"/>
              </a:ext>
            </a:extLst>
          </p:cNvPr>
          <p:cNvSpPr>
            <a:spLocks noChangeAspect="1"/>
          </p:cNvSpPr>
          <p:nvPr/>
        </p:nvSpPr>
        <p:spPr>
          <a:xfrm>
            <a:off x="4427575" y="2372462"/>
            <a:ext cx="182880"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24" name="Oval 23">
            <a:extLst>
              <a:ext uri="{FF2B5EF4-FFF2-40B4-BE49-F238E27FC236}">
                <a16:creationId xmlns:a16="http://schemas.microsoft.com/office/drawing/2014/main" id="{FDC5EC69-5E3F-4E91-85D4-A1B9DEEC1EEE}"/>
              </a:ext>
            </a:extLst>
          </p:cNvPr>
          <p:cNvSpPr>
            <a:spLocks noChangeAspect="1"/>
          </p:cNvSpPr>
          <p:nvPr/>
        </p:nvSpPr>
        <p:spPr>
          <a:xfrm>
            <a:off x="153279" y="752678"/>
            <a:ext cx="182880" cy="182880"/>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dirty="0">
              <a:solidFill>
                <a:schemeClr val="tx1"/>
              </a:solidFill>
              <a:latin typeface="+mj-lt"/>
            </a:endParaRPr>
          </a:p>
        </p:txBody>
      </p:sp>
      <p:sp>
        <p:nvSpPr>
          <p:cNvPr id="25" name="Oval 24">
            <a:extLst>
              <a:ext uri="{FF2B5EF4-FFF2-40B4-BE49-F238E27FC236}">
                <a16:creationId xmlns:a16="http://schemas.microsoft.com/office/drawing/2014/main" id="{0CC925AA-343C-4422-854C-3040813133F7}"/>
              </a:ext>
            </a:extLst>
          </p:cNvPr>
          <p:cNvSpPr>
            <a:spLocks noChangeAspect="1"/>
          </p:cNvSpPr>
          <p:nvPr/>
        </p:nvSpPr>
        <p:spPr>
          <a:xfrm>
            <a:off x="145470" y="1706256"/>
            <a:ext cx="182880" cy="18288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dirty="0">
              <a:solidFill>
                <a:schemeClr val="tx1"/>
              </a:solidFill>
              <a:latin typeface="+mj-lt"/>
            </a:endParaRPr>
          </a:p>
        </p:txBody>
      </p:sp>
      <p:sp>
        <p:nvSpPr>
          <p:cNvPr id="26" name="Oval 25">
            <a:extLst>
              <a:ext uri="{FF2B5EF4-FFF2-40B4-BE49-F238E27FC236}">
                <a16:creationId xmlns:a16="http://schemas.microsoft.com/office/drawing/2014/main" id="{CD7C7358-7EFF-47C3-8589-23960C9387FD}"/>
              </a:ext>
            </a:extLst>
          </p:cNvPr>
          <p:cNvSpPr>
            <a:spLocks noChangeAspect="1"/>
          </p:cNvSpPr>
          <p:nvPr/>
        </p:nvSpPr>
        <p:spPr>
          <a:xfrm>
            <a:off x="4421921" y="738392"/>
            <a:ext cx="182880"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27" name="Oval 26">
            <a:extLst>
              <a:ext uri="{FF2B5EF4-FFF2-40B4-BE49-F238E27FC236}">
                <a16:creationId xmlns:a16="http://schemas.microsoft.com/office/drawing/2014/main" id="{00510CF0-59C6-4E13-AC65-1C59324A2981}"/>
              </a:ext>
            </a:extLst>
          </p:cNvPr>
          <p:cNvSpPr>
            <a:spLocks noChangeAspect="1"/>
          </p:cNvSpPr>
          <p:nvPr/>
        </p:nvSpPr>
        <p:spPr>
          <a:xfrm>
            <a:off x="153279" y="3292632"/>
            <a:ext cx="182880" cy="18288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00" b="1" dirty="0">
              <a:solidFill>
                <a:schemeClr val="tx1"/>
              </a:solidFill>
              <a:latin typeface="+mj-lt"/>
            </a:endParaRPr>
          </a:p>
        </p:txBody>
      </p:sp>
      <p:sp>
        <p:nvSpPr>
          <p:cNvPr id="28" name="Oval 27">
            <a:extLst>
              <a:ext uri="{FF2B5EF4-FFF2-40B4-BE49-F238E27FC236}">
                <a16:creationId xmlns:a16="http://schemas.microsoft.com/office/drawing/2014/main" id="{88D7FE3B-C7B3-4103-99D9-F78CD97C2BB0}"/>
              </a:ext>
            </a:extLst>
          </p:cNvPr>
          <p:cNvSpPr>
            <a:spLocks noChangeAspect="1"/>
          </p:cNvSpPr>
          <p:nvPr/>
        </p:nvSpPr>
        <p:spPr>
          <a:xfrm>
            <a:off x="4424052" y="3630996"/>
            <a:ext cx="182880" cy="18288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dirty="0">
              <a:solidFill>
                <a:schemeClr val="tx1"/>
              </a:solidFill>
              <a:latin typeface="+mj-lt"/>
            </a:endParaRPr>
          </a:p>
        </p:txBody>
      </p:sp>
      <p:grpSp>
        <p:nvGrpSpPr>
          <p:cNvPr id="3" name="Group 2"/>
          <p:cNvGrpSpPr/>
          <p:nvPr/>
        </p:nvGrpSpPr>
        <p:grpSpPr>
          <a:xfrm>
            <a:off x="7087938" y="6955"/>
            <a:ext cx="2007444" cy="652662"/>
            <a:chOff x="7087938" y="6955"/>
            <a:chExt cx="2007444" cy="652662"/>
          </a:xfrm>
        </p:grpSpPr>
        <p:grpSp>
          <p:nvGrpSpPr>
            <p:cNvPr id="41" name="Group 40">
              <a:extLst>
                <a:ext uri="{FF2B5EF4-FFF2-40B4-BE49-F238E27FC236}">
                  <a16:creationId xmlns:a16="http://schemas.microsoft.com/office/drawing/2014/main" id="{93C02397-34EF-4133-B7C5-CD726DD40B7B}"/>
                </a:ext>
              </a:extLst>
            </p:cNvPr>
            <p:cNvGrpSpPr/>
            <p:nvPr/>
          </p:nvGrpSpPr>
          <p:grpSpPr>
            <a:xfrm>
              <a:off x="7087938" y="6955"/>
              <a:ext cx="1980846" cy="652662"/>
              <a:chOff x="6281382" y="2527076"/>
              <a:chExt cx="2683742" cy="865555"/>
            </a:xfrm>
          </p:grpSpPr>
          <p:sp>
            <p:nvSpPr>
              <p:cNvPr id="42" name="Shape 133">
                <a:extLst>
                  <a:ext uri="{FF2B5EF4-FFF2-40B4-BE49-F238E27FC236}">
                    <a16:creationId xmlns:a16="http://schemas.microsoft.com/office/drawing/2014/main" id="{04595CB7-8342-4C11-8CA4-26A20556F2ED}"/>
                  </a:ext>
                </a:extLst>
              </p:cNvPr>
              <p:cNvSpPr txBox="1"/>
              <p:nvPr/>
            </p:nvSpPr>
            <p:spPr>
              <a:xfrm>
                <a:off x="8105221" y="2601721"/>
                <a:ext cx="859903" cy="631309"/>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Management</a:t>
                </a:r>
                <a:endParaRPr sz="800" dirty="0">
                  <a:solidFill>
                    <a:schemeClr val="bg1"/>
                  </a:solidFill>
                </a:endParaRPr>
              </a:p>
            </p:txBody>
          </p:sp>
          <p:sp>
            <p:nvSpPr>
              <p:cNvPr id="43" name="Shape 132">
                <a:extLst>
                  <a:ext uri="{FF2B5EF4-FFF2-40B4-BE49-F238E27FC236}">
                    <a16:creationId xmlns:a16="http://schemas.microsoft.com/office/drawing/2014/main" id="{BEA0DD74-1526-462B-A474-F19F3B12035C}"/>
                  </a:ext>
                </a:extLst>
              </p:cNvPr>
              <p:cNvSpPr/>
              <p:nvPr/>
            </p:nvSpPr>
            <p:spPr>
              <a:xfrm>
                <a:off x="8051286" y="2530695"/>
                <a:ext cx="843806" cy="836127"/>
              </a:xfrm>
              <a:prstGeom prst="ellipse">
                <a:avLst/>
              </a:prstGeom>
              <a:solidFill>
                <a:schemeClr val="accent3">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dirty="0">
                  <a:solidFill>
                    <a:schemeClr val="bg1"/>
                  </a:solidFill>
                </a:endParaRPr>
              </a:p>
            </p:txBody>
          </p:sp>
          <p:sp>
            <p:nvSpPr>
              <p:cNvPr id="44" name="Shape 134">
                <a:extLst>
                  <a:ext uri="{FF2B5EF4-FFF2-40B4-BE49-F238E27FC236}">
                    <a16:creationId xmlns:a16="http://schemas.microsoft.com/office/drawing/2014/main" id="{51554935-34E2-4DE9-8D47-37F83A3AB30F}"/>
                  </a:ext>
                </a:extLst>
              </p:cNvPr>
              <p:cNvSpPr/>
              <p:nvPr/>
            </p:nvSpPr>
            <p:spPr>
              <a:xfrm>
                <a:off x="6281382" y="2527076"/>
                <a:ext cx="879748" cy="865555"/>
              </a:xfrm>
              <a:prstGeom prst="ellipse">
                <a:avLst/>
              </a:prstGeom>
              <a:solidFill>
                <a:schemeClr val="accent4">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45" name="Shape 135">
                <a:extLst>
                  <a:ext uri="{FF2B5EF4-FFF2-40B4-BE49-F238E27FC236}">
                    <a16:creationId xmlns:a16="http://schemas.microsoft.com/office/drawing/2014/main" id="{F154D0BB-7AAA-42B6-BA07-27AFC6323750}"/>
                  </a:ext>
                </a:extLst>
              </p:cNvPr>
              <p:cNvSpPr txBox="1"/>
              <p:nvPr/>
            </p:nvSpPr>
            <p:spPr>
              <a:xfrm>
                <a:off x="6291304" y="2628745"/>
                <a:ext cx="859903" cy="631308"/>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Data Pipeline Engineering</a:t>
                </a:r>
                <a:endParaRPr sz="800" dirty="0">
                  <a:solidFill>
                    <a:schemeClr val="bg1"/>
                  </a:solidFill>
                </a:endParaRPr>
              </a:p>
            </p:txBody>
          </p:sp>
          <p:sp>
            <p:nvSpPr>
              <p:cNvPr id="46" name="Shape 136">
                <a:extLst>
                  <a:ext uri="{FF2B5EF4-FFF2-40B4-BE49-F238E27FC236}">
                    <a16:creationId xmlns:a16="http://schemas.microsoft.com/office/drawing/2014/main" id="{2C488059-D303-4FEB-81A3-30D3B3DCCF04}"/>
                  </a:ext>
                </a:extLst>
              </p:cNvPr>
              <p:cNvSpPr/>
              <p:nvPr/>
            </p:nvSpPr>
            <p:spPr>
              <a:xfrm>
                <a:off x="7188343" y="2529332"/>
                <a:ext cx="853866" cy="845384"/>
              </a:xfrm>
              <a:prstGeom prst="ellipse">
                <a:avLst/>
              </a:prstGeom>
              <a:solidFill>
                <a:schemeClr val="accent2">
                  <a:lumMod val="75000"/>
                  <a:alpha val="76000"/>
                </a:schemeClr>
              </a:solidFill>
              <a:ln>
                <a:noFill/>
              </a:ln>
              <a:effectLst>
                <a:outerShdw blurRad="149987" dist="250190" dir="8460000" algn="ctr" rotWithShape="0">
                  <a:srgbClr val="000000">
                    <a:alpha val="27840"/>
                  </a:srgbClr>
                </a:outerShdw>
              </a:effectLst>
            </p:spPr>
            <p:txBody>
              <a:bodyPr spcFirstLastPara="1" wrap="square" lIns="91425" tIns="91425" rIns="91425" bIns="91425" anchor="ctr" anchorCtr="0">
                <a:noAutofit/>
              </a:bodyPr>
              <a:lstStyle/>
              <a:p>
                <a:endParaRPr sz="800">
                  <a:solidFill>
                    <a:schemeClr val="bg1"/>
                  </a:solidFill>
                </a:endParaRPr>
              </a:p>
            </p:txBody>
          </p:sp>
          <p:sp>
            <p:nvSpPr>
              <p:cNvPr id="47" name="Shape 137">
                <a:extLst>
                  <a:ext uri="{FF2B5EF4-FFF2-40B4-BE49-F238E27FC236}">
                    <a16:creationId xmlns:a16="http://schemas.microsoft.com/office/drawing/2014/main" id="{69E41905-2048-4EF5-A9DE-799BC91D487F}"/>
                  </a:ext>
                </a:extLst>
              </p:cNvPr>
              <p:cNvSpPr txBox="1"/>
              <p:nvPr/>
            </p:nvSpPr>
            <p:spPr>
              <a:xfrm>
                <a:off x="7183343" y="2642456"/>
                <a:ext cx="859903" cy="615051"/>
              </a:xfrm>
              <a:prstGeom prst="rect">
                <a:avLst/>
              </a:prstGeom>
              <a:noFill/>
              <a:ln>
                <a:noFill/>
              </a:ln>
            </p:spPr>
            <p:txBody>
              <a:bodyPr spcFirstLastPara="1" wrap="square" lIns="11428" tIns="11428" rIns="11428" bIns="11428" anchor="ctr" anchorCtr="0">
                <a:noAutofit/>
              </a:bodyPr>
              <a:lstStyle/>
              <a:p>
                <a:pPr algn="ctr">
                  <a:lnSpc>
                    <a:spcPct val="90000"/>
                  </a:lnSpc>
                  <a:buClr>
                    <a:srgbClr val="000000"/>
                  </a:buClr>
                  <a:buSzPts val="2400"/>
                </a:pPr>
                <a:r>
                  <a:rPr lang="en-US" sz="800" dirty="0">
                    <a:solidFill>
                      <a:schemeClr val="bg1"/>
                    </a:solidFill>
                  </a:rPr>
                  <a:t>Infrastructure</a:t>
                </a:r>
                <a:endParaRPr sz="800" dirty="0">
                  <a:solidFill>
                    <a:schemeClr val="bg1"/>
                  </a:solidFill>
                </a:endParaRPr>
              </a:p>
            </p:txBody>
          </p:sp>
        </p:grpSp>
        <p:sp>
          <p:nvSpPr>
            <p:cNvPr id="48" name="Rectangle 47"/>
            <p:cNvSpPr/>
            <p:nvPr/>
          </p:nvSpPr>
          <p:spPr>
            <a:xfrm>
              <a:off x="8313019" y="160237"/>
              <a:ext cx="782363" cy="338554"/>
            </a:xfrm>
            <a:prstGeom prst="rect">
              <a:avLst/>
            </a:prstGeom>
          </p:spPr>
          <p:txBody>
            <a:bodyPr wrap="square">
              <a:spAutoFit/>
            </a:bodyPr>
            <a:lstStyle/>
            <a:p>
              <a:pPr lvl="0" algn="ctr"/>
              <a:r>
                <a:rPr lang="en-US" sz="800">
                  <a:solidFill>
                    <a:schemeClr val="bg1"/>
                  </a:solidFill>
                </a:rPr>
                <a:t>Data Management</a:t>
              </a:r>
            </a:p>
          </p:txBody>
        </p:sp>
      </p:grpSp>
      <p:sp>
        <p:nvSpPr>
          <p:cNvPr id="49" name="Oval 48"/>
          <p:cNvSpPr/>
          <p:nvPr/>
        </p:nvSpPr>
        <p:spPr>
          <a:xfrm>
            <a:off x="1224643" y="4631015"/>
            <a:ext cx="134226" cy="137174"/>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solidFill>
                <a:schemeClr val="tx1"/>
              </a:solidFill>
              <a:latin typeface="+mj-lt"/>
            </a:endParaRPr>
          </a:p>
        </p:txBody>
      </p:sp>
      <p:sp>
        <p:nvSpPr>
          <p:cNvPr id="50" name="Oval 49"/>
          <p:cNvSpPr/>
          <p:nvPr/>
        </p:nvSpPr>
        <p:spPr>
          <a:xfrm>
            <a:off x="1224643" y="4800122"/>
            <a:ext cx="134226" cy="13717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a:solidFill>
                <a:schemeClr val="tx1"/>
              </a:solidFill>
              <a:latin typeface="+mj-lt"/>
            </a:endParaRPr>
          </a:p>
        </p:txBody>
      </p:sp>
      <p:sp>
        <p:nvSpPr>
          <p:cNvPr id="51" name="Oval 50"/>
          <p:cNvSpPr/>
          <p:nvPr/>
        </p:nvSpPr>
        <p:spPr>
          <a:xfrm>
            <a:off x="1224644" y="4969924"/>
            <a:ext cx="134226" cy="13717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solidFill>
                <a:schemeClr val="tx1"/>
              </a:solidFill>
              <a:latin typeface="+mj-lt"/>
            </a:endParaRPr>
          </a:p>
        </p:txBody>
      </p:sp>
      <p:sp>
        <p:nvSpPr>
          <p:cNvPr id="52" name="TextBox 51"/>
          <p:cNvSpPr txBox="1"/>
          <p:nvPr/>
        </p:nvSpPr>
        <p:spPr>
          <a:xfrm>
            <a:off x="1160400" y="4382252"/>
            <a:ext cx="550151" cy="215444"/>
          </a:xfrm>
          <a:prstGeom prst="rect">
            <a:avLst/>
          </a:prstGeom>
          <a:noFill/>
        </p:spPr>
        <p:txBody>
          <a:bodyPr wrap="none" rtlCol="0">
            <a:spAutoFit/>
          </a:bodyPr>
          <a:lstStyle/>
          <a:p>
            <a:r>
              <a:rPr lang="en-US" sz="800" b="1" u="sng" dirty="0"/>
              <a:t>Legend</a:t>
            </a:r>
          </a:p>
        </p:txBody>
      </p:sp>
      <p:sp>
        <p:nvSpPr>
          <p:cNvPr id="53" name="TextBox 52"/>
          <p:cNvSpPr txBox="1"/>
          <p:nvPr/>
        </p:nvSpPr>
        <p:spPr>
          <a:xfrm>
            <a:off x="1358869" y="4632045"/>
            <a:ext cx="2715108" cy="169277"/>
          </a:xfrm>
          <a:prstGeom prst="rect">
            <a:avLst/>
          </a:prstGeom>
          <a:noFill/>
        </p:spPr>
        <p:txBody>
          <a:bodyPr wrap="square" rtlCol="0">
            <a:spAutoFit/>
          </a:bodyPr>
          <a:lstStyle/>
          <a:p>
            <a:r>
              <a:rPr lang="en-US" sz="500" b="1" dirty="0"/>
              <a:t>At par/ above Industry reference</a:t>
            </a:r>
          </a:p>
        </p:txBody>
      </p:sp>
      <p:sp>
        <p:nvSpPr>
          <p:cNvPr id="54" name="TextBox 53"/>
          <p:cNvSpPr txBox="1"/>
          <p:nvPr/>
        </p:nvSpPr>
        <p:spPr>
          <a:xfrm>
            <a:off x="1358870" y="4785377"/>
            <a:ext cx="2459962" cy="169277"/>
          </a:xfrm>
          <a:prstGeom prst="rect">
            <a:avLst/>
          </a:prstGeom>
          <a:noFill/>
        </p:spPr>
        <p:txBody>
          <a:bodyPr wrap="square" rtlCol="0">
            <a:spAutoFit/>
          </a:bodyPr>
          <a:lstStyle/>
          <a:p>
            <a:r>
              <a:rPr lang="en-US" sz="500" b="1" dirty="0"/>
              <a:t>Opportunity for moderate improvements</a:t>
            </a:r>
          </a:p>
        </p:txBody>
      </p:sp>
      <p:sp>
        <p:nvSpPr>
          <p:cNvPr id="55" name="TextBox 54"/>
          <p:cNvSpPr txBox="1"/>
          <p:nvPr/>
        </p:nvSpPr>
        <p:spPr>
          <a:xfrm>
            <a:off x="1358870" y="4937820"/>
            <a:ext cx="2459962" cy="169277"/>
          </a:xfrm>
          <a:prstGeom prst="rect">
            <a:avLst/>
          </a:prstGeom>
          <a:noFill/>
        </p:spPr>
        <p:txBody>
          <a:bodyPr wrap="square" rtlCol="0">
            <a:spAutoFit/>
          </a:bodyPr>
          <a:lstStyle/>
          <a:p>
            <a:r>
              <a:rPr lang="en-US" sz="500" b="1" dirty="0"/>
              <a:t>Opportunity for significant improvements</a:t>
            </a:r>
          </a:p>
        </p:txBody>
      </p:sp>
      <p:sp>
        <p:nvSpPr>
          <p:cNvPr id="56" name="Rectangle 55">
            <a:extLst>
              <a:ext uri="{FF2B5EF4-FFF2-40B4-BE49-F238E27FC236}">
                <a16:creationId xmlns:a16="http://schemas.microsoft.com/office/drawing/2014/main" id="{9160A9DC-32AA-40F2-A03A-5217B5CFF74C}"/>
              </a:ext>
            </a:extLst>
          </p:cNvPr>
          <p:cNvSpPr/>
          <p:nvPr/>
        </p:nvSpPr>
        <p:spPr>
          <a:xfrm>
            <a:off x="218963" y="626677"/>
            <a:ext cx="8645540" cy="5217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Tree>
    <p:extLst>
      <p:ext uri="{BB962C8B-B14F-4D97-AF65-F5344CB8AC3E}">
        <p14:creationId xmlns:p14="http://schemas.microsoft.com/office/powerpoint/2010/main" val="59317750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954107"/>
          </a:xfrm>
          <a:prstGeom prst="rect">
            <a:avLst/>
          </a:prstGeom>
          <a:noFill/>
        </p:spPr>
        <p:txBody>
          <a:bodyPr wrap="square" rtlCol="0">
            <a:spAutoFit/>
          </a:bodyPr>
          <a:lstStyle/>
          <a:p>
            <a:r>
              <a:rPr lang="en-US" sz="2800" b="1" dirty="0">
                <a:solidFill>
                  <a:srgbClr val="FFFFFF"/>
                </a:solidFill>
              </a:rPr>
              <a:t>Enhancement Opportunities &amp; Next Steps</a:t>
            </a:r>
          </a:p>
          <a:p>
            <a:endParaRPr lang="en-US" sz="2800" b="1" dirty="0">
              <a:solidFill>
                <a:srgbClr val="FFFFFF"/>
              </a:solidFill>
            </a:endParaRPr>
          </a:p>
        </p:txBody>
      </p:sp>
    </p:spTree>
    <p:extLst>
      <p:ext uri="{BB962C8B-B14F-4D97-AF65-F5344CB8AC3E}">
        <p14:creationId xmlns:p14="http://schemas.microsoft.com/office/powerpoint/2010/main" val="6115111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1D5B28-E831-4400-A58E-09A3FFB88362}"/>
              </a:ext>
            </a:extLst>
          </p:cNvPr>
          <p:cNvSpPr/>
          <p:nvPr/>
        </p:nvSpPr>
        <p:spPr>
          <a:xfrm>
            <a:off x="229975" y="1182804"/>
            <a:ext cx="2841551" cy="1427308"/>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2" name="Rectangle 51">
            <a:extLst>
              <a:ext uri="{FF2B5EF4-FFF2-40B4-BE49-F238E27FC236}">
                <a16:creationId xmlns:a16="http://schemas.microsoft.com/office/drawing/2014/main" id="{944CD501-5B8B-40D0-AF3F-368842DEDD74}"/>
              </a:ext>
            </a:extLst>
          </p:cNvPr>
          <p:cNvSpPr/>
          <p:nvPr/>
        </p:nvSpPr>
        <p:spPr>
          <a:xfrm>
            <a:off x="3236398" y="1182804"/>
            <a:ext cx="2841551" cy="1429685"/>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6" name="Rectangle 55">
            <a:extLst>
              <a:ext uri="{FF2B5EF4-FFF2-40B4-BE49-F238E27FC236}">
                <a16:creationId xmlns:a16="http://schemas.microsoft.com/office/drawing/2014/main" id="{7CA21C7C-EB12-4BFC-98F5-AE05B6C9855B}"/>
              </a:ext>
            </a:extLst>
          </p:cNvPr>
          <p:cNvSpPr/>
          <p:nvPr/>
        </p:nvSpPr>
        <p:spPr>
          <a:xfrm>
            <a:off x="6197257" y="1182804"/>
            <a:ext cx="2841551" cy="1409350"/>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2" name="Rectangle 61">
            <a:extLst>
              <a:ext uri="{FF2B5EF4-FFF2-40B4-BE49-F238E27FC236}">
                <a16:creationId xmlns:a16="http://schemas.microsoft.com/office/drawing/2014/main" id="{AA1321FF-C2F5-473E-B8C4-223C819E11AF}"/>
              </a:ext>
            </a:extLst>
          </p:cNvPr>
          <p:cNvSpPr/>
          <p:nvPr/>
        </p:nvSpPr>
        <p:spPr>
          <a:xfrm>
            <a:off x="229975" y="3047614"/>
            <a:ext cx="2841551" cy="1429685"/>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4" name="Rectangle 63">
            <a:extLst>
              <a:ext uri="{FF2B5EF4-FFF2-40B4-BE49-F238E27FC236}">
                <a16:creationId xmlns:a16="http://schemas.microsoft.com/office/drawing/2014/main" id="{F3C5BBBB-70E1-4B3A-B041-4B841B5AC28D}"/>
              </a:ext>
            </a:extLst>
          </p:cNvPr>
          <p:cNvSpPr/>
          <p:nvPr/>
        </p:nvSpPr>
        <p:spPr>
          <a:xfrm>
            <a:off x="3245601" y="3047615"/>
            <a:ext cx="2841551" cy="1429685"/>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68" name="Rectangle 67">
            <a:extLst>
              <a:ext uri="{FF2B5EF4-FFF2-40B4-BE49-F238E27FC236}">
                <a16:creationId xmlns:a16="http://schemas.microsoft.com/office/drawing/2014/main" id="{1C35914E-0C6F-40DD-9127-34F7C54118C3}"/>
              </a:ext>
            </a:extLst>
          </p:cNvPr>
          <p:cNvSpPr/>
          <p:nvPr/>
        </p:nvSpPr>
        <p:spPr>
          <a:xfrm>
            <a:off x="6197257" y="3047615"/>
            <a:ext cx="2841551" cy="1429685"/>
          </a:xfrm>
          <a:prstGeom prst="rect">
            <a:avLst/>
          </a:prstGeom>
          <a:solidFill>
            <a:schemeClr val="bg1">
              <a:lumMod val="85000"/>
            </a:schemeClr>
          </a:solidFill>
          <a:ln w="31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32" name="Oval 31">
            <a:extLst>
              <a:ext uri="{FF2B5EF4-FFF2-40B4-BE49-F238E27FC236}">
                <a16:creationId xmlns:a16="http://schemas.microsoft.com/office/drawing/2014/main" id="{1257FD15-7B9E-8C4B-A76F-AFD39E76690A}"/>
              </a:ext>
            </a:extLst>
          </p:cNvPr>
          <p:cNvSpPr/>
          <p:nvPr/>
        </p:nvSpPr>
        <p:spPr>
          <a:xfrm>
            <a:off x="273717" y="1252791"/>
            <a:ext cx="168403"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33" name="TextBox 32">
            <a:extLst>
              <a:ext uri="{FF2B5EF4-FFF2-40B4-BE49-F238E27FC236}">
                <a16:creationId xmlns:a16="http://schemas.microsoft.com/office/drawing/2014/main" id="{43E67FFD-535C-8548-8EC8-8AD5C4752ACD}"/>
              </a:ext>
            </a:extLst>
          </p:cNvPr>
          <p:cNvSpPr txBox="1"/>
          <p:nvPr/>
        </p:nvSpPr>
        <p:spPr>
          <a:xfrm>
            <a:off x="442120" y="1166049"/>
            <a:ext cx="2841551" cy="577081"/>
          </a:xfrm>
          <a:prstGeom prst="rect">
            <a:avLst/>
          </a:prstGeom>
          <a:noFill/>
        </p:spPr>
        <p:txBody>
          <a:bodyPr wrap="square" rtlCol="0">
            <a:spAutoFit/>
          </a:bodyPr>
          <a:lstStyle/>
          <a:p>
            <a:r>
              <a:rPr lang="en-US" sz="1050" b="1" u="sng" dirty="0"/>
              <a:t>Reduce Ingestion Complexity – parameter Automation and Abstraction Layer</a:t>
            </a:r>
          </a:p>
        </p:txBody>
      </p:sp>
      <p:sp>
        <p:nvSpPr>
          <p:cNvPr id="34" name="Oval 33">
            <a:extLst>
              <a:ext uri="{FF2B5EF4-FFF2-40B4-BE49-F238E27FC236}">
                <a16:creationId xmlns:a16="http://schemas.microsoft.com/office/drawing/2014/main" id="{AEA09992-35A8-AA40-86B8-4D00B5631A1A}"/>
              </a:ext>
            </a:extLst>
          </p:cNvPr>
          <p:cNvSpPr/>
          <p:nvPr/>
        </p:nvSpPr>
        <p:spPr>
          <a:xfrm>
            <a:off x="3332885" y="1282686"/>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35" name="TextBox 34">
            <a:extLst>
              <a:ext uri="{FF2B5EF4-FFF2-40B4-BE49-F238E27FC236}">
                <a16:creationId xmlns:a16="http://schemas.microsoft.com/office/drawing/2014/main" id="{B8112B6D-EDFB-3949-925A-0574070975F6}"/>
              </a:ext>
            </a:extLst>
          </p:cNvPr>
          <p:cNvSpPr txBox="1"/>
          <p:nvPr/>
        </p:nvSpPr>
        <p:spPr>
          <a:xfrm>
            <a:off x="3684051" y="1240949"/>
            <a:ext cx="2841551" cy="253916"/>
          </a:xfrm>
          <a:prstGeom prst="rect">
            <a:avLst/>
          </a:prstGeom>
          <a:noFill/>
        </p:spPr>
        <p:txBody>
          <a:bodyPr wrap="square" rtlCol="0">
            <a:spAutoFit/>
          </a:bodyPr>
          <a:lstStyle/>
          <a:p>
            <a:r>
              <a:rPr lang="en-US" sz="1050" b="1" u="sng" dirty="0"/>
              <a:t>Enable High Availability</a:t>
            </a:r>
          </a:p>
        </p:txBody>
      </p:sp>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229975" y="231669"/>
            <a:ext cx="8131705" cy="400110"/>
          </a:xfrm>
        </p:spPr>
        <p:txBody>
          <a:bodyPr/>
          <a:lstStyle/>
          <a:p>
            <a:r>
              <a:rPr lang="en-IN" sz="2000" dirty="0"/>
              <a:t>Recommended ENHACEMENTS to </a:t>
            </a:r>
            <a:r>
              <a:rPr lang="en-IN" sz="2000" cap="none" dirty="0" err="1"/>
              <a:t>i</a:t>
            </a:r>
            <a:r>
              <a:rPr lang="en-IN" sz="2000" dirty="0" err="1"/>
              <a:t>DNA</a:t>
            </a:r>
            <a:r>
              <a:rPr lang="en-IN" sz="2000" dirty="0"/>
              <a:t>: Priorities for next 120 days</a:t>
            </a:r>
          </a:p>
        </p:txBody>
      </p:sp>
      <p:sp>
        <p:nvSpPr>
          <p:cNvPr id="51" name="Rectangle 50">
            <a:extLst>
              <a:ext uri="{FF2B5EF4-FFF2-40B4-BE49-F238E27FC236}">
                <a16:creationId xmlns:a16="http://schemas.microsoft.com/office/drawing/2014/main" id="{9160A9DC-32AA-40F2-A03A-5217B5CFF74C}"/>
              </a:ext>
            </a:extLst>
          </p:cNvPr>
          <p:cNvSpPr/>
          <p:nvPr/>
        </p:nvSpPr>
        <p:spPr>
          <a:xfrm>
            <a:off x="229975" y="711665"/>
            <a:ext cx="8808831" cy="8292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3" name="TextBox 2">
            <a:extLst>
              <a:ext uri="{FF2B5EF4-FFF2-40B4-BE49-F238E27FC236}">
                <a16:creationId xmlns:a16="http://schemas.microsoft.com/office/drawing/2014/main" id="{8C034758-D68E-4F5A-9EFF-55F0D97EC5DB}"/>
              </a:ext>
            </a:extLst>
          </p:cNvPr>
          <p:cNvSpPr txBox="1"/>
          <p:nvPr/>
        </p:nvSpPr>
        <p:spPr>
          <a:xfrm>
            <a:off x="273717" y="1621578"/>
            <a:ext cx="2562301" cy="1107996"/>
          </a:xfrm>
          <a:prstGeom prst="rect">
            <a:avLst/>
          </a:prstGeom>
          <a:noFill/>
        </p:spPr>
        <p:txBody>
          <a:bodyPr wrap="square" rtlCol="0">
            <a:spAutoFit/>
          </a:bodyPr>
          <a:lstStyle/>
          <a:p>
            <a:pPr marL="171450" indent="-171450">
              <a:buFont typeface="Arial" panose="020B0604020202020204" pitchFamily="34" charset="0"/>
              <a:buChar char="•"/>
            </a:pPr>
            <a:r>
              <a:rPr lang="en-IN" sz="1100" dirty="0"/>
              <a:t>This will reduce the effort needed for configuring the input parameters</a:t>
            </a:r>
          </a:p>
          <a:p>
            <a:pPr marL="171450" indent="-171450">
              <a:buFont typeface="Arial" panose="020B0604020202020204" pitchFamily="34" charset="0"/>
              <a:buChar char="•"/>
            </a:pPr>
            <a:r>
              <a:rPr lang="en-IN" sz="1100" dirty="0"/>
              <a:t>Errors can be easily identified in the configuration before even running the flow</a:t>
            </a:r>
          </a:p>
          <a:p>
            <a:endParaRPr lang="en-IN" sz="1100" dirty="0"/>
          </a:p>
        </p:txBody>
      </p:sp>
      <p:sp>
        <p:nvSpPr>
          <p:cNvPr id="53" name="TextBox 52">
            <a:extLst>
              <a:ext uri="{FF2B5EF4-FFF2-40B4-BE49-F238E27FC236}">
                <a16:creationId xmlns:a16="http://schemas.microsoft.com/office/drawing/2014/main" id="{7A7965E4-10C6-41FE-8F51-881DBA8948BF}"/>
              </a:ext>
            </a:extLst>
          </p:cNvPr>
          <p:cNvSpPr txBox="1"/>
          <p:nvPr/>
        </p:nvSpPr>
        <p:spPr>
          <a:xfrm>
            <a:off x="3280140" y="1635014"/>
            <a:ext cx="2562301" cy="769441"/>
          </a:xfrm>
          <a:prstGeom prst="rect">
            <a:avLst/>
          </a:prstGeom>
          <a:noFill/>
        </p:spPr>
        <p:txBody>
          <a:bodyPr wrap="square" rtlCol="0">
            <a:spAutoFit/>
          </a:bodyPr>
          <a:lstStyle/>
          <a:p>
            <a:pPr marL="171450" indent="-171450">
              <a:buFont typeface="Arial" panose="020B0604020202020204" pitchFamily="34" charset="0"/>
              <a:buChar char="•"/>
            </a:pPr>
            <a:r>
              <a:rPr lang="en-IN" sz="1100" dirty="0"/>
              <a:t>This will help to bridge the gap in current failover management (none  implemented)</a:t>
            </a:r>
          </a:p>
          <a:p>
            <a:endParaRPr lang="en-IN" sz="1100" dirty="0"/>
          </a:p>
        </p:txBody>
      </p:sp>
      <p:sp>
        <p:nvSpPr>
          <p:cNvPr id="54" name="Oval 53">
            <a:extLst>
              <a:ext uri="{FF2B5EF4-FFF2-40B4-BE49-F238E27FC236}">
                <a16:creationId xmlns:a16="http://schemas.microsoft.com/office/drawing/2014/main" id="{0FCC046D-FABE-4028-ADFE-6D3822C3BE90}"/>
              </a:ext>
            </a:extLst>
          </p:cNvPr>
          <p:cNvSpPr/>
          <p:nvPr/>
        </p:nvSpPr>
        <p:spPr>
          <a:xfrm>
            <a:off x="6293744" y="1303021"/>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55" name="TextBox 54">
            <a:extLst>
              <a:ext uri="{FF2B5EF4-FFF2-40B4-BE49-F238E27FC236}">
                <a16:creationId xmlns:a16="http://schemas.microsoft.com/office/drawing/2014/main" id="{5C3F809F-BCE9-4A21-BB92-1DA7D68C747C}"/>
              </a:ext>
            </a:extLst>
          </p:cNvPr>
          <p:cNvSpPr txBox="1"/>
          <p:nvPr/>
        </p:nvSpPr>
        <p:spPr>
          <a:xfrm>
            <a:off x="6597637" y="1270244"/>
            <a:ext cx="2841551" cy="253916"/>
          </a:xfrm>
          <a:prstGeom prst="rect">
            <a:avLst/>
          </a:prstGeom>
          <a:noFill/>
        </p:spPr>
        <p:txBody>
          <a:bodyPr wrap="square" rtlCol="0">
            <a:spAutoFit/>
          </a:bodyPr>
          <a:lstStyle/>
          <a:p>
            <a:r>
              <a:rPr lang="en-US" sz="1050" b="1" u="sng" dirty="0"/>
              <a:t>Feature Libraries by Data Domains</a:t>
            </a:r>
          </a:p>
        </p:txBody>
      </p:sp>
      <p:sp>
        <p:nvSpPr>
          <p:cNvPr id="57" name="TextBox 56">
            <a:extLst>
              <a:ext uri="{FF2B5EF4-FFF2-40B4-BE49-F238E27FC236}">
                <a16:creationId xmlns:a16="http://schemas.microsoft.com/office/drawing/2014/main" id="{9CA38863-4F3B-4A43-B72B-7ED1967C1A9A}"/>
              </a:ext>
            </a:extLst>
          </p:cNvPr>
          <p:cNvSpPr txBox="1"/>
          <p:nvPr/>
        </p:nvSpPr>
        <p:spPr>
          <a:xfrm>
            <a:off x="6395557" y="1635013"/>
            <a:ext cx="2562301" cy="1107996"/>
          </a:xfrm>
          <a:prstGeom prst="rect">
            <a:avLst/>
          </a:prstGeom>
          <a:noFill/>
        </p:spPr>
        <p:txBody>
          <a:bodyPr wrap="square" rtlCol="0">
            <a:spAutoFit/>
          </a:bodyPr>
          <a:lstStyle/>
          <a:p>
            <a:pPr marL="171450" indent="-171450">
              <a:buFont typeface="Arial" panose="020B0604020202020204" pitchFamily="34" charset="0"/>
              <a:buChar char="•"/>
            </a:pPr>
            <a:r>
              <a:rPr lang="en-IN" sz="1100" dirty="0"/>
              <a:t>The end user need not worry about how the business rules/joins have to be implemented</a:t>
            </a:r>
          </a:p>
          <a:p>
            <a:pPr marL="171450" indent="-171450">
              <a:buFont typeface="Arial" panose="020B0604020202020204" pitchFamily="34" charset="0"/>
              <a:buChar char="•"/>
            </a:pPr>
            <a:r>
              <a:rPr lang="en-IN" sz="1100" dirty="0"/>
              <a:t>Pre configured joins etc will be available</a:t>
            </a:r>
          </a:p>
          <a:p>
            <a:endParaRPr lang="en-IN" sz="1100" dirty="0"/>
          </a:p>
        </p:txBody>
      </p:sp>
      <p:sp>
        <p:nvSpPr>
          <p:cNvPr id="58" name="Oval 57">
            <a:extLst>
              <a:ext uri="{FF2B5EF4-FFF2-40B4-BE49-F238E27FC236}">
                <a16:creationId xmlns:a16="http://schemas.microsoft.com/office/drawing/2014/main" id="{D07594AB-D956-4CBE-85F9-9DE28747E2FD}"/>
              </a:ext>
            </a:extLst>
          </p:cNvPr>
          <p:cNvSpPr/>
          <p:nvPr/>
        </p:nvSpPr>
        <p:spPr>
          <a:xfrm>
            <a:off x="273717" y="3094883"/>
            <a:ext cx="168403"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59" name="TextBox 58">
            <a:extLst>
              <a:ext uri="{FF2B5EF4-FFF2-40B4-BE49-F238E27FC236}">
                <a16:creationId xmlns:a16="http://schemas.microsoft.com/office/drawing/2014/main" id="{62B581A4-5A8C-4864-A08C-AA4438EA107F}"/>
              </a:ext>
            </a:extLst>
          </p:cNvPr>
          <p:cNvSpPr txBox="1"/>
          <p:nvPr/>
        </p:nvSpPr>
        <p:spPr>
          <a:xfrm>
            <a:off x="442120" y="3008141"/>
            <a:ext cx="2841551" cy="577081"/>
          </a:xfrm>
          <a:prstGeom prst="rect">
            <a:avLst/>
          </a:prstGeom>
          <a:noFill/>
        </p:spPr>
        <p:txBody>
          <a:bodyPr wrap="square" rtlCol="0">
            <a:spAutoFit/>
          </a:bodyPr>
          <a:lstStyle/>
          <a:p>
            <a:r>
              <a:rPr lang="en-US" sz="1050" b="1" u="sng" dirty="0"/>
              <a:t>Ingestion Patterns for different Data Domains.</a:t>
            </a:r>
          </a:p>
          <a:p>
            <a:endParaRPr lang="en-US" sz="1050" b="1" u="sng" dirty="0"/>
          </a:p>
        </p:txBody>
      </p:sp>
      <p:sp>
        <p:nvSpPr>
          <p:cNvPr id="60" name="Oval 59">
            <a:extLst>
              <a:ext uri="{FF2B5EF4-FFF2-40B4-BE49-F238E27FC236}">
                <a16:creationId xmlns:a16="http://schemas.microsoft.com/office/drawing/2014/main" id="{81C7B603-8516-4127-AE03-E8B0FE926C7B}"/>
              </a:ext>
            </a:extLst>
          </p:cNvPr>
          <p:cNvSpPr/>
          <p:nvPr/>
        </p:nvSpPr>
        <p:spPr>
          <a:xfrm>
            <a:off x="3332885" y="3124778"/>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61" name="TextBox 60">
            <a:extLst>
              <a:ext uri="{FF2B5EF4-FFF2-40B4-BE49-F238E27FC236}">
                <a16:creationId xmlns:a16="http://schemas.microsoft.com/office/drawing/2014/main" id="{09FF51F8-8450-4945-93EC-A02F49C02A81}"/>
              </a:ext>
            </a:extLst>
          </p:cNvPr>
          <p:cNvSpPr txBox="1"/>
          <p:nvPr/>
        </p:nvSpPr>
        <p:spPr>
          <a:xfrm>
            <a:off x="3684051" y="3083041"/>
            <a:ext cx="2841551" cy="253916"/>
          </a:xfrm>
          <a:prstGeom prst="rect">
            <a:avLst/>
          </a:prstGeom>
          <a:noFill/>
        </p:spPr>
        <p:txBody>
          <a:bodyPr wrap="square" rtlCol="0">
            <a:spAutoFit/>
          </a:bodyPr>
          <a:lstStyle/>
          <a:p>
            <a:r>
              <a:rPr lang="en-US" sz="1050" b="1" u="sng" dirty="0"/>
              <a:t>Key management Mechanism </a:t>
            </a:r>
          </a:p>
        </p:txBody>
      </p:sp>
      <p:sp>
        <p:nvSpPr>
          <p:cNvPr id="63" name="TextBox 62">
            <a:extLst>
              <a:ext uri="{FF2B5EF4-FFF2-40B4-BE49-F238E27FC236}">
                <a16:creationId xmlns:a16="http://schemas.microsoft.com/office/drawing/2014/main" id="{4BCC3D06-2785-4D55-BBE8-8768BF2D2A85}"/>
              </a:ext>
            </a:extLst>
          </p:cNvPr>
          <p:cNvSpPr txBox="1"/>
          <p:nvPr/>
        </p:nvSpPr>
        <p:spPr>
          <a:xfrm>
            <a:off x="273717" y="3364285"/>
            <a:ext cx="2562301"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t>Since only one type of flow is present for all data sources, there could be a lot of redundant steps</a:t>
            </a:r>
          </a:p>
          <a:p>
            <a:pPr marL="171450" indent="-171450">
              <a:buFont typeface="Arial" panose="020B0604020202020204" pitchFamily="34" charset="0"/>
              <a:buChar char="•"/>
            </a:pPr>
            <a:r>
              <a:rPr lang="en-IN" sz="1100" dirty="0"/>
              <a:t>Multiple flows based on complexity could reduce these redundant steps</a:t>
            </a:r>
          </a:p>
          <a:p>
            <a:r>
              <a:rPr lang="en-IN" sz="1100" dirty="0"/>
              <a:t> </a:t>
            </a:r>
          </a:p>
        </p:txBody>
      </p:sp>
      <p:sp>
        <p:nvSpPr>
          <p:cNvPr id="65" name="TextBox 64">
            <a:extLst>
              <a:ext uri="{FF2B5EF4-FFF2-40B4-BE49-F238E27FC236}">
                <a16:creationId xmlns:a16="http://schemas.microsoft.com/office/drawing/2014/main" id="{5044F4BD-CDCC-4338-A3D8-63F5F3AE20B6}"/>
              </a:ext>
            </a:extLst>
          </p:cNvPr>
          <p:cNvSpPr txBox="1"/>
          <p:nvPr/>
        </p:nvSpPr>
        <p:spPr>
          <a:xfrm>
            <a:off x="3280140" y="3512240"/>
            <a:ext cx="2562301" cy="769441"/>
          </a:xfrm>
          <a:prstGeom prst="rect">
            <a:avLst/>
          </a:prstGeom>
          <a:noFill/>
        </p:spPr>
        <p:txBody>
          <a:bodyPr wrap="square" rtlCol="0">
            <a:spAutoFit/>
          </a:bodyPr>
          <a:lstStyle/>
          <a:p>
            <a:pPr marL="171450" indent="-171450">
              <a:buFont typeface="Arial" panose="020B0604020202020204" pitchFamily="34" charset="0"/>
              <a:buChar char="•"/>
            </a:pPr>
            <a:r>
              <a:rPr lang="en-IN" sz="1100" dirty="0"/>
              <a:t>Will make the security system more robust by encrypting the passwords etc.  </a:t>
            </a:r>
          </a:p>
          <a:p>
            <a:endParaRPr lang="en-IN" sz="1100" dirty="0"/>
          </a:p>
        </p:txBody>
      </p:sp>
      <p:sp>
        <p:nvSpPr>
          <p:cNvPr id="66" name="Oval 65">
            <a:extLst>
              <a:ext uri="{FF2B5EF4-FFF2-40B4-BE49-F238E27FC236}">
                <a16:creationId xmlns:a16="http://schemas.microsoft.com/office/drawing/2014/main" id="{CA61FF10-219C-415F-BE84-B9B4720A1050}"/>
              </a:ext>
            </a:extLst>
          </p:cNvPr>
          <p:cNvSpPr/>
          <p:nvPr/>
        </p:nvSpPr>
        <p:spPr>
          <a:xfrm>
            <a:off x="6293744" y="3145113"/>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67" name="TextBox 66">
            <a:extLst>
              <a:ext uri="{FF2B5EF4-FFF2-40B4-BE49-F238E27FC236}">
                <a16:creationId xmlns:a16="http://schemas.microsoft.com/office/drawing/2014/main" id="{6C62F4E8-E887-4416-8DA6-32DC04264A11}"/>
              </a:ext>
            </a:extLst>
          </p:cNvPr>
          <p:cNvSpPr txBox="1"/>
          <p:nvPr/>
        </p:nvSpPr>
        <p:spPr>
          <a:xfrm>
            <a:off x="6597637" y="3080718"/>
            <a:ext cx="2841551" cy="253916"/>
          </a:xfrm>
          <a:prstGeom prst="rect">
            <a:avLst/>
          </a:prstGeom>
          <a:noFill/>
        </p:spPr>
        <p:txBody>
          <a:bodyPr wrap="square" rtlCol="0">
            <a:spAutoFit/>
          </a:bodyPr>
          <a:lstStyle/>
          <a:p>
            <a:r>
              <a:rPr lang="en-US" sz="1050" b="1" u="sng" dirty="0"/>
              <a:t>Framework Improvements</a:t>
            </a:r>
          </a:p>
        </p:txBody>
      </p:sp>
      <p:sp>
        <p:nvSpPr>
          <p:cNvPr id="69" name="TextBox 68">
            <a:extLst>
              <a:ext uri="{FF2B5EF4-FFF2-40B4-BE49-F238E27FC236}">
                <a16:creationId xmlns:a16="http://schemas.microsoft.com/office/drawing/2014/main" id="{1452BAB2-F1A5-4B25-86B8-8EBE2A15A090}"/>
              </a:ext>
            </a:extLst>
          </p:cNvPr>
          <p:cNvSpPr txBox="1"/>
          <p:nvPr/>
        </p:nvSpPr>
        <p:spPr>
          <a:xfrm>
            <a:off x="6240999" y="3497441"/>
            <a:ext cx="2562301" cy="769441"/>
          </a:xfrm>
          <a:prstGeom prst="rect">
            <a:avLst/>
          </a:prstGeom>
          <a:noFill/>
        </p:spPr>
        <p:txBody>
          <a:bodyPr wrap="square" rtlCol="0">
            <a:spAutoFit/>
          </a:bodyPr>
          <a:lstStyle/>
          <a:p>
            <a:pPr marL="171450" indent="-171450">
              <a:buFont typeface="Arial" panose="020B0604020202020204" pitchFamily="34" charset="0"/>
              <a:buChar char="•"/>
            </a:pPr>
            <a:r>
              <a:rPr lang="en-IN" sz="1100" dirty="0"/>
              <a:t>Best of breed logging can be leveraged</a:t>
            </a:r>
          </a:p>
          <a:p>
            <a:pPr marL="171450" indent="-171450">
              <a:buFont typeface="Arial" panose="020B0604020202020204" pitchFamily="34" charset="0"/>
              <a:buChar char="•"/>
            </a:pPr>
            <a:r>
              <a:rPr lang="en-IN" sz="1100" dirty="0"/>
              <a:t>Broken </a:t>
            </a:r>
            <a:r>
              <a:rPr lang="en-IN" sz="1100" dirty="0" err="1"/>
              <a:t>dags</a:t>
            </a:r>
            <a:r>
              <a:rPr lang="en-IN" sz="1100" dirty="0"/>
              <a:t> issue can be resolved</a:t>
            </a:r>
          </a:p>
          <a:p>
            <a:endParaRPr lang="en-IN" sz="1100" dirty="0"/>
          </a:p>
        </p:txBody>
      </p:sp>
      <p:sp>
        <p:nvSpPr>
          <p:cNvPr id="28" name="TextBox 27">
            <a:extLst>
              <a:ext uri="{FF2B5EF4-FFF2-40B4-BE49-F238E27FC236}">
                <a16:creationId xmlns:a16="http://schemas.microsoft.com/office/drawing/2014/main" id="{76C6898D-12D0-4446-9886-0405E956722B}"/>
              </a:ext>
            </a:extLst>
          </p:cNvPr>
          <p:cNvSpPr txBox="1"/>
          <p:nvPr/>
        </p:nvSpPr>
        <p:spPr>
          <a:xfrm>
            <a:off x="237956" y="871107"/>
            <a:ext cx="2833570" cy="276999"/>
          </a:xfrm>
          <a:prstGeom prst="rect">
            <a:avLst/>
          </a:prstGeom>
          <a:solidFill>
            <a:schemeClr val="accent1">
              <a:lumMod val="75000"/>
            </a:schemeClr>
          </a:solidFill>
          <a:ln>
            <a:solidFill>
              <a:schemeClr val="tx1"/>
            </a:solidFill>
          </a:ln>
        </p:spPr>
        <p:txBody>
          <a:bodyPr wrap="square" rtlCol="0">
            <a:spAutoFit/>
          </a:bodyPr>
          <a:lstStyle>
            <a:defPPr>
              <a:defRPr lang="en-US"/>
            </a:defPPr>
            <a:lvl1pPr>
              <a:defRPr sz="1200" b="1">
                <a:solidFill>
                  <a:schemeClr val="bg1"/>
                </a:solidFill>
              </a:defRPr>
            </a:lvl1pPr>
          </a:lstStyle>
          <a:p>
            <a:r>
              <a:rPr lang="en-IN" dirty="0"/>
              <a:t>Process and Standard</a:t>
            </a:r>
          </a:p>
        </p:txBody>
      </p:sp>
      <p:sp>
        <p:nvSpPr>
          <p:cNvPr id="29" name="TextBox 28">
            <a:extLst>
              <a:ext uri="{FF2B5EF4-FFF2-40B4-BE49-F238E27FC236}">
                <a16:creationId xmlns:a16="http://schemas.microsoft.com/office/drawing/2014/main" id="{3C27161A-42C9-4C3A-BE7A-7CB35450C945}"/>
              </a:ext>
            </a:extLst>
          </p:cNvPr>
          <p:cNvSpPr txBox="1"/>
          <p:nvPr/>
        </p:nvSpPr>
        <p:spPr>
          <a:xfrm>
            <a:off x="3236397" y="871107"/>
            <a:ext cx="2841551" cy="276999"/>
          </a:xfrm>
          <a:prstGeom prst="rect">
            <a:avLst/>
          </a:prstGeom>
          <a:solidFill>
            <a:schemeClr val="accent1">
              <a:lumMod val="75000"/>
            </a:schemeClr>
          </a:solidFill>
          <a:ln>
            <a:solidFill>
              <a:schemeClr val="tx1"/>
            </a:solidFill>
          </a:ln>
        </p:spPr>
        <p:txBody>
          <a:bodyPr wrap="square" rtlCol="0">
            <a:spAutoFit/>
          </a:bodyPr>
          <a:lstStyle/>
          <a:p>
            <a:r>
              <a:rPr lang="en-IN" sz="1200" b="1" dirty="0">
                <a:solidFill>
                  <a:schemeClr val="bg1"/>
                </a:solidFill>
              </a:rPr>
              <a:t>High Availability    </a:t>
            </a:r>
          </a:p>
        </p:txBody>
      </p:sp>
      <p:sp>
        <p:nvSpPr>
          <p:cNvPr id="36" name="TextBox 35">
            <a:extLst>
              <a:ext uri="{FF2B5EF4-FFF2-40B4-BE49-F238E27FC236}">
                <a16:creationId xmlns:a16="http://schemas.microsoft.com/office/drawing/2014/main" id="{0F25B9A9-030E-4FA9-B2F2-458C0C4FA856}"/>
              </a:ext>
            </a:extLst>
          </p:cNvPr>
          <p:cNvSpPr txBox="1"/>
          <p:nvPr/>
        </p:nvSpPr>
        <p:spPr>
          <a:xfrm>
            <a:off x="6197256" y="871107"/>
            <a:ext cx="2841551" cy="276999"/>
          </a:xfrm>
          <a:prstGeom prst="rect">
            <a:avLst/>
          </a:prstGeom>
          <a:solidFill>
            <a:schemeClr val="accent1">
              <a:lumMod val="75000"/>
            </a:schemeClr>
          </a:solidFill>
          <a:ln>
            <a:solidFill>
              <a:schemeClr val="tx1"/>
            </a:solidFill>
          </a:ln>
        </p:spPr>
        <p:txBody>
          <a:bodyPr wrap="square" rtlCol="0">
            <a:spAutoFit/>
          </a:bodyPr>
          <a:lstStyle/>
          <a:p>
            <a:r>
              <a:rPr lang="en-IN" sz="1200" b="1" dirty="0">
                <a:solidFill>
                  <a:schemeClr val="bg1"/>
                </a:solidFill>
              </a:rPr>
              <a:t>Metrics Engine</a:t>
            </a:r>
          </a:p>
        </p:txBody>
      </p:sp>
      <p:sp>
        <p:nvSpPr>
          <p:cNvPr id="38" name="TextBox 37">
            <a:extLst>
              <a:ext uri="{FF2B5EF4-FFF2-40B4-BE49-F238E27FC236}">
                <a16:creationId xmlns:a16="http://schemas.microsoft.com/office/drawing/2014/main" id="{9CF9EFD0-F5D6-464E-8D72-9A017052FB3F}"/>
              </a:ext>
            </a:extLst>
          </p:cNvPr>
          <p:cNvSpPr txBox="1"/>
          <p:nvPr/>
        </p:nvSpPr>
        <p:spPr>
          <a:xfrm>
            <a:off x="237956" y="2729574"/>
            <a:ext cx="2833570" cy="276999"/>
          </a:xfrm>
          <a:prstGeom prst="rect">
            <a:avLst/>
          </a:prstGeom>
          <a:solidFill>
            <a:schemeClr val="accent1">
              <a:lumMod val="75000"/>
            </a:schemeClr>
          </a:solidFill>
          <a:ln>
            <a:solidFill>
              <a:schemeClr val="tx1"/>
            </a:solidFill>
          </a:ln>
        </p:spPr>
        <p:txBody>
          <a:bodyPr wrap="square" rtlCol="0">
            <a:spAutoFit/>
          </a:bodyPr>
          <a:lstStyle>
            <a:defPPr>
              <a:defRPr lang="en-US"/>
            </a:defPPr>
            <a:lvl1pPr>
              <a:defRPr sz="1200" b="1">
                <a:solidFill>
                  <a:schemeClr val="bg1"/>
                </a:solidFill>
              </a:defRPr>
            </a:lvl1pPr>
          </a:lstStyle>
          <a:p>
            <a:r>
              <a:rPr lang="en-IN"/>
              <a:t>Data Isolation</a:t>
            </a:r>
            <a:endParaRPr lang="en-IN" dirty="0"/>
          </a:p>
        </p:txBody>
      </p:sp>
      <p:sp>
        <p:nvSpPr>
          <p:cNvPr id="39" name="TextBox 38">
            <a:extLst>
              <a:ext uri="{FF2B5EF4-FFF2-40B4-BE49-F238E27FC236}">
                <a16:creationId xmlns:a16="http://schemas.microsoft.com/office/drawing/2014/main" id="{9E2E9BFC-DD13-4F20-9EA8-38EDBD7F98C8}"/>
              </a:ext>
            </a:extLst>
          </p:cNvPr>
          <p:cNvSpPr txBox="1"/>
          <p:nvPr/>
        </p:nvSpPr>
        <p:spPr>
          <a:xfrm>
            <a:off x="3236397" y="2729574"/>
            <a:ext cx="2841551" cy="276999"/>
          </a:xfrm>
          <a:prstGeom prst="rect">
            <a:avLst/>
          </a:prstGeom>
          <a:solidFill>
            <a:schemeClr val="accent1">
              <a:lumMod val="75000"/>
            </a:schemeClr>
          </a:solidFill>
          <a:ln>
            <a:solidFill>
              <a:schemeClr val="tx1"/>
            </a:solidFill>
          </a:ln>
        </p:spPr>
        <p:txBody>
          <a:bodyPr wrap="square" rtlCol="0">
            <a:spAutoFit/>
          </a:bodyPr>
          <a:lstStyle/>
          <a:p>
            <a:r>
              <a:rPr lang="en-IN" sz="1200" b="1">
                <a:solidFill>
                  <a:schemeClr val="bg1"/>
                </a:solidFill>
              </a:rPr>
              <a:t>Data Classification</a:t>
            </a:r>
            <a:endParaRPr lang="en-IN" sz="1200" b="1" dirty="0">
              <a:solidFill>
                <a:schemeClr val="bg1"/>
              </a:solidFill>
            </a:endParaRPr>
          </a:p>
        </p:txBody>
      </p:sp>
      <p:sp>
        <p:nvSpPr>
          <p:cNvPr id="40" name="TextBox 39">
            <a:extLst>
              <a:ext uri="{FF2B5EF4-FFF2-40B4-BE49-F238E27FC236}">
                <a16:creationId xmlns:a16="http://schemas.microsoft.com/office/drawing/2014/main" id="{8E80F265-6B88-4F86-AB00-31F2A63F7185}"/>
              </a:ext>
            </a:extLst>
          </p:cNvPr>
          <p:cNvSpPr txBox="1"/>
          <p:nvPr/>
        </p:nvSpPr>
        <p:spPr>
          <a:xfrm>
            <a:off x="6203629" y="2729574"/>
            <a:ext cx="2835177" cy="276999"/>
          </a:xfrm>
          <a:prstGeom prst="rect">
            <a:avLst/>
          </a:prstGeom>
          <a:solidFill>
            <a:schemeClr val="accent1">
              <a:lumMod val="75000"/>
            </a:schemeClr>
          </a:solidFill>
          <a:ln>
            <a:solidFill>
              <a:schemeClr val="tx1"/>
            </a:solidFill>
          </a:ln>
        </p:spPr>
        <p:txBody>
          <a:bodyPr wrap="square" rtlCol="0">
            <a:spAutoFit/>
          </a:bodyPr>
          <a:lstStyle>
            <a:defPPr>
              <a:defRPr lang="en-US"/>
            </a:defPPr>
            <a:lvl1pPr>
              <a:defRPr sz="1200" b="1">
                <a:solidFill>
                  <a:schemeClr val="bg1"/>
                </a:solidFill>
              </a:defRPr>
            </a:lvl1pPr>
          </a:lstStyle>
          <a:p>
            <a:r>
              <a:rPr lang="en-IN" dirty="0"/>
              <a:t>Dynamic Deployment</a:t>
            </a:r>
          </a:p>
        </p:txBody>
      </p:sp>
    </p:spTree>
    <p:extLst>
      <p:ext uri="{BB962C8B-B14F-4D97-AF65-F5344CB8AC3E}">
        <p14:creationId xmlns:p14="http://schemas.microsoft.com/office/powerpoint/2010/main" val="564739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9A26E1-4DAD-E54E-901E-B868E9439AF6}"/>
              </a:ext>
            </a:extLst>
          </p:cNvPr>
          <p:cNvSpPr/>
          <p:nvPr/>
        </p:nvSpPr>
        <p:spPr>
          <a:xfrm>
            <a:off x="1287536" y="813393"/>
            <a:ext cx="1266904" cy="118382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 name="Rectangle 5">
            <a:extLst>
              <a:ext uri="{FF2B5EF4-FFF2-40B4-BE49-F238E27FC236}">
                <a16:creationId xmlns:a16="http://schemas.microsoft.com/office/drawing/2014/main" id="{0CC9F391-443F-6047-B262-9ED1C9BCE045}"/>
              </a:ext>
            </a:extLst>
          </p:cNvPr>
          <p:cNvSpPr/>
          <p:nvPr/>
        </p:nvSpPr>
        <p:spPr>
          <a:xfrm>
            <a:off x="1287536" y="2054364"/>
            <a:ext cx="1266904" cy="1183821"/>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61E856DE-99F8-CA4D-87BC-38B9647FF83E}"/>
              </a:ext>
            </a:extLst>
          </p:cNvPr>
          <p:cNvSpPr/>
          <p:nvPr/>
        </p:nvSpPr>
        <p:spPr>
          <a:xfrm>
            <a:off x="1287536" y="3295335"/>
            <a:ext cx="1266904" cy="1183821"/>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CB68CD45-9E8F-284B-A02F-F894051B387A}"/>
              </a:ext>
            </a:extLst>
          </p:cNvPr>
          <p:cNvSpPr/>
          <p:nvPr/>
        </p:nvSpPr>
        <p:spPr>
          <a:xfrm>
            <a:off x="2661059" y="813393"/>
            <a:ext cx="1266904" cy="118382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ectangle 8">
            <a:extLst>
              <a:ext uri="{FF2B5EF4-FFF2-40B4-BE49-F238E27FC236}">
                <a16:creationId xmlns:a16="http://schemas.microsoft.com/office/drawing/2014/main" id="{E9666C06-BF31-AD48-AACF-E7601A38E3B1}"/>
              </a:ext>
            </a:extLst>
          </p:cNvPr>
          <p:cNvSpPr/>
          <p:nvPr/>
        </p:nvSpPr>
        <p:spPr>
          <a:xfrm>
            <a:off x="4034581" y="813393"/>
            <a:ext cx="1266904" cy="118382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a:extLst>
              <a:ext uri="{FF2B5EF4-FFF2-40B4-BE49-F238E27FC236}">
                <a16:creationId xmlns:a16="http://schemas.microsoft.com/office/drawing/2014/main" id="{B639C521-0ED6-554D-873B-977333B1C94D}"/>
              </a:ext>
            </a:extLst>
          </p:cNvPr>
          <p:cNvSpPr/>
          <p:nvPr/>
        </p:nvSpPr>
        <p:spPr>
          <a:xfrm>
            <a:off x="2641369" y="2054364"/>
            <a:ext cx="1266904" cy="1183821"/>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ectangle 10">
            <a:extLst>
              <a:ext uri="{FF2B5EF4-FFF2-40B4-BE49-F238E27FC236}">
                <a16:creationId xmlns:a16="http://schemas.microsoft.com/office/drawing/2014/main" id="{4D306B31-B0B8-D042-8BCE-7E367A7AA8C5}"/>
              </a:ext>
            </a:extLst>
          </p:cNvPr>
          <p:cNvSpPr/>
          <p:nvPr/>
        </p:nvSpPr>
        <p:spPr>
          <a:xfrm>
            <a:off x="4037942" y="2054364"/>
            <a:ext cx="1266904" cy="118382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a:extLst>
              <a:ext uri="{FF2B5EF4-FFF2-40B4-BE49-F238E27FC236}">
                <a16:creationId xmlns:a16="http://schemas.microsoft.com/office/drawing/2014/main" id="{83DB5FB9-AA9D-0B4D-863A-827AC5DFE770}"/>
              </a:ext>
            </a:extLst>
          </p:cNvPr>
          <p:cNvSpPr/>
          <p:nvPr/>
        </p:nvSpPr>
        <p:spPr>
          <a:xfrm>
            <a:off x="2661058" y="3295335"/>
            <a:ext cx="1266904" cy="1183821"/>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37E98DB9-DE14-A941-943A-68E0EA234DB1}"/>
              </a:ext>
            </a:extLst>
          </p:cNvPr>
          <p:cNvSpPr/>
          <p:nvPr/>
        </p:nvSpPr>
        <p:spPr>
          <a:xfrm>
            <a:off x="4034581" y="3295335"/>
            <a:ext cx="1266904" cy="118382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5" name="Straight Arrow Connector 14">
            <a:extLst>
              <a:ext uri="{FF2B5EF4-FFF2-40B4-BE49-F238E27FC236}">
                <a16:creationId xmlns:a16="http://schemas.microsoft.com/office/drawing/2014/main" id="{DD592315-8B37-2D41-BBD9-59E5C3A08B2C}"/>
              </a:ext>
            </a:extLst>
          </p:cNvPr>
          <p:cNvCxnSpPr/>
          <p:nvPr/>
        </p:nvCxnSpPr>
        <p:spPr>
          <a:xfrm flipH="1" flipV="1">
            <a:off x="782791" y="813394"/>
            <a:ext cx="16328" cy="3869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11CFD05-5319-3A4F-8498-D25668DDEA64}"/>
              </a:ext>
            </a:extLst>
          </p:cNvPr>
          <p:cNvCxnSpPr/>
          <p:nvPr/>
        </p:nvCxnSpPr>
        <p:spPr>
          <a:xfrm>
            <a:off x="799119" y="4683264"/>
            <a:ext cx="45023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832124-054E-2344-905F-2C3CDC9606D5}"/>
              </a:ext>
            </a:extLst>
          </p:cNvPr>
          <p:cNvSpPr txBox="1"/>
          <p:nvPr/>
        </p:nvSpPr>
        <p:spPr>
          <a:xfrm>
            <a:off x="2166787" y="4683264"/>
            <a:ext cx="2460995" cy="300082"/>
          </a:xfrm>
          <a:prstGeom prst="rect">
            <a:avLst/>
          </a:prstGeom>
          <a:noFill/>
        </p:spPr>
        <p:txBody>
          <a:bodyPr wrap="none" rtlCol="0">
            <a:spAutoFit/>
          </a:bodyPr>
          <a:lstStyle/>
          <a:p>
            <a:r>
              <a:rPr lang="en-US" sz="1350" dirty="0"/>
              <a:t>Ease of </a:t>
            </a:r>
            <a:r>
              <a:rPr lang="en-US" sz="1350"/>
              <a:t>Enablement (1/Effort</a:t>
            </a:r>
            <a:r>
              <a:rPr lang="en-US" sz="1350" dirty="0"/>
              <a:t>)</a:t>
            </a:r>
          </a:p>
        </p:txBody>
      </p:sp>
      <p:sp>
        <p:nvSpPr>
          <p:cNvPr id="20" name="TextBox 19">
            <a:extLst>
              <a:ext uri="{FF2B5EF4-FFF2-40B4-BE49-F238E27FC236}">
                <a16:creationId xmlns:a16="http://schemas.microsoft.com/office/drawing/2014/main" id="{494FF5B1-1F3F-5549-868B-990287E5066E}"/>
              </a:ext>
            </a:extLst>
          </p:cNvPr>
          <p:cNvSpPr txBox="1"/>
          <p:nvPr/>
        </p:nvSpPr>
        <p:spPr>
          <a:xfrm>
            <a:off x="126247" y="2185578"/>
            <a:ext cx="614271" cy="300082"/>
          </a:xfrm>
          <a:prstGeom prst="rect">
            <a:avLst/>
          </a:prstGeom>
          <a:noFill/>
        </p:spPr>
        <p:txBody>
          <a:bodyPr wrap="none" rtlCol="0">
            <a:spAutoFit/>
          </a:bodyPr>
          <a:lstStyle/>
          <a:p>
            <a:r>
              <a:rPr lang="en-US" sz="1350" dirty="0"/>
              <a:t>Value</a:t>
            </a:r>
          </a:p>
        </p:txBody>
      </p:sp>
      <p:sp>
        <p:nvSpPr>
          <p:cNvPr id="21" name="Oval 20">
            <a:extLst>
              <a:ext uri="{FF2B5EF4-FFF2-40B4-BE49-F238E27FC236}">
                <a16:creationId xmlns:a16="http://schemas.microsoft.com/office/drawing/2014/main" id="{BCC51769-481F-6442-BC1C-85A9016F899E}"/>
              </a:ext>
            </a:extLst>
          </p:cNvPr>
          <p:cNvSpPr/>
          <p:nvPr/>
        </p:nvSpPr>
        <p:spPr>
          <a:xfrm>
            <a:off x="4423103" y="1078732"/>
            <a:ext cx="244929" cy="25309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1</a:t>
            </a:r>
          </a:p>
        </p:txBody>
      </p:sp>
      <p:sp>
        <p:nvSpPr>
          <p:cNvPr id="22" name="TextBox 21">
            <a:extLst>
              <a:ext uri="{FF2B5EF4-FFF2-40B4-BE49-F238E27FC236}">
                <a16:creationId xmlns:a16="http://schemas.microsoft.com/office/drawing/2014/main" id="{7595BDB3-B049-374B-ABAC-D04191780E2D}"/>
              </a:ext>
            </a:extLst>
          </p:cNvPr>
          <p:cNvSpPr txBox="1"/>
          <p:nvPr/>
        </p:nvSpPr>
        <p:spPr>
          <a:xfrm>
            <a:off x="1707803" y="4442709"/>
            <a:ext cx="502061" cy="300082"/>
          </a:xfrm>
          <a:prstGeom prst="rect">
            <a:avLst/>
          </a:prstGeom>
          <a:noFill/>
        </p:spPr>
        <p:txBody>
          <a:bodyPr wrap="none" rtlCol="0">
            <a:spAutoFit/>
          </a:bodyPr>
          <a:lstStyle/>
          <a:p>
            <a:r>
              <a:rPr lang="en-US" sz="1350" dirty="0"/>
              <a:t>Low</a:t>
            </a:r>
          </a:p>
        </p:txBody>
      </p:sp>
      <p:sp>
        <p:nvSpPr>
          <p:cNvPr id="23" name="TextBox 22">
            <a:extLst>
              <a:ext uri="{FF2B5EF4-FFF2-40B4-BE49-F238E27FC236}">
                <a16:creationId xmlns:a16="http://schemas.microsoft.com/office/drawing/2014/main" id="{EEB6D15D-7358-4942-92A2-372DE2FA639B}"/>
              </a:ext>
            </a:extLst>
          </p:cNvPr>
          <p:cNvSpPr txBox="1"/>
          <p:nvPr/>
        </p:nvSpPr>
        <p:spPr>
          <a:xfrm>
            <a:off x="2927702" y="4447084"/>
            <a:ext cx="800219" cy="300082"/>
          </a:xfrm>
          <a:prstGeom prst="rect">
            <a:avLst/>
          </a:prstGeom>
          <a:noFill/>
        </p:spPr>
        <p:txBody>
          <a:bodyPr wrap="none" rtlCol="0">
            <a:spAutoFit/>
          </a:bodyPr>
          <a:lstStyle/>
          <a:p>
            <a:r>
              <a:rPr lang="en-US" sz="1350" dirty="0"/>
              <a:t>Medium</a:t>
            </a:r>
          </a:p>
        </p:txBody>
      </p:sp>
      <p:sp>
        <p:nvSpPr>
          <p:cNvPr id="24" name="TextBox 23">
            <a:extLst>
              <a:ext uri="{FF2B5EF4-FFF2-40B4-BE49-F238E27FC236}">
                <a16:creationId xmlns:a16="http://schemas.microsoft.com/office/drawing/2014/main" id="{9B08465C-B4AE-BD4B-ADB1-23E32343F9DC}"/>
              </a:ext>
            </a:extLst>
          </p:cNvPr>
          <p:cNvSpPr txBox="1"/>
          <p:nvPr/>
        </p:nvSpPr>
        <p:spPr>
          <a:xfrm>
            <a:off x="4194605" y="4439069"/>
            <a:ext cx="540533" cy="300082"/>
          </a:xfrm>
          <a:prstGeom prst="rect">
            <a:avLst/>
          </a:prstGeom>
          <a:noFill/>
        </p:spPr>
        <p:txBody>
          <a:bodyPr wrap="none" rtlCol="0">
            <a:spAutoFit/>
          </a:bodyPr>
          <a:lstStyle/>
          <a:p>
            <a:r>
              <a:rPr lang="en-US" sz="1350" dirty="0"/>
              <a:t>High</a:t>
            </a:r>
          </a:p>
        </p:txBody>
      </p:sp>
      <p:sp>
        <p:nvSpPr>
          <p:cNvPr id="25" name="TextBox 24">
            <a:extLst>
              <a:ext uri="{FF2B5EF4-FFF2-40B4-BE49-F238E27FC236}">
                <a16:creationId xmlns:a16="http://schemas.microsoft.com/office/drawing/2014/main" id="{7711726E-415F-1544-8280-D4070B201697}"/>
              </a:ext>
            </a:extLst>
          </p:cNvPr>
          <p:cNvSpPr txBox="1"/>
          <p:nvPr/>
        </p:nvSpPr>
        <p:spPr>
          <a:xfrm>
            <a:off x="861169" y="3683725"/>
            <a:ext cx="502061" cy="300082"/>
          </a:xfrm>
          <a:prstGeom prst="rect">
            <a:avLst/>
          </a:prstGeom>
          <a:noFill/>
        </p:spPr>
        <p:txBody>
          <a:bodyPr wrap="none" rtlCol="0">
            <a:spAutoFit/>
          </a:bodyPr>
          <a:lstStyle/>
          <a:p>
            <a:r>
              <a:rPr lang="en-US" sz="1350" dirty="0"/>
              <a:t>Low</a:t>
            </a:r>
          </a:p>
        </p:txBody>
      </p:sp>
      <p:sp>
        <p:nvSpPr>
          <p:cNvPr id="26" name="TextBox 25">
            <a:extLst>
              <a:ext uri="{FF2B5EF4-FFF2-40B4-BE49-F238E27FC236}">
                <a16:creationId xmlns:a16="http://schemas.microsoft.com/office/drawing/2014/main" id="{1B5AE0B2-A642-6246-A392-678251070CE7}"/>
              </a:ext>
            </a:extLst>
          </p:cNvPr>
          <p:cNvSpPr txBox="1"/>
          <p:nvPr/>
        </p:nvSpPr>
        <p:spPr>
          <a:xfrm>
            <a:off x="835623" y="2462577"/>
            <a:ext cx="521297" cy="300082"/>
          </a:xfrm>
          <a:prstGeom prst="rect">
            <a:avLst/>
          </a:prstGeom>
          <a:noFill/>
        </p:spPr>
        <p:txBody>
          <a:bodyPr wrap="none" rtlCol="0">
            <a:spAutoFit/>
          </a:bodyPr>
          <a:lstStyle/>
          <a:p>
            <a:r>
              <a:rPr lang="en-US" sz="1350" dirty="0"/>
              <a:t>Med</a:t>
            </a:r>
          </a:p>
        </p:txBody>
      </p:sp>
      <p:sp>
        <p:nvSpPr>
          <p:cNvPr id="27" name="TextBox 26">
            <a:extLst>
              <a:ext uri="{FF2B5EF4-FFF2-40B4-BE49-F238E27FC236}">
                <a16:creationId xmlns:a16="http://schemas.microsoft.com/office/drawing/2014/main" id="{F777FC52-DEC7-3540-B7B4-54FF561B5CE7}"/>
              </a:ext>
            </a:extLst>
          </p:cNvPr>
          <p:cNvSpPr txBox="1"/>
          <p:nvPr/>
        </p:nvSpPr>
        <p:spPr>
          <a:xfrm>
            <a:off x="845662" y="1253676"/>
            <a:ext cx="540533" cy="300082"/>
          </a:xfrm>
          <a:prstGeom prst="rect">
            <a:avLst/>
          </a:prstGeom>
          <a:noFill/>
        </p:spPr>
        <p:txBody>
          <a:bodyPr wrap="none" rtlCol="0">
            <a:spAutoFit/>
          </a:bodyPr>
          <a:lstStyle/>
          <a:p>
            <a:r>
              <a:rPr lang="en-US" sz="1350" dirty="0"/>
              <a:t>High</a:t>
            </a:r>
          </a:p>
        </p:txBody>
      </p:sp>
      <p:sp>
        <p:nvSpPr>
          <p:cNvPr id="28" name="Oval 27">
            <a:extLst>
              <a:ext uri="{FF2B5EF4-FFF2-40B4-BE49-F238E27FC236}">
                <a16:creationId xmlns:a16="http://schemas.microsoft.com/office/drawing/2014/main" id="{94064EC4-6A9A-AE4D-BA21-357C6CD2C2FC}"/>
              </a:ext>
            </a:extLst>
          </p:cNvPr>
          <p:cNvSpPr/>
          <p:nvPr/>
        </p:nvSpPr>
        <p:spPr>
          <a:xfrm>
            <a:off x="2768952" y="2318657"/>
            <a:ext cx="244929" cy="25309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2</a:t>
            </a:r>
          </a:p>
        </p:txBody>
      </p:sp>
      <p:sp>
        <p:nvSpPr>
          <p:cNvPr id="29" name="Oval 28">
            <a:extLst>
              <a:ext uri="{FF2B5EF4-FFF2-40B4-BE49-F238E27FC236}">
                <a16:creationId xmlns:a16="http://schemas.microsoft.com/office/drawing/2014/main" id="{6A4609DB-5B22-1040-8D28-073CEB9E2316}"/>
              </a:ext>
            </a:extLst>
          </p:cNvPr>
          <p:cNvSpPr/>
          <p:nvPr/>
        </p:nvSpPr>
        <p:spPr>
          <a:xfrm>
            <a:off x="2797928" y="1027555"/>
            <a:ext cx="244929" cy="25309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3</a:t>
            </a:r>
          </a:p>
        </p:txBody>
      </p:sp>
      <p:sp>
        <p:nvSpPr>
          <p:cNvPr id="30" name="Oval 29">
            <a:extLst>
              <a:ext uri="{FF2B5EF4-FFF2-40B4-BE49-F238E27FC236}">
                <a16:creationId xmlns:a16="http://schemas.microsoft.com/office/drawing/2014/main" id="{21E28A9A-E1F0-D047-9760-7EAD7628C810}"/>
              </a:ext>
            </a:extLst>
          </p:cNvPr>
          <p:cNvSpPr/>
          <p:nvPr/>
        </p:nvSpPr>
        <p:spPr>
          <a:xfrm>
            <a:off x="3095089" y="2838134"/>
            <a:ext cx="244929" cy="25309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4</a:t>
            </a:r>
          </a:p>
        </p:txBody>
      </p:sp>
      <p:sp>
        <p:nvSpPr>
          <p:cNvPr id="31" name="Oval 30">
            <a:extLst>
              <a:ext uri="{FF2B5EF4-FFF2-40B4-BE49-F238E27FC236}">
                <a16:creationId xmlns:a16="http://schemas.microsoft.com/office/drawing/2014/main" id="{4E43ADF0-BDB2-AC40-9CA3-0DACFEE56CD1}"/>
              </a:ext>
            </a:extLst>
          </p:cNvPr>
          <p:cNvSpPr/>
          <p:nvPr/>
        </p:nvSpPr>
        <p:spPr>
          <a:xfrm>
            <a:off x="4096960" y="868644"/>
            <a:ext cx="244929" cy="25309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5</a:t>
            </a:r>
          </a:p>
        </p:txBody>
      </p:sp>
      <p:sp>
        <p:nvSpPr>
          <p:cNvPr id="32" name="Oval 31">
            <a:extLst>
              <a:ext uri="{FF2B5EF4-FFF2-40B4-BE49-F238E27FC236}">
                <a16:creationId xmlns:a16="http://schemas.microsoft.com/office/drawing/2014/main" id="{1257FD15-7B9E-8C4B-A76F-AFD39E76690A}"/>
              </a:ext>
            </a:extLst>
          </p:cNvPr>
          <p:cNvSpPr/>
          <p:nvPr/>
        </p:nvSpPr>
        <p:spPr>
          <a:xfrm>
            <a:off x="5822094" y="933374"/>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33" name="TextBox 32">
            <a:extLst>
              <a:ext uri="{FF2B5EF4-FFF2-40B4-BE49-F238E27FC236}">
                <a16:creationId xmlns:a16="http://schemas.microsoft.com/office/drawing/2014/main" id="{43E67FFD-535C-8548-8EC8-8AD5C4752ACD}"/>
              </a:ext>
            </a:extLst>
          </p:cNvPr>
          <p:cNvSpPr txBox="1"/>
          <p:nvPr/>
        </p:nvSpPr>
        <p:spPr>
          <a:xfrm>
            <a:off x="6188149" y="846632"/>
            <a:ext cx="2841551" cy="415498"/>
          </a:xfrm>
          <a:prstGeom prst="rect">
            <a:avLst/>
          </a:prstGeom>
          <a:noFill/>
        </p:spPr>
        <p:txBody>
          <a:bodyPr wrap="square" rtlCol="0">
            <a:spAutoFit/>
          </a:bodyPr>
          <a:lstStyle/>
          <a:p>
            <a:r>
              <a:rPr lang="en-US" sz="1050" dirty="0"/>
              <a:t>Reduce Ingestion Complexity – parameter Automation and Abstraction Layer.</a:t>
            </a:r>
          </a:p>
        </p:txBody>
      </p:sp>
      <p:sp>
        <p:nvSpPr>
          <p:cNvPr id="34" name="Oval 33">
            <a:extLst>
              <a:ext uri="{FF2B5EF4-FFF2-40B4-BE49-F238E27FC236}">
                <a16:creationId xmlns:a16="http://schemas.microsoft.com/office/drawing/2014/main" id="{AEA09992-35A8-AA40-86B8-4D00B5631A1A}"/>
              </a:ext>
            </a:extLst>
          </p:cNvPr>
          <p:cNvSpPr/>
          <p:nvPr/>
        </p:nvSpPr>
        <p:spPr>
          <a:xfrm>
            <a:off x="5836982" y="1339548"/>
            <a:ext cx="203627" cy="18836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35" name="TextBox 34">
            <a:extLst>
              <a:ext uri="{FF2B5EF4-FFF2-40B4-BE49-F238E27FC236}">
                <a16:creationId xmlns:a16="http://schemas.microsoft.com/office/drawing/2014/main" id="{B8112B6D-EDFB-3949-925A-0574070975F6}"/>
              </a:ext>
            </a:extLst>
          </p:cNvPr>
          <p:cNvSpPr txBox="1"/>
          <p:nvPr/>
        </p:nvSpPr>
        <p:spPr>
          <a:xfrm>
            <a:off x="6188148" y="1297811"/>
            <a:ext cx="2841551" cy="253916"/>
          </a:xfrm>
          <a:prstGeom prst="rect">
            <a:avLst/>
          </a:prstGeom>
          <a:noFill/>
        </p:spPr>
        <p:txBody>
          <a:bodyPr wrap="square" rtlCol="0">
            <a:spAutoFit/>
          </a:bodyPr>
          <a:lstStyle/>
          <a:p>
            <a:r>
              <a:rPr lang="en-US" sz="1050" dirty="0"/>
              <a:t>Enable High Availability</a:t>
            </a:r>
          </a:p>
        </p:txBody>
      </p:sp>
      <p:sp>
        <p:nvSpPr>
          <p:cNvPr id="36" name="Oval 35">
            <a:extLst>
              <a:ext uri="{FF2B5EF4-FFF2-40B4-BE49-F238E27FC236}">
                <a16:creationId xmlns:a16="http://schemas.microsoft.com/office/drawing/2014/main" id="{030889BA-57E1-0C40-AC00-7C3C1F6E3309}"/>
              </a:ext>
            </a:extLst>
          </p:cNvPr>
          <p:cNvSpPr/>
          <p:nvPr/>
        </p:nvSpPr>
        <p:spPr>
          <a:xfrm>
            <a:off x="5821636" y="1721229"/>
            <a:ext cx="203627" cy="18836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37" name="TextBox 36">
            <a:extLst>
              <a:ext uri="{FF2B5EF4-FFF2-40B4-BE49-F238E27FC236}">
                <a16:creationId xmlns:a16="http://schemas.microsoft.com/office/drawing/2014/main" id="{9A64AAE1-EF56-1247-9973-6C569EF45FB2}"/>
              </a:ext>
            </a:extLst>
          </p:cNvPr>
          <p:cNvSpPr txBox="1"/>
          <p:nvPr/>
        </p:nvSpPr>
        <p:spPr>
          <a:xfrm>
            <a:off x="6188149" y="1686385"/>
            <a:ext cx="2841551" cy="253916"/>
          </a:xfrm>
          <a:prstGeom prst="rect">
            <a:avLst/>
          </a:prstGeom>
          <a:noFill/>
        </p:spPr>
        <p:txBody>
          <a:bodyPr wrap="square" rtlCol="0">
            <a:spAutoFit/>
          </a:bodyPr>
          <a:lstStyle/>
          <a:p>
            <a:r>
              <a:rPr lang="en-US" sz="1050" dirty="0"/>
              <a:t>Feature Libraries by Data Domains</a:t>
            </a:r>
          </a:p>
        </p:txBody>
      </p:sp>
      <p:sp>
        <p:nvSpPr>
          <p:cNvPr id="38" name="Oval 37">
            <a:extLst>
              <a:ext uri="{FF2B5EF4-FFF2-40B4-BE49-F238E27FC236}">
                <a16:creationId xmlns:a16="http://schemas.microsoft.com/office/drawing/2014/main" id="{DE445480-3E26-144E-B283-9C6A41E0DD3F}"/>
              </a:ext>
            </a:extLst>
          </p:cNvPr>
          <p:cNvSpPr/>
          <p:nvPr/>
        </p:nvSpPr>
        <p:spPr>
          <a:xfrm>
            <a:off x="5821635" y="2140788"/>
            <a:ext cx="203627" cy="18836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39" name="TextBox 38">
            <a:extLst>
              <a:ext uri="{FF2B5EF4-FFF2-40B4-BE49-F238E27FC236}">
                <a16:creationId xmlns:a16="http://schemas.microsoft.com/office/drawing/2014/main" id="{F05477DD-7148-9A4C-AA25-5667A54FD823}"/>
              </a:ext>
            </a:extLst>
          </p:cNvPr>
          <p:cNvSpPr txBox="1"/>
          <p:nvPr/>
        </p:nvSpPr>
        <p:spPr>
          <a:xfrm>
            <a:off x="6149249" y="2041884"/>
            <a:ext cx="2841551" cy="415498"/>
          </a:xfrm>
          <a:prstGeom prst="rect">
            <a:avLst/>
          </a:prstGeom>
          <a:noFill/>
        </p:spPr>
        <p:txBody>
          <a:bodyPr wrap="square" rtlCol="0">
            <a:spAutoFit/>
          </a:bodyPr>
          <a:lstStyle/>
          <a:p>
            <a:r>
              <a:rPr lang="en-US" sz="1050" dirty="0"/>
              <a:t>Ingestion Patterns for different Data Domains.</a:t>
            </a:r>
          </a:p>
        </p:txBody>
      </p:sp>
      <p:sp>
        <p:nvSpPr>
          <p:cNvPr id="43" name="Oval 42">
            <a:extLst>
              <a:ext uri="{FF2B5EF4-FFF2-40B4-BE49-F238E27FC236}">
                <a16:creationId xmlns:a16="http://schemas.microsoft.com/office/drawing/2014/main" id="{17CCCBE1-9EB8-7740-AB90-1A660A3EE919}"/>
              </a:ext>
            </a:extLst>
          </p:cNvPr>
          <p:cNvSpPr/>
          <p:nvPr/>
        </p:nvSpPr>
        <p:spPr>
          <a:xfrm>
            <a:off x="5836981" y="2590271"/>
            <a:ext cx="203627" cy="18836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5</a:t>
            </a:r>
          </a:p>
        </p:txBody>
      </p:sp>
      <p:sp>
        <p:nvSpPr>
          <p:cNvPr id="44" name="TextBox 43">
            <a:extLst>
              <a:ext uri="{FF2B5EF4-FFF2-40B4-BE49-F238E27FC236}">
                <a16:creationId xmlns:a16="http://schemas.microsoft.com/office/drawing/2014/main" id="{B813449A-8E12-934E-A702-824D796E6B87}"/>
              </a:ext>
            </a:extLst>
          </p:cNvPr>
          <p:cNvSpPr txBox="1"/>
          <p:nvPr/>
        </p:nvSpPr>
        <p:spPr>
          <a:xfrm>
            <a:off x="6188148" y="2539793"/>
            <a:ext cx="2841551" cy="253916"/>
          </a:xfrm>
          <a:prstGeom prst="rect">
            <a:avLst/>
          </a:prstGeom>
          <a:noFill/>
        </p:spPr>
        <p:txBody>
          <a:bodyPr wrap="square" rtlCol="0">
            <a:spAutoFit/>
          </a:bodyPr>
          <a:lstStyle/>
          <a:p>
            <a:r>
              <a:rPr lang="en-US" sz="1050" dirty="0"/>
              <a:t>Key Management Mechanisms</a:t>
            </a:r>
          </a:p>
        </p:txBody>
      </p:sp>
      <p:sp>
        <p:nvSpPr>
          <p:cNvPr id="45" name="Oval 44">
            <a:extLst>
              <a:ext uri="{FF2B5EF4-FFF2-40B4-BE49-F238E27FC236}">
                <a16:creationId xmlns:a16="http://schemas.microsoft.com/office/drawing/2014/main" id="{97A406FC-06E5-DB4D-8EF5-88884796F381}"/>
              </a:ext>
            </a:extLst>
          </p:cNvPr>
          <p:cNvSpPr/>
          <p:nvPr/>
        </p:nvSpPr>
        <p:spPr>
          <a:xfrm>
            <a:off x="3131187" y="1039664"/>
            <a:ext cx="244929" cy="25309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6</a:t>
            </a:r>
          </a:p>
        </p:txBody>
      </p:sp>
      <p:sp>
        <p:nvSpPr>
          <p:cNvPr id="46" name="Oval 45">
            <a:extLst>
              <a:ext uri="{FF2B5EF4-FFF2-40B4-BE49-F238E27FC236}">
                <a16:creationId xmlns:a16="http://schemas.microsoft.com/office/drawing/2014/main" id="{05B2629F-4C84-C44F-9C19-BFE538F904D1}"/>
              </a:ext>
            </a:extLst>
          </p:cNvPr>
          <p:cNvSpPr/>
          <p:nvPr/>
        </p:nvSpPr>
        <p:spPr>
          <a:xfrm>
            <a:off x="5821633" y="3018104"/>
            <a:ext cx="203627" cy="188363"/>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47" name="TextBox 46">
            <a:extLst>
              <a:ext uri="{FF2B5EF4-FFF2-40B4-BE49-F238E27FC236}">
                <a16:creationId xmlns:a16="http://schemas.microsoft.com/office/drawing/2014/main" id="{11D7C65F-6761-5E4F-BBBD-029BB821969D}"/>
              </a:ext>
            </a:extLst>
          </p:cNvPr>
          <p:cNvSpPr txBox="1"/>
          <p:nvPr/>
        </p:nvSpPr>
        <p:spPr>
          <a:xfrm>
            <a:off x="6149248" y="2928395"/>
            <a:ext cx="2994751" cy="1061829"/>
          </a:xfrm>
          <a:prstGeom prst="rect">
            <a:avLst/>
          </a:prstGeom>
          <a:noFill/>
        </p:spPr>
        <p:txBody>
          <a:bodyPr wrap="square" rtlCol="0">
            <a:spAutoFit/>
          </a:bodyPr>
          <a:lstStyle/>
          <a:p>
            <a:r>
              <a:rPr lang="en-US" sz="1050" dirty="0"/>
              <a:t>Framework Improvements</a:t>
            </a:r>
          </a:p>
          <a:p>
            <a:r>
              <a:rPr lang="en-US" sz="1050" dirty="0"/>
              <a:t>    - Logging using Elastic search/Kibana</a:t>
            </a:r>
          </a:p>
          <a:p>
            <a:r>
              <a:rPr lang="en-US" sz="1050" dirty="0"/>
              <a:t>    - Remove JIT deployments (dynamic airflow)</a:t>
            </a:r>
          </a:p>
          <a:p>
            <a:r>
              <a:rPr lang="en-US" sz="1050" dirty="0"/>
              <a:t>    - Cluster Spin Optimizations</a:t>
            </a:r>
          </a:p>
          <a:p>
            <a:r>
              <a:rPr lang="en-US" sz="1050" dirty="0"/>
              <a:t>    - Data Domain specific Patterns</a:t>
            </a:r>
          </a:p>
          <a:p>
            <a:r>
              <a:rPr lang="en-US" sz="1050" dirty="0"/>
              <a:t>    - Reduce One size fits all paradigms</a:t>
            </a:r>
          </a:p>
        </p:txBody>
      </p:sp>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346227" y="276586"/>
            <a:ext cx="6240463" cy="400110"/>
          </a:xfrm>
        </p:spPr>
        <p:txBody>
          <a:bodyPr/>
          <a:lstStyle/>
          <a:p>
            <a:r>
              <a:rPr lang="en-IN" sz="2000" dirty="0"/>
              <a:t>Recommended ENHACEMENTS: Effort vs Value Grid</a:t>
            </a:r>
          </a:p>
        </p:txBody>
      </p:sp>
      <p:sp>
        <p:nvSpPr>
          <p:cNvPr id="51" name="Rectangle 50">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Tree>
    <p:extLst>
      <p:ext uri="{BB962C8B-B14F-4D97-AF65-F5344CB8AC3E}">
        <p14:creationId xmlns:p14="http://schemas.microsoft.com/office/powerpoint/2010/main" val="2848137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954107"/>
          </a:xfrm>
          <a:prstGeom prst="rect">
            <a:avLst/>
          </a:prstGeom>
          <a:noFill/>
        </p:spPr>
        <p:txBody>
          <a:bodyPr wrap="square" rtlCol="0">
            <a:spAutoFit/>
          </a:bodyPr>
          <a:lstStyle/>
          <a:p>
            <a:r>
              <a:rPr lang="en-US" sz="2800" b="1" dirty="0">
                <a:solidFill>
                  <a:srgbClr val="FFFFFF"/>
                </a:solidFill>
              </a:rPr>
              <a:t>Approach/ Examples</a:t>
            </a:r>
          </a:p>
          <a:p>
            <a:endParaRPr lang="en-US" sz="2800" b="1" dirty="0">
              <a:solidFill>
                <a:srgbClr val="FFFFFF"/>
              </a:solidFill>
            </a:endParaRPr>
          </a:p>
        </p:txBody>
      </p:sp>
    </p:spTree>
    <p:extLst>
      <p:ext uri="{BB962C8B-B14F-4D97-AF65-F5344CB8AC3E}">
        <p14:creationId xmlns:p14="http://schemas.microsoft.com/office/powerpoint/2010/main" val="71761359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279497" y="515180"/>
            <a:ext cx="8369497" cy="400110"/>
          </a:xfrm>
        </p:spPr>
        <p:txBody>
          <a:bodyPr/>
          <a:lstStyle/>
          <a:p>
            <a:r>
              <a:rPr lang="en-IN" sz="2000" dirty="0"/>
              <a:t>Identified ENHACEMENTS to IDNA: framework improvement</a:t>
            </a:r>
          </a:p>
        </p:txBody>
      </p:sp>
      <p:sp>
        <p:nvSpPr>
          <p:cNvPr id="51" name="Rectangle 50">
            <a:extLst>
              <a:ext uri="{FF2B5EF4-FFF2-40B4-BE49-F238E27FC236}">
                <a16:creationId xmlns:a16="http://schemas.microsoft.com/office/drawing/2014/main" id="{9160A9DC-32AA-40F2-A03A-5217B5CFF74C}"/>
              </a:ext>
            </a:extLst>
          </p:cNvPr>
          <p:cNvSpPr/>
          <p:nvPr/>
        </p:nvSpPr>
        <p:spPr>
          <a:xfrm>
            <a:off x="279498" y="925769"/>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8" name="TextBox 57">
            <a:extLst>
              <a:ext uri="{FF2B5EF4-FFF2-40B4-BE49-F238E27FC236}">
                <a16:creationId xmlns:a16="http://schemas.microsoft.com/office/drawing/2014/main" id="{97F794F0-83E9-40EB-9931-42782428AFBA}"/>
              </a:ext>
            </a:extLst>
          </p:cNvPr>
          <p:cNvSpPr txBox="1"/>
          <p:nvPr/>
        </p:nvSpPr>
        <p:spPr>
          <a:xfrm>
            <a:off x="1664417" y="1076528"/>
            <a:ext cx="6400800" cy="276999"/>
          </a:xfrm>
          <a:prstGeom prst="rect">
            <a:avLst/>
          </a:prstGeom>
          <a:noFill/>
        </p:spPr>
        <p:txBody>
          <a:bodyPr wrap="square" rtlCol="0">
            <a:spAutoFit/>
          </a:bodyPr>
          <a:lstStyle/>
          <a:p>
            <a:r>
              <a:rPr lang="en-US" sz="1200" b="1" dirty="0"/>
              <a:t>Reduce Ingestion Complexity – parameter Automation and Abstraction Layer.</a:t>
            </a:r>
          </a:p>
        </p:txBody>
      </p:sp>
      <p:pic>
        <p:nvPicPr>
          <p:cNvPr id="3" name="Picture 2" descr="A screenshot of a cell phone&#10;&#10;Description generated with high confidence">
            <a:extLst>
              <a:ext uri="{FF2B5EF4-FFF2-40B4-BE49-F238E27FC236}">
                <a16:creationId xmlns:a16="http://schemas.microsoft.com/office/drawing/2014/main" id="{0EA67609-34ED-4ED8-BCDE-01BA5EC2F9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498" y="1415171"/>
            <a:ext cx="4070833" cy="2166600"/>
          </a:xfrm>
          <a:prstGeom prst="rect">
            <a:avLst/>
          </a:prstGeom>
          <a:ln>
            <a:solidFill>
              <a:schemeClr val="tx1"/>
            </a:solidFill>
          </a:ln>
        </p:spPr>
      </p:pic>
      <p:sp>
        <p:nvSpPr>
          <p:cNvPr id="12" name="TextBox 11">
            <a:extLst>
              <a:ext uri="{FF2B5EF4-FFF2-40B4-BE49-F238E27FC236}">
                <a16:creationId xmlns:a16="http://schemas.microsoft.com/office/drawing/2014/main" id="{DD729FD0-C9A2-4897-AC28-468876D0364E}"/>
              </a:ext>
            </a:extLst>
          </p:cNvPr>
          <p:cNvSpPr txBox="1"/>
          <p:nvPr/>
        </p:nvSpPr>
        <p:spPr>
          <a:xfrm>
            <a:off x="965771" y="3683698"/>
            <a:ext cx="7222732" cy="707886"/>
          </a:xfrm>
          <a:prstGeom prst="rect">
            <a:avLst/>
          </a:prstGeom>
          <a:noFill/>
        </p:spPr>
        <p:txBody>
          <a:bodyPr wrap="square" rtlCol="0">
            <a:spAutoFit/>
          </a:bodyPr>
          <a:lstStyle/>
          <a:p>
            <a:r>
              <a:rPr lang="en-IN" sz="1000" b="1" dirty="0"/>
              <a:t>D Cube has prior experience in building an UI based ingestion platform. This eases the process of generating the parameters needed automatically rather than manually entering every parameter, as currently practiced on the </a:t>
            </a:r>
            <a:r>
              <a:rPr lang="en-IN" sz="1000" b="1" dirty="0" err="1"/>
              <a:t>iDNA</a:t>
            </a:r>
            <a:r>
              <a:rPr lang="en-IN" sz="1000" b="1" dirty="0"/>
              <a:t>, which makes tracking these parameters really difficult. Thus, to reduce the complexity, an UI can be built on top of the existing framework. </a:t>
            </a:r>
          </a:p>
        </p:txBody>
      </p:sp>
      <p:pic>
        <p:nvPicPr>
          <p:cNvPr id="5" name="Picture 4" descr="A screenshot of a cell phone&#10;&#10;Description generated with very high confidence">
            <a:extLst>
              <a:ext uri="{FF2B5EF4-FFF2-40B4-BE49-F238E27FC236}">
                <a16:creationId xmlns:a16="http://schemas.microsoft.com/office/drawing/2014/main" id="{49BEB578-39C2-4DF1-B41A-B9605C2C87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451659"/>
            <a:ext cx="3886886" cy="2130112"/>
          </a:xfrm>
          <a:prstGeom prst="rect">
            <a:avLst/>
          </a:prstGeom>
          <a:ln>
            <a:solidFill>
              <a:schemeClr val="tx1"/>
            </a:solidFill>
          </a:ln>
        </p:spPr>
      </p:pic>
    </p:spTree>
    <p:extLst>
      <p:ext uri="{BB962C8B-B14F-4D97-AF65-F5344CB8AC3E}">
        <p14:creationId xmlns:p14="http://schemas.microsoft.com/office/powerpoint/2010/main" val="2791207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261937" y="463636"/>
            <a:ext cx="8605802" cy="400110"/>
          </a:xfrm>
        </p:spPr>
        <p:txBody>
          <a:bodyPr/>
          <a:lstStyle/>
          <a:p>
            <a:r>
              <a:rPr lang="en-IN" sz="2000" dirty="0"/>
              <a:t>Identified ENHACEMENTS to IDNA: High Availability &amp; Feature Libraries</a:t>
            </a:r>
          </a:p>
        </p:txBody>
      </p:sp>
      <p:sp>
        <p:nvSpPr>
          <p:cNvPr id="51" name="Rectangle 50">
            <a:extLst>
              <a:ext uri="{FF2B5EF4-FFF2-40B4-BE49-F238E27FC236}">
                <a16:creationId xmlns:a16="http://schemas.microsoft.com/office/drawing/2014/main" id="{9160A9DC-32AA-40F2-A03A-5217B5CFF74C}"/>
              </a:ext>
            </a:extLst>
          </p:cNvPr>
          <p:cNvSpPr/>
          <p:nvPr/>
        </p:nvSpPr>
        <p:spPr>
          <a:xfrm>
            <a:off x="261937" y="87422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pic>
        <p:nvPicPr>
          <p:cNvPr id="3" name="Picture 2" descr="A screenshot of a cell phone&#10;&#10;Description generated with high confidence">
            <a:extLst>
              <a:ext uri="{FF2B5EF4-FFF2-40B4-BE49-F238E27FC236}">
                <a16:creationId xmlns:a16="http://schemas.microsoft.com/office/drawing/2014/main" id="{27BFF0F8-DA16-42FA-910F-9E3082B14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990" y="1369160"/>
            <a:ext cx="3608180" cy="2695262"/>
          </a:xfrm>
          <a:prstGeom prst="rect">
            <a:avLst/>
          </a:prstGeom>
          <a:ln>
            <a:solidFill>
              <a:schemeClr val="tx1"/>
            </a:solidFill>
          </a:ln>
        </p:spPr>
      </p:pic>
      <p:sp>
        <p:nvSpPr>
          <p:cNvPr id="4" name="Rectangle 3">
            <a:extLst>
              <a:ext uri="{FF2B5EF4-FFF2-40B4-BE49-F238E27FC236}">
                <a16:creationId xmlns:a16="http://schemas.microsoft.com/office/drawing/2014/main" id="{67BAFB4A-5D63-494A-8B43-B373AFB7AAC3}"/>
              </a:ext>
            </a:extLst>
          </p:cNvPr>
          <p:cNvSpPr/>
          <p:nvPr/>
        </p:nvSpPr>
        <p:spPr>
          <a:xfrm>
            <a:off x="4976881" y="1392415"/>
            <a:ext cx="834887" cy="424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bg1"/>
                </a:solidFill>
              </a:rPr>
              <a:t>Raw data</a:t>
            </a:r>
          </a:p>
        </p:txBody>
      </p:sp>
      <p:cxnSp>
        <p:nvCxnSpPr>
          <p:cNvPr id="16" name="Straight Arrow Connector 15">
            <a:extLst>
              <a:ext uri="{FF2B5EF4-FFF2-40B4-BE49-F238E27FC236}">
                <a16:creationId xmlns:a16="http://schemas.microsoft.com/office/drawing/2014/main" id="{A678C876-AE54-454D-9827-29E2DB10EC5D}"/>
              </a:ext>
            </a:extLst>
          </p:cNvPr>
          <p:cNvCxnSpPr/>
          <p:nvPr/>
        </p:nvCxnSpPr>
        <p:spPr>
          <a:xfrm>
            <a:off x="5811768" y="1597410"/>
            <a:ext cx="437321"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E407D3A-43CC-47F0-B0FE-4D656C873C65}"/>
              </a:ext>
            </a:extLst>
          </p:cNvPr>
          <p:cNvSpPr/>
          <p:nvPr/>
        </p:nvSpPr>
        <p:spPr>
          <a:xfrm>
            <a:off x="6249089" y="1406081"/>
            <a:ext cx="834887" cy="424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bg1"/>
                </a:solidFill>
              </a:rPr>
              <a:t>Standard Model</a:t>
            </a:r>
          </a:p>
        </p:txBody>
      </p:sp>
      <p:cxnSp>
        <p:nvCxnSpPr>
          <p:cNvPr id="49" name="Straight Arrow Connector 48">
            <a:extLst>
              <a:ext uri="{FF2B5EF4-FFF2-40B4-BE49-F238E27FC236}">
                <a16:creationId xmlns:a16="http://schemas.microsoft.com/office/drawing/2014/main" id="{DF1525E2-C216-4194-8147-181248B92DEB}"/>
              </a:ext>
            </a:extLst>
          </p:cNvPr>
          <p:cNvCxnSpPr/>
          <p:nvPr/>
        </p:nvCxnSpPr>
        <p:spPr>
          <a:xfrm>
            <a:off x="7153551" y="1597410"/>
            <a:ext cx="437321"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A41C5E1A-E080-4DA8-9398-6AA7C0671399}"/>
              </a:ext>
            </a:extLst>
          </p:cNvPr>
          <p:cNvSpPr/>
          <p:nvPr/>
        </p:nvSpPr>
        <p:spPr>
          <a:xfrm>
            <a:off x="7590872" y="1406081"/>
            <a:ext cx="834887" cy="424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bg1"/>
                </a:solidFill>
              </a:rPr>
              <a:t>Feature Library</a:t>
            </a:r>
          </a:p>
        </p:txBody>
      </p:sp>
      <p:pic>
        <p:nvPicPr>
          <p:cNvPr id="55" name="Picture 54" descr="A screenshot of a social media post&#10;&#10;Description generated with very high confidence">
            <a:extLst>
              <a:ext uri="{FF2B5EF4-FFF2-40B4-BE49-F238E27FC236}">
                <a16:creationId xmlns:a16="http://schemas.microsoft.com/office/drawing/2014/main" id="{7C621FD8-8F74-459F-94F9-6FE86DA8C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069" y="1898658"/>
            <a:ext cx="3916925" cy="1634021"/>
          </a:xfrm>
          <a:prstGeom prst="rect">
            <a:avLst/>
          </a:prstGeom>
          <a:ln>
            <a:solidFill>
              <a:schemeClr val="tx1"/>
            </a:solidFill>
          </a:ln>
        </p:spPr>
      </p:pic>
      <p:sp>
        <p:nvSpPr>
          <p:cNvPr id="58" name="TextBox 57">
            <a:extLst>
              <a:ext uri="{FF2B5EF4-FFF2-40B4-BE49-F238E27FC236}">
                <a16:creationId xmlns:a16="http://schemas.microsoft.com/office/drawing/2014/main" id="{97F794F0-83E9-40EB-9931-42782428AFBA}"/>
              </a:ext>
            </a:extLst>
          </p:cNvPr>
          <p:cNvSpPr txBox="1"/>
          <p:nvPr/>
        </p:nvSpPr>
        <p:spPr>
          <a:xfrm>
            <a:off x="522287" y="1041783"/>
            <a:ext cx="3563529" cy="261610"/>
          </a:xfrm>
          <a:prstGeom prst="rect">
            <a:avLst/>
          </a:prstGeom>
          <a:noFill/>
        </p:spPr>
        <p:txBody>
          <a:bodyPr wrap="square" rtlCol="0">
            <a:spAutoFit/>
          </a:bodyPr>
          <a:lstStyle/>
          <a:p>
            <a:r>
              <a:rPr lang="en-IN" sz="1100" b="1" dirty="0"/>
              <a:t>High Availability reference architecture</a:t>
            </a:r>
          </a:p>
        </p:txBody>
      </p:sp>
      <p:sp>
        <p:nvSpPr>
          <p:cNvPr id="18" name="TextBox 17">
            <a:extLst>
              <a:ext uri="{FF2B5EF4-FFF2-40B4-BE49-F238E27FC236}">
                <a16:creationId xmlns:a16="http://schemas.microsoft.com/office/drawing/2014/main" id="{308F7F5D-AD52-4774-ADE9-B79B2C29113F}"/>
              </a:ext>
            </a:extLst>
          </p:cNvPr>
          <p:cNvSpPr txBox="1"/>
          <p:nvPr/>
        </p:nvSpPr>
        <p:spPr>
          <a:xfrm>
            <a:off x="279498" y="4123733"/>
            <a:ext cx="3941335" cy="553998"/>
          </a:xfrm>
          <a:prstGeom prst="rect">
            <a:avLst/>
          </a:prstGeom>
          <a:noFill/>
        </p:spPr>
        <p:txBody>
          <a:bodyPr wrap="square" rtlCol="0">
            <a:spAutoFit/>
          </a:bodyPr>
          <a:lstStyle/>
          <a:p>
            <a:r>
              <a:rPr lang="en-IN" sz="1000" b="1" dirty="0"/>
              <a:t>D Cube has prior experience in High availability services which has been implemented in our own platform. Hence, it would be easy to implement this on </a:t>
            </a:r>
            <a:r>
              <a:rPr lang="en-IN" sz="1000" b="1" dirty="0" err="1"/>
              <a:t>iDNA</a:t>
            </a:r>
            <a:r>
              <a:rPr lang="en-IN" sz="1000" b="1" dirty="0"/>
              <a:t> </a:t>
            </a:r>
          </a:p>
        </p:txBody>
      </p:sp>
      <p:sp>
        <p:nvSpPr>
          <p:cNvPr id="19" name="TextBox 18">
            <a:extLst>
              <a:ext uri="{FF2B5EF4-FFF2-40B4-BE49-F238E27FC236}">
                <a16:creationId xmlns:a16="http://schemas.microsoft.com/office/drawing/2014/main" id="{1F290075-9482-4627-9453-B9FFAC27B7BF}"/>
              </a:ext>
            </a:extLst>
          </p:cNvPr>
          <p:cNvSpPr txBox="1"/>
          <p:nvPr/>
        </p:nvSpPr>
        <p:spPr>
          <a:xfrm>
            <a:off x="4625459" y="3492104"/>
            <a:ext cx="4172091" cy="1169551"/>
          </a:xfrm>
          <a:prstGeom prst="rect">
            <a:avLst/>
          </a:prstGeom>
          <a:noFill/>
        </p:spPr>
        <p:txBody>
          <a:bodyPr wrap="square" rtlCol="0">
            <a:spAutoFit/>
          </a:bodyPr>
          <a:lstStyle/>
          <a:p>
            <a:r>
              <a:rPr lang="en-IN" sz="1000" b="1" dirty="0"/>
              <a:t>A typical feature library will contain functions to join various data tables, rules for consolidation, aggregations etc. This will be built on top of unified data. The end user can import the necessary modules and functions without worrying about the data source or SQL etc to be used. D Cube has built an exhaustive list of libraries to calculate various KPIs from different domains for most of the vendors</a:t>
            </a:r>
          </a:p>
        </p:txBody>
      </p:sp>
      <p:sp>
        <p:nvSpPr>
          <p:cNvPr id="21" name="TextBox 20">
            <a:extLst>
              <a:ext uri="{FF2B5EF4-FFF2-40B4-BE49-F238E27FC236}">
                <a16:creationId xmlns:a16="http://schemas.microsoft.com/office/drawing/2014/main" id="{41F8462E-5445-4B91-AFBF-FEDC641D0F3D}"/>
              </a:ext>
            </a:extLst>
          </p:cNvPr>
          <p:cNvSpPr txBox="1"/>
          <p:nvPr/>
        </p:nvSpPr>
        <p:spPr>
          <a:xfrm>
            <a:off x="4884766" y="1041708"/>
            <a:ext cx="3563529" cy="261610"/>
          </a:xfrm>
          <a:prstGeom prst="rect">
            <a:avLst/>
          </a:prstGeom>
          <a:noFill/>
        </p:spPr>
        <p:txBody>
          <a:bodyPr wrap="square" rtlCol="0">
            <a:spAutoFit/>
          </a:bodyPr>
          <a:lstStyle/>
          <a:p>
            <a:pPr algn="ctr"/>
            <a:r>
              <a:rPr lang="en-IN" sz="1100" b="1" dirty="0"/>
              <a:t>Feature Libraries by data domain</a:t>
            </a:r>
          </a:p>
        </p:txBody>
      </p:sp>
    </p:spTree>
    <p:extLst>
      <p:ext uri="{BB962C8B-B14F-4D97-AF65-F5344CB8AC3E}">
        <p14:creationId xmlns:p14="http://schemas.microsoft.com/office/powerpoint/2010/main" val="615977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220800" y="154751"/>
            <a:ext cx="8872930" cy="707886"/>
          </a:xfrm>
        </p:spPr>
        <p:txBody>
          <a:bodyPr/>
          <a:lstStyle/>
          <a:p>
            <a:r>
              <a:rPr lang="en-IN" sz="2000" dirty="0"/>
              <a:t>Identified ENHACEMENTS to IDNA: ingestion pattern based on data domain and key management system</a:t>
            </a:r>
          </a:p>
        </p:txBody>
      </p:sp>
      <p:sp>
        <p:nvSpPr>
          <p:cNvPr id="51" name="Rectangle 50">
            <a:extLst>
              <a:ext uri="{FF2B5EF4-FFF2-40B4-BE49-F238E27FC236}">
                <a16:creationId xmlns:a16="http://schemas.microsoft.com/office/drawing/2014/main" id="{9160A9DC-32AA-40F2-A03A-5217B5CFF74C}"/>
              </a:ext>
            </a:extLst>
          </p:cNvPr>
          <p:cNvSpPr/>
          <p:nvPr/>
        </p:nvSpPr>
        <p:spPr>
          <a:xfrm>
            <a:off x="220800" y="873116"/>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17" name="Rectangle 16">
            <a:extLst>
              <a:ext uri="{FF2B5EF4-FFF2-40B4-BE49-F238E27FC236}">
                <a16:creationId xmlns:a16="http://schemas.microsoft.com/office/drawing/2014/main" id="{472876C2-1934-4A21-9E22-AE6F47B6729E}"/>
              </a:ext>
            </a:extLst>
          </p:cNvPr>
          <p:cNvSpPr/>
          <p:nvPr/>
        </p:nvSpPr>
        <p:spPr>
          <a:xfrm>
            <a:off x="279498" y="1479478"/>
            <a:ext cx="684716" cy="337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Oncology data</a:t>
            </a:r>
          </a:p>
        </p:txBody>
      </p:sp>
      <p:cxnSp>
        <p:nvCxnSpPr>
          <p:cNvPr id="18" name="Straight Arrow Connector 17">
            <a:extLst>
              <a:ext uri="{FF2B5EF4-FFF2-40B4-BE49-F238E27FC236}">
                <a16:creationId xmlns:a16="http://schemas.microsoft.com/office/drawing/2014/main" id="{BCC23836-6BBD-48D2-91DA-612973118D32}"/>
              </a:ext>
            </a:extLst>
          </p:cNvPr>
          <p:cNvCxnSpPr>
            <a:cxnSpLocks/>
          </p:cNvCxnSpPr>
          <p:nvPr/>
        </p:nvCxnSpPr>
        <p:spPr>
          <a:xfrm>
            <a:off x="1006164" y="1663773"/>
            <a:ext cx="358660"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A2CD5D7-BC86-4A0F-8ED9-1A1752B64A9E}"/>
              </a:ext>
            </a:extLst>
          </p:cNvPr>
          <p:cNvSpPr/>
          <p:nvPr/>
        </p:nvSpPr>
        <p:spPr>
          <a:xfrm>
            <a:off x="1397625" y="1530848"/>
            <a:ext cx="684716" cy="33792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Raw data</a:t>
            </a:r>
          </a:p>
        </p:txBody>
      </p:sp>
      <p:cxnSp>
        <p:nvCxnSpPr>
          <p:cNvPr id="20" name="Straight Arrow Connector 19">
            <a:extLst>
              <a:ext uri="{FF2B5EF4-FFF2-40B4-BE49-F238E27FC236}">
                <a16:creationId xmlns:a16="http://schemas.microsoft.com/office/drawing/2014/main" id="{05CC1591-33FF-4E59-9D1D-317234127CD2}"/>
              </a:ext>
            </a:extLst>
          </p:cNvPr>
          <p:cNvCxnSpPr>
            <a:cxnSpLocks/>
          </p:cNvCxnSpPr>
          <p:nvPr/>
        </p:nvCxnSpPr>
        <p:spPr>
          <a:xfrm>
            <a:off x="2091347" y="1663134"/>
            <a:ext cx="358660"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8482645-E02B-4A8A-B95E-E5A9E702744E}"/>
              </a:ext>
            </a:extLst>
          </p:cNvPr>
          <p:cNvSpPr/>
          <p:nvPr/>
        </p:nvSpPr>
        <p:spPr>
          <a:xfrm>
            <a:off x="2459614" y="1530848"/>
            <a:ext cx="684716" cy="33792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Raw data</a:t>
            </a:r>
          </a:p>
        </p:txBody>
      </p:sp>
      <p:sp>
        <p:nvSpPr>
          <p:cNvPr id="6" name="TextBox 5">
            <a:extLst>
              <a:ext uri="{FF2B5EF4-FFF2-40B4-BE49-F238E27FC236}">
                <a16:creationId xmlns:a16="http://schemas.microsoft.com/office/drawing/2014/main" id="{68035ECA-0A72-45E2-83C6-AEBBCF461C59}"/>
              </a:ext>
            </a:extLst>
          </p:cNvPr>
          <p:cNvSpPr txBox="1"/>
          <p:nvPr/>
        </p:nvSpPr>
        <p:spPr>
          <a:xfrm>
            <a:off x="1317633" y="1280652"/>
            <a:ext cx="2702773" cy="215444"/>
          </a:xfrm>
          <a:prstGeom prst="rect">
            <a:avLst/>
          </a:prstGeom>
          <a:noFill/>
        </p:spPr>
        <p:txBody>
          <a:bodyPr wrap="square" rtlCol="0">
            <a:spAutoFit/>
          </a:bodyPr>
          <a:lstStyle/>
          <a:p>
            <a:r>
              <a:rPr lang="en-IN" sz="800" b="1" dirty="0"/>
              <a:t>Complex cleansing and unification</a:t>
            </a:r>
          </a:p>
        </p:txBody>
      </p:sp>
      <p:sp>
        <p:nvSpPr>
          <p:cNvPr id="26" name="Rectangle 25">
            <a:extLst>
              <a:ext uri="{FF2B5EF4-FFF2-40B4-BE49-F238E27FC236}">
                <a16:creationId xmlns:a16="http://schemas.microsoft.com/office/drawing/2014/main" id="{80264F57-5D68-4A56-A53D-18D090EF54D0}"/>
              </a:ext>
            </a:extLst>
          </p:cNvPr>
          <p:cNvSpPr/>
          <p:nvPr/>
        </p:nvSpPr>
        <p:spPr>
          <a:xfrm>
            <a:off x="3453549" y="1530848"/>
            <a:ext cx="684716" cy="337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Final Data</a:t>
            </a:r>
          </a:p>
        </p:txBody>
      </p:sp>
      <p:sp>
        <p:nvSpPr>
          <p:cNvPr id="27" name="Rectangle 26">
            <a:extLst>
              <a:ext uri="{FF2B5EF4-FFF2-40B4-BE49-F238E27FC236}">
                <a16:creationId xmlns:a16="http://schemas.microsoft.com/office/drawing/2014/main" id="{F34DEAC4-0344-4ACA-8AF9-474B8A8F7848}"/>
              </a:ext>
            </a:extLst>
          </p:cNvPr>
          <p:cNvSpPr/>
          <p:nvPr/>
        </p:nvSpPr>
        <p:spPr>
          <a:xfrm>
            <a:off x="661658" y="2085797"/>
            <a:ext cx="684716" cy="337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Prescriber data</a:t>
            </a:r>
          </a:p>
        </p:txBody>
      </p:sp>
      <p:cxnSp>
        <p:nvCxnSpPr>
          <p:cNvPr id="28" name="Straight Arrow Connector 27">
            <a:extLst>
              <a:ext uri="{FF2B5EF4-FFF2-40B4-BE49-F238E27FC236}">
                <a16:creationId xmlns:a16="http://schemas.microsoft.com/office/drawing/2014/main" id="{C0122BCD-2680-4635-BC3A-176680EBFDDE}"/>
              </a:ext>
            </a:extLst>
          </p:cNvPr>
          <p:cNvCxnSpPr>
            <a:cxnSpLocks/>
          </p:cNvCxnSpPr>
          <p:nvPr/>
        </p:nvCxnSpPr>
        <p:spPr>
          <a:xfrm>
            <a:off x="1414781" y="2218722"/>
            <a:ext cx="358660"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EB59078-0F85-4367-9461-D739477300A4}"/>
              </a:ext>
            </a:extLst>
          </p:cNvPr>
          <p:cNvSpPr/>
          <p:nvPr/>
        </p:nvSpPr>
        <p:spPr>
          <a:xfrm>
            <a:off x="1841848" y="2093251"/>
            <a:ext cx="684716" cy="33792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Raw data</a:t>
            </a:r>
          </a:p>
        </p:txBody>
      </p:sp>
      <p:cxnSp>
        <p:nvCxnSpPr>
          <p:cNvPr id="30" name="Straight Arrow Connector 29">
            <a:extLst>
              <a:ext uri="{FF2B5EF4-FFF2-40B4-BE49-F238E27FC236}">
                <a16:creationId xmlns:a16="http://schemas.microsoft.com/office/drawing/2014/main" id="{E08956B3-7786-466A-9BBE-FCD25726DBB6}"/>
              </a:ext>
            </a:extLst>
          </p:cNvPr>
          <p:cNvCxnSpPr>
            <a:cxnSpLocks/>
          </p:cNvCxnSpPr>
          <p:nvPr/>
        </p:nvCxnSpPr>
        <p:spPr>
          <a:xfrm>
            <a:off x="2616032" y="2246738"/>
            <a:ext cx="358660"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052746B-21E2-44AB-BDB0-C198B7089DCF}"/>
              </a:ext>
            </a:extLst>
          </p:cNvPr>
          <p:cNvSpPr/>
          <p:nvPr/>
        </p:nvSpPr>
        <p:spPr>
          <a:xfrm>
            <a:off x="3066954" y="2108005"/>
            <a:ext cx="684716" cy="337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Final Data</a:t>
            </a:r>
          </a:p>
        </p:txBody>
      </p:sp>
      <p:sp>
        <p:nvSpPr>
          <p:cNvPr id="34" name="TextBox 33">
            <a:extLst>
              <a:ext uri="{FF2B5EF4-FFF2-40B4-BE49-F238E27FC236}">
                <a16:creationId xmlns:a16="http://schemas.microsoft.com/office/drawing/2014/main" id="{D9E0A207-8709-41A8-B3F2-5AD3EDE46E32}"/>
              </a:ext>
            </a:extLst>
          </p:cNvPr>
          <p:cNvSpPr txBox="1"/>
          <p:nvPr/>
        </p:nvSpPr>
        <p:spPr>
          <a:xfrm>
            <a:off x="1524021" y="1823056"/>
            <a:ext cx="2216626" cy="215444"/>
          </a:xfrm>
          <a:prstGeom prst="rect">
            <a:avLst/>
          </a:prstGeom>
          <a:noFill/>
        </p:spPr>
        <p:txBody>
          <a:bodyPr wrap="square" rtlCol="0">
            <a:spAutoFit/>
          </a:bodyPr>
          <a:lstStyle/>
          <a:p>
            <a:r>
              <a:rPr lang="en-IN" sz="800" b="1" dirty="0"/>
              <a:t>Simple cleansing and unification</a:t>
            </a:r>
          </a:p>
        </p:txBody>
      </p:sp>
      <p:cxnSp>
        <p:nvCxnSpPr>
          <p:cNvPr id="25" name="Straight Arrow Connector 24">
            <a:extLst>
              <a:ext uri="{FF2B5EF4-FFF2-40B4-BE49-F238E27FC236}">
                <a16:creationId xmlns:a16="http://schemas.microsoft.com/office/drawing/2014/main" id="{7C35D9A9-2BAD-4203-9FBB-76F97E58AC63}"/>
              </a:ext>
            </a:extLst>
          </p:cNvPr>
          <p:cNvCxnSpPr>
            <a:cxnSpLocks/>
          </p:cNvCxnSpPr>
          <p:nvPr/>
        </p:nvCxnSpPr>
        <p:spPr>
          <a:xfrm>
            <a:off x="3134722" y="1663134"/>
            <a:ext cx="358660"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540D4CE-B9FD-4FE1-B351-B8DCF5E3FD91}"/>
              </a:ext>
            </a:extLst>
          </p:cNvPr>
          <p:cNvSpPr txBox="1"/>
          <p:nvPr/>
        </p:nvSpPr>
        <p:spPr>
          <a:xfrm>
            <a:off x="220800" y="3847406"/>
            <a:ext cx="4393219" cy="861774"/>
          </a:xfrm>
          <a:prstGeom prst="rect">
            <a:avLst/>
          </a:prstGeom>
          <a:noFill/>
        </p:spPr>
        <p:txBody>
          <a:bodyPr wrap="square" rtlCol="0">
            <a:spAutoFit/>
          </a:bodyPr>
          <a:lstStyle/>
          <a:p>
            <a:r>
              <a:rPr lang="en-IN" sz="1000" b="1" dirty="0"/>
              <a:t>D Cube has prior experience in creating extractors to standardize data belonging to different sources (ranging from low to high complexity).  These extractors can be leveraged to subjectively standardize different data sources, rather than having a single template for all types of data</a:t>
            </a:r>
          </a:p>
        </p:txBody>
      </p:sp>
      <p:pic>
        <p:nvPicPr>
          <p:cNvPr id="10" name="Picture 9" descr="A screenshot of a computer&#10;&#10;Description generated with very high confidence">
            <a:extLst>
              <a:ext uri="{FF2B5EF4-FFF2-40B4-BE49-F238E27FC236}">
                <a16:creationId xmlns:a16="http://schemas.microsoft.com/office/drawing/2014/main" id="{D429769E-C8A9-4817-A378-26C21C84C8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2577" y="2508497"/>
            <a:ext cx="3671681" cy="1330531"/>
          </a:xfrm>
          <a:prstGeom prst="rect">
            <a:avLst/>
          </a:prstGeom>
          <a:ln>
            <a:solidFill>
              <a:schemeClr val="tx1"/>
            </a:solidFill>
          </a:ln>
        </p:spPr>
      </p:pic>
      <p:pic>
        <p:nvPicPr>
          <p:cNvPr id="12" name="Picture 11">
            <a:extLst>
              <a:ext uri="{FF2B5EF4-FFF2-40B4-BE49-F238E27FC236}">
                <a16:creationId xmlns:a16="http://schemas.microsoft.com/office/drawing/2014/main" id="{BAFC82A0-326D-46E2-A8CF-93CBA70AA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078" y="1358525"/>
            <a:ext cx="3382092" cy="1479590"/>
          </a:xfrm>
          <a:prstGeom prst="rect">
            <a:avLst/>
          </a:prstGeom>
        </p:spPr>
      </p:pic>
      <p:sp>
        <p:nvSpPr>
          <p:cNvPr id="36" name="TextBox 35">
            <a:extLst>
              <a:ext uri="{FF2B5EF4-FFF2-40B4-BE49-F238E27FC236}">
                <a16:creationId xmlns:a16="http://schemas.microsoft.com/office/drawing/2014/main" id="{62AC392E-9876-4219-9D8E-5EC30D4DD8EB}"/>
              </a:ext>
            </a:extLst>
          </p:cNvPr>
          <p:cNvSpPr txBox="1"/>
          <p:nvPr/>
        </p:nvSpPr>
        <p:spPr>
          <a:xfrm>
            <a:off x="4857079" y="2880155"/>
            <a:ext cx="3382092" cy="1169551"/>
          </a:xfrm>
          <a:prstGeom prst="rect">
            <a:avLst/>
          </a:prstGeom>
          <a:noFill/>
        </p:spPr>
        <p:txBody>
          <a:bodyPr wrap="square" rtlCol="0">
            <a:spAutoFit/>
          </a:bodyPr>
          <a:lstStyle/>
          <a:p>
            <a:r>
              <a:rPr lang="en-IN" sz="1000" b="1" dirty="0"/>
              <a:t>Currently, on the </a:t>
            </a:r>
            <a:r>
              <a:rPr lang="en-IN" sz="1000" b="1" dirty="0" err="1"/>
              <a:t>iDNA</a:t>
            </a:r>
            <a:r>
              <a:rPr lang="en-IN" sz="1000" b="1" dirty="0"/>
              <a:t> platform, no Key Management Service has been implemented, resulting in passwords not being encrypted and exposed to all. D Cube has experience in leveraging the native AWS Key Management system which we can seamlessly implement on the </a:t>
            </a:r>
            <a:r>
              <a:rPr lang="en-IN" sz="1000" b="1" dirty="0" err="1"/>
              <a:t>iDNA</a:t>
            </a:r>
            <a:r>
              <a:rPr lang="en-IN" sz="1000" b="1" dirty="0"/>
              <a:t> platform making the security system more robust</a:t>
            </a:r>
          </a:p>
        </p:txBody>
      </p:sp>
      <p:sp>
        <p:nvSpPr>
          <p:cNvPr id="13" name="TextBox 12">
            <a:extLst>
              <a:ext uri="{FF2B5EF4-FFF2-40B4-BE49-F238E27FC236}">
                <a16:creationId xmlns:a16="http://schemas.microsoft.com/office/drawing/2014/main" id="{F425D3DB-89AC-4A2E-B380-265F21E243DC}"/>
              </a:ext>
            </a:extLst>
          </p:cNvPr>
          <p:cNvSpPr txBox="1"/>
          <p:nvPr/>
        </p:nvSpPr>
        <p:spPr>
          <a:xfrm>
            <a:off x="5298636" y="1054875"/>
            <a:ext cx="3209983" cy="261610"/>
          </a:xfrm>
          <a:prstGeom prst="rect">
            <a:avLst/>
          </a:prstGeom>
          <a:noFill/>
        </p:spPr>
        <p:txBody>
          <a:bodyPr wrap="square" rtlCol="0">
            <a:spAutoFit/>
          </a:bodyPr>
          <a:lstStyle/>
          <a:p>
            <a:r>
              <a:rPr lang="en-IN" sz="1100" b="1" dirty="0"/>
              <a:t>Key Management Mechanism</a:t>
            </a:r>
          </a:p>
        </p:txBody>
      </p:sp>
      <p:sp>
        <p:nvSpPr>
          <p:cNvPr id="38" name="TextBox 37">
            <a:extLst>
              <a:ext uri="{FF2B5EF4-FFF2-40B4-BE49-F238E27FC236}">
                <a16:creationId xmlns:a16="http://schemas.microsoft.com/office/drawing/2014/main" id="{3B8BF42B-431E-40CE-B0AF-5A181CEC2A35}"/>
              </a:ext>
            </a:extLst>
          </p:cNvPr>
          <p:cNvSpPr txBox="1"/>
          <p:nvPr/>
        </p:nvSpPr>
        <p:spPr>
          <a:xfrm>
            <a:off x="971987" y="1066009"/>
            <a:ext cx="3209983" cy="261610"/>
          </a:xfrm>
          <a:prstGeom prst="rect">
            <a:avLst/>
          </a:prstGeom>
          <a:noFill/>
        </p:spPr>
        <p:txBody>
          <a:bodyPr wrap="square" rtlCol="0">
            <a:spAutoFit/>
          </a:bodyPr>
          <a:lstStyle/>
          <a:p>
            <a:r>
              <a:rPr lang="en-IN" sz="1100" b="1" dirty="0"/>
              <a:t>Ingestion Pattern of Different Data Sources</a:t>
            </a:r>
          </a:p>
        </p:txBody>
      </p:sp>
    </p:spTree>
    <p:extLst>
      <p:ext uri="{BB962C8B-B14F-4D97-AF65-F5344CB8AC3E}">
        <p14:creationId xmlns:p14="http://schemas.microsoft.com/office/powerpoint/2010/main" val="2940119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5">
            <a:extLst>
              <a:ext uri="{FF2B5EF4-FFF2-40B4-BE49-F238E27FC236}">
                <a16:creationId xmlns:a16="http://schemas.microsoft.com/office/drawing/2014/main" id="{79B828D4-57EE-4745-8D2A-9FF65F87E00A}"/>
              </a:ext>
            </a:extLst>
          </p:cNvPr>
          <p:cNvSpPr>
            <a:spLocks noGrp="1"/>
          </p:cNvSpPr>
          <p:nvPr>
            <p:ph type="title"/>
          </p:nvPr>
        </p:nvSpPr>
        <p:spPr>
          <a:xfrm>
            <a:off x="363536" y="301076"/>
            <a:ext cx="8369497" cy="400110"/>
          </a:xfrm>
        </p:spPr>
        <p:txBody>
          <a:bodyPr/>
          <a:lstStyle/>
          <a:p>
            <a:r>
              <a:rPr lang="en-IN" sz="2000" dirty="0"/>
              <a:t>Identified ENHACEMENTS to IDNA: framework improvement</a:t>
            </a:r>
          </a:p>
        </p:txBody>
      </p:sp>
      <p:sp>
        <p:nvSpPr>
          <p:cNvPr id="51" name="Rectangle 50">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8" name="TextBox 57">
            <a:extLst>
              <a:ext uri="{FF2B5EF4-FFF2-40B4-BE49-F238E27FC236}">
                <a16:creationId xmlns:a16="http://schemas.microsoft.com/office/drawing/2014/main" id="{97F794F0-83E9-40EB-9931-42782428AFBA}"/>
              </a:ext>
            </a:extLst>
          </p:cNvPr>
          <p:cNvSpPr txBox="1"/>
          <p:nvPr/>
        </p:nvSpPr>
        <p:spPr>
          <a:xfrm>
            <a:off x="3468941" y="1014884"/>
            <a:ext cx="3083858" cy="261610"/>
          </a:xfrm>
          <a:prstGeom prst="rect">
            <a:avLst/>
          </a:prstGeom>
          <a:noFill/>
        </p:spPr>
        <p:txBody>
          <a:bodyPr wrap="square" rtlCol="0">
            <a:spAutoFit/>
          </a:bodyPr>
          <a:lstStyle/>
          <a:p>
            <a:r>
              <a:rPr lang="en-IN" sz="1100" b="1" dirty="0"/>
              <a:t>Best of Breed Logging</a:t>
            </a:r>
          </a:p>
        </p:txBody>
      </p:sp>
      <p:pic>
        <p:nvPicPr>
          <p:cNvPr id="11" name="Picture 10" descr="A screenshot of a computer&#10;&#10;Description generated with very high confidence">
            <a:extLst>
              <a:ext uri="{FF2B5EF4-FFF2-40B4-BE49-F238E27FC236}">
                <a16:creationId xmlns:a16="http://schemas.microsoft.com/office/drawing/2014/main" id="{EA09E45F-5CC5-418B-B81B-F6A260C98D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536" y="1336074"/>
            <a:ext cx="5873829" cy="2555206"/>
          </a:xfrm>
          <a:prstGeom prst="rect">
            <a:avLst/>
          </a:prstGeom>
          <a:ln>
            <a:solidFill>
              <a:schemeClr val="tx1"/>
            </a:solidFill>
          </a:ln>
        </p:spPr>
      </p:pic>
      <p:pic>
        <p:nvPicPr>
          <p:cNvPr id="13" name="Picture 12" descr="A screenshot of a social media post&#10;&#10;Description generated with very high confidence">
            <a:extLst>
              <a:ext uri="{FF2B5EF4-FFF2-40B4-BE49-F238E27FC236}">
                <a16:creationId xmlns:a16="http://schemas.microsoft.com/office/drawing/2014/main" id="{613E2D81-138D-4D4D-B58A-B8E38FE232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6929" y="1771948"/>
            <a:ext cx="5546104" cy="2542151"/>
          </a:xfrm>
          <a:prstGeom prst="rect">
            <a:avLst/>
          </a:prstGeom>
          <a:ln>
            <a:solidFill>
              <a:schemeClr val="tx1"/>
            </a:solidFill>
          </a:ln>
        </p:spPr>
      </p:pic>
    </p:spTree>
    <p:extLst>
      <p:ext uri="{BB962C8B-B14F-4D97-AF65-F5344CB8AC3E}">
        <p14:creationId xmlns:p14="http://schemas.microsoft.com/office/powerpoint/2010/main" val="2304796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954107"/>
          </a:xfrm>
          <a:prstGeom prst="rect">
            <a:avLst/>
          </a:prstGeom>
          <a:noFill/>
        </p:spPr>
        <p:txBody>
          <a:bodyPr wrap="square" rtlCol="0">
            <a:spAutoFit/>
          </a:bodyPr>
          <a:lstStyle/>
          <a:p>
            <a:r>
              <a:rPr lang="en-US" sz="2800" b="1" dirty="0">
                <a:solidFill>
                  <a:srgbClr val="FFFFFF"/>
                </a:solidFill>
              </a:rPr>
              <a:t>Timeline &amp; Next Steps</a:t>
            </a:r>
          </a:p>
          <a:p>
            <a:endParaRPr lang="en-US" sz="2800" b="1" dirty="0">
              <a:solidFill>
                <a:srgbClr val="FFFFFF"/>
              </a:solidFill>
            </a:endParaRPr>
          </a:p>
        </p:txBody>
      </p:sp>
    </p:spTree>
    <p:extLst>
      <p:ext uri="{BB962C8B-B14F-4D97-AF65-F5344CB8AC3E}">
        <p14:creationId xmlns:p14="http://schemas.microsoft.com/office/powerpoint/2010/main" val="211882359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 name="Table 163"/>
          <p:cNvGraphicFramePr>
            <a:graphicFrameLocks noGrp="1"/>
          </p:cNvGraphicFramePr>
          <p:nvPr>
            <p:extLst>
              <p:ext uri="{D42A27DB-BD31-4B8C-83A1-F6EECF244321}">
                <p14:modId xmlns:p14="http://schemas.microsoft.com/office/powerpoint/2010/main" val="1381030619"/>
              </p:ext>
            </p:extLst>
          </p:nvPr>
        </p:nvGraphicFramePr>
        <p:xfrm>
          <a:off x="415924" y="826195"/>
          <a:ext cx="8448578" cy="3135000"/>
        </p:xfrm>
        <a:graphic>
          <a:graphicData uri="http://schemas.openxmlformats.org/drawingml/2006/table">
            <a:tbl>
              <a:tblPr firstRow="1" bandRow="1">
                <a:tableStyleId>{5C22544A-7EE6-4342-B048-85BDC9FD1C3A}</a:tableStyleId>
              </a:tblPr>
              <a:tblGrid>
                <a:gridCol w="1009462">
                  <a:extLst>
                    <a:ext uri="{9D8B030D-6E8A-4147-A177-3AD203B41FA5}">
                      <a16:colId xmlns:a16="http://schemas.microsoft.com/office/drawing/2014/main" val="20000"/>
                    </a:ext>
                  </a:extLst>
                </a:gridCol>
                <a:gridCol w="1743095">
                  <a:extLst>
                    <a:ext uri="{9D8B030D-6E8A-4147-A177-3AD203B41FA5}">
                      <a16:colId xmlns:a16="http://schemas.microsoft.com/office/drawing/2014/main" val="20001"/>
                    </a:ext>
                  </a:extLst>
                </a:gridCol>
                <a:gridCol w="4628900">
                  <a:extLst>
                    <a:ext uri="{9D8B030D-6E8A-4147-A177-3AD203B41FA5}">
                      <a16:colId xmlns:a16="http://schemas.microsoft.com/office/drawing/2014/main" val="20002"/>
                    </a:ext>
                  </a:extLst>
                </a:gridCol>
                <a:gridCol w="1067121">
                  <a:extLst>
                    <a:ext uri="{9D8B030D-6E8A-4147-A177-3AD203B41FA5}">
                      <a16:colId xmlns:a16="http://schemas.microsoft.com/office/drawing/2014/main" val="20003"/>
                    </a:ext>
                  </a:extLst>
                </a:gridCol>
              </a:tblGrid>
              <a:tr h="335115">
                <a:tc>
                  <a:txBody>
                    <a:bodyPr/>
                    <a:lstStyle/>
                    <a:p>
                      <a:pPr algn="ctr"/>
                      <a:r>
                        <a:rPr lang="en-US" sz="800" dirty="0">
                          <a:solidFill>
                            <a:schemeClr val="bg1"/>
                          </a:solidFill>
                        </a:rPr>
                        <a:t>Description</a:t>
                      </a:r>
                    </a:p>
                  </a:txBody>
                  <a:tcPr marL="68580" marR="68580" marT="34290" marB="34290" anchor="ctr">
                    <a:lnL w="12700" cmpd="sng">
                      <a:noFill/>
                    </a:lnL>
                    <a:lnR w="381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800" dirty="0"/>
                        <a:t>First 30 Days</a:t>
                      </a:r>
                    </a:p>
                  </a:txBody>
                  <a:tcPr marL="68580" marR="68580" marT="34290" marB="3429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800" dirty="0"/>
                        <a:t>90-120 Days (2-week</a:t>
                      </a:r>
                      <a:r>
                        <a:rPr lang="en-US" sz="800" baseline="0" dirty="0"/>
                        <a:t> Sprints)</a:t>
                      </a:r>
                      <a:endParaRPr lang="en-US" sz="800" dirty="0"/>
                    </a:p>
                  </a:txBody>
                  <a:tcPr marL="68580" marR="68580" marT="34290" marB="3429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800" dirty="0"/>
                        <a:t>Continued Implementation</a:t>
                      </a:r>
                    </a:p>
                  </a:txBody>
                  <a:tcPr marL="68580" marR="68580" marT="34290" marB="34290" anchor="ctr">
                    <a:lnL w="381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0"/>
                  </a:ext>
                </a:extLst>
              </a:tr>
              <a:tr h="518829">
                <a:tc>
                  <a:txBody>
                    <a:bodyPr/>
                    <a:lstStyle/>
                    <a:p>
                      <a:pPr algn="ctr"/>
                      <a:r>
                        <a:rPr lang="en-US" sz="800" b="1" dirty="0">
                          <a:solidFill>
                            <a:schemeClr val="tx2"/>
                          </a:solidFill>
                        </a:rPr>
                        <a:t>Align on Outcomes and Priorities</a:t>
                      </a:r>
                    </a:p>
                  </a:txBody>
                  <a:tcPr marL="0" marR="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8829">
                <a:tc rowSpan="4">
                  <a:txBody>
                    <a:bodyPr/>
                    <a:lstStyle/>
                    <a:p>
                      <a:pPr algn="ctr"/>
                      <a:r>
                        <a:rPr lang="en-US" sz="800" b="1" dirty="0">
                          <a:solidFill>
                            <a:schemeClr val="tx2"/>
                          </a:solidFill>
                        </a:rPr>
                        <a:t>High Value Enhancements</a:t>
                      </a:r>
                    </a:p>
                  </a:txBody>
                  <a:tcPr marL="0" marR="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200" dirty="0"/>
                    </a:p>
                  </a:txBody>
                  <a:tcPr>
                    <a:lnL w="12700"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ysDash"/>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8829">
                <a:tc vMerge="1">
                  <a:txBody>
                    <a:bodyPr/>
                    <a:lstStyle/>
                    <a:p>
                      <a:pPr algn="ctr"/>
                      <a:endParaRPr lang="en-US" sz="800" b="1" dirty="0">
                        <a:solidFill>
                          <a:schemeClr val="tx2"/>
                        </a:solidFill>
                      </a:endParaRPr>
                    </a:p>
                  </a:txBody>
                  <a:tcPr marL="0" marR="0" marT="34290" marB="34290" anchor="ctr">
                    <a:lnL w="12700" cmpd="sng">
                      <a:noFill/>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200" dirty="0"/>
                    </a:p>
                  </a:txBody>
                  <a:tcP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8829">
                <a:tc vMerge="1">
                  <a:txBody>
                    <a:bodyPr/>
                    <a:lstStyle/>
                    <a:p>
                      <a:pPr algn="ctr"/>
                      <a:endParaRPr lang="en-US" sz="800" b="1" dirty="0">
                        <a:solidFill>
                          <a:schemeClr val="tx2"/>
                        </a:solidFill>
                      </a:endParaRPr>
                    </a:p>
                  </a:txBody>
                  <a:tcPr marL="0" marR="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200" dirty="0"/>
                    </a:p>
                  </a:txBody>
                  <a:tcP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02870">
                <a:tc vMerge="1">
                  <a:txBody>
                    <a:bodyPr/>
                    <a:lstStyle/>
                    <a:p>
                      <a:pPr algn="ctr"/>
                      <a:endParaRPr lang="en-US" sz="800" b="1" dirty="0">
                        <a:solidFill>
                          <a:schemeClr val="tx2"/>
                        </a:solidFill>
                      </a:endParaRPr>
                    </a:p>
                  </a:txBody>
                  <a:tcPr marL="0" marR="0" marT="34290" marB="34290" anchor="ctr">
                    <a:lnL w="12700" cmpd="sng">
                      <a:noFill/>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200" dirty="0"/>
                    </a:p>
                  </a:txBody>
                  <a:tcP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15959">
                <a:tc rowSpan="2">
                  <a:txBody>
                    <a:bodyPr/>
                    <a:lstStyle/>
                    <a:p>
                      <a:pPr algn="ctr"/>
                      <a:r>
                        <a:rPr lang="en-US" sz="800" b="1" dirty="0">
                          <a:solidFill>
                            <a:schemeClr val="tx2"/>
                          </a:solidFill>
                        </a:rPr>
                        <a:t>Continuous Improvement</a:t>
                      </a:r>
                    </a:p>
                  </a:txBody>
                  <a:tcPr marL="0" marR="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382309758"/>
                  </a:ext>
                </a:extLst>
              </a:tr>
              <a:tr h="0">
                <a:tc vMerge="1">
                  <a:txBody>
                    <a:bodyPr/>
                    <a:lstStyle/>
                    <a:p>
                      <a:pPr algn="ctr"/>
                      <a:endParaRPr lang="en-US" sz="800" b="1" dirty="0">
                        <a:solidFill>
                          <a:schemeClr val="tx2"/>
                        </a:solidFill>
                      </a:endParaRPr>
                    </a:p>
                  </a:txBody>
                  <a:tcPr marL="0" marR="0" marT="34290" marB="34290" anchor="ctr">
                    <a:lnL w="12700" cmpd="sng">
                      <a:noFill/>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68580" marR="68580" marT="34290" marB="34290">
                    <a:lnL w="12700" cap="flat" cmpd="sng" algn="ctr">
                      <a:noFill/>
                      <a:prstDash val="solid"/>
                      <a:round/>
                      <a:headEnd type="none" w="med" len="med"/>
                      <a:tailEnd type="none" w="med" len="med"/>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200" dirty="0"/>
                    </a:p>
                  </a:txBody>
                  <a:tcP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2" name="Title 1"/>
          <p:cNvSpPr>
            <a:spLocks noGrp="1"/>
          </p:cNvSpPr>
          <p:nvPr>
            <p:ph type="title"/>
          </p:nvPr>
        </p:nvSpPr>
        <p:spPr>
          <a:xfrm>
            <a:off x="363537" y="360387"/>
            <a:ext cx="8350250" cy="400110"/>
          </a:xfrm>
        </p:spPr>
        <p:txBody>
          <a:bodyPr anchor="t"/>
          <a:lstStyle/>
          <a:p>
            <a:r>
              <a:rPr lang="en-US" sz="2000" dirty="0"/>
              <a:t>Immediate term Implementation PLAN</a:t>
            </a:r>
          </a:p>
        </p:txBody>
      </p:sp>
      <p:sp>
        <p:nvSpPr>
          <p:cNvPr id="167" name="Pentagon 166"/>
          <p:cNvSpPr/>
          <p:nvPr/>
        </p:nvSpPr>
        <p:spPr>
          <a:xfrm>
            <a:off x="1540981" y="1175658"/>
            <a:ext cx="1580680" cy="413657"/>
          </a:xfrm>
          <a:prstGeom prst="homePlate">
            <a:avLst/>
          </a:prstGeom>
          <a:solidFill>
            <a:schemeClr val="accent2">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800" dirty="0" err="1">
                <a:solidFill>
                  <a:schemeClr val="tx1">
                    <a:lumMod val="95000"/>
                    <a:lumOff val="5000"/>
                  </a:schemeClr>
                </a:solidFill>
              </a:rPr>
              <a:t>iDNA</a:t>
            </a:r>
            <a:r>
              <a:rPr lang="en-US" sz="800" dirty="0">
                <a:solidFill>
                  <a:schemeClr val="tx1">
                    <a:lumMod val="95000"/>
                    <a:lumOff val="5000"/>
                  </a:schemeClr>
                </a:solidFill>
              </a:rPr>
              <a:t> Team setup &amp; ramp up</a:t>
            </a:r>
          </a:p>
        </p:txBody>
      </p:sp>
      <p:sp>
        <p:nvSpPr>
          <p:cNvPr id="172" name="Pentagon 171"/>
          <p:cNvSpPr/>
          <p:nvPr/>
        </p:nvSpPr>
        <p:spPr>
          <a:xfrm>
            <a:off x="2937980" y="1745658"/>
            <a:ext cx="6013730" cy="284294"/>
          </a:xfrm>
          <a:prstGeom prst="homePlate">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bg1"/>
                </a:solidFill>
              </a:rPr>
              <a:t>Enable High Availability</a:t>
            </a:r>
          </a:p>
        </p:txBody>
      </p:sp>
      <p:sp>
        <p:nvSpPr>
          <p:cNvPr id="47" name="Rectangle 46"/>
          <p:cNvSpPr/>
          <p:nvPr/>
        </p:nvSpPr>
        <p:spPr>
          <a:xfrm>
            <a:off x="1329995" y="4754376"/>
            <a:ext cx="102870" cy="216110"/>
          </a:xfrm>
          <a:prstGeom prst="rect">
            <a:avLst/>
          </a:prstGeom>
          <a:solidFill>
            <a:schemeClr val="accent6"/>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spAutoFit/>
          </a:bodyPr>
          <a:lstStyle/>
          <a:p>
            <a:pPr algn="ctr"/>
            <a:endParaRPr lang="en-US" sz="1050" dirty="0">
              <a:solidFill>
                <a:srgbClr val="002776"/>
              </a:solidFill>
            </a:endParaRPr>
          </a:p>
        </p:txBody>
      </p:sp>
      <p:sp>
        <p:nvSpPr>
          <p:cNvPr id="48" name="TextBox 47"/>
          <p:cNvSpPr txBox="1"/>
          <p:nvPr/>
        </p:nvSpPr>
        <p:spPr>
          <a:xfrm>
            <a:off x="1439381" y="4789000"/>
            <a:ext cx="1266609" cy="146860"/>
          </a:xfrm>
          <a:prstGeom prst="rect">
            <a:avLst/>
          </a:prstGeom>
          <a:noFill/>
        </p:spPr>
        <p:txBody>
          <a:bodyPr wrap="square" lIns="27000" tIns="27000" rIns="27000" bIns="27000" rtlCol="0">
            <a:spAutoFit/>
          </a:bodyPr>
          <a:lstStyle/>
          <a:p>
            <a:r>
              <a:rPr lang="en-US" sz="600" dirty="0">
                <a:solidFill>
                  <a:srgbClr val="002776"/>
                </a:solidFill>
              </a:rPr>
              <a:t>Immediate priority</a:t>
            </a:r>
          </a:p>
        </p:txBody>
      </p:sp>
      <p:sp>
        <p:nvSpPr>
          <p:cNvPr id="51" name="Rectangle 50"/>
          <p:cNvSpPr/>
          <p:nvPr/>
        </p:nvSpPr>
        <p:spPr>
          <a:xfrm>
            <a:off x="2097828" y="4754376"/>
            <a:ext cx="102870" cy="216110"/>
          </a:xfrm>
          <a:prstGeom prst="rect">
            <a:avLst/>
          </a:prstGeom>
          <a:solidFill>
            <a:schemeClr val="accent3"/>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spAutoFit/>
          </a:bodyPr>
          <a:lstStyle/>
          <a:p>
            <a:pPr algn="ctr"/>
            <a:endParaRPr lang="en-US" sz="1050" dirty="0">
              <a:solidFill>
                <a:srgbClr val="002776"/>
              </a:solidFill>
            </a:endParaRPr>
          </a:p>
        </p:txBody>
      </p:sp>
      <p:sp>
        <p:nvSpPr>
          <p:cNvPr id="52" name="TextBox 51"/>
          <p:cNvSpPr txBox="1"/>
          <p:nvPr/>
        </p:nvSpPr>
        <p:spPr>
          <a:xfrm>
            <a:off x="2204901" y="4789000"/>
            <a:ext cx="1255998" cy="146860"/>
          </a:xfrm>
          <a:prstGeom prst="rect">
            <a:avLst/>
          </a:prstGeom>
          <a:noFill/>
        </p:spPr>
        <p:txBody>
          <a:bodyPr wrap="square" lIns="27000" tIns="27000" rIns="27000" bIns="27000" rtlCol="0">
            <a:spAutoFit/>
          </a:bodyPr>
          <a:lstStyle/>
          <a:p>
            <a:r>
              <a:rPr lang="en-US" sz="600" dirty="0">
                <a:solidFill>
                  <a:srgbClr val="002776"/>
                </a:solidFill>
              </a:rPr>
              <a:t>Medium priority</a:t>
            </a:r>
          </a:p>
        </p:txBody>
      </p:sp>
      <p:sp>
        <p:nvSpPr>
          <p:cNvPr id="55" name="TextBox 54"/>
          <p:cNvSpPr txBox="1"/>
          <p:nvPr/>
        </p:nvSpPr>
        <p:spPr>
          <a:xfrm>
            <a:off x="1002815" y="4789000"/>
            <a:ext cx="366137" cy="146860"/>
          </a:xfrm>
          <a:prstGeom prst="rect">
            <a:avLst/>
          </a:prstGeom>
          <a:noFill/>
        </p:spPr>
        <p:txBody>
          <a:bodyPr wrap="square" lIns="27000" tIns="27000" rIns="27000" bIns="27000" rtlCol="0">
            <a:spAutoFit/>
          </a:bodyPr>
          <a:lstStyle/>
          <a:p>
            <a:r>
              <a:rPr lang="en-US" sz="600" dirty="0">
                <a:solidFill>
                  <a:srgbClr val="002776"/>
                </a:solidFill>
              </a:rPr>
              <a:t>Legend</a:t>
            </a:r>
          </a:p>
        </p:txBody>
      </p:sp>
      <p:sp>
        <p:nvSpPr>
          <p:cNvPr id="56" name="Rectangle 55"/>
          <p:cNvSpPr/>
          <p:nvPr/>
        </p:nvSpPr>
        <p:spPr>
          <a:xfrm>
            <a:off x="2786298" y="4754376"/>
            <a:ext cx="102870" cy="216110"/>
          </a:xfrm>
          <a:prstGeom prst="rect">
            <a:avLst/>
          </a:prstGeom>
          <a:solidFill>
            <a:schemeClr val="bg1">
              <a:lumMod val="8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spAutoFit/>
          </a:bodyPr>
          <a:lstStyle/>
          <a:p>
            <a:pPr algn="ctr"/>
            <a:endParaRPr lang="en-US" sz="1050" dirty="0">
              <a:solidFill>
                <a:srgbClr val="002776"/>
              </a:solidFill>
            </a:endParaRPr>
          </a:p>
        </p:txBody>
      </p:sp>
      <p:sp>
        <p:nvSpPr>
          <p:cNvPr id="57" name="TextBox 56"/>
          <p:cNvSpPr txBox="1"/>
          <p:nvPr/>
        </p:nvSpPr>
        <p:spPr>
          <a:xfrm>
            <a:off x="2903999" y="4789001"/>
            <a:ext cx="1138298" cy="146860"/>
          </a:xfrm>
          <a:prstGeom prst="rect">
            <a:avLst/>
          </a:prstGeom>
          <a:noFill/>
        </p:spPr>
        <p:txBody>
          <a:bodyPr wrap="square" lIns="27000" tIns="27000" rIns="27000" bIns="27000" rtlCol="0">
            <a:spAutoFit/>
          </a:bodyPr>
          <a:lstStyle/>
          <a:p>
            <a:r>
              <a:rPr lang="en-US" sz="600" dirty="0">
                <a:solidFill>
                  <a:srgbClr val="002776"/>
                </a:solidFill>
              </a:rPr>
              <a:t>Lower Priority</a:t>
            </a:r>
          </a:p>
        </p:txBody>
      </p:sp>
      <p:sp>
        <p:nvSpPr>
          <p:cNvPr id="53" name="Rectangle 52">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59" name="Pentagon 58"/>
          <p:cNvSpPr/>
          <p:nvPr/>
        </p:nvSpPr>
        <p:spPr>
          <a:xfrm>
            <a:off x="2942354" y="2387852"/>
            <a:ext cx="6009356" cy="284294"/>
          </a:xfrm>
          <a:prstGeom prst="homePlate">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bg1"/>
                </a:solidFill>
              </a:rPr>
              <a:t>Simplify Data Onboarding and Enable Self Service Onboarding of Data</a:t>
            </a:r>
          </a:p>
        </p:txBody>
      </p:sp>
      <p:sp>
        <p:nvSpPr>
          <p:cNvPr id="60" name="Pentagon 59"/>
          <p:cNvSpPr/>
          <p:nvPr/>
        </p:nvSpPr>
        <p:spPr>
          <a:xfrm>
            <a:off x="4230523" y="2762350"/>
            <a:ext cx="4721187" cy="235178"/>
          </a:xfrm>
          <a:prstGeom prst="homePlat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tx1">
                    <a:lumMod val="95000"/>
                    <a:lumOff val="5000"/>
                  </a:schemeClr>
                </a:solidFill>
              </a:rPr>
              <a:t>Enable Domain Specific Data Libraries </a:t>
            </a:r>
          </a:p>
        </p:txBody>
      </p:sp>
      <p:sp>
        <p:nvSpPr>
          <p:cNvPr id="61" name="Pentagon 60"/>
          <p:cNvSpPr/>
          <p:nvPr/>
        </p:nvSpPr>
        <p:spPr>
          <a:xfrm>
            <a:off x="4220123" y="3017063"/>
            <a:ext cx="4731588" cy="259696"/>
          </a:xfrm>
          <a:prstGeom prst="homePlat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tx1">
                    <a:lumMod val="95000"/>
                    <a:lumOff val="5000"/>
                  </a:schemeClr>
                </a:solidFill>
              </a:rPr>
              <a:t>Framework Improvements</a:t>
            </a:r>
          </a:p>
        </p:txBody>
      </p:sp>
      <p:sp>
        <p:nvSpPr>
          <p:cNvPr id="62" name="Pentagon 61"/>
          <p:cNvSpPr/>
          <p:nvPr/>
        </p:nvSpPr>
        <p:spPr>
          <a:xfrm>
            <a:off x="5928360" y="3320054"/>
            <a:ext cx="3023350" cy="216270"/>
          </a:xfrm>
          <a:prstGeom prst="homePlate">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tx1">
                    <a:lumMod val="95000"/>
                    <a:lumOff val="5000"/>
                  </a:schemeClr>
                </a:solidFill>
              </a:rPr>
              <a:t>Pattern Based Ingestion</a:t>
            </a:r>
          </a:p>
        </p:txBody>
      </p:sp>
      <p:sp>
        <p:nvSpPr>
          <p:cNvPr id="6" name="Rectangle 5"/>
          <p:cNvSpPr/>
          <p:nvPr/>
        </p:nvSpPr>
        <p:spPr>
          <a:xfrm>
            <a:off x="1540981" y="3815555"/>
            <a:ext cx="7323521" cy="31081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SUPPORTED BY D CUBE DATA SCIENCE &amp; ENGINEERING COE</a:t>
            </a:r>
            <a:endParaRPr lang="en-US" sz="1100" b="1" dirty="0">
              <a:solidFill>
                <a:schemeClr val="bg1"/>
              </a:solidFill>
            </a:endParaRPr>
          </a:p>
        </p:txBody>
      </p:sp>
      <p:sp>
        <p:nvSpPr>
          <p:cNvPr id="35" name="Pentagon 171">
            <a:extLst>
              <a:ext uri="{FF2B5EF4-FFF2-40B4-BE49-F238E27FC236}">
                <a16:creationId xmlns:a16="http://schemas.microsoft.com/office/drawing/2014/main" id="{6139924E-E0DE-43B9-8424-1E3F8808DBD4}"/>
              </a:ext>
            </a:extLst>
          </p:cNvPr>
          <p:cNvSpPr/>
          <p:nvPr/>
        </p:nvSpPr>
        <p:spPr>
          <a:xfrm>
            <a:off x="2937980" y="2073247"/>
            <a:ext cx="6013730" cy="284294"/>
          </a:xfrm>
          <a:prstGeom prst="homePlate">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7000" tIns="27000" rIns="27000" bIns="27000" rtlCol="0" anchor="ctr">
            <a:noAutofit/>
          </a:bodyPr>
          <a:lstStyle/>
          <a:p>
            <a:pPr algn="ctr"/>
            <a:r>
              <a:rPr lang="en-US" sz="1000" dirty="0">
                <a:solidFill>
                  <a:schemeClr val="bg1"/>
                </a:solidFill>
              </a:rPr>
              <a:t>Key Management  &amp; Security</a:t>
            </a:r>
          </a:p>
        </p:txBody>
      </p:sp>
    </p:spTree>
    <p:extLst>
      <p:ext uri="{BB962C8B-B14F-4D97-AF65-F5344CB8AC3E}">
        <p14:creationId xmlns:p14="http://schemas.microsoft.com/office/powerpoint/2010/main" val="1731237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5" name="Google Shape;545;p22"/>
          <p:cNvSpPr txBox="1">
            <a:spLocks noGrp="1"/>
          </p:cNvSpPr>
          <p:nvPr>
            <p:ph type="sldNum" idx="12"/>
          </p:nvPr>
        </p:nvSpPr>
        <p:spPr>
          <a:xfrm>
            <a:off x="8303042" y="4720893"/>
            <a:ext cx="162679" cy="180975"/>
          </a:xfrm>
          <a:prstGeom prst="rect">
            <a:avLst/>
          </a:prstGeom>
          <a:noFill/>
          <a:ln>
            <a:noFill/>
          </a:ln>
        </p:spPr>
        <p:txBody>
          <a:bodyPr spcFirstLastPara="1" wrap="square" lIns="19050" tIns="19050" rIns="19050" bIns="19050" anchor="t" anchorCtr="0">
            <a:noAutofit/>
          </a:bodyPr>
          <a:lstStyle/>
          <a:p>
            <a:fld id="{00000000-1234-1234-1234-123412341234}" type="slidenum">
              <a:rPr lang="en-US"/>
              <a:pPr/>
              <a:t>27</a:t>
            </a:fld>
            <a:endParaRPr dirty="0"/>
          </a:p>
        </p:txBody>
      </p:sp>
      <p:sp>
        <p:nvSpPr>
          <p:cNvPr id="23" name="Rectangle 22">
            <a:extLst>
              <a:ext uri="{FF2B5EF4-FFF2-40B4-BE49-F238E27FC236}">
                <a16:creationId xmlns:a16="http://schemas.microsoft.com/office/drawing/2014/main" id="{9160A9DC-32AA-40F2-A03A-5217B5CFF74C}"/>
              </a:ext>
            </a:extLst>
          </p:cNvPr>
          <p:cNvSpPr/>
          <p:nvPr/>
        </p:nvSpPr>
        <p:spPr>
          <a:xfrm>
            <a:off x="363537" y="711665"/>
            <a:ext cx="8500965" cy="4883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endParaRPr>
          </a:p>
        </p:txBody>
      </p:sp>
      <p:sp>
        <p:nvSpPr>
          <p:cNvPr id="26" name="Title 15">
            <a:extLst>
              <a:ext uri="{FF2B5EF4-FFF2-40B4-BE49-F238E27FC236}">
                <a16:creationId xmlns:a16="http://schemas.microsoft.com/office/drawing/2014/main" id="{79B828D4-57EE-4745-8D2A-9FF65F87E00A}"/>
              </a:ext>
            </a:extLst>
          </p:cNvPr>
          <p:cNvSpPr>
            <a:spLocks noGrp="1"/>
          </p:cNvSpPr>
          <p:nvPr>
            <p:ph type="title"/>
          </p:nvPr>
        </p:nvSpPr>
        <p:spPr>
          <a:xfrm>
            <a:off x="363537" y="301076"/>
            <a:ext cx="4133849" cy="346249"/>
          </a:xfrm>
        </p:spPr>
        <p:txBody>
          <a:bodyPr/>
          <a:lstStyle/>
          <a:p>
            <a:pPr algn="l"/>
            <a:r>
              <a:rPr lang="en-IN" sz="2000" b="1" cap="all" dirty="0">
                <a:solidFill>
                  <a:schemeClr val="accent1"/>
                </a:solidFill>
                <a:latin typeface="Calibri" panose="020F0502020204030204" pitchFamily="34" charset="0"/>
                <a:ea typeface="+mj-ea"/>
                <a:cs typeface="+mj-cs"/>
              </a:rPr>
              <a:t>NEXT STEPS</a:t>
            </a:r>
          </a:p>
        </p:txBody>
      </p:sp>
      <p:sp>
        <p:nvSpPr>
          <p:cNvPr id="2" name="TextBox 1"/>
          <p:cNvSpPr txBox="1"/>
          <p:nvPr/>
        </p:nvSpPr>
        <p:spPr>
          <a:xfrm>
            <a:off x="363537" y="1066800"/>
            <a:ext cx="8500965" cy="2031325"/>
          </a:xfrm>
          <a:prstGeom prst="rect">
            <a:avLst/>
          </a:prstGeom>
          <a:noFill/>
        </p:spPr>
        <p:txBody>
          <a:bodyPr wrap="square" rtlCol="0">
            <a:spAutoFit/>
          </a:bodyPr>
          <a:lstStyle/>
          <a:p>
            <a:pPr marL="285750" indent="-285750">
              <a:buFont typeface="Arial" charset="0"/>
              <a:buChar char="•"/>
            </a:pPr>
            <a:r>
              <a:rPr lang="en-US" sz="1400" b="1" dirty="0"/>
              <a:t>Align on priorities with respect to enhancements in view of the strategic road map for </a:t>
            </a:r>
            <a:r>
              <a:rPr lang="en-US" sz="1400" b="1" dirty="0" err="1"/>
              <a:t>iDNA</a:t>
            </a:r>
            <a:r>
              <a:rPr lang="en-US" sz="1400" b="1" dirty="0"/>
              <a:t> and other emerging business requirements</a:t>
            </a:r>
          </a:p>
          <a:p>
            <a:pPr marL="285750" indent="-285750">
              <a:buFont typeface="Arial" charset="0"/>
              <a:buChar char="•"/>
            </a:pPr>
            <a:endParaRPr lang="en-US" sz="1400" b="1" dirty="0"/>
          </a:p>
          <a:p>
            <a:pPr marL="285750" indent="-285750">
              <a:buFont typeface="Arial" charset="0"/>
              <a:buChar char="•"/>
            </a:pPr>
            <a:r>
              <a:rPr lang="en-US" sz="1400" b="1" dirty="0"/>
              <a:t>Collaborate on an integrated project delivery plan</a:t>
            </a:r>
          </a:p>
          <a:p>
            <a:pPr marL="742950" lvl="1" indent="-285750">
              <a:buFont typeface="Arial" charset="0"/>
              <a:buChar char="•"/>
            </a:pPr>
            <a:r>
              <a:rPr lang="en-US" sz="1400" b="1" dirty="0"/>
              <a:t>Identify team structure &amp; profiles to implement plan </a:t>
            </a:r>
          </a:p>
          <a:p>
            <a:pPr marL="742950" lvl="1" indent="-285750">
              <a:buFont typeface="Arial" charset="0"/>
              <a:buChar char="•"/>
            </a:pPr>
            <a:r>
              <a:rPr lang="en-US" sz="1400" b="1" dirty="0"/>
              <a:t>Define approach and delivery methodology </a:t>
            </a:r>
          </a:p>
          <a:p>
            <a:pPr marL="742950" lvl="1" indent="-285750">
              <a:buFont typeface="Arial" charset="0"/>
              <a:buChar char="•"/>
            </a:pPr>
            <a:r>
              <a:rPr lang="en-US" sz="1400" b="1" dirty="0"/>
              <a:t>Generate timelines and effort estimates </a:t>
            </a:r>
          </a:p>
          <a:p>
            <a:pPr marL="742950" lvl="1" indent="-285750">
              <a:buFont typeface="Arial" charset="0"/>
              <a:buChar char="•"/>
            </a:pPr>
            <a:endParaRPr lang="en-US" sz="1400" b="1" dirty="0"/>
          </a:p>
          <a:p>
            <a:pPr marL="285750" indent="-285750">
              <a:buFont typeface="Arial" charset="0"/>
              <a:buChar char="•"/>
            </a:pPr>
            <a:r>
              <a:rPr lang="en-US" sz="1400" b="1" dirty="0"/>
              <a:t>Finalize plan and kick off</a:t>
            </a:r>
          </a:p>
        </p:txBody>
      </p:sp>
    </p:spTree>
    <p:extLst>
      <p:ext uri="{BB962C8B-B14F-4D97-AF65-F5344CB8AC3E}">
        <p14:creationId xmlns:p14="http://schemas.microsoft.com/office/powerpoint/2010/main" val="3775325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954107"/>
          </a:xfrm>
          <a:prstGeom prst="rect">
            <a:avLst/>
          </a:prstGeom>
          <a:noFill/>
        </p:spPr>
        <p:txBody>
          <a:bodyPr wrap="square" rtlCol="0">
            <a:spAutoFit/>
          </a:bodyPr>
          <a:lstStyle/>
          <a:p>
            <a:r>
              <a:rPr lang="en-US" sz="2800" b="1" dirty="0">
                <a:solidFill>
                  <a:schemeClr val="bg1"/>
                </a:solidFill>
              </a:rPr>
              <a:t>Appendix</a:t>
            </a:r>
          </a:p>
          <a:p>
            <a:endParaRPr lang="en-US" sz="2800" b="1" dirty="0">
              <a:solidFill>
                <a:schemeClr val="bg1"/>
              </a:solidFill>
            </a:endParaRPr>
          </a:p>
        </p:txBody>
      </p:sp>
    </p:spTree>
    <p:extLst>
      <p:ext uri="{BB962C8B-B14F-4D97-AF65-F5344CB8AC3E}">
        <p14:creationId xmlns:p14="http://schemas.microsoft.com/office/powerpoint/2010/main" val="178429728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75651058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1667897"/>
            <a:ext cx="8858250" cy="1059264"/>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Ingestion</a:t>
            </a:r>
            <a:br>
              <a:rPr lang="en-IN" sz="3600" dirty="0">
                <a:solidFill>
                  <a:schemeClr val="bg1"/>
                </a:solidFill>
                <a:latin typeface="Arial"/>
                <a:cs typeface="Arial"/>
              </a:rPr>
            </a:br>
            <a:r>
              <a:rPr lang="en-IN" sz="3600" dirty="0">
                <a:solidFill>
                  <a:schemeClr val="bg1"/>
                </a:solidFill>
                <a:latin typeface="Arial"/>
                <a:cs typeface="Arial"/>
              </a:rPr>
              <a:t> </a:t>
            </a:r>
            <a:endParaRPr lang="en-IN" sz="2000" dirty="0">
              <a:solidFill>
                <a:schemeClr val="bg1"/>
              </a:solidFill>
              <a:latin typeface="Arial"/>
              <a:cs typeface="Arial"/>
            </a:endParaRPr>
          </a:p>
        </p:txBody>
      </p:sp>
    </p:spTree>
    <p:extLst>
      <p:ext uri="{BB962C8B-B14F-4D97-AF65-F5344CB8AC3E}">
        <p14:creationId xmlns:p14="http://schemas.microsoft.com/office/powerpoint/2010/main" val="530551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INGESTION</a:t>
            </a:r>
          </a:p>
        </p:txBody>
      </p:sp>
      <p:sp>
        <p:nvSpPr>
          <p:cNvPr id="7" name="TextBox 6">
            <a:extLst>
              <a:ext uri="{FF2B5EF4-FFF2-40B4-BE49-F238E27FC236}">
                <a16:creationId xmlns:a16="http://schemas.microsoft.com/office/drawing/2014/main" id="{8F959FAB-75DB-4952-8485-5EAE80884F64}"/>
              </a:ext>
            </a:extLst>
          </p:cNvPr>
          <p:cNvSpPr txBox="1"/>
          <p:nvPr/>
        </p:nvSpPr>
        <p:spPr>
          <a:xfrm>
            <a:off x="583015" y="3137497"/>
            <a:ext cx="7372350" cy="1384995"/>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400" dirty="0"/>
              <a:t>Pattern based ingestion is followed which is a standard operation</a:t>
            </a:r>
          </a:p>
          <a:p>
            <a:pPr marL="285750" indent="-285750">
              <a:buFont typeface="Arial" panose="020B0604020202020204" pitchFamily="34" charset="0"/>
              <a:buChar char="•"/>
            </a:pPr>
            <a:r>
              <a:rPr lang="en-IN" sz="1400" dirty="0"/>
              <a:t>A standard structure library was  not found</a:t>
            </a:r>
          </a:p>
          <a:p>
            <a:pPr marL="285750" indent="-285750">
              <a:buFont typeface="Arial" panose="020B0604020202020204" pitchFamily="34" charset="0"/>
              <a:buChar char="•"/>
            </a:pPr>
            <a:r>
              <a:rPr lang="en-IN" sz="1400" dirty="0" err="1"/>
              <a:t>Alation</a:t>
            </a:r>
            <a:r>
              <a:rPr lang="en-IN" sz="1400" dirty="0"/>
              <a:t> could be potentially leveraged for creating a standard structure library for all tables</a:t>
            </a:r>
          </a:p>
          <a:p>
            <a:pPr marL="285750" indent="-285750">
              <a:buFont typeface="Arial" panose="020B0604020202020204" pitchFamily="34" charset="0"/>
              <a:buChar char="•"/>
            </a:pPr>
            <a:r>
              <a:rPr lang="en-IN" sz="1400" dirty="0"/>
              <a:t>Ingestion incremental logic and Micro batch event was not observed	</a:t>
            </a:r>
          </a:p>
          <a:p>
            <a:endParaRPr lang="en-IN" sz="14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583015" y="2829720"/>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screenshot of text&#10;&#10;Description generated with very high confidence">
            <a:extLst>
              <a:ext uri="{FF2B5EF4-FFF2-40B4-BE49-F238E27FC236}">
                <a16:creationId xmlns:a16="http://schemas.microsoft.com/office/drawing/2014/main" id="{CEA354E0-4755-4772-AC1E-E7FEE20E8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1" y="1056191"/>
            <a:ext cx="4102932" cy="1529847"/>
          </a:xfrm>
          <a:prstGeom prst="rect">
            <a:avLst/>
          </a:prstGeom>
          <a:ln>
            <a:solidFill>
              <a:schemeClr val="tx1"/>
            </a:solidFill>
          </a:ln>
        </p:spPr>
      </p:pic>
      <p:pic>
        <p:nvPicPr>
          <p:cNvPr id="4" name="Picture 3" descr="A screenshot of a social media post&#10;&#10;Description generated with very high confidence">
            <a:extLst>
              <a:ext uri="{FF2B5EF4-FFF2-40B4-BE49-F238E27FC236}">
                <a16:creationId xmlns:a16="http://schemas.microsoft.com/office/drawing/2014/main" id="{1C12FF30-F335-4C92-B178-3D7FB649BC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8922" y="1051842"/>
            <a:ext cx="4020025" cy="1529847"/>
          </a:xfrm>
          <a:prstGeom prst="rect">
            <a:avLst/>
          </a:prstGeom>
          <a:ln>
            <a:solidFill>
              <a:schemeClr val="tx1"/>
            </a:solidFill>
          </a:ln>
        </p:spPr>
      </p:pic>
      <p:sp>
        <p:nvSpPr>
          <p:cNvPr id="8" name="Shape 162">
            <a:extLst>
              <a:ext uri="{FF2B5EF4-FFF2-40B4-BE49-F238E27FC236}">
                <a16:creationId xmlns:a16="http://schemas.microsoft.com/office/drawing/2014/main" id="{AF334B9B-B8E4-49CA-B34A-57BDA890503C}"/>
              </a:ext>
            </a:extLst>
          </p:cNvPr>
          <p:cNvSpPr/>
          <p:nvPr/>
        </p:nvSpPr>
        <p:spPr>
          <a:xfrm>
            <a:off x="7576915" y="536953"/>
            <a:ext cx="877950" cy="340509"/>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cs typeface="Arial"/>
                <a:sym typeface="Arial"/>
              </a:rPr>
              <a:t>Database Ingestion Patterns</a:t>
            </a:r>
            <a:endParaRPr sz="525" kern="0" dirty="0">
              <a:solidFill>
                <a:srgbClr val="000000"/>
              </a:solidFill>
              <a:latin typeface="Arial"/>
              <a:cs typeface="Arial"/>
              <a:sym typeface="Arial"/>
            </a:endParaRPr>
          </a:p>
        </p:txBody>
      </p:sp>
      <p:sp>
        <p:nvSpPr>
          <p:cNvPr id="9" name="Shape 165">
            <a:extLst>
              <a:ext uri="{FF2B5EF4-FFF2-40B4-BE49-F238E27FC236}">
                <a16:creationId xmlns:a16="http://schemas.microsoft.com/office/drawing/2014/main" id="{57639AA9-4957-4A8C-ADCC-D9EB02890AEE}"/>
              </a:ext>
            </a:extLst>
          </p:cNvPr>
          <p:cNvSpPr/>
          <p:nvPr/>
        </p:nvSpPr>
        <p:spPr>
          <a:xfrm>
            <a:off x="6402464" y="554137"/>
            <a:ext cx="877950" cy="32332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600"/>
            </a:pPr>
            <a:r>
              <a:rPr lang="en-US" sz="600" kern="0" dirty="0">
                <a:solidFill>
                  <a:srgbClr val="000000"/>
                </a:solidFill>
                <a:latin typeface="Arial"/>
                <a:cs typeface="Arial"/>
                <a:sym typeface="Arial"/>
              </a:rPr>
              <a:t>Metadata Driven Templates</a:t>
            </a:r>
            <a:endParaRPr sz="525" kern="0" dirty="0">
              <a:solidFill>
                <a:srgbClr val="000000"/>
              </a:solidFill>
              <a:latin typeface="Arial"/>
              <a:cs typeface="Arial"/>
              <a:sym typeface="Arial"/>
            </a:endParaRPr>
          </a:p>
        </p:txBody>
      </p:sp>
      <p:sp>
        <p:nvSpPr>
          <p:cNvPr id="3" name="Rectangle 2">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50200948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2221894"/>
            <a:ext cx="8858250" cy="505267"/>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Data Loading</a:t>
            </a:r>
            <a:endParaRPr lang="en-IN" sz="2000" dirty="0">
              <a:solidFill>
                <a:schemeClr val="bg1"/>
              </a:solidFill>
              <a:latin typeface="Arial"/>
              <a:cs typeface="Arial"/>
            </a:endParaRPr>
          </a:p>
        </p:txBody>
      </p:sp>
    </p:spTree>
    <p:extLst>
      <p:ext uri="{BB962C8B-B14F-4D97-AF65-F5344CB8AC3E}">
        <p14:creationId xmlns:p14="http://schemas.microsoft.com/office/powerpoint/2010/main" val="1456538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C6B98F2-34BC-4C7A-8010-93C9EBE454BC}"/>
              </a:ext>
            </a:extLst>
          </p:cNvPr>
          <p:cNvSpPr txBox="1">
            <a:spLocks/>
          </p:cNvSpPr>
          <p:nvPr/>
        </p:nvSpPr>
        <p:spPr>
          <a:xfrm>
            <a:off x="253009" y="232234"/>
            <a:ext cx="8416925" cy="400110"/>
          </a:xfrm>
          <a:prstGeom prst="rect">
            <a:avLst/>
          </a:prstGeom>
        </p:spPr>
        <p:txBody>
          <a:bodyPr vert="horz"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Findings from data loading: just in time deployment</a:t>
            </a:r>
          </a:p>
        </p:txBody>
      </p:sp>
      <p:sp>
        <p:nvSpPr>
          <p:cNvPr id="10" name="TextBox 9">
            <a:extLst>
              <a:ext uri="{FF2B5EF4-FFF2-40B4-BE49-F238E27FC236}">
                <a16:creationId xmlns:a16="http://schemas.microsoft.com/office/drawing/2014/main" id="{2BF4CBA9-7AD3-4A71-8E04-182D2BDB8F02}"/>
              </a:ext>
            </a:extLst>
          </p:cNvPr>
          <p:cNvSpPr txBox="1"/>
          <p:nvPr/>
        </p:nvSpPr>
        <p:spPr>
          <a:xfrm>
            <a:off x="2639037" y="1034229"/>
            <a:ext cx="3643582" cy="1107996"/>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err="1"/>
              <a:t>Dags</a:t>
            </a:r>
            <a:r>
              <a:rPr lang="en-IN" sz="1100" dirty="0"/>
              <a:t> are dynamically created and placed in the </a:t>
            </a:r>
            <a:r>
              <a:rPr lang="en-IN" sz="1100" dirty="0" err="1"/>
              <a:t>dag</a:t>
            </a:r>
            <a:r>
              <a:rPr lang="en-IN" sz="1100" dirty="0"/>
              <a:t> folder with batch id</a:t>
            </a:r>
          </a:p>
          <a:p>
            <a:pPr marL="285750" indent="-285750">
              <a:buFont typeface="Arial" panose="020B0604020202020204" pitchFamily="34" charset="0"/>
              <a:buChar char="•"/>
            </a:pPr>
            <a:r>
              <a:rPr lang="en-IN" sz="1100" dirty="0"/>
              <a:t>Trigger of this </a:t>
            </a:r>
            <a:r>
              <a:rPr lang="en-IN" sz="1100" dirty="0" err="1"/>
              <a:t>dag</a:t>
            </a:r>
            <a:r>
              <a:rPr lang="en-IN" sz="1100" dirty="0"/>
              <a:t> happens after this </a:t>
            </a:r>
            <a:r>
              <a:rPr lang="en-IN" sz="1100" dirty="0" err="1"/>
              <a:t>dag</a:t>
            </a:r>
            <a:r>
              <a:rPr lang="en-IN" sz="1100" dirty="0"/>
              <a:t> is located in the folder</a:t>
            </a:r>
          </a:p>
          <a:p>
            <a:pPr marL="285750" indent="-285750">
              <a:buFont typeface="Arial" panose="020B0604020202020204" pitchFamily="34" charset="0"/>
              <a:buChar char="•"/>
            </a:pPr>
            <a:r>
              <a:rPr lang="en-IN" sz="1100" dirty="0"/>
              <a:t>Due to syncing issues, trigger may fail to happen sometimes</a:t>
            </a:r>
          </a:p>
        </p:txBody>
      </p:sp>
      <p:sp>
        <p:nvSpPr>
          <p:cNvPr id="11" name="TextBox 10">
            <a:extLst>
              <a:ext uri="{FF2B5EF4-FFF2-40B4-BE49-F238E27FC236}">
                <a16:creationId xmlns:a16="http://schemas.microsoft.com/office/drawing/2014/main" id="{D13BD439-57D8-4293-B138-3FA6BCA7342D}"/>
              </a:ext>
            </a:extLst>
          </p:cNvPr>
          <p:cNvSpPr txBox="1"/>
          <p:nvPr/>
        </p:nvSpPr>
        <p:spPr>
          <a:xfrm>
            <a:off x="2639037" y="757230"/>
            <a:ext cx="1814782" cy="276999"/>
          </a:xfrm>
          <a:prstGeom prst="rect">
            <a:avLst/>
          </a:prstGeom>
          <a:solidFill>
            <a:srgbClr val="0063C3"/>
          </a:solidFill>
        </p:spPr>
        <p:txBody>
          <a:bodyPr wrap="square" rtlCol="0">
            <a:spAutoFit/>
          </a:bodyPr>
          <a:lstStyle/>
          <a:p>
            <a:r>
              <a:rPr lang="en-IN" sz="1200" b="1" dirty="0">
                <a:solidFill>
                  <a:schemeClr val="bg1"/>
                </a:solidFill>
              </a:rPr>
              <a:t>DAG ISSUES</a:t>
            </a:r>
          </a:p>
        </p:txBody>
      </p:sp>
      <p:pic>
        <p:nvPicPr>
          <p:cNvPr id="8" name="Picture 7" descr="A screenshot of a cell phone&#10;&#10;Description generated with high confidence">
            <a:extLst>
              <a:ext uri="{FF2B5EF4-FFF2-40B4-BE49-F238E27FC236}">
                <a16:creationId xmlns:a16="http://schemas.microsoft.com/office/drawing/2014/main" id="{6B24A1E0-F3D1-49D4-A7C5-4E1E9A51F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251" y="2419224"/>
            <a:ext cx="3923287" cy="2134726"/>
          </a:xfrm>
          <a:prstGeom prst="rect">
            <a:avLst/>
          </a:prstGeom>
          <a:ln>
            <a:solidFill>
              <a:schemeClr val="tx1"/>
            </a:solidFill>
          </a:ln>
        </p:spPr>
      </p:pic>
      <p:pic>
        <p:nvPicPr>
          <p:cNvPr id="7" name="Picture 6" descr="cid:ii_jl9nk1oc0_16571f69bda410c6">
            <a:extLst>
              <a:ext uri="{FF2B5EF4-FFF2-40B4-BE49-F238E27FC236}">
                <a16:creationId xmlns:a16="http://schemas.microsoft.com/office/drawing/2014/main" id="{0C74ED06-8970-43EA-8194-921F15A016E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1390" y="2419224"/>
            <a:ext cx="4095359" cy="2134726"/>
          </a:xfrm>
          <a:prstGeom prst="rect">
            <a:avLst/>
          </a:prstGeom>
          <a:noFill/>
          <a:ln>
            <a:solidFill>
              <a:schemeClr val="tx1"/>
            </a:solidFill>
          </a:ln>
        </p:spPr>
      </p:pic>
      <p:sp>
        <p:nvSpPr>
          <p:cNvPr id="9" name="Rectangle 8">
            <a:hlinkClick r:id="rId5"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85009277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C6B98F2-34BC-4C7A-8010-93C9EBE454BC}"/>
              </a:ext>
            </a:extLst>
          </p:cNvPr>
          <p:cNvSpPr txBox="1">
            <a:spLocks/>
          </p:cNvSpPr>
          <p:nvPr/>
        </p:nvSpPr>
        <p:spPr>
          <a:xfrm>
            <a:off x="253009" y="232234"/>
            <a:ext cx="7773391" cy="707886"/>
          </a:xfrm>
          <a:prstGeom prst="rect">
            <a:avLst/>
          </a:prstGeom>
        </p:spPr>
        <p:txBody>
          <a:bodyPr vert="horz" wrap="square"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Findings from data loading: built from scratch solution vs industry standards</a:t>
            </a:r>
          </a:p>
        </p:txBody>
      </p:sp>
      <p:sp>
        <p:nvSpPr>
          <p:cNvPr id="10" name="TextBox 9">
            <a:extLst>
              <a:ext uri="{FF2B5EF4-FFF2-40B4-BE49-F238E27FC236}">
                <a16:creationId xmlns:a16="http://schemas.microsoft.com/office/drawing/2014/main" id="{2BF4CBA9-7AD3-4A71-8E04-182D2BDB8F02}"/>
              </a:ext>
            </a:extLst>
          </p:cNvPr>
          <p:cNvSpPr txBox="1"/>
          <p:nvPr/>
        </p:nvSpPr>
        <p:spPr>
          <a:xfrm>
            <a:off x="2639037" y="1034229"/>
            <a:ext cx="3643582" cy="1107996"/>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Custom logging solution is built.</a:t>
            </a:r>
          </a:p>
          <a:p>
            <a:pPr marL="285750" indent="-285750">
              <a:buFont typeface="Arial" panose="020B0604020202020204" pitchFamily="34" charset="0"/>
              <a:buChar char="•"/>
            </a:pPr>
            <a:r>
              <a:rPr lang="en-IN" sz="1100" dirty="0"/>
              <a:t>Native AWS Solutions such as Elastic Search and Kibana would have saved a lot of time and offered more robust capabilities</a:t>
            </a:r>
          </a:p>
          <a:p>
            <a:pPr marL="285750" indent="-285750">
              <a:buFont typeface="Arial" panose="020B0604020202020204" pitchFamily="34" charset="0"/>
              <a:buChar char="•"/>
            </a:pPr>
            <a:r>
              <a:rPr lang="en-IN" sz="1100" dirty="0"/>
              <a:t>Changes to log capture and attribution requires extensive code changes</a:t>
            </a:r>
          </a:p>
        </p:txBody>
      </p:sp>
      <p:sp>
        <p:nvSpPr>
          <p:cNvPr id="11" name="TextBox 10">
            <a:extLst>
              <a:ext uri="{FF2B5EF4-FFF2-40B4-BE49-F238E27FC236}">
                <a16:creationId xmlns:a16="http://schemas.microsoft.com/office/drawing/2014/main" id="{D13BD439-57D8-4293-B138-3FA6BCA7342D}"/>
              </a:ext>
            </a:extLst>
          </p:cNvPr>
          <p:cNvSpPr txBox="1"/>
          <p:nvPr/>
        </p:nvSpPr>
        <p:spPr>
          <a:xfrm>
            <a:off x="2639037" y="757230"/>
            <a:ext cx="1814782" cy="276999"/>
          </a:xfrm>
          <a:prstGeom prst="rect">
            <a:avLst/>
          </a:prstGeom>
          <a:solidFill>
            <a:srgbClr val="0063C3"/>
          </a:solidFill>
        </p:spPr>
        <p:txBody>
          <a:bodyPr wrap="square" rtlCol="0">
            <a:spAutoFit/>
          </a:bodyPr>
          <a:lstStyle/>
          <a:p>
            <a:r>
              <a:rPr lang="en-IN" sz="1200" b="1" dirty="0">
                <a:solidFill>
                  <a:schemeClr val="bg1"/>
                </a:solidFill>
              </a:rPr>
              <a:t>Logging </a:t>
            </a:r>
          </a:p>
        </p:txBody>
      </p:sp>
      <p:pic>
        <p:nvPicPr>
          <p:cNvPr id="3" name="Picture 2" descr="A screenshot of a social media post&#10;&#10;Description generated with very high confidence">
            <a:extLst>
              <a:ext uri="{FF2B5EF4-FFF2-40B4-BE49-F238E27FC236}">
                <a16:creationId xmlns:a16="http://schemas.microsoft.com/office/drawing/2014/main" id="{19A6B3E7-A251-45E5-A134-94B6BD0A70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14" y="2417383"/>
            <a:ext cx="7500135" cy="2272612"/>
          </a:xfrm>
          <a:prstGeom prst="rect">
            <a:avLst/>
          </a:prstGeom>
          <a:ln>
            <a:solidFill>
              <a:schemeClr val="tx1"/>
            </a:solidFill>
          </a:ln>
        </p:spPr>
      </p:pic>
      <p:sp>
        <p:nvSpPr>
          <p:cNvPr id="6" name="Rectangle 5">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09629145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C6B98F2-34BC-4C7A-8010-93C9EBE454BC}"/>
              </a:ext>
            </a:extLst>
          </p:cNvPr>
          <p:cNvSpPr txBox="1">
            <a:spLocks/>
          </p:cNvSpPr>
          <p:nvPr/>
        </p:nvSpPr>
        <p:spPr>
          <a:xfrm>
            <a:off x="253009" y="232234"/>
            <a:ext cx="8416925" cy="400110"/>
          </a:xfrm>
          <a:prstGeom prst="rect">
            <a:avLst/>
          </a:prstGeom>
        </p:spPr>
        <p:txBody>
          <a:bodyPr vert="horz"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Findings from data loading: SECURITY</a:t>
            </a:r>
          </a:p>
        </p:txBody>
      </p:sp>
      <p:sp>
        <p:nvSpPr>
          <p:cNvPr id="10" name="TextBox 9">
            <a:extLst>
              <a:ext uri="{FF2B5EF4-FFF2-40B4-BE49-F238E27FC236}">
                <a16:creationId xmlns:a16="http://schemas.microsoft.com/office/drawing/2014/main" id="{2BF4CBA9-7AD3-4A71-8E04-182D2BDB8F02}"/>
              </a:ext>
            </a:extLst>
          </p:cNvPr>
          <p:cNvSpPr txBox="1"/>
          <p:nvPr/>
        </p:nvSpPr>
        <p:spPr>
          <a:xfrm>
            <a:off x="2639037" y="963893"/>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The folder containing secret keys and passwords are not encrypted </a:t>
            </a:r>
          </a:p>
          <a:p>
            <a:pPr marL="285750" indent="-285750">
              <a:buFont typeface="Arial" panose="020B0604020202020204" pitchFamily="34" charset="0"/>
              <a:buChar char="•"/>
            </a:pPr>
            <a:r>
              <a:rPr lang="en-IN" sz="1100" dirty="0"/>
              <a:t>The Connections details of all the users are exposed </a:t>
            </a:r>
          </a:p>
          <a:p>
            <a:pPr marL="285750" indent="-285750">
              <a:buFont typeface="Arial" panose="020B0604020202020204" pitchFamily="34" charset="0"/>
              <a:buChar char="•"/>
            </a:pPr>
            <a:r>
              <a:rPr lang="en-IN" sz="1100" dirty="0"/>
              <a:t>Security standards not adhered</a:t>
            </a:r>
          </a:p>
        </p:txBody>
      </p:sp>
      <p:sp>
        <p:nvSpPr>
          <p:cNvPr id="11" name="TextBox 10">
            <a:extLst>
              <a:ext uri="{FF2B5EF4-FFF2-40B4-BE49-F238E27FC236}">
                <a16:creationId xmlns:a16="http://schemas.microsoft.com/office/drawing/2014/main" id="{D13BD439-57D8-4293-B138-3FA6BCA7342D}"/>
              </a:ext>
            </a:extLst>
          </p:cNvPr>
          <p:cNvSpPr txBox="1"/>
          <p:nvPr/>
        </p:nvSpPr>
        <p:spPr>
          <a:xfrm>
            <a:off x="2639037" y="686894"/>
            <a:ext cx="1814782" cy="276999"/>
          </a:xfrm>
          <a:prstGeom prst="rect">
            <a:avLst/>
          </a:prstGeom>
          <a:solidFill>
            <a:srgbClr val="0063C3"/>
          </a:solidFill>
        </p:spPr>
        <p:txBody>
          <a:bodyPr wrap="square" rtlCol="0">
            <a:spAutoFit/>
          </a:bodyPr>
          <a:lstStyle/>
          <a:p>
            <a:r>
              <a:rPr lang="en-IN" sz="1200" b="1" dirty="0">
                <a:solidFill>
                  <a:schemeClr val="bg1"/>
                </a:solidFill>
              </a:rPr>
              <a:t>Security Issues</a:t>
            </a:r>
          </a:p>
        </p:txBody>
      </p:sp>
      <p:pic>
        <p:nvPicPr>
          <p:cNvPr id="7" name="Picture 6">
            <a:extLst>
              <a:ext uri="{FF2B5EF4-FFF2-40B4-BE49-F238E27FC236}">
                <a16:creationId xmlns:a16="http://schemas.microsoft.com/office/drawing/2014/main" id="{441B781D-7CCC-4C49-8AAB-1BEE418B2E03}"/>
              </a:ext>
            </a:extLst>
          </p:cNvPr>
          <p:cNvPicPr/>
          <p:nvPr/>
        </p:nvPicPr>
        <p:blipFill>
          <a:blip r:embed="rId3"/>
          <a:stretch>
            <a:fillRect/>
          </a:stretch>
        </p:blipFill>
        <p:spPr>
          <a:xfrm>
            <a:off x="1369003" y="1867001"/>
            <a:ext cx="5943600" cy="2971800"/>
          </a:xfrm>
          <a:prstGeom prst="rect">
            <a:avLst/>
          </a:prstGeom>
          <a:ln>
            <a:solidFill>
              <a:schemeClr val="tx1"/>
            </a:solidFill>
          </a:ln>
        </p:spPr>
      </p:pic>
      <p:sp>
        <p:nvSpPr>
          <p:cNvPr id="6" name="Rectangle 5">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63700807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C6B98F2-34BC-4C7A-8010-93C9EBE454BC}"/>
              </a:ext>
            </a:extLst>
          </p:cNvPr>
          <p:cNvSpPr txBox="1">
            <a:spLocks/>
          </p:cNvSpPr>
          <p:nvPr/>
        </p:nvSpPr>
        <p:spPr>
          <a:xfrm>
            <a:off x="253009" y="232234"/>
            <a:ext cx="7932025" cy="707886"/>
          </a:xfrm>
          <a:prstGeom prst="rect">
            <a:avLst/>
          </a:prstGeom>
        </p:spPr>
        <p:txBody>
          <a:bodyPr vert="horz" wrap="square"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Findings from data loading: Complexity due to multiple parameters</a:t>
            </a:r>
          </a:p>
        </p:txBody>
      </p:sp>
      <p:sp>
        <p:nvSpPr>
          <p:cNvPr id="4" name="TextBox 3">
            <a:extLst>
              <a:ext uri="{FF2B5EF4-FFF2-40B4-BE49-F238E27FC236}">
                <a16:creationId xmlns:a16="http://schemas.microsoft.com/office/drawing/2014/main" id="{EA7E4264-7AC8-4B0C-996E-1E9D21EA0770}"/>
              </a:ext>
            </a:extLst>
          </p:cNvPr>
          <p:cNvSpPr txBox="1"/>
          <p:nvPr/>
        </p:nvSpPr>
        <p:spPr>
          <a:xfrm>
            <a:off x="2842315" y="1079159"/>
            <a:ext cx="3643582" cy="93871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There are about 70 parameters which needs to be configured for every load</a:t>
            </a:r>
          </a:p>
          <a:p>
            <a:pPr marL="285750" indent="-285750">
              <a:buFont typeface="Arial" panose="020B0604020202020204" pitchFamily="34" charset="0"/>
              <a:buChar char="•"/>
            </a:pPr>
            <a:r>
              <a:rPr lang="en-IN" sz="1100" dirty="0"/>
              <a:t>These parameters are present across almost every step of the process</a:t>
            </a:r>
          </a:p>
          <a:p>
            <a:pPr marL="285750" indent="-285750">
              <a:buFont typeface="Arial" panose="020B0604020202020204" pitchFamily="34" charset="0"/>
              <a:buChar char="•"/>
            </a:pPr>
            <a:r>
              <a:rPr lang="en-IN" sz="1100" dirty="0"/>
              <a:t>This makes the process error prone</a:t>
            </a:r>
          </a:p>
        </p:txBody>
      </p:sp>
      <p:sp>
        <p:nvSpPr>
          <p:cNvPr id="6" name="TextBox 5">
            <a:extLst>
              <a:ext uri="{FF2B5EF4-FFF2-40B4-BE49-F238E27FC236}">
                <a16:creationId xmlns:a16="http://schemas.microsoft.com/office/drawing/2014/main" id="{5D435B49-E8DD-4D52-9516-C93B1AFB836E}"/>
              </a:ext>
            </a:extLst>
          </p:cNvPr>
          <p:cNvSpPr txBox="1"/>
          <p:nvPr/>
        </p:nvSpPr>
        <p:spPr>
          <a:xfrm>
            <a:off x="2842313" y="802160"/>
            <a:ext cx="2682608" cy="276999"/>
          </a:xfrm>
          <a:prstGeom prst="rect">
            <a:avLst/>
          </a:prstGeom>
          <a:solidFill>
            <a:srgbClr val="0063C3"/>
          </a:solidFill>
        </p:spPr>
        <p:txBody>
          <a:bodyPr wrap="square" rtlCol="0">
            <a:spAutoFit/>
          </a:bodyPr>
          <a:lstStyle/>
          <a:p>
            <a:r>
              <a:rPr lang="en-IN" sz="1200" b="1" dirty="0">
                <a:solidFill>
                  <a:schemeClr val="bg1"/>
                </a:solidFill>
              </a:rPr>
              <a:t>Too many parameters and layers</a:t>
            </a:r>
          </a:p>
        </p:txBody>
      </p:sp>
      <p:pic>
        <p:nvPicPr>
          <p:cNvPr id="3" name="Picture 2" descr="A screenshot of a social media post&#10;&#10;Description generated with very high confidence">
            <a:extLst>
              <a:ext uri="{FF2B5EF4-FFF2-40B4-BE49-F238E27FC236}">
                <a16:creationId xmlns:a16="http://schemas.microsoft.com/office/drawing/2014/main" id="{BEC97BA2-5FB4-47B9-91C6-C2A88199BE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5970" y="2170148"/>
            <a:ext cx="3749064" cy="1408830"/>
          </a:xfrm>
          <a:prstGeom prst="rect">
            <a:avLst/>
          </a:prstGeom>
          <a:ln>
            <a:solidFill>
              <a:schemeClr val="tx1"/>
            </a:solidFill>
          </a:ln>
        </p:spPr>
      </p:pic>
      <p:pic>
        <p:nvPicPr>
          <p:cNvPr id="24" name="Picture 23" descr="A screenshot of a social media post&#10;&#10;Description generated with very high confidence">
            <a:extLst>
              <a:ext uri="{FF2B5EF4-FFF2-40B4-BE49-F238E27FC236}">
                <a16:creationId xmlns:a16="http://schemas.microsoft.com/office/drawing/2014/main" id="{AE58BDEB-4BBF-4194-8DC9-26E47AD80D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473" y="2148617"/>
            <a:ext cx="3505118" cy="1408830"/>
          </a:xfrm>
          <a:prstGeom prst="rect">
            <a:avLst/>
          </a:prstGeom>
          <a:ln>
            <a:solidFill>
              <a:schemeClr val="tx1"/>
            </a:solidFill>
          </a:ln>
        </p:spPr>
      </p:pic>
      <p:pic>
        <p:nvPicPr>
          <p:cNvPr id="5" name="Picture 4" descr="A close up of a device&#10;&#10;Description generated with high confidence">
            <a:extLst>
              <a:ext uri="{FF2B5EF4-FFF2-40B4-BE49-F238E27FC236}">
                <a16:creationId xmlns:a16="http://schemas.microsoft.com/office/drawing/2014/main" id="{C0911644-564F-4994-9886-4D908C6BEE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069" y="3748794"/>
            <a:ext cx="8611802" cy="752580"/>
          </a:xfrm>
          <a:prstGeom prst="rect">
            <a:avLst/>
          </a:prstGeom>
        </p:spPr>
      </p:pic>
      <p:sp>
        <p:nvSpPr>
          <p:cNvPr id="8" name="Rectangle 7">
            <a:hlinkClick r:id="rId6"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88116650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C6B98F2-34BC-4C7A-8010-93C9EBE454BC}"/>
              </a:ext>
            </a:extLst>
          </p:cNvPr>
          <p:cNvSpPr txBox="1">
            <a:spLocks/>
          </p:cNvSpPr>
          <p:nvPr/>
        </p:nvSpPr>
        <p:spPr>
          <a:xfrm>
            <a:off x="253009" y="232234"/>
            <a:ext cx="8637982" cy="400110"/>
          </a:xfrm>
          <a:prstGeom prst="rect">
            <a:avLst/>
          </a:prstGeom>
        </p:spPr>
        <p:txBody>
          <a:bodyPr vert="horz" wrap="square" lIns="91440" tIns="45720" rIns="91440" bIns="45720" rtlCol="0" anchor="t" anchorCtr="0">
            <a:spAutoFit/>
          </a:bodyPr>
          <a:lstStyle>
            <a:lvl1pPr algn="l" defTabSz="285707" rtl="0" eaLnBrk="1" latinLnBrk="0" hangingPunct="1">
              <a:lnSpc>
                <a:spcPct val="100000"/>
              </a:lnSpc>
              <a:spcBef>
                <a:spcPct val="0"/>
              </a:spcBef>
              <a:buNone/>
              <a:defRPr sz="2600" b="1" kern="1200" cap="all" spc="0" baseline="0">
                <a:solidFill>
                  <a:schemeClr val="accent1"/>
                </a:solidFill>
                <a:latin typeface="Calibri" panose="020F0502020204030204" pitchFamily="34" charset="0"/>
                <a:ea typeface="+mj-ea"/>
                <a:cs typeface="+mj-cs"/>
              </a:defRPr>
            </a:lvl1pPr>
          </a:lstStyle>
          <a:p>
            <a:r>
              <a:rPr lang="en-IN" sz="2000" dirty="0"/>
              <a:t>Findings from data loading: </a:t>
            </a:r>
            <a:r>
              <a:rPr lang="en-IN" sz="2000" dirty="0" err="1"/>
              <a:t>ddl</a:t>
            </a:r>
            <a:r>
              <a:rPr lang="en-IN" sz="2000" dirty="0"/>
              <a:t> and </a:t>
            </a:r>
            <a:r>
              <a:rPr lang="en-IN" sz="2000" dirty="0" err="1"/>
              <a:t>sql</a:t>
            </a:r>
            <a:r>
              <a:rPr lang="en-IN" sz="2000" dirty="0"/>
              <a:t> implementation</a:t>
            </a:r>
          </a:p>
        </p:txBody>
      </p:sp>
      <p:sp>
        <p:nvSpPr>
          <p:cNvPr id="15" name="TextBox 14">
            <a:extLst>
              <a:ext uri="{FF2B5EF4-FFF2-40B4-BE49-F238E27FC236}">
                <a16:creationId xmlns:a16="http://schemas.microsoft.com/office/drawing/2014/main" id="{C6EDD22C-7D4D-4C0A-86CE-D7BAA70197AF}"/>
              </a:ext>
            </a:extLst>
          </p:cNvPr>
          <p:cNvSpPr txBox="1"/>
          <p:nvPr/>
        </p:nvSpPr>
        <p:spPr>
          <a:xfrm>
            <a:off x="3299375" y="909343"/>
            <a:ext cx="3643582" cy="1277273"/>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100" dirty="0"/>
              <a:t>Starting from organized layer, </a:t>
            </a:r>
            <a:r>
              <a:rPr lang="en-IN" sz="1100" dirty="0" err="1"/>
              <a:t>databricks</a:t>
            </a:r>
            <a:r>
              <a:rPr lang="en-IN" sz="1100" dirty="0"/>
              <a:t> tables have to be created before hand</a:t>
            </a:r>
          </a:p>
          <a:p>
            <a:pPr marL="285750" indent="-285750">
              <a:buFont typeface="Arial" panose="020B0604020202020204" pitchFamily="34" charset="0"/>
              <a:buChar char="•"/>
            </a:pPr>
            <a:r>
              <a:rPr lang="en-IN" sz="1100" dirty="0"/>
              <a:t>Creating the various tables at each layer manually adds to the complexity</a:t>
            </a:r>
          </a:p>
          <a:p>
            <a:pPr marL="285750" indent="-285750">
              <a:buFont typeface="Arial" panose="020B0604020202020204" pitchFamily="34" charset="0"/>
              <a:buChar char="•"/>
            </a:pPr>
            <a:r>
              <a:rPr lang="en-IN" sz="1100" dirty="0"/>
              <a:t>A separate Jenkins process is implemented for creation of this</a:t>
            </a:r>
          </a:p>
          <a:p>
            <a:pPr marL="285750" indent="-285750">
              <a:buFont typeface="Arial" panose="020B0604020202020204" pitchFamily="34" charset="0"/>
              <a:buChar char="•"/>
            </a:pPr>
            <a:r>
              <a:rPr lang="en-IN" sz="1100" dirty="0"/>
              <a:t>Heavy python wrappers for executing </a:t>
            </a:r>
            <a:r>
              <a:rPr lang="en-IN" sz="1100" dirty="0" err="1"/>
              <a:t>Sqls</a:t>
            </a:r>
            <a:endParaRPr lang="en-IN" sz="1100" dirty="0"/>
          </a:p>
        </p:txBody>
      </p:sp>
      <p:sp>
        <p:nvSpPr>
          <p:cNvPr id="16" name="TextBox 15">
            <a:extLst>
              <a:ext uri="{FF2B5EF4-FFF2-40B4-BE49-F238E27FC236}">
                <a16:creationId xmlns:a16="http://schemas.microsoft.com/office/drawing/2014/main" id="{8DD88480-DB9D-4EE0-ABD4-62954FEAEEE0}"/>
              </a:ext>
            </a:extLst>
          </p:cNvPr>
          <p:cNvSpPr txBox="1"/>
          <p:nvPr/>
        </p:nvSpPr>
        <p:spPr>
          <a:xfrm>
            <a:off x="3299374" y="632344"/>
            <a:ext cx="2957588" cy="276999"/>
          </a:xfrm>
          <a:prstGeom prst="rect">
            <a:avLst/>
          </a:prstGeom>
          <a:solidFill>
            <a:srgbClr val="0063C3"/>
          </a:solidFill>
        </p:spPr>
        <p:txBody>
          <a:bodyPr wrap="square" rtlCol="0">
            <a:spAutoFit/>
          </a:bodyPr>
          <a:lstStyle/>
          <a:p>
            <a:r>
              <a:rPr lang="en-IN" sz="1200" b="1" dirty="0">
                <a:solidFill>
                  <a:schemeClr val="bg1"/>
                </a:solidFill>
              </a:rPr>
              <a:t>Complex DDL and </a:t>
            </a:r>
            <a:r>
              <a:rPr lang="en-IN" sz="1200" b="1" dirty="0" err="1">
                <a:solidFill>
                  <a:schemeClr val="bg1"/>
                </a:solidFill>
              </a:rPr>
              <a:t>sql</a:t>
            </a:r>
            <a:r>
              <a:rPr lang="en-IN" sz="1200" b="1" dirty="0">
                <a:solidFill>
                  <a:schemeClr val="bg1"/>
                </a:solidFill>
              </a:rPr>
              <a:t> Implementation</a:t>
            </a:r>
          </a:p>
        </p:txBody>
      </p:sp>
      <p:pic>
        <p:nvPicPr>
          <p:cNvPr id="5" name="Picture 4" descr="A screenshot of a cell phone&#10;&#10;Description generated with very high confidence">
            <a:extLst>
              <a:ext uri="{FF2B5EF4-FFF2-40B4-BE49-F238E27FC236}">
                <a16:creationId xmlns:a16="http://schemas.microsoft.com/office/drawing/2014/main" id="{F730C28E-FB38-4DAF-8B2E-868746819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486" y="2416540"/>
            <a:ext cx="3901289" cy="2017338"/>
          </a:xfrm>
          <a:prstGeom prst="rect">
            <a:avLst/>
          </a:prstGeom>
          <a:ln>
            <a:solidFill>
              <a:schemeClr val="tx1"/>
            </a:solidFill>
          </a:ln>
        </p:spPr>
      </p:pic>
      <p:pic>
        <p:nvPicPr>
          <p:cNvPr id="8" name="Picture 7" descr="A screen shot of a computer&#10;&#10;Description generated with very high confidence">
            <a:extLst>
              <a:ext uri="{FF2B5EF4-FFF2-40B4-BE49-F238E27FC236}">
                <a16:creationId xmlns:a16="http://schemas.microsoft.com/office/drawing/2014/main" id="{38DE8AE0-60D5-4C14-B818-A0C5CBBFE0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2829" y="2416540"/>
            <a:ext cx="4428162" cy="2017338"/>
          </a:xfrm>
          <a:prstGeom prst="rect">
            <a:avLst/>
          </a:prstGeom>
          <a:ln>
            <a:solidFill>
              <a:schemeClr val="tx1"/>
            </a:solidFill>
          </a:ln>
        </p:spPr>
      </p:pic>
      <p:sp>
        <p:nvSpPr>
          <p:cNvPr id="7" name="Rectangle 6">
            <a:hlinkClick r:id="rId5"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228471849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2209070"/>
            <a:ext cx="8858250" cy="518091"/>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INFRASTRUCTURE</a:t>
            </a:r>
            <a:endParaRPr lang="en-IN" sz="2000" dirty="0">
              <a:solidFill>
                <a:schemeClr val="bg1"/>
              </a:solidFill>
              <a:latin typeface="Arial"/>
              <a:cs typeface="Arial"/>
            </a:endParaRPr>
          </a:p>
        </p:txBody>
      </p:sp>
    </p:spTree>
    <p:extLst>
      <p:ext uri="{BB962C8B-B14F-4D97-AF65-F5344CB8AC3E}">
        <p14:creationId xmlns:p14="http://schemas.microsoft.com/office/powerpoint/2010/main" val="1943795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COMPONENTS:PARTITIONING</a:t>
            </a:r>
          </a:p>
        </p:txBody>
      </p:sp>
      <p:pic>
        <p:nvPicPr>
          <p:cNvPr id="4" name="Picture 3" descr="A screenshot of a social media post&#10;&#10;Description generated with very high confidence">
            <a:extLst>
              <a:ext uri="{FF2B5EF4-FFF2-40B4-BE49-F238E27FC236}">
                <a16:creationId xmlns:a16="http://schemas.microsoft.com/office/drawing/2014/main" id="{7165B959-19E3-4EB0-9D32-91FEE1D17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63" y="1232110"/>
            <a:ext cx="3784215" cy="1754326"/>
          </a:xfrm>
          <a:prstGeom prst="rect">
            <a:avLst/>
          </a:prstGeom>
          <a:ln>
            <a:solidFill>
              <a:schemeClr val="tx1"/>
            </a:solidFill>
          </a:ln>
        </p:spPr>
      </p:pic>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015663"/>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Partition done only on batch id and file id</a:t>
            </a:r>
          </a:p>
          <a:p>
            <a:pPr marL="285750" indent="-285750">
              <a:buFont typeface="Arial" panose="020B0604020202020204" pitchFamily="34" charset="0"/>
              <a:buChar char="•"/>
            </a:pPr>
            <a:r>
              <a:rPr lang="en-IN" sz="1200" dirty="0"/>
              <a:t>Most of the batch ids have only one file id partition</a:t>
            </a:r>
          </a:p>
          <a:p>
            <a:pPr marL="285750" indent="-285750">
              <a:buFont typeface="Arial" panose="020B0604020202020204" pitchFamily="34" charset="0"/>
              <a:buChar char="•"/>
            </a:pPr>
            <a:r>
              <a:rPr lang="en-IN" sz="1200" dirty="0"/>
              <a:t>May not be very effective as it lacks subjective partitioning</a:t>
            </a:r>
          </a:p>
          <a:p>
            <a:pPr marL="285750" indent="-285750">
              <a:buFont typeface="Arial" panose="020B0604020202020204" pitchFamily="34" charset="0"/>
              <a:buChar char="•"/>
            </a:pPr>
            <a:r>
              <a:rPr lang="en-IN" sz="1200" dirty="0"/>
              <a:t>Query performance will suffer with increase in level of partitions and in many cases we find one to one mapping between the multiple levels</a:t>
            </a:r>
            <a:endParaRPr lang="en-IN" sz="1600" dirty="0"/>
          </a:p>
        </p:txBody>
      </p:sp>
      <p:pic>
        <p:nvPicPr>
          <p:cNvPr id="9" name="Picture 8" descr="A screenshot of a cell phone&#10;&#10;Description generated with very high confidence">
            <a:extLst>
              <a:ext uri="{FF2B5EF4-FFF2-40B4-BE49-F238E27FC236}">
                <a16:creationId xmlns:a16="http://schemas.microsoft.com/office/drawing/2014/main" id="{D2D01457-B534-4D9A-B5A5-4BB439DDA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4825" y="1232110"/>
            <a:ext cx="4498976" cy="1754326"/>
          </a:xfrm>
          <a:prstGeom prst="rect">
            <a:avLst/>
          </a:prstGeom>
          <a:ln>
            <a:solidFill>
              <a:schemeClr val="tx1"/>
            </a:solidFill>
          </a:ln>
        </p:spPr>
      </p:pic>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sp>
        <p:nvSpPr>
          <p:cNvPr id="13" name="Shape 148">
            <a:extLst>
              <a:ext uri="{FF2B5EF4-FFF2-40B4-BE49-F238E27FC236}">
                <a16:creationId xmlns:a16="http://schemas.microsoft.com/office/drawing/2014/main" id="{9A110FFE-1387-44A2-A27C-2F5E2403E513}"/>
              </a:ext>
            </a:extLst>
          </p:cNvPr>
          <p:cNvSpPr/>
          <p:nvPr/>
        </p:nvSpPr>
        <p:spPr>
          <a:xfrm>
            <a:off x="6250303" y="592551"/>
            <a:ext cx="897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S3 </a:t>
            </a:r>
            <a:r>
              <a:rPr lang="en-US" sz="675" kern="0" dirty="0">
                <a:solidFill>
                  <a:srgbClr val="FFFFFF"/>
                </a:solidFill>
                <a:latin typeface="Arial"/>
                <a:ea typeface="Arial"/>
                <a:cs typeface="Arial"/>
                <a:sym typeface="Arial"/>
              </a:rPr>
              <a:t>Structure</a:t>
            </a:r>
            <a:endParaRPr sz="525" kern="0" dirty="0">
              <a:solidFill>
                <a:srgbClr val="000000"/>
              </a:solidFill>
              <a:latin typeface="Arial"/>
              <a:cs typeface="Arial"/>
              <a:sym typeface="Arial"/>
            </a:endParaRPr>
          </a:p>
        </p:txBody>
      </p:sp>
      <p:sp>
        <p:nvSpPr>
          <p:cNvPr id="14" name="Shape 149">
            <a:extLst>
              <a:ext uri="{FF2B5EF4-FFF2-40B4-BE49-F238E27FC236}">
                <a16:creationId xmlns:a16="http://schemas.microsoft.com/office/drawing/2014/main" id="{BB05082C-0AA7-408D-BBE3-46AFCE624BDD}"/>
              </a:ext>
            </a:extLst>
          </p:cNvPr>
          <p:cNvSpPr/>
          <p:nvPr/>
        </p:nvSpPr>
        <p:spPr>
          <a:xfrm>
            <a:off x="7323101" y="602779"/>
            <a:ext cx="897413"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Partition  Implementation</a:t>
            </a:r>
            <a:endParaRPr sz="525" kern="0" dirty="0">
              <a:solidFill>
                <a:srgbClr val="000000"/>
              </a:solidFill>
              <a:latin typeface="Arial"/>
              <a:cs typeface="Arial"/>
              <a:sym typeface="Arial"/>
            </a:endParaRPr>
          </a:p>
        </p:txBody>
      </p:sp>
      <p:sp>
        <p:nvSpPr>
          <p:cNvPr id="11" name="Rectangle 10">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84591514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COMPONENTS:DATA QUALITY MANAGEMENT</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292662"/>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Syntax and Data quality checks exist between different layers</a:t>
            </a:r>
          </a:p>
          <a:p>
            <a:pPr marL="285750" indent="-285750">
              <a:buFont typeface="Arial" panose="020B0604020202020204" pitchFamily="34" charset="0"/>
              <a:buChar char="•"/>
            </a:pPr>
            <a:r>
              <a:rPr lang="en-IN" sz="1200" dirty="0"/>
              <a:t>A JSON file with specific rules for different data sources</a:t>
            </a:r>
          </a:p>
          <a:p>
            <a:pPr marL="285750" indent="-285750">
              <a:buFont typeface="Arial" panose="020B0604020202020204" pitchFamily="34" charset="0"/>
              <a:buChar char="•"/>
            </a:pPr>
            <a:r>
              <a:rPr lang="en-IN" sz="1200" dirty="0"/>
              <a:t>An excel based template is used as the source for these rules</a:t>
            </a:r>
          </a:p>
          <a:p>
            <a:pPr marL="285750" indent="-285750">
              <a:buFont typeface="Arial" panose="020B0604020202020204" pitchFamily="34" charset="0"/>
              <a:buChar char="•"/>
            </a:pPr>
            <a:r>
              <a:rPr lang="en-IN" sz="1200" dirty="0"/>
              <a:t>Maintaining and modifying these rules will be open to errors due to lack of security in using excel based templates</a:t>
            </a:r>
          </a:p>
          <a:p>
            <a:endParaRPr lang="en-IN"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4" name="Picture 3" descr="A screenshot of a social media post&#10;&#10;Description generated with very high confidence">
            <a:extLst>
              <a:ext uri="{FF2B5EF4-FFF2-40B4-BE49-F238E27FC236}">
                <a16:creationId xmlns:a16="http://schemas.microsoft.com/office/drawing/2014/main" id="{C75BED47-BF18-4CE1-B8FE-2DE2A067C2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538" y="918243"/>
            <a:ext cx="3800475" cy="1982120"/>
          </a:xfrm>
          <a:prstGeom prst="rect">
            <a:avLst/>
          </a:prstGeom>
          <a:ln>
            <a:solidFill>
              <a:schemeClr val="tx1"/>
            </a:solidFill>
          </a:ln>
        </p:spPr>
      </p:pic>
      <p:pic>
        <p:nvPicPr>
          <p:cNvPr id="9" name="Picture 8" descr="A screenshot of a social media post&#10;&#10;Description generated with very high confidence">
            <a:extLst>
              <a:ext uri="{FF2B5EF4-FFF2-40B4-BE49-F238E27FC236}">
                <a16:creationId xmlns:a16="http://schemas.microsoft.com/office/drawing/2014/main" id="{EDAE2547-E4C7-451F-8BDB-8EAF199097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918243"/>
            <a:ext cx="3934253" cy="1982120"/>
          </a:xfrm>
          <a:prstGeom prst="rect">
            <a:avLst/>
          </a:prstGeom>
          <a:ln>
            <a:solidFill>
              <a:schemeClr val="tx1"/>
            </a:solidFill>
          </a:ln>
        </p:spPr>
      </p:pic>
      <p:sp>
        <p:nvSpPr>
          <p:cNvPr id="13" name="Shape 159">
            <a:extLst>
              <a:ext uri="{FF2B5EF4-FFF2-40B4-BE49-F238E27FC236}">
                <a16:creationId xmlns:a16="http://schemas.microsoft.com/office/drawing/2014/main" id="{7CB43596-CEF7-437D-9BAD-8765EB7196B2}"/>
              </a:ext>
            </a:extLst>
          </p:cNvPr>
          <p:cNvSpPr/>
          <p:nvPr/>
        </p:nvSpPr>
        <p:spPr>
          <a:xfrm>
            <a:off x="7504386" y="533391"/>
            <a:ext cx="1001867" cy="31252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Info Quality Framework</a:t>
            </a:r>
            <a:endParaRPr sz="525" kern="0" dirty="0">
              <a:solidFill>
                <a:srgbClr val="000000"/>
              </a:solidFill>
              <a:latin typeface="Arial"/>
              <a:cs typeface="Arial"/>
              <a:sym typeface="Arial"/>
            </a:endParaRPr>
          </a:p>
        </p:txBody>
      </p:sp>
      <p:sp>
        <p:nvSpPr>
          <p:cNvPr id="8" name="Rectangle 7">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74711106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 ARCHIVAL</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64633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Data at staging layer is being archived</a:t>
            </a:r>
          </a:p>
          <a:p>
            <a:pPr marL="285750" indent="-285750">
              <a:buFont typeface="Arial" panose="020B0604020202020204" pitchFamily="34" charset="0"/>
              <a:buChar char="•"/>
            </a:pPr>
            <a:r>
              <a:rPr lang="en-IN" sz="1200" dirty="0"/>
              <a:t>The publish and integrate layers are business critical and  if there a load issue or </a:t>
            </a:r>
            <a:r>
              <a:rPr lang="en-IN" sz="1200" dirty="0" err="1"/>
              <a:t>dag</a:t>
            </a:r>
            <a:r>
              <a:rPr lang="en-IN" sz="1200" dirty="0"/>
              <a:t> issue, it may impact the business usage. Archival at these layers are not present</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8" name="Picture 7" descr="A picture containing screenshot&#10;&#10;Description generated with very high confidence">
            <a:extLst>
              <a:ext uri="{FF2B5EF4-FFF2-40B4-BE49-F238E27FC236}">
                <a16:creationId xmlns:a16="http://schemas.microsoft.com/office/drawing/2014/main" id="{00563D4D-F4CD-48EF-AE12-BEE1FE313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64" y="932607"/>
            <a:ext cx="4259536" cy="2003691"/>
          </a:xfrm>
          <a:prstGeom prst="rect">
            <a:avLst/>
          </a:prstGeom>
          <a:ln>
            <a:solidFill>
              <a:schemeClr val="tx1"/>
            </a:solidFill>
          </a:ln>
        </p:spPr>
      </p:pic>
      <p:pic>
        <p:nvPicPr>
          <p:cNvPr id="12" name="Picture 11" descr="A screenshot of a social media post&#10;&#10;Description generated with very high confidence">
            <a:extLst>
              <a:ext uri="{FF2B5EF4-FFF2-40B4-BE49-F238E27FC236}">
                <a16:creationId xmlns:a16="http://schemas.microsoft.com/office/drawing/2014/main" id="{B3A70794-AEDC-4161-B694-EE3DE68222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9761" y="932608"/>
            <a:ext cx="4041775" cy="2003691"/>
          </a:xfrm>
          <a:prstGeom prst="rect">
            <a:avLst/>
          </a:prstGeom>
          <a:ln>
            <a:solidFill>
              <a:schemeClr val="tx1"/>
            </a:solidFill>
          </a:ln>
        </p:spPr>
      </p:pic>
      <p:sp>
        <p:nvSpPr>
          <p:cNvPr id="13" name="Shape 154">
            <a:extLst>
              <a:ext uri="{FF2B5EF4-FFF2-40B4-BE49-F238E27FC236}">
                <a16:creationId xmlns:a16="http://schemas.microsoft.com/office/drawing/2014/main" id="{5D797666-314E-4056-9E6B-B6FA3064553B}"/>
              </a:ext>
            </a:extLst>
          </p:cNvPr>
          <p:cNvSpPr/>
          <p:nvPr/>
        </p:nvSpPr>
        <p:spPr>
          <a:xfrm>
            <a:off x="6810647" y="497897"/>
            <a:ext cx="1397932" cy="326035"/>
          </a:xfrm>
          <a:prstGeom prst="roundRect">
            <a:avLst>
              <a:gd name="adj" fmla="val 50000"/>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Archival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&amp; Clean up</a:t>
            </a:r>
            <a:endParaRPr sz="525" kern="0" dirty="0">
              <a:solidFill>
                <a:srgbClr val="000000"/>
              </a:solidFill>
              <a:latin typeface="Arial"/>
              <a:cs typeface="Arial"/>
              <a:sym typeface="Arial"/>
            </a:endParaRPr>
          </a:p>
        </p:txBody>
      </p:sp>
      <p:sp>
        <p:nvSpPr>
          <p:cNvPr id="9" name="Rectangle 8">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151797638"/>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COMPONENTS:ORCHESTRATION</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015663"/>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Dag and Sub </a:t>
            </a:r>
            <a:r>
              <a:rPr lang="en-IN" sz="1200" dirty="0" err="1"/>
              <a:t>dag</a:t>
            </a:r>
            <a:r>
              <a:rPr lang="en-IN" sz="1200" dirty="0"/>
              <a:t> templates exist for CDL and Services</a:t>
            </a:r>
          </a:p>
          <a:p>
            <a:pPr marL="285750" indent="-285750">
              <a:buFont typeface="Arial" panose="020B0604020202020204" pitchFamily="34" charset="0"/>
              <a:buChar char="•"/>
            </a:pPr>
            <a:r>
              <a:rPr lang="en-IN" sz="1200" dirty="0"/>
              <a:t>Multiple operators like branch, trigger, </a:t>
            </a:r>
            <a:r>
              <a:rPr lang="en-IN" sz="1200" dirty="0" err="1"/>
              <a:t>subdag</a:t>
            </a:r>
            <a:r>
              <a:rPr lang="en-IN" sz="1200" dirty="0"/>
              <a:t> operators are used</a:t>
            </a:r>
          </a:p>
          <a:p>
            <a:pPr marL="285750" indent="-285750">
              <a:buFont typeface="Arial" panose="020B0604020202020204" pitchFamily="34" charset="0"/>
              <a:buChar char="•"/>
            </a:pPr>
            <a:r>
              <a:rPr lang="en-IN" sz="1200" dirty="0"/>
              <a:t>Broken </a:t>
            </a:r>
            <a:r>
              <a:rPr lang="en-IN" sz="1200" dirty="0" err="1"/>
              <a:t>dags</a:t>
            </a:r>
            <a:r>
              <a:rPr lang="en-IN" sz="1200" dirty="0"/>
              <a:t> error seem to occur very often, this is because </a:t>
            </a:r>
            <a:r>
              <a:rPr lang="en-IN" sz="1200" dirty="0" err="1"/>
              <a:t>dags</a:t>
            </a:r>
            <a:r>
              <a:rPr lang="en-IN" sz="1200" dirty="0"/>
              <a:t> are dynamically assigned batch id and deployed. This is a non standard orchestration procedure</a:t>
            </a:r>
          </a:p>
          <a:p>
            <a:pPr marL="285750" indent="-285750">
              <a:buFont typeface="Arial" panose="020B0604020202020204" pitchFamily="34" charset="0"/>
              <a:buChar char="•"/>
            </a:pPr>
            <a:r>
              <a:rPr lang="en-IN" sz="1200" dirty="0"/>
              <a:t>Dag and ETL logic are tightly linked making it difficult to move to a different orchestrator is needed. </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screenshot of a social media post&#10;&#10;Description generated with very high confidence">
            <a:extLst>
              <a:ext uri="{FF2B5EF4-FFF2-40B4-BE49-F238E27FC236}">
                <a16:creationId xmlns:a16="http://schemas.microsoft.com/office/drawing/2014/main" id="{9C7C467D-01B0-4C06-B60A-ADD0995E0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54" y="1063081"/>
            <a:ext cx="2720974" cy="1856765"/>
          </a:xfrm>
          <a:prstGeom prst="rect">
            <a:avLst/>
          </a:prstGeom>
          <a:solidFill>
            <a:schemeClr val="lt1"/>
          </a:solidFill>
          <a:ln>
            <a:solidFill>
              <a:schemeClr val="tx1"/>
            </a:solidFill>
          </a:ln>
        </p:spPr>
      </p:pic>
      <p:pic>
        <p:nvPicPr>
          <p:cNvPr id="12" name="Picture 11" descr="A screenshot of a social media post&#10;&#10;Description generated with very high confidence">
            <a:extLst>
              <a:ext uri="{FF2B5EF4-FFF2-40B4-BE49-F238E27FC236}">
                <a16:creationId xmlns:a16="http://schemas.microsoft.com/office/drawing/2014/main" id="{BFDA8B3F-122C-46B1-998D-FC3C0248BF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991" y="1063080"/>
            <a:ext cx="2899569" cy="1878365"/>
          </a:xfrm>
          <a:prstGeom prst="rect">
            <a:avLst/>
          </a:prstGeom>
          <a:ln>
            <a:solidFill>
              <a:schemeClr val="tx1"/>
            </a:solidFill>
          </a:ln>
        </p:spPr>
      </p:pic>
      <p:sp>
        <p:nvSpPr>
          <p:cNvPr id="13" name="Shape 150">
            <a:extLst>
              <a:ext uri="{FF2B5EF4-FFF2-40B4-BE49-F238E27FC236}">
                <a16:creationId xmlns:a16="http://schemas.microsoft.com/office/drawing/2014/main" id="{F9FDBC8C-7491-4C82-A9D5-43215DC479CD}"/>
              </a:ext>
            </a:extLst>
          </p:cNvPr>
          <p:cNvSpPr/>
          <p:nvPr/>
        </p:nvSpPr>
        <p:spPr>
          <a:xfrm>
            <a:off x="7228114" y="594634"/>
            <a:ext cx="1219199" cy="337974"/>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Orchestration</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Integration</a:t>
            </a:r>
            <a:endParaRPr sz="525" kern="0" dirty="0">
              <a:solidFill>
                <a:srgbClr val="000000"/>
              </a:solidFill>
              <a:latin typeface="Arial"/>
              <a:cs typeface="Arial"/>
              <a:sym typeface="Arial"/>
            </a:endParaRPr>
          </a:p>
        </p:txBody>
      </p:sp>
      <p:pic>
        <p:nvPicPr>
          <p:cNvPr id="4" name="Picture 3" descr="A screenshot of a cell phone&#10;&#10;Description generated with high confidence">
            <a:extLst>
              <a:ext uri="{FF2B5EF4-FFF2-40B4-BE49-F238E27FC236}">
                <a16:creationId xmlns:a16="http://schemas.microsoft.com/office/drawing/2014/main" id="{02D22FDA-B7B2-4090-AB2B-A7A97E77AF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71010" y="1063080"/>
            <a:ext cx="3058553" cy="1878365"/>
          </a:xfrm>
          <a:prstGeom prst="rect">
            <a:avLst/>
          </a:prstGeom>
          <a:ln>
            <a:solidFill>
              <a:schemeClr val="tx1"/>
            </a:solidFill>
          </a:ln>
        </p:spPr>
      </p:pic>
      <p:sp>
        <p:nvSpPr>
          <p:cNvPr id="9" name="Rectangle 8">
            <a:hlinkClick r:id="rId5"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84530780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 METADATA MANAGEMENT</a:t>
            </a:r>
          </a:p>
        </p:txBody>
      </p:sp>
      <p:sp>
        <p:nvSpPr>
          <p:cNvPr id="7" name="TextBox 6">
            <a:extLst>
              <a:ext uri="{FF2B5EF4-FFF2-40B4-BE49-F238E27FC236}">
                <a16:creationId xmlns:a16="http://schemas.microsoft.com/office/drawing/2014/main" id="{8F959FAB-75DB-4952-8485-5EAE80884F64}"/>
              </a:ext>
            </a:extLst>
          </p:cNvPr>
          <p:cNvSpPr txBox="1"/>
          <p:nvPr/>
        </p:nvSpPr>
        <p:spPr>
          <a:xfrm>
            <a:off x="496888" y="3445274"/>
            <a:ext cx="7372350" cy="1015663"/>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JSON files are used </a:t>
            </a:r>
          </a:p>
          <a:p>
            <a:pPr marL="285750" indent="-285750">
              <a:buFont typeface="Arial" panose="020B0604020202020204" pitchFamily="34" charset="0"/>
              <a:buChar char="•"/>
            </a:pPr>
            <a:r>
              <a:rPr lang="en-IN" sz="1200" dirty="0"/>
              <a:t>Maintaining and Modification is difficult</a:t>
            </a:r>
          </a:p>
          <a:p>
            <a:pPr marL="285750" indent="-285750">
              <a:buFont typeface="Arial" panose="020B0604020202020204" pitchFamily="34" charset="0"/>
              <a:buChar char="•"/>
            </a:pPr>
            <a:r>
              <a:rPr lang="en-IN" sz="1200" dirty="0"/>
              <a:t>NoSQL based metadata management would be more robust and manageable compared to having parameters in the file</a:t>
            </a:r>
          </a:p>
          <a:p>
            <a:endParaRPr lang="en-IN" sz="12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close up of a logo&#10;&#10;Description generated with high confidence">
            <a:extLst>
              <a:ext uri="{FF2B5EF4-FFF2-40B4-BE49-F238E27FC236}">
                <a16:creationId xmlns:a16="http://schemas.microsoft.com/office/drawing/2014/main" id="{0A9D0BAF-3A86-4F42-9FA5-94B1D8DDF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9420" y="1000591"/>
            <a:ext cx="4308202" cy="1895740"/>
          </a:xfrm>
          <a:prstGeom prst="rect">
            <a:avLst/>
          </a:prstGeom>
          <a:ln>
            <a:solidFill>
              <a:schemeClr val="tx1"/>
            </a:solidFill>
          </a:ln>
        </p:spPr>
      </p:pic>
      <p:sp>
        <p:nvSpPr>
          <p:cNvPr id="8" name="Shape 155">
            <a:extLst>
              <a:ext uri="{FF2B5EF4-FFF2-40B4-BE49-F238E27FC236}">
                <a16:creationId xmlns:a16="http://schemas.microsoft.com/office/drawing/2014/main" id="{AA73DF22-E321-41F9-A226-34C67E3A583E}"/>
              </a:ext>
            </a:extLst>
          </p:cNvPr>
          <p:cNvSpPr/>
          <p:nvPr/>
        </p:nvSpPr>
        <p:spPr>
          <a:xfrm>
            <a:off x="7286171" y="554920"/>
            <a:ext cx="1196735" cy="299797"/>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Metadata </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Management</a:t>
            </a:r>
            <a:endParaRPr sz="525" kern="0" dirty="0">
              <a:solidFill>
                <a:srgbClr val="000000"/>
              </a:solidFill>
              <a:latin typeface="Arial"/>
              <a:cs typeface="Arial"/>
              <a:sym typeface="Arial"/>
            </a:endParaRPr>
          </a:p>
        </p:txBody>
      </p:sp>
      <p:sp>
        <p:nvSpPr>
          <p:cNvPr id="9" name="Rectangle 8">
            <a:hlinkClick r:id="rId3"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48400415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 LOGGING</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107996"/>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3 types of logging: Airflow log, </a:t>
            </a:r>
            <a:r>
              <a:rPr lang="en-IN" sz="1200" dirty="0" err="1"/>
              <a:t>databricks</a:t>
            </a:r>
            <a:r>
              <a:rPr lang="en-IN" sz="1200" dirty="0"/>
              <a:t> log for spark jobs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a:p>
            <a:endParaRPr lang="en-IN" sz="14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4" name="Picture 3" descr="A screenshot of a social media post&#10;&#10;Description generated with very high confidence">
            <a:extLst>
              <a:ext uri="{FF2B5EF4-FFF2-40B4-BE49-F238E27FC236}">
                <a16:creationId xmlns:a16="http://schemas.microsoft.com/office/drawing/2014/main" id="{0F4AB30B-183C-4769-A422-8C5556F19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97" y="1140092"/>
            <a:ext cx="3304071" cy="1789920"/>
          </a:xfrm>
          <a:prstGeom prst="rect">
            <a:avLst/>
          </a:prstGeom>
          <a:ln>
            <a:solidFill>
              <a:schemeClr val="tx1"/>
            </a:solidFill>
          </a:ln>
        </p:spPr>
      </p:pic>
      <p:sp>
        <p:nvSpPr>
          <p:cNvPr id="11" name="Shape 158">
            <a:extLst>
              <a:ext uri="{FF2B5EF4-FFF2-40B4-BE49-F238E27FC236}">
                <a16:creationId xmlns:a16="http://schemas.microsoft.com/office/drawing/2014/main" id="{110ECD59-CA0C-419C-91AF-266D2E81D051}"/>
              </a:ext>
            </a:extLst>
          </p:cNvPr>
          <p:cNvSpPr/>
          <p:nvPr/>
        </p:nvSpPr>
        <p:spPr>
          <a:xfrm>
            <a:off x="6925372" y="459946"/>
            <a:ext cx="1130057" cy="414563"/>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Error/Log</a:t>
            </a:r>
            <a:endParaRPr sz="525" kern="0" dirty="0">
              <a:solidFill>
                <a:srgbClr val="000000"/>
              </a:solidFill>
              <a:latin typeface="Arial"/>
              <a:cs typeface="Arial"/>
              <a:sym typeface="Arial"/>
            </a:endParaRPr>
          </a:p>
          <a:p>
            <a:pPr algn="ctr" defTabSz="342900">
              <a:buClr>
                <a:srgbClr val="FFFFFF"/>
              </a:buClr>
              <a:buSzPts val="1800"/>
            </a:pPr>
            <a:r>
              <a:rPr lang="en-US" sz="675" kern="0" dirty="0">
                <a:solidFill>
                  <a:srgbClr val="FFFFFF"/>
                </a:solidFill>
                <a:latin typeface="Arial"/>
                <a:ea typeface="Arial"/>
                <a:cs typeface="Arial"/>
                <a:sym typeface="Arial"/>
              </a:rPr>
              <a:t>Framework</a:t>
            </a:r>
            <a:endParaRPr sz="525" kern="0" dirty="0">
              <a:solidFill>
                <a:srgbClr val="000000"/>
              </a:solidFill>
              <a:latin typeface="Arial"/>
              <a:cs typeface="Arial"/>
              <a:sym typeface="Arial"/>
            </a:endParaRPr>
          </a:p>
        </p:txBody>
      </p:sp>
      <p:pic>
        <p:nvPicPr>
          <p:cNvPr id="5" name="Picture 4" descr="A screenshot of a social media post&#10;&#10;Description generated with very high confidence">
            <a:extLst>
              <a:ext uri="{FF2B5EF4-FFF2-40B4-BE49-F238E27FC236}">
                <a16:creationId xmlns:a16="http://schemas.microsoft.com/office/drawing/2014/main" id="{2B8ACE54-1868-48AF-B0D7-651DA1E6ED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1773" y="1140092"/>
            <a:ext cx="3468415" cy="1789921"/>
          </a:xfrm>
          <a:prstGeom prst="rect">
            <a:avLst/>
          </a:prstGeom>
          <a:noFill/>
          <a:ln>
            <a:solidFill>
              <a:schemeClr val="tx1"/>
            </a:solidFill>
          </a:ln>
        </p:spPr>
      </p:pic>
      <p:sp>
        <p:nvSpPr>
          <p:cNvPr id="8" name="Rectangle 7">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78268959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 HIGH AVAILABILITY</a:t>
            </a:r>
          </a:p>
        </p:txBody>
      </p:sp>
      <p:sp>
        <p:nvSpPr>
          <p:cNvPr id="7" name="TextBox 6">
            <a:extLst>
              <a:ext uri="{FF2B5EF4-FFF2-40B4-BE49-F238E27FC236}">
                <a16:creationId xmlns:a16="http://schemas.microsoft.com/office/drawing/2014/main" id="{8F959FAB-75DB-4952-8485-5EAE80884F64}"/>
              </a:ext>
            </a:extLst>
          </p:cNvPr>
          <p:cNvSpPr txBox="1"/>
          <p:nvPr/>
        </p:nvSpPr>
        <p:spPr>
          <a:xfrm>
            <a:off x="598488" y="3343670"/>
            <a:ext cx="7372350" cy="120032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No high availability service was observed</a:t>
            </a:r>
          </a:p>
          <a:p>
            <a:pPr marL="285750" indent="-285750">
              <a:buFont typeface="Arial" panose="020B0604020202020204" pitchFamily="34" charset="0"/>
              <a:buChar char="•"/>
            </a:pPr>
            <a:r>
              <a:rPr lang="en-IN" sz="1200" dirty="0"/>
              <a:t>Celery executor is used in orchestration with 2 workers</a:t>
            </a:r>
          </a:p>
          <a:p>
            <a:pPr marL="285750" indent="-285750">
              <a:buFont typeface="Arial" panose="020B0604020202020204" pitchFamily="34" charset="0"/>
              <a:buChar char="•"/>
            </a:pPr>
            <a:r>
              <a:rPr lang="en-IN" sz="1200" dirty="0"/>
              <a:t>Containerization has not been implemented </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endParaRPr lang="en-IN" sz="12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579438" y="305040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8" name="Picture 7" descr="A screenshot of a cell phone&#10;&#10;Description generated with very high confidence">
            <a:extLst>
              <a:ext uri="{FF2B5EF4-FFF2-40B4-BE49-F238E27FC236}">
                <a16:creationId xmlns:a16="http://schemas.microsoft.com/office/drawing/2014/main" id="{597DE26F-0BBE-43DA-AAC4-59A13F09F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715" y="953681"/>
            <a:ext cx="5892800" cy="1869621"/>
          </a:xfrm>
          <a:prstGeom prst="rect">
            <a:avLst/>
          </a:prstGeom>
          <a:ln>
            <a:solidFill>
              <a:schemeClr val="tx1"/>
            </a:solidFill>
          </a:ln>
        </p:spPr>
      </p:pic>
      <p:sp>
        <p:nvSpPr>
          <p:cNvPr id="11" name="Shape 152">
            <a:extLst>
              <a:ext uri="{FF2B5EF4-FFF2-40B4-BE49-F238E27FC236}">
                <a16:creationId xmlns:a16="http://schemas.microsoft.com/office/drawing/2014/main" id="{E12602C0-906D-4DFF-80BD-56B6C341A5E7}"/>
              </a:ext>
            </a:extLst>
          </p:cNvPr>
          <p:cNvSpPr/>
          <p:nvPr/>
        </p:nvSpPr>
        <p:spPr>
          <a:xfrm>
            <a:off x="7185250" y="467466"/>
            <a:ext cx="1262064" cy="415463"/>
          </a:xfrm>
          <a:prstGeom prst="roundRect">
            <a:avLst>
              <a:gd name="adj" fmla="val 50000"/>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High Availability</a:t>
            </a:r>
            <a:endParaRPr sz="525" kern="0" dirty="0">
              <a:solidFill>
                <a:srgbClr val="000000"/>
              </a:solidFill>
              <a:latin typeface="Arial"/>
              <a:cs typeface="Arial"/>
              <a:sym typeface="Arial"/>
            </a:endParaRPr>
          </a:p>
        </p:txBody>
      </p:sp>
      <p:sp>
        <p:nvSpPr>
          <p:cNvPr id="9" name="Rectangle 8">
            <a:hlinkClick r:id="rId3"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32675251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INFRASTRUCTURE COMPONENTS: COMPRESSION TECHNIQUES</a:t>
            </a:r>
          </a:p>
        </p:txBody>
      </p:sp>
      <p:sp>
        <p:nvSpPr>
          <p:cNvPr id="7" name="TextBox 6">
            <a:extLst>
              <a:ext uri="{FF2B5EF4-FFF2-40B4-BE49-F238E27FC236}">
                <a16:creationId xmlns:a16="http://schemas.microsoft.com/office/drawing/2014/main" id="{8F959FAB-75DB-4952-8485-5EAE80884F64}"/>
              </a:ext>
            </a:extLst>
          </p:cNvPr>
          <p:cNvSpPr txBox="1"/>
          <p:nvPr/>
        </p:nvSpPr>
        <p:spPr>
          <a:xfrm>
            <a:off x="598488" y="3343670"/>
            <a:ext cx="7372350" cy="1200329"/>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200" dirty="0"/>
              <a:t>Gzip compression is used</a:t>
            </a:r>
          </a:p>
          <a:p>
            <a:pPr marL="285750" indent="-285750">
              <a:buFont typeface="Arial" panose="020B0604020202020204" pitchFamily="34" charset="0"/>
              <a:buChar char="•"/>
            </a:pPr>
            <a:r>
              <a:rPr lang="en-IN" sz="1200" dirty="0"/>
              <a:t>Compression techniques should ideally depend on the need, </a:t>
            </a:r>
            <a:r>
              <a:rPr lang="en-IN" sz="1200" dirty="0" err="1"/>
              <a:t>i.e</a:t>
            </a:r>
            <a:r>
              <a:rPr lang="en-IN" sz="1200" dirty="0"/>
              <a:t>, space or performance optimization. But the same method has been used everywhere</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endParaRPr lang="en-IN" sz="12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579438" y="305040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sp>
        <p:nvSpPr>
          <p:cNvPr id="11" name="Shape 152">
            <a:extLst>
              <a:ext uri="{FF2B5EF4-FFF2-40B4-BE49-F238E27FC236}">
                <a16:creationId xmlns:a16="http://schemas.microsoft.com/office/drawing/2014/main" id="{E12602C0-906D-4DFF-80BD-56B6C341A5E7}"/>
              </a:ext>
            </a:extLst>
          </p:cNvPr>
          <p:cNvSpPr/>
          <p:nvPr/>
        </p:nvSpPr>
        <p:spPr>
          <a:xfrm>
            <a:off x="7339806" y="497897"/>
            <a:ext cx="1262064" cy="341488"/>
          </a:xfrm>
          <a:prstGeom prst="roundRect">
            <a:avLst>
              <a:gd name="adj" fmla="val 50000"/>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cs typeface="Arial"/>
                <a:sym typeface="Arial"/>
              </a:rPr>
              <a:t>Compression</a:t>
            </a:r>
            <a:endParaRPr sz="525" kern="0" dirty="0">
              <a:solidFill>
                <a:srgbClr val="000000"/>
              </a:solidFill>
              <a:latin typeface="Arial"/>
              <a:cs typeface="Arial"/>
              <a:sym typeface="Arial"/>
            </a:endParaRPr>
          </a:p>
        </p:txBody>
      </p:sp>
      <p:pic>
        <p:nvPicPr>
          <p:cNvPr id="4" name="Picture 3" descr="A screenshot of a cell phone&#10;&#10;Description generated with very high confidence">
            <a:extLst>
              <a:ext uri="{FF2B5EF4-FFF2-40B4-BE49-F238E27FC236}">
                <a16:creationId xmlns:a16="http://schemas.microsoft.com/office/drawing/2014/main" id="{232B714A-A3D0-4B1B-A210-19541276D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309" y="1032628"/>
            <a:ext cx="6944707" cy="1917759"/>
          </a:xfrm>
          <a:prstGeom prst="rect">
            <a:avLst/>
          </a:prstGeom>
          <a:ln>
            <a:solidFill>
              <a:schemeClr val="tx1"/>
            </a:solidFill>
          </a:ln>
        </p:spPr>
      </p:pic>
      <p:sp>
        <p:nvSpPr>
          <p:cNvPr id="8" name="Rectangle 7">
            <a:hlinkClick r:id="rId3"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40686322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a:xfrm>
            <a:off x="363538" y="532539"/>
            <a:ext cx="8416925" cy="400069"/>
          </a:xfrm>
        </p:spPr>
        <p:txBody>
          <a:bodyPr/>
          <a:lstStyle/>
          <a:p>
            <a:r>
              <a:rPr lang="en-IN" sz="2000" dirty="0"/>
              <a:t>INFRASTRUCTURE COMPONENTS: SECURITY </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523220"/>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No key management system implemented</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sp>
        <p:nvSpPr>
          <p:cNvPr id="5" name="Rectangle 4">
            <a:hlinkClick r:id="rId2"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35526910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a:xfrm>
            <a:off x="363538" y="532539"/>
            <a:ext cx="8416925" cy="400069"/>
          </a:xfrm>
        </p:spPr>
        <p:txBody>
          <a:bodyPr/>
          <a:lstStyle/>
          <a:p>
            <a:r>
              <a:rPr lang="en-IN" sz="2000" dirty="0"/>
              <a:t>INFRASTRUCTURE COMPONENTS: CI/CD</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523220"/>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Resonates with industry standards</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screenshot of a cell phone&#10;&#10;Description generated with very high confidence">
            <a:extLst>
              <a:ext uri="{FF2B5EF4-FFF2-40B4-BE49-F238E27FC236}">
                <a16:creationId xmlns:a16="http://schemas.microsoft.com/office/drawing/2014/main" id="{E7FD4FDF-0DE6-444E-8C77-F91B8A5C44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5998" y="1115723"/>
            <a:ext cx="3917373" cy="1530883"/>
          </a:xfrm>
          <a:prstGeom prst="rect">
            <a:avLst/>
          </a:prstGeom>
        </p:spPr>
      </p:pic>
      <p:sp>
        <p:nvSpPr>
          <p:cNvPr id="8" name="Shape 157">
            <a:extLst>
              <a:ext uri="{FF2B5EF4-FFF2-40B4-BE49-F238E27FC236}">
                <a16:creationId xmlns:a16="http://schemas.microsoft.com/office/drawing/2014/main" id="{215DE0E3-BE81-4522-B63C-7FD06F67A984}"/>
              </a:ext>
            </a:extLst>
          </p:cNvPr>
          <p:cNvSpPr/>
          <p:nvPr/>
        </p:nvSpPr>
        <p:spPr>
          <a:xfrm>
            <a:off x="7850188" y="592382"/>
            <a:ext cx="774267" cy="329175"/>
          </a:xfrm>
          <a:prstGeom prst="roundRect">
            <a:avLst>
              <a:gd name="adj" fmla="val 16667"/>
            </a:avLst>
          </a:prstGeom>
          <a:solidFill>
            <a:srgbClr val="984807"/>
          </a:solidFill>
          <a:ln w="25400"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FFFFFF"/>
              </a:buClr>
              <a:buSzPts val="1800"/>
            </a:pPr>
            <a:r>
              <a:rPr lang="en-US" sz="675" kern="0" dirty="0">
                <a:solidFill>
                  <a:srgbClr val="FFFFFF"/>
                </a:solidFill>
                <a:latin typeface="Arial"/>
                <a:ea typeface="Arial"/>
                <a:cs typeface="Arial"/>
                <a:sym typeface="Arial"/>
              </a:rPr>
              <a:t>Continuous Dev</a:t>
            </a:r>
            <a:endParaRPr sz="675" kern="0" dirty="0">
              <a:solidFill>
                <a:srgbClr val="FFFFFF"/>
              </a:solidFill>
              <a:latin typeface="Arial"/>
              <a:ea typeface="Arial"/>
              <a:cs typeface="Arial"/>
              <a:sym typeface="Arial"/>
            </a:endParaRPr>
          </a:p>
        </p:txBody>
      </p:sp>
      <p:sp>
        <p:nvSpPr>
          <p:cNvPr id="9" name="Rectangle 8">
            <a:hlinkClick r:id="rId3"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79628765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2209070"/>
            <a:ext cx="8858250" cy="518091"/>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RAW LAYER</a:t>
            </a:r>
            <a:endParaRPr lang="en-IN" sz="2000" dirty="0">
              <a:solidFill>
                <a:schemeClr val="bg1"/>
              </a:solidFill>
              <a:latin typeface="Arial"/>
              <a:cs typeface="Arial"/>
            </a:endParaRPr>
          </a:p>
        </p:txBody>
      </p:sp>
    </p:spTree>
    <p:extLst>
      <p:ext uri="{BB962C8B-B14F-4D97-AF65-F5344CB8AC3E}">
        <p14:creationId xmlns:p14="http://schemas.microsoft.com/office/powerpoint/2010/main" val="881474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RAW LAYER</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16955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400" dirty="0"/>
              <a:t>Landing, Staging and Current layer are present</a:t>
            </a:r>
          </a:p>
          <a:p>
            <a:pPr marL="285750" indent="-285750">
              <a:buFont typeface="Arial" panose="020B0604020202020204" pitchFamily="34" charset="0"/>
              <a:buChar char="•"/>
            </a:pPr>
            <a:r>
              <a:rPr lang="en-IN" sz="1400" dirty="0"/>
              <a:t>Landing and Staging Layer are partitioned by time period (year, month)</a:t>
            </a:r>
          </a:p>
          <a:p>
            <a:pPr marL="285750" indent="-285750">
              <a:buFont typeface="Arial" panose="020B0604020202020204" pitchFamily="34" charset="0"/>
              <a:buChar char="•"/>
            </a:pPr>
            <a:r>
              <a:rPr lang="en-IN" sz="1400" dirty="0"/>
              <a:t>Source and destination column names are hard coded while renaming which is not optimal</a:t>
            </a:r>
          </a:p>
          <a:p>
            <a:pPr marL="285750" indent="-285750">
              <a:buFont typeface="Arial" panose="020B0604020202020204" pitchFamily="34" charset="0"/>
              <a:buChar char="•"/>
            </a:pPr>
            <a:r>
              <a:rPr lang="en-IN" sz="1400" dirty="0"/>
              <a:t>Methods for raw data merge was not observed</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screenshot of text&#10;&#10;Description generated with very high confidence">
            <a:extLst>
              <a:ext uri="{FF2B5EF4-FFF2-40B4-BE49-F238E27FC236}">
                <a16:creationId xmlns:a16="http://schemas.microsoft.com/office/drawing/2014/main" id="{CEA354E0-4755-4772-AC1E-E7FEE20E8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337" y="1226345"/>
            <a:ext cx="3800121" cy="1735064"/>
          </a:xfrm>
          <a:prstGeom prst="rect">
            <a:avLst/>
          </a:prstGeom>
          <a:noFill/>
          <a:ln>
            <a:solidFill>
              <a:schemeClr val="tx1"/>
            </a:solidFill>
          </a:ln>
        </p:spPr>
      </p:pic>
      <p:pic>
        <p:nvPicPr>
          <p:cNvPr id="8" name="Picture 7" descr="A screenshot of a cell phone&#10;&#10;Description generated with high confidence">
            <a:extLst>
              <a:ext uri="{FF2B5EF4-FFF2-40B4-BE49-F238E27FC236}">
                <a16:creationId xmlns:a16="http://schemas.microsoft.com/office/drawing/2014/main" id="{1942A220-2921-4043-BBCC-E59E078C1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3544" y="1240385"/>
            <a:ext cx="3586163" cy="1897112"/>
          </a:xfrm>
          <a:prstGeom prst="rect">
            <a:avLst/>
          </a:prstGeom>
          <a:ln>
            <a:solidFill>
              <a:schemeClr val="tx1"/>
            </a:solidFill>
          </a:ln>
        </p:spPr>
      </p:pic>
      <p:sp>
        <p:nvSpPr>
          <p:cNvPr id="9" name="Shape 168">
            <a:extLst>
              <a:ext uri="{FF2B5EF4-FFF2-40B4-BE49-F238E27FC236}">
                <a16:creationId xmlns:a16="http://schemas.microsoft.com/office/drawing/2014/main" id="{87DA4605-675F-4C16-8036-26429165998B}"/>
              </a:ext>
            </a:extLst>
          </p:cNvPr>
          <p:cNvSpPr/>
          <p:nvPr/>
        </p:nvSpPr>
        <p:spPr>
          <a:xfrm>
            <a:off x="6591774" y="568347"/>
            <a:ext cx="950912" cy="301047"/>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Define Filter and Column</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ea typeface="Arial"/>
                <a:cs typeface="Arial"/>
                <a:sym typeface="Arial"/>
              </a:rPr>
              <a:t>Transformation</a:t>
            </a:r>
            <a:endParaRPr sz="525" kern="0" dirty="0">
              <a:solidFill>
                <a:srgbClr val="000000"/>
              </a:solidFill>
              <a:latin typeface="Arial"/>
              <a:cs typeface="Arial"/>
              <a:sym typeface="Arial"/>
            </a:endParaRPr>
          </a:p>
        </p:txBody>
      </p:sp>
      <p:sp>
        <p:nvSpPr>
          <p:cNvPr id="11" name="Shape 171">
            <a:extLst>
              <a:ext uri="{FF2B5EF4-FFF2-40B4-BE49-F238E27FC236}">
                <a16:creationId xmlns:a16="http://schemas.microsoft.com/office/drawing/2014/main" id="{60A8FB85-51AC-43A4-B688-922D0F2E251D}"/>
              </a:ext>
            </a:extLst>
          </p:cNvPr>
          <p:cNvSpPr/>
          <p:nvPr/>
        </p:nvSpPr>
        <p:spPr>
          <a:xfrm>
            <a:off x="5343578" y="564728"/>
            <a:ext cx="845888" cy="301047"/>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a:solidFill>
                  <a:srgbClr val="000000"/>
                </a:solidFill>
                <a:latin typeface="Arial"/>
                <a:ea typeface="Arial"/>
                <a:cs typeface="Arial"/>
                <a:sym typeface="Arial"/>
              </a:rPr>
              <a:t>Raw Data Layer Design  </a:t>
            </a:r>
            <a:endParaRPr sz="525" kern="0">
              <a:solidFill>
                <a:srgbClr val="000000"/>
              </a:solidFill>
              <a:latin typeface="Arial"/>
              <a:cs typeface="Arial"/>
              <a:sym typeface="Arial"/>
            </a:endParaRPr>
          </a:p>
        </p:txBody>
      </p:sp>
      <p:sp>
        <p:nvSpPr>
          <p:cNvPr id="12" name="Rectangle 11">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598800109"/>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2209070"/>
            <a:ext cx="8858250" cy="518091"/>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TRANSFORMATION LAYER</a:t>
            </a:r>
            <a:endParaRPr lang="en-IN" sz="2000" dirty="0">
              <a:solidFill>
                <a:schemeClr val="bg1"/>
              </a:solidFill>
              <a:latin typeface="Arial"/>
              <a:cs typeface="Arial"/>
            </a:endParaRPr>
          </a:p>
        </p:txBody>
      </p:sp>
    </p:spTree>
    <p:extLst>
      <p:ext uri="{BB962C8B-B14F-4D97-AF65-F5344CB8AC3E}">
        <p14:creationId xmlns:p14="http://schemas.microsoft.com/office/powerpoint/2010/main" val="1718040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TRANSFORMATION</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16955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400" dirty="0"/>
              <a:t>Unified, Cleansed layer are present during transformation</a:t>
            </a:r>
          </a:p>
          <a:p>
            <a:pPr marL="285750" indent="-285750">
              <a:buFont typeface="Arial" panose="020B0604020202020204" pitchFamily="34" charset="0"/>
              <a:buChar char="•"/>
            </a:pPr>
            <a:r>
              <a:rPr lang="en-IN" sz="1400" dirty="0"/>
              <a:t>Colum names hard-coded while renaming which is not optimal</a:t>
            </a:r>
          </a:p>
          <a:p>
            <a:pPr marL="285750" indent="-285750">
              <a:buFont typeface="Arial" panose="020B0604020202020204" pitchFamily="34" charset="0"/>
              <a:buChar char="•"/>
            </a:pPr>
            <a:r>
              <a:rPr lang="en-IN" sz="1400" dirty="0"/>
              <a:t>DDL commands for creating these tables have created prior starting the ingestion process</a:t>
            </a:r>
          </a:p>
          <a:p>
            <a:pPr marL="285750" indent="-285750">
              <a:buFont typeface="Arial" panose="020B0604020202020204" pitchFamily="34" charset="0"/>
              <a:buChar char="•"/>
            </a:pPr>
            <a:r>
              <a:rPr lang="en-IN" sz="1400" dirty="0"/>
              <a:t>Cross refence tables are used  </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9" name="Picture 8" descr="A screenshot of text&#10;&#10;Description generated with very high confidence">
            <a:extLst>
              <a:ext uri="{FF2B5EF4-FFF2-40B4-BE49-F238E27FC236}">
                <a16:creationId xmlns:a16="http://schemas.microsoft.com/office/drawing/2014/main" id="{BFD5E317-1DAC-43D0-9BC1-F65DE7550A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3334" y="932608"/>
            <a:ext cx="3100388" cy="1996770"/>
          </a:xfrm>
          <a:prstGeom prst="rect">
            <a:avLst/>
          </a:prstGeom>
          <a:solidFill>
            <a:schemeClr val="lt1"/>
          </a:solidFill>
          <a:ln>
            <a:solidFill>
              <a:schemeClr val="tx1"/>
            </a:solidFill>
          </a:ln>
        </p:spPr>
      </p:pic>
      <p:pic>
        <p:nvPicPr>
          <p:cNvPr id="12" name="Picture 11" descr="A screenshot of a cell phone&#10;&#10;Description generated with very high confidence">
            <a:extLst>
              <a:ext uri="{FF2B5EF4-FFF2-40B4-BE49-F238E27FC236}">
                <a16:creationId xmlns:a16="http://schemas.microsoft.com/office/drawing/2014/main" id="{3A3B44AA-0B71-4397-98D8-CB0384125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94" y="932609"/>
            <a:ext cx="3551236" cy="1996770"/>
          </a:xfrm>
          <a:prstGeom prst="rect">
            <a:avLst/>
          </a:prstGeom>
          <a:ln>
            <a:solidFill>
              <a:schemeClr val="tx1"/>
            </a:solidFill>
          </a:ln>
        </p:spPr>
      </p:pic>
      <p:pic>
        <p:nvPicPr>
          <p:cNvPr id="16" name="Picture 15" descr="A screenshot of a cell phone&#10;&#10;Description generated with very high confidence">
            <a:extLst>
              <a:ext uri="{FF2B5EF4-FFF2-40B4-BE49-F238E27FC236}">
                <a16:creationId xmlns:a16="http://schemas.microsoft.com/office/drawing/2014/main" id="{D4939E07-9699-4AB1-AE02-8101519C1D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8026" y="932607"/>
            <a:ext cx="2014819" cy="1996771"/>
          </a:xfrm>
          <a:prstGeom prst="rect">
            <a:avLst/>
          </a:prstGeom>
          <a:ln>
            <a:solidFill>
              <a:schemeClr val="tx1"/>
            </a:solidFill>
          </a:ln>
        </p:spPr>
      </p:pic>
      <p:sp>
        <p:nvSpPr>
          <p:cNvPr id="8" name="Shape 174">
            <a:extLst>
              <a:ext uri="{FF2B5EF4-FFF2-40B4-BE49-F238E27FC236}">
                <a16:creationId xmlns:a16="http://schemas.microsoft.com/office/drawing/2014/main" id="{51F972EB-5041-41D8-8ECD-0856E5C43C7C}"/>
              </a:ext>
            </a:extLst>
          </p:cNvPr>
          <p:cNvSpPr/>
          <p:nvPr/>
        </p:nvSpPr>
        <p:spPr>
          <a:xfrm>
            <a:off x="6348846" y="622244"/>
            <a:ext cx="941063" cy="230012"/>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Hash Key &amp; </a:t>
            </a:r>
            <a:r>
              <a:rPr lang="en-US" sz="675" kern="0" dirty="0" err="1">
                <a:solidFill>
                  <a:srgbClr val="000000"/>
                </a:solidFill>
                <a:latin typeface="Arial"/>
                <a:ea typeface="Arial"/>
                <a:cs typeface="Arial"/>
                <a:sym typeface="Arial"/>
              </a:rPr>
              <a:t>Xref</a:t>
            </a:r>
            <a:r>
              <a:rPr lang="en-US" sz="675" kern="0" dirty="0">
                <a:solidFill>
                  <a:srgbClr val="000000"/>
                </a:solidFill>
                <a:latin typeface="Arial"/>
                <a:ea typeface="Arial"/>
                <a:cs typeface="Arial"/>
                <a:sym typeface="Arial"/>
              </a:rPr>
              <a:t> Design</a:t>
            </a:r>
            <a:endParaRPr sz="525" kern="0" dirty="0">
              <a:solidFill>
                <a:srgbClr val="000000"/>
              </a:solidFill>
              <a:latin typeface="Arial"/>
              <a:cs typeface="Arial"/>
              <a:sym typeface="Arial"/>
            </a:endParaRPr>
          </a:p>
        </p:txBody>
      </p:sp>
      <p:sp>
        <p:nvSpPr>
          <p:cNvPr id="11" name="Shape 180">
            <a:extLst>
              <a:ext uri="{FF2B5EF4-FFF2-40B4-BE49-F238E27FC236}">
                <a16:creationId xmlns:a16="http://schemas.microsoft.com/office/drawing/2014/main" id="{BFD1FDEB-227F-4C56-A695-4D95A43DD98C}"/>
              </a:ext>
            </a:extLst>
          </p:cNvPr>
          <p:cNvSpPr/>
          <p:nvPr/>
        </p:nvSpPr>
        <p:spPr>
          <a:xfrm>
            <a:off x="7564654" y="600246"/>
            <a:ext cx="941063" cy="252010"/>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Transformation</a:t>
            </a:r>
            <a:endParaRPr sz="525" kern="0" dirty="0">
              <a:solidFill>
                <a:srgbClr val="000000"/>
              </a:solidFill>
              <a:latin typeface="Arial"/>
              <a:cs typeface="Arial"/>
              <a:sym typeface="Arial"/>
            </a:endParaRPr>
          </a:p>
          <a:p>
            <a:pPr algn="ctr" defTabSz="342900">
              <a:buClr>
                <a:srgbClr val="000000"/>
              </a:buClr>
              <a:buSzPts val="1800"/>
            </a:pPr>
            <a:r>
              <a:rPr lang="en-US" sz="675" kern="0" dirty="0">
                <a:solidFill>
                  <a:srgbClr val="000000"/>
                </a:solidFill>
                <a:latin typeface="Arial"/>
                <a:ea typeface="Arial"/>
                <a:cs typeface="Arial"/>
                <a:sym typeface="Arial"/>
              </a:rPr>
              <a:t>Tables Definition</a:t>
            </a:r>
            <a:endParaRPr sz="525" kern="0" dirty="0">
              <a:solidFill>
                <a:srgbClr val="000000"/>
              </a:solidFill>
              <a:latin typeface="Arial"/>
              <a:cs typeface="Arial"/>
              <a:sym typeface="Arial"/>
            </a:endParaRPr>
          </a:p>
        </p:txBody>
      </p:sp>
      <p:sp>
        <p:nvSpPr>
          <p:cNvPr id="13" name="Rectangle 12">
            <a:hlinkClick r:id="rId5"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44910531"/>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4000500"/>
          </a:xfrm>
          <a:prstGeom prst="rect">
            <a:avLst/>
          </a:prstGeom>
          <a:blipFill>
            <a:blip r:embed="rId2" cstate="print"/>
            <a:stretch>
              <a:fillRect/>
            </a:stretch>
          </a:blipFill>
        </p:spPr>
        <p:txBody>
          <a:bodyPr wrap="square" lIns="0" tIns="0" rIns="0" bIns="0" rtlCol="0"/>
          <a:lstStyle/>
          <a:p>
            <a:endParaRPr dirty="0"/>
          </a:p>
        </p:txBody>
      </p:sp>
      <p:sp>
        <p:nvSpPr>
          <p:cNvPr id="5" name="object 5">
            <a:extLst>
              <a:ext uri="{FF2B5EF4-FFF2-40B4-BE49-F238E27FC236}">
                <a16:creationId xmlns:a16="http://schemas.microsoft.com/office/drawing/2014/main" id="{D0E15D0D-14BE-474D-9585-0ED2F2A09EDC}"/>
              </a:ext>
            </a:extLst>
          </p:cNvPr>
          <p:cNvSpPr txBox="1">
            <a:spLocks noGrp="1"/>
          </p:cNvSpPr>
          <p:nvPr>
            <p:ph type="title"/>
          </p:nvPr>
        </p:nvSpPr>
        <p:spPr>
          <a:xfrm>
            <a:off x="171450" y="2209070"/>
            <a:ext cx="8858250" cy="518091"/>
          </a:xfrm>
          <a:prstGeom prst="rect">
            <a:avLst/>
          </a:prstGeom>
        </p:spPr>
        <p:txBody>
          <a:bodyPr vert="horz" wrap="square" lIns="0" tIns="12700" rIns="0" bIns="0" rtlCol="0">
            <a:spAutoFit/>
          </a:bodyPr>
          <a:lstStyle/>
          <a:p>
            <a:pPr marL="12700">
              <a:spcBef>
                <a:spcPts val="100"/>
              </a:spcBef>
            </a:pPr>
            <a:r>
              <a:rPr lang="en-IN" sz="3200" dirty="0">
                <a:solidFill>
                  <a:schemeClr val="bg1"/>
                </a:solidFill>
                <a:latin typeface="Arial"/>
                <a:cs typeface="Arial"/>
              </a:rPr>
              <a:t>CONSOLIDATION LAYER</a:t>
            </a:r>
            <a:endParaRPr lang="en-IN" sz="2000" dirty="0">
              <a:solidFill>
                <a:schemeClr val="bg1"/>
              </a:solidFill>
              <a:latin typeface="Arial"/>
              <a:cs typeface="Arial"/>
            </a:endParaRPr>
          </a:p>
        </p:txBody>
      </p:sp>
    </p:spTree>
    <p:extLst>
      <p:ext uri="{BB962C8B-B14F-4D97-AF65-F5344CB8AC3E}">
        <p14:creationId xmlns:p14="http://schemas.microsoft.com/office/powerpoint/2010/main" val="10445344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CONSOLIDATION AND AGGREGATION</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954107"/>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400" dirty="0"/>
              <a:t>SQL Codes are used for performing merging and aggregation</a:t>
            </a:r>
          </a:p>
          <a:p>
            <a:pPr marL="285750" indent="-285750">
              <a:buFont typeface="Arial" panose="020B0604020202020204" pitchFamily="34" charset="0"/>
              <a:buChar char="•"/>
            </a:pPr>
            <a:r>
              <a:rPr lang="en-IN" sz="1400" dirty="0"/>
              <a:t>Maintaining and modifying SQL codes is complicated</a:t>
            </a:r>
          </a:p>
          <a:p>
            <a:pPr marL="285750" indent="-285750">
              <a:buFont typeface="Arial" panose="020B0604020202020204" pitchFamily="34" charset="0"/>
              <a:buChar char="•"/>
            </a:pPr>
            <a:r>
              <a:rPr lang="en-IN" sz="1400" dirty="0"/>
              <a:t>An ORM based rule engine can be used  in place of direct SQL codes</a:t>
            </a:r>
          </a:p>
          <a:p>
            <a:pPr marL="285750" indent="-285750">
              <a:buFont typeface="Arial" panose="020B0604020202020204" pitchFamily="34" charset="0"/>
              <a:buChar char="•"/>
            </a:pPr>
            <a:r>
              <a:rPr lang="en-IN" sz="1400" dirty="0"/>
              <a:t>Complex orchestration in Airflow </a:t>
            </a:r>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4" name="Picture 3" descr="A screenshot of a social media post&#10;&#10;Description generated with very high confidence">
            <a:extLst>
              <a:ext uri="{FF2B5EF4-FFF2-40B4-BE49-F238E27FC236}">
                <a16:creationId xmlns:a16="http://schemas.microsoft.com/office/drawing/2014/main" id="{304D0619-87A9-4102-8135-6B213691E2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8316" y="1084520"/>
            <a:ext cx="4033683" cy="1756460"/>
          </a:xfrm>
          <a:prstGeom prst="rect">
            <a:avLst/>
          </a:prstGeom>
          <a:ln>
            <a:solidFill>
              <a:schemeClr val="tx1"/>
            </a:solidFill>
          </a:ln>
        </p:spPr>
      </p:pic>
      <p:pic>
        <p:nvPicPr>
          <p:cNvPr id="6" name="Picture 5" descr="A screenshot of a cell phone&#10;&#10;Description generated with high confidence">
            <a:extLst>
              <a:ext uri="{FF2B5EF4-FFF2-40B4-BE49-F238E27FC236}">
                <a16:creationId xmlns:a16="http://schemas.microsoft.com/office/drawing/2014/main" id="{8B18C4DE-CB83-4E53-B638-5DE07933E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4371" y="1071799"/>
            <a:ext cx="3914181" cy="1756460"/>
          </a:xfrm>
          <a:prstGeom prst="rect">
            <a:avLst/>
          </a:prstGeom>
          <a:ln>
            <a:solidFill>
              <a:schemeClr val="tx1"/>
            </a:solidFill>
          </a:ln>
        </p:spPr>
      </p:pic>
      <p:sp>
        <p:nvSpPr>
          <p:cNvPr id="8" name="Shape 182">
            <a:extLst>
              <a:ext uri="{FF2B5EF4-FFF2-40B4-BE49-F238E27FC236}">
                <a16:creationId xmlns:a16="http://schemas.microsoft.com/office/drawing/2014/main" id="{E7AD9B48-E21C-4DEA-BBF5-CFA440229BC6}"/>
              </a:ext>
            </a:extLst>
          </p:cNvPr>
          <p:cNvSpPr/>
          <p:nvPr/>
        </p:nvSpPr>
        <p:spPr>
          <a:xfrm>
            <a:off x="5079178" y="625029"/>
            <a:ext cx="913838" cy="276472"/>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Consolidation Data Layer Design</a:t>
            </a:r>
            <a:endParaRPr sz="525" kern="0" dirty="0">
              <a:solidFill>
                <a:srgbClr val="000000"/>
              </a:solidFill>
              <a:latin typeface="Arial"/>
              <a:cs typeface="Arial"/>
              <a:sym typeface="Arial"/>
            </a:endParaRPr>
          </a:p>
        </p:txBody>
      </p:sp>
      <p:sp>
        <p:nvSpPr>
          <p:cNvPr id="9" name="Shape 187">
            <a:extLst>
              <a:ext uri="{FF2B5EF4-FFF2-40B4-BE49-F238E27FC236}">
                <a16:creationId xmlns:a16="http://schemas.microsoft.com/office/drawing/2014/main" id="{EEABBEFC-EE5E-44CB-A3FC-4F430C83715A}"/>
              </a:ext>
            </a:extLst>
          </p:cNvPr>
          <p:cNvSpPr/>
          <p:nvPr/>
        </p:nvSpPr>
        <p:spPr>
          <a:xfrm>
            <a:off x="6167857" y="636777"/>
            <a:ext cx="812588" cy="276473"/>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Aggregate  Data Layer Design</a:t>
            </a:r>
            <a:endParaRPr sz="525" kern="0" dirty="0">
              <a:solidFill>
                <a:srgbClr val="000000"/>
              </a:solidFill>
              <a:latin typeface="Arial"/>
              <a:cs typeface="Arial"/>
              <a:sym typeface="Arial"/>
            </a:endParaRPr>
          </a:p>
        </p:txBody>
      </p:sp>
      <p:sp>
        <p:nvSpPr>
          <p:cNvPr id="11" name="Shape 190">
            <a:extLst>
              <a:ext uri="{FF2B5EF4-FFF2-40B4-BE49-F238E27FC236}">
                <a16:creationId xmlns:a16="http://schemas.microsoft.com/office/drawing/2014/main" id="{8BB0BEBE-598F-46E4-A715-2BDC4452B925}"/>
              </a:ext>
            </a:extLst>
          </p:cNvPr>
          <p:cNvSpPr/>
          <p:nvPr/>
        </p:nvSpPr>
        <p:spPr>
          <a:xfrm>
            <a:off x="7155286" y="616362"/>
            <a:ext cx="812588" cy="296888"/>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Blended Data Load</a:t>
            </a:r>
            <a:endParaRPr sz="525" kern="0" dirty="0">
              <a:solidFill>
                <a:srgbClr val="000000"/>
              </a:solidFill>
              <a:latin typeface="Arial"/>
              <a:cs typeface="Arial"/>
              <a:sym typeface="Arial"/>
            </a:endParaRPr>
          </a:p>
        </p:txBody>
      </p:sp>
      <p:sp>
        <p:nvSpPr>
          <p:cNvPr id="12" name="Shape 191">
            <a:extLst>
              <a:ext uri="{FF2B5EF4-FFF2-40B4-BE49-F238E27FC236}">
                <a16:creationId xmlns:a16="http://schemas.microsoft.com/office/drawing/2014/main" id="{D43DB486-DC93-442F-87B9-B765D17F66D4}"/>
              </a:ext>
            </a:extLst>
          </p:cNvPr>
          <p:cNvSpPr/>
          <p:nvPr/>
        </p:nvSpPr>
        <p:spPr>
          <a:xfrm>
            <a:off x="8142715" y="636776"/>
            <a:ext cx="897413" cy="284845"/>
          </a:xfrm>
          <a:prstGeom prst="roundRect">
            <a:avLst>
              <a:gd name="adj" fmla="val 16667"/>
            </a:avLst>
          </a:prstGeom>
          <a:solidFill>
            <a:srgbClr val="B7B7B7"/>
          </a:solidFill>
          <a:ln w="25400" cap="flat" cmpd="sng">
            <a:solidFill>
              <a:schemeClr val="dk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buSzPts val="1800"/>
            </a:pPr>
            <a:r>
              <a:rPr lang="en-US" sz="675" kern="0" dirty="0">
                <a:solidFill>
                  <a:srgbClr val="000000"/>
                </a:solidFill>
                <a:latin typeface="Arial"/>
                <a:ea typeface="Arial"/>
                <a:cs typeface="Arial"/>
                <a:sym typeface="Arial"/>
              </a:rPr>
              <a:t>Design for Metric Calculation by Hierarchies</a:t>
            </a:r>
            <a:endParaRPr sz="525" kern="0" dirty="0">
              <a:solidFill>
                <a:srgbClr val="000000"/>
              </a:solidFill>
              <a:latin typeface="Arial"/>
              <a:cs typeface="Arial"/>
              <a:sym typeface="Arial"/>
            </a:endParaRPr>
          </a:p>
        </p:txBody>
      </p:sp>
      <p:sp>
        <p:nvSpPr>
          <p:cNvPr id="13" name="Rectangle 12">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195866636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F21C-FF59-4D12-B8B9-59E7AE6A6FE9}"/>
              </a:ext>
            </a:extLst>
          </p:cNvPr>
          <p:cNvSpPr>
            <a:spLocks noGrp="1"/>
          </p:cNvSpPr>
          <p:nvPr>
            <p:ph type="title"/>
          </p:nvPr>
        </p:nvSpPr>
        <p:spPr/>
        <p:txBody>
          <a:bodyPr/>
          <a:lstStyle/>
          <a:p>
            <a:r>
              <a:rPr lang="en-IN" sz="2000" dirty="0"/>
              <a:t>METRIC ENGINE</a:t>
            </a:r>
          </a:p>
        </p:txBody>
      </p:sp>
      <p:sp>
        <p:nvSpPr>
          <p:cNvPr id="7" name="TextBox 6">
            <a:extLst>
              <a:ext uri="{FF2B5EF4-FFF2-40B4-BE49-F238E27FC236}">
                <a16:creationId xmlns:a16="http://schemas.microsoft.com/office/drawing/2014/main" id="{8F959FAB-75DB-4952-8485-5EAE80884F64}"/>
              </a:ext>
            </a:extLst>
          </p:cNvPr>
          <p:cNvSpPr txBox="1"/>
          <p:nvPr/>
        </p:nvSpPr>
        <p:spPr>
          <a:xfrm>
            <a:off x="477838" y="3445274"/>
            <a:ext cx="7372350" cy="1169551"/>
          </a:xfrm>
          <a:prstGeom prst="rect">
            <a:avLst/>
          </a:prstGeom>
          <a:noFill/>
          <a:ln>
            <a:solidFill>
              <a:schemeClr val="tx1"/>
            </a:solidFill>
            <a:prstDash val="sysDash"/>
          </a:ln>
        </p:spPr>
        <p:txBody>
          <a:bodyPr wrap="square" rtlCol="0">
            <a:spAutoFit/>
          </a:bodyPr>
          <a:lstStyle/>
          <a:p>
            <a:pPr marL="285750" indent="-285750">
              <a:buFont typeface="Arial" panose="020B0604020202020204" pitchFamily="34" charset="0"/>
              <a:buChar char="•"/>
            </a:pPr>
            <a:r>
              <a:rPr lang="en-IN" sz="1400" dirty="0"/>
              <a:t>A template (dictionary) is used for storing all the rules</a:t>
            </a:r>
          </a:p>
          <a:p>
            <a:pPr marL="285750" indent="-285750">
              <a:buFont typeface="Arial" panose="020B0604020202020204" pitchFamily="34" charset="0"/>
              <a:buChar char="•"/>
            </a:pPr>
            <a:r>
              <a:rPr lang="en-IN" sz="1400" dirty="0"/>
              <a:t>Scaling and modifying these rules difficult</a:t>
            </a:r>
          </a:p>
          <a:p>
            <a:pPr marL="285750" indent="-285750">
              <a:buFont typeface="Arial" panose="020B0604020202020204" pitchFamily="34" charset="0"/>
              <a:buChar char="•"/>
            </a:pPr>
            <a:r>
              <a:rPr lang="en-IN" sz="1400" dirty="0"/>
              <a:t>ORM based rule engine can be used in spark </a:t>
            </a:r>
            <a:r>
              <a:rPr lang="en-IN" sz="1400" dirty="0" err="1"/>
              <a:t>sql</a:t>
            </a:r>
            <a:endParaRPr lang="en-IN" sz="14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p:txBody>
      </p:sp>
      <p:sp>
        <p:nvSpPr>
          <p:cNvPr id="10" name="TextBox 9">
            <a:extLst>
              <a:ext uri="{FF2B5EF4-FFF2-40B4-BE49-F238E27FC236}">
                <a16:creationId xmlns:a16="http://schemas.microsoft.com/office/drawing/2014/main" id="{7EBDA807-C22D-456A-B627-2A287B7F1623}"/>
              </a:ext>
            </a:extLst>
          </p:cNvPr>
          <p:cNvSpPr txBox="1"/>
          <p:nvPr/>
        </p:nvSpPr>
        <p:spPr>
          <a:xfrm>
            <a:off x="477838" y="3137497"/>
            <a:ext cx="2923165" cy="307777"/>
          </a:xfrm>
          <a:prstGeom prst="rect">
            <a:avLst/>
          </a:prstGeom>
          <a:solidFill>
            <a:srgbClr val="0063C3"/>
          </a:solidFill>
        </p:spPr>
        <p:txBody>
          <a:bodyPr wrap="square" rtlCol="0">
            <a:spAutoFit/>
          </a:bodyPr>
          <a:lstStyle/>
          <a:p>
            <a:r>
              <a:rPr lang="en-IN" sz="1400" b="1" dirty="0">
                <a:solidFill>
                  <a:schemeClr val="bg1"/>
                </a:solidFill>
              </a:rPr>
              <a:t>Existing Method &amp; Observations</a:t>
            </a:r>
          </a:p>
        </p:txBody>
      </p:sp>
      <p:pic>
        <p:nvPicPr>
          <p:cNvPr id="5" name="Picture 4" descr="A screenshot of a social media post&#10;&#10;Description generated with very high confidence">
            <a:extLst>
              <a:ext uri="{FF2B5EF4-FFF2-40B4-BE49-F238E27FC236}">
                <a16:creationId xmlns:a16="http://schemas.microsoft.com/office/drawing/2014/main" id="{ADBAEC55-6E5D-4659-8278-B4F098B4C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8646" y="1090532"/>
            <a:ext cx="3935662" cy="1688195"/>
          </a:xfrm>
          <a:prstGeom prst="rect">
            <a:avLst/>
          </a:prstGeom>
          <a:ln>
            <a:solidFill>
              <a:schemeClr val="tx1"/>
            </a:solidFill>
          </a:ln>
        </p:spPr>
      </p:pic>
      <p:pic>
        <p:nvPicPr>
          <p:cNvPr id="9" name="Picture 8" descr="A screenshot of a cell phone&#10;&#10;Description generated with high confidence">
            <a:extLst>
              <a:ext uri="{FF2B5EF4-FFF2-40B4-BE49-F238E27FC236}">
                <a16:creationId xmlns:a16="http://schemas.microsoft.com/office/drawing/2014/main" id="{15089E55-8BF1-4459-BD24-DF512767AA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338" y="1088191"/>
            <a:ext cx="3935662" cy="1688195"/>
          </a:xfrm>
          <a:prstGeom prst="rect">
            <a:avLst/>
          </a:prstGeom>
          <a:ln>
            <a:solidFill>
              <a:schemeClr val="tx1"/>
            </a:solidFill>
          </a:ln>
        </p:spPr>
      </p:pic>
      <p:sp>
        <p:nvSpPr>
          <p:cNvPr id="8" name="Rectangle 7">
            <a:hlinkClick r:id="rId4" action="ppaction://hlinksldjump"/>
          </p:cNvPr>
          <p:cNvSpPr/>
          <p:nvPr/>
        </p:nvSpPr>
        <p:spPr>
          <a:xfrm>
            <a:off x="8148320" y="0"/>
            <a:ext cx="995680" cy="34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Go Back</a:t>
            </a:r>
            <a:endParaRPr lang="en-US" sz="1200" b="1" dirty="0">
              <a:solidFill>
                <a:schemeClr val="bg1"/>
              </a:solidFill>
            </a:endParaRPr>
          </a:p>
        </p:txBody>
      </p:sp>
    </p:spTree>
    <p:extLst>
      <p:ext uri="{BB962C8B-B14F-4D97-AF65-F5344CB8AC3E}">
        <p14:creationId xmlns:p14="http://schemas.microsoft.com/office/powerpoint/2010/main" val="52872127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50C7AB-8C5E-41D7-9362-12CA26A7021B}"/>
              </a:ext>
            </a:extLst>
          </p:cNvPr>
          <p:cNvSpPr txBox="1"/>
          <p:nvPr/>
        </p:nvSpPr>
        <p:spPr>
          <a:xfrm>
            <a:off x="259080" y="2571750"/>
            <a:ext cx="8138160" cy="954107"/>
          </a:xfrm>
          <a:prstGeom prst="rect">
            <a:avLst/>
          </a:prstGeom>
          <a:noFill/>
        </p:spPr>
        <p:txBody>
          <a:bodyPr wrap="square" rtlCol="0">
            <a:spAutoFit/>
          </a:bodyPr>
          <a:lstStyle/>
          <a:p>
            <a:r>
              <a:rPr lang="en-US" sz="2800" b="1" dirty="0">
                <a:solidFill>
                  <a:schemeClr val="bg1"/>
                </a:solidFill>
              </a:rPr>
              <a:t>Thank You</a:t>
            </a:r>
          </a:p>
          <a:p>
            <a:endParaRPr lang="en-US" sz="2800" b="1" dirty="0">
              <a:solidFill>
                <a:schemeClr val="bg1"/>
              </a:solidFill>
            </a:endParaRPr>
          </a:p>
        </p:txBody>
      </p:sp>
    </p:spTree>
    <p:extLst>
      <p:ext uri="{BB962C8B-B14F-4D97-AF65-F5344CB8AC3E}">
        <p14:creationId xmlns:p14="http://schemas.microsoft.com/office/powerpoint/2010/main" val="288074672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Presentation Title (Arial 38pt bold)&amp;quot;&quot;/&gt;&lt;property id=&quot;20307&quot; value=&quot;262&quot;/&gt;&lt;/object&gt;&lt;object type=&quot;3&quot; unique_id=&quot;10005&quot;&gt;&lt;property id=&quot;20148&quot; value=&quot;5&quot;/&gt;&lt;property id=&quot;20300&quot; value=&quot;Slide 2 - &amp;quot;One-Line Title Slide (Arial 32pt bold)&amp;quot;&quot;/&gt;&lt;property id=&quot;20307&quot; value=&quot;263&quot;/&gt;&lt;/object&gt;&lt;object type=&quot;3&quot; unique_id=&quot;10006&quot;&gt;&lt;property id=&quot;20148&quot; value=&quot;5&quot;/&gt;&lt;property id=&quot;20300&quot; value=&quot;Slide 3 - &amp;quot;Two-Line Title Slide With &amp;#x0D;&amp;#x0A;a Subtitle Placeholder&amp;quot;&quot;/&gt;&lt;property id=&quot;20307&quot; value=&quot;264&quot;/&gt;&lt;/object&gt;&lt;object type=&quot;3&quot; unique_id=&quot;10007&quot;&gt;&lt;property id=&quot;20148&quot; value=&quot;5&quot;/&gt;&lt;property id=&quot;20300&quot; value=&quot;Slide 4 - &amp;quot;Single Photo Treatment&amp;quot;&quot;/&gt;&lt;property id=&quot;20307&quot; value=&quot;284&quot;/&gt;&lt;/object&gt;&lt;object type=&quot;3&quot; unique_id=&quot;10009&quot;&gt;&lt;property id=&quot;20148&quot; value=&quot;5&quot;/&gt;&lt;property id=&quot;20300&quot; value=&quot;Slide 6 - &amp;quot;Two-Content Subtitle Layout&amp;quot;&quot;/&gt;&lt;property id=&quot;20307&quot; value=&quot;285&quot;/&gt;&lt;/object&gt;&lt;object type=&quot;3&quot; unique_id=&quot;10010&quot;&gt;&lt;property id=&quot;20148&quot; value=&quot;5&quot;/&gt;&lt;property id=&quot;20300&quot; value=&quot;Slide 7 - &amp;quot;Table Example&amp;quot;&quot;/&gt;&lt;property id=&quot;20307&quot; value=&quot;265&quot;/&gt;&lt;/object&gt;&lt;object type=&quot;3&quot; unique_id=&quot;10011&quot;&gt;&lt;property id=&quot;20148&quot; value=&quot;5&quot;/&gt;&lt;property id=&quot;20300&quot; value=&quot;Slide 8 - &amp;quot;Pie Chart Example&amp;quot;&quot;/&gt;&lt;property id=&quot;20307&quot; value=&quot;283&quot;/&gt;&lt;/object&gt;&lt;object type=&quot;3&quot; unique_id=&quot;10012&quot;&gt;&lt;property id=&quot;20148&quot; value=&quot;5&quot;/&gt;&lt;property id=&quot;20300&quot; value=&quot;Slide 9 - &amp;quot;Pie Chart Example&amp;quot;&quot;/&gt;&lt;property id=&quot;20307&quot; value=&quot;300&quot;/&gt;&lt;/object&gt;&lt;object type=&quot;3&quot; unique_id=&quot;10013&quot;&gt;&lt;property id=&quot;20148&quot; value=&quot;5&quot;/&gt;&lt;property id=&quot;20300&quot; value=&quot;Slide 10 - &amp;quot;Column Chart Example&amp;quot;&quot;/&gt;&lt;property id=&quot;20307&quot; value=&quot;279&quot;/&gt;&lt;/object&gt;&lt;object type=&quot;3&quot; unique_id=&quot;10014&quot;&gt;&lt;property id=&quot;20148&quot; value=&quot;5&quot;/&gt;&lt;property id=&quot;20300&quot; value=&quot;Slide 11 - &amp;quot;Line Chart Example&amp;quot;&quot;/&gt;&lt;property id=&quot;20307&quot; value=&quot;278&quot;/&gt;&lt;/object&gt;&lt;object type=&quot;3&quot; unique_id=&quot;10015&quot;&gt;&lt;property id=&quot;20148&quot; value=&quot;5&quot;/&gt;&lt;property id=&quot;20300&quot; value=&quot;Slide 12 - &amp;quot;Presentation Master Color Palette&amp;quot;&quot;/&gt;&lt;property id=&quot;20307&quot; value=&quot;287&quot;/&gt;&lt;/object&gt;&lt;object type=&quot;3&quot; unique_id=&quot;10018&quot;&gt;&lt;property id=&quot;20148&quot; value=&quot;5&quot;/&gt;&lt;property id=&quot;20300&quot; value=&quot;Slide 15 - &amp;quot;Working With the Amgen Color Palette&amp;quot;&quot;/&gt;&lt;property id=&quot;20307&quot; value=&quot;289&quot;/&gt;&lt;/object&gt;&lt;object type=&quot;3&quot; unique_id=&quot;10019&quot;&gt;&lt;property id=&quot;20148&quot; value=&quot;5&quot;/&gt;&lt;property id=&quot;20300&quot; value=&quot;Slide 16 - &amp;quot;Formatting Slides&amp;quot;&quot;/&gt;&lt;property id=&quot;20307&quot; value=&quot;298&quot;/&gt;&lt;/object&gt;&lt;object type=&quot;3&quot; unique_id=&quot;10020&quot;&gt;&lt;property id=&quot;20148&quot; value=&quot;5&quot;/&gt;&lt;property id=&quot;20300&quot; value=&quot;Slide 17 - &amp;quot;Selecting Objects&amp;quot;&quot;/&gt;&lt;property id=&quot;20307&quot; value=&quot;296&quot;/&gt;&lt;/object&gt;&lt;object type=&quot;3&quot; unique_id=&quot;10021&quot;&gt;&lt;property id=&quot;20148&quot; value=&quot;5&quot;/&gt;&lt;property id=&quot;20300&quot; value=&quot;Slide 18 - &amp;quot;Working With Objects&amp;quot;&quot;/&gt;&lt;property id=&quot;20307&quot; value=&quot;293&quot;/&gt;&lt;/object&gt;&lt;object type=&quot;3&quot; unique_id=&quot;10022&quot;&gt;&lt;property id=&quot;20148&quot; value=&quot;5&quot;/&gt;&lt;property id=&quot;20300&quot; value=&quot;Slide 19 - &amp;quot;Adjusting Tables&amp;quot;&quot;/&gt;&lt;property id=&quot;20307&quot; value=&quot;297&quot;/&gt;&lt;/object&gt;&lt;object type=&quot;3&quot; unique_id=&quot;10023&quot;&gt;&lt;property id=&quot;20148&quot; value=&quot;5&quot;/&gt;&lt;property id=&quot;20300&quot; value=&quot;Slide 20 - &amp;quot;Streamlining Objects&amp;quot;&quot;/&gt;&lt;property id=&quot;20307&quot; value=&quot;294&quot;/&gt;&lt;/object&gt;&lt;object type=&quot;3&quot; unique_id=&quot;10707&quot;&gt;&lt;property id=&quot;20148&quot; value=&quot;5&quot;/&gt;&lt;property id=&quot;20300&quot; value=&quot;Slide 5 - &amp;quot;Photo Treatment With Label&amp;quot;&quot;/&gt;&lt;property id=&quot;20307&quot; value=&quot;303&quot;/&gt;&lt;/object&gt;&lt;object type=&quot;3&quot; unique_id=&quot;10752&quot;&gt;&lt;property id=&quot;20148&quot; value=&quot;5&quot;/&gt;&lt;property id=&quot;20300&quot; value=&quot;Slide 13 - &amp;quot;We Adapted Our Plan Swiftly&amp;quot;&quot;/&gt;&lt;property id=&quot;20307&quot; value=&quot;304&quot;/&gt;&lt;/object&gt;&lt;object type=&quot;3&quot; unique_id=&quot;10753&quot;&gt;&lt;property id=&quot;20148&quot; value=&quot;5&quot;/&gt;&lt;property id=&quot;20300&quot; value=&quot;Slide 14 - &amp;quot;Our Strategy Positions Us Well&amp;quot;&quot;/&gt;&lt;property id=&quot;20307&quot; value=&quot;305&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ZRj__2KkREGFQTQb6CbJZA"/>
</p:tagLst>
</file>

<file path=ppt/theme/theme1.xml><?xml version="1.0" encoding="utf-8"?>
<a:theme xmlns:a="http://schemas.openxmlformats.org/drawingml/2006/main" name="2016 Amgen Corporate Template_16x9_INTERNAL">
  <a:themeElements>
    <a:clrScheme name="AmgenColors">
      <a:dk1>
        <a:srgbClr val="000000"/>
      </a:dk1>
      <a:lt1>
        <a:srgbClr val="FFFFFF"/>
      </a:lt1>
      <a:dk2>
        <a:srgbClr val="716F73"/>
      </a:dk2>
      <a:lt2>
        <a:srgbClr val="00BCE4"/>
      </a:lt2>
      <a:accent1>
        <a:srgbClr val="0063C3"/>
      </a:accent1>
      <a:accent2>
        <a:srgbClr val="88C765"/>
      </a:accent2>
      <a:accent3>
        <a:srgbClr val="F3C108"/>
      </a:accent3>
      <a:accent4>
        <a:srgbClr val="D34D2F"/>
      </a:accent4>
      <a:accent5>
        <a:srgbClr val="597B7C"/>
      </a:accent5>
      <a:accent6>
        <a:srgbClr val="005480"/>
      </a:accent6>
      <a:hlink>
        <a:srgbClr val="2DBCB6"/>
      </a:hlink>
      <a:folHlink>
        <a:srgbClr val="B2A97E"/>
      </a:folHlink>
    </a:clrScheme>
    <a:fontScheme name="Amgen Corporate">
      <a:majorFont>
        <a:latin typeface="Calibr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ap="rnd">
          <a:solidFill>
            <a:schemeClr val="tx1"/>
          </a:solidFill>
          <a:tailEnd type="stealth"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400" b="1" dirty="0" smtClean="0"/>
        </a:defPPr>
      </a:lstStyle>
    </a:txDef>
  </a:objectDefaults>
  <a:extraClrSchemeLst/>
  <a:extLst>
    <a:ext uri="{05A4C25C-085E-4340-85A3-A5531E510DB2}">
      <thm15:themeFamily xmlns:thm15="http://schemas.microsoft.com/office/thememl/2012/main" name="AmgenMerged" id="{3C33D98D-F191-47DF-AE88-E5F60A310B5F}" vid="{3634DB5A-F9D2-4AD2-89E0-08CC178FB05A}"/>
    </a:ext>
  </a:extLst>
</a:theme>
</file>

<file path=ppt/theme/theme2.xml><?xml version="1.0" encoding="utf-8"?>
<a:theme xmlns:a="http://schemas.openxmlformats.org/drawingml/2006/main" name="1_2016 Amgen Corporate Template_16x9_INTERNAL">
  <a:themeElements>
    <a:clrScheme name="AmgenColors">
      <a:dk1>
        <a:srgbClr val="000000"/>
      </a:dk1>
      <a:lt1>
        <a:srgbClr val="FFFFFF"/>
      </a:lt1>
      <a:dk2>
        <a:srgbClr val="716F73"/>
      </a:dk2>
      <a:lt2>
        <a:srgbClr val="00BCE4"/>
      </a:lt2>
      <a:accent1>
        <a:srgbClr val="0063C3"/>
      </a:accent1>
      <a:accent2>
        <a:srgbClr val="88C765"/>
      </a:accent2>
      <a:accent3>
        <a:srgbClr val="F3C108"/>
      </a:accent3>
      <a:accent4>
        <a:srgbClr val="D34D2F"/>
      </a:accent4>
      <a:accent5>
        <a:srgbClr val="597B7C"/>
      </a:accent5>
      <a:accent6>
        <a:srgbClr val="005480"/>
      </a:accent6>
      <a:hlink>
        <a:srgbClr val="2DBCB6"/>
      </a:hlink>
      <a:folHlink>
        <a:srgbClr val="B2A97E"/>
      </a:folHlink>
    </a:clrScheme>
    <a:fontScheme name="Amgen Corporate">
      <a:majorFont>
        <a:latin typeface="Calibr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ap="rnd">
          <a:solidFill>
            <a:schemeClr val="tx1"/>
          </a:solidFill>
          <a:tailEnd type="stealth"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400" b="1" dirty="0" smtClean="0"/>
        </a:defPPr>
      </a:lstStyle>
    </a:txDef>
  </a:objectDefaults>
  <a:extraClrSchemeLst/>
  <a:extLst>
    <a:ext uri="{05A4C25C-085E-4340-85A3-A5531E510DB2}">
      <thm15:themeFamily xmlns:thm15="http://schemas.microsoft.com/office/thememl/2012/main" name="AmgenMerged" id="{3C33D98D-F191-47DF-AE88-E5F60A310B5F}" vid="{3634DB5A-F9D2-4AD2-89E0-08CC178FB05A}"/>
    </a:ext>
  </a:extLst>
</a:theme>
</file>

<file path=ppt/theme/theme3.xml><?xml version="1.0" encoding="utf-8"?>
<a:theme xmlns:a="http://schemas.openxmlformats.org/drawingml/2006/main" name="2_2016 Amgen Corporate Template_16x9_INTERNAL">
  <a:themeElements>
    <a:clrScheme name="AmgenColors">
      <a:dk1>
        <a:srgbClr val="000000"/>
      </a:dk1>
      <a:lt1>
        <a:srgbClr val="FFFFFF"/>
      </a:lt1>
      <a:dk2>
        <a:srgbClr val="716F73"/>
      </a:dk2>
      <a:lt2>
        <a:srgbClr val="00BCE4"/>
      </a:lt2>
      <a:accent1>
        <a:srgbClr val="0063C3"/>
      </a:accent1>
      <a:accent2>
        <a:srgbClr val="88C765"/>
      </a:accent2>
      <a:accent3>
        <a:srgbClr val="F3C108"/>
      </a:accent3>
      <a:accent4>
        <a:srgbClr val="D34D2F"/>
      </a:accent4>
      <a:accent5>
        <a:srgbClr val="597B7C"/>
      </a:accent5>
      <a:accent6>
        <a:srgbClr val="005480"/>
      </a:accent6>
      <a:hlink>
        <a:srgbClr val="2DBCB6"/>
      </a:hlink>
      <a:folHlink>
        <a:srgbClr val="B2A97E"/>
      </a:folHlink>
    </a:clrScheme>
    <a:fontScheme name="Amgen Corporate">
      <a:majorFont>
        <a:latin typeface="Calibr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ap="rnd">
          <a:solidFill>
            <a:schemeClr val="tx1"/>
          </a:solidFill>
          <a:tailEnd type="stealth"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400" b="1" dirty="0" smtClean="0"/>
        </a:defPPr>
      </a:lstStyle>
    </a:txDef>
  </a:objectDefaults>
  <a:extraClrSchemeLst/>
  <a:extLst>
    <a:ext uri="{05A4C25C-085E-4340-85A3-A5531E510DB2}">
      <thm15:themeFamily xmlns:thm15="http://schemas.microsoft.com/office/thememl/2012/main" name="AmgenMerged" id="{3C33D98D-F191-47DF-AE88-E5F60A310B5F}" vid="{3634DB5A-F9D2-4AD2-89E0-08CC178FB05A}"/>
    </a:ext>
  </a:extLst>
</a:theme>
</file>

<file path=ppt/theme/theme4.xml><?xml version="1.0" encoding="utf-8"?>
<a:theme xmlns:a="http://schemas.openxmlformats.org/drawingml/2006/main" name="3_2016 Amgen Corporate Template_16x9_INTERNAL">
  <a:themeElements>
    <a:clrScheme name="AmgenColors">
      <a:dk1>
        <a:srgbClr val="000000"/>
      </a:dk1>
      <a:lt1>
        <a:srgbClr val="FFFFFF"/>
      </a:lt1>
      <a:dk2>
        <a:srgbClr val="716F73"/>
      </a:dk2>
      <a:lt2>
        <a:srgbClr val="00BCE4"/>
      </a:lt2>
      <a:accent1>
        <a:srgbClr val="0063C3"/>
      </a:accent1>
      <a:accent2>
        <a:srgbClr val="88C765"/>
      </a:accent2>
      <a:accent3>
        <a:srgbClr val="F3C108"/>
      </a:accent3>
      <a:accent4>
        <a:srgbClr val="D34D2F"/>
      </a:accent4>
      <a:accent5>
        <a:srgbClr val="597B7C"/>
      </a:accent5>
      <a:accent6>
        <a:srgbClr val="005480"/>
      </a:accent6>
      <a:hlink>
        <a:srgbClr val="2DBCB6"/>
      </a:hlink>
      <a:folHlink>
        <a:srgbClr val="B2A97E"/>
      </a:folHlink>
    </a:clrScheme>
    <a:fontScheme name="Amgen Corporate">
      <a:majorFont>
        <a:latin typeface="Calibr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ap="rnd">
          <a:solidFill>
            <a:schemeClr val="tx1"/>
          </a:solidFill>
          <a:tailEnd type="stealth"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400" b="1" dirty="0" smtClean="0"/>
        </a:defPPr>
      </a:lstStyle>
    </a:txDef>
  </a:objectDefaults>
  <a:extraClrSchemeLst/>
  <a:extLst>
    <a:ext uri="{05A4C25C-085E-4340-85A3-A5531E510DB2}">
      <thm15:themeFamily xmlns:thm15="http://schemas.microsoft.com/office/thememl/2012/main" name="AmgenMerged" id="{3C33D98D-F191-47DF-AE88-E5F60A310B5F}" vid="{3634DB5A-F9D2-4AD2-89E0-08CC178FB05A}"/>
    </a:ext>
  </a:extLst>
</a:theme>
</file>

<file path=ppt/theme/theme5.xml><?xml version="1.0" encoding="utf-8"?>
<a:theme xmlns:a="http://schemas.openxmlformats.org/drawingml/2006/main" name="Office Theme">
  <a:themeElements>
    <a:clrScheme name="Amgen Theme">
      <a:dk1>
        <a:srgbClr val="000000"/>
      </a:dk1>
      <a:lt1>
        <a:srgbClr val="FFFFFF"/>
      </a:lt1>
      <a:dk2>
        <a:srgbClr val="777777"/>
      </a:dk2>
      <a:lt2>
        <a:srgbClr val="C0C0C0"/>
      </a:lt2>
      <a:accent1>
        <a:srgbClr val="007CC2"/>
      </a:accent1>
      <a:accent2>
        <a:srgbClr val="FCC30C"/>
      </a:accent2>
      <a:accent3>
        <a:srgbClr val="42865C"/>
      </a:accent3>
      <a:accent4>
        <a:srgbClr val="C0362C"/>
      </a:accent4>
      <a:accent5>
        <a:srgbClr val="003161"/>
      </a:accent5>
      <a:accent6>
        <a:srgbClr val="81B5E2"/>
      </a:accent6>
      <a:hlink>
        <a:srgbClr val="007CC2"/>
      </a:hlink>
      <a:folHlink>
        <a:srgbClr val="81B5E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Amgen">
      <a:dk1>
        <a:sysClr val="windowText" lastClr="000000"/>
      </a:dk1>
      <a:lt1>
        <a:sysClr val="window" lastClr="FFFFFF"/>
      </a:lt1>
      <a:dk2>
        <a:srgbClr val="868686"/>
      </a:dk2>
      <a:lt2>
        <a:srgbClr val="2DBCB6"/>
      </a:lt2>
      <a:accent1>
        <a:srgbClr val="00A3C4"/>
      </a:accent1>
      <a:accent2>
        <a:srgbClr val="F3CC63"/>
      </a:accent2>
      <a:accent3>
        <a:srgbClr val="95CB6E"/>
      </a:accent3>
      <a:accent4>
        <a:srgbClr val="D14D2A"/>
      </a:accent4>
      <a:accent5>
        <a:srgbClr val="EC951A"/>
      </a:accent5>
      <a:accent6>
        <a:srgbClr val="0063C3"/>
      </a:accent6>
      <a:hlink>
        <a:srgbClr val="00A3C4"/>
      </a:hlink>
      <a:folHlink>
        <a:srgbClr val="2DBCB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i="http://www.w3.org/2001/XMLSchema-instance" xmlns:xsd="http://www.w3.org/2001/XMLSchema" xmlns="http://www.boldonjames.com/2008/01/sie/internal/label" sislVersion="0" policy="82ad3a63-90ad-4a46-a3cb-757f4658e205" origin="userSelected">
  <element uid="03e9b10b-a1f9-4a88-9630-476473f62285" value=""/>
  <element uid="7349a702-6462-4442-88eb-c64cd513835c" value=""/>
  <element uid="9036a7a1-5a4f-48d3-b24b-dfdab053dac9" value=""/>
</sisl>
</file>

<file path=customXml/itemProps1.xml><?xml version="1.0" encoding="utf-8"?>
<ds:datastoreItem xmlns:ds="http://schemas.openxmlformats.org/officeDocument/2006/customXml" ds:itemID="{305E46DB-A5D5-492F-91B8-D19ABB949DA5}">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2016 Amgen Corporate Template_16x9_EXTERNAL</Template>
  <TotalTime>0</TotalTime>
  <Words>4247</Words>
  <Application>Microsoft Macintosh PowerPoint</Application>
  <PresentationFormat>On-screen Show (16:9)</PresentationFormat>
  <Paragraphs>765</Paragraphs>
  <Slides>56</Slides>
  <Notes>14</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56</vt:i4>
      </vt:variant>
    </vt:vector>
  </HeadingPairs>
  <TitlesOfParts>
    <vt:vector size="65" baseType="lpstr">
      <vt:lpstr>Arial</vt:lpstr>
      <vt:lpstr>Calibri</vt:lpstr>
      <vt:lpstr>Helvetica Neue</vt:lpstr>
      <vt:lpstr>Tahoma</vt:lpstr>
      <vt:lpstr>Verdana</vt:lpstr>
      <vt:lpstr>2016 Amgen Corporate Template_16x9_INTERNAL</vt:lpstr>
      <vt:lpstr>1_2016 Amgen Corporate Template_16x9_INTERNAL</vt:lpstr>
      <vt:lpstr>2_2016 Amgen Corporate Template_16x9_INTERNAL</vt:lpstr>
      <vt:lpstr>3_2016 Amgen Corporate Template_16x9_INTERNAL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IDNA PROCESS TOUCHPOINTS TO ONBOARD A SOURCE BASED ON CURRENT FRAMEWORK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Recommended ENHACEMENTS to iDNA: Priorities for next 120 days</vt:lpstr>
      <vt:lpstr>Recommended ENHACEMENTS: Effort vs Value Grid</vt:lpstr>
      <vt:lpstr>PowerPoint Presentation</vt:lpstr>
      <vt:lpstr>Identified ENHACEMENTS to IDNA: framework improvement</vt:lpstr>
      <vt:lpstr>Identified ENHACEMENTS to IDNA: High Availability &amp; Feature Libraries</vt:lpstr>
      <vt:lpstr>Identified ENHACEMENTS to IDNA: ingestion pattern based on data domain and key management system</vt:lpstr>
      <vt:lpstr>Identified ENHACEMENTS to IDNA: framework improvement</vt:lpstr>
      <vt:lpstr>PowerPoint Presentation</vt:lpstr>
      <vt:lpstr>Immediate term Implementation PLAN</vt:lpstr>
      <vt:lpstr>NEXT STEPS</vt:lpstr>
      <vt:lpstr>PowerPoint Presentation</vt:lpstr>
      <vt:lpstr>PowerPoint Presentation</vt:lpstr>
      <vt:lpstr>Ingestion  </vt:lpstr>
      <vt:lpstr>INGESTION</vt:lpstr>
      <vt:lpstr>Data Loading</vt:lpstr>
      <vt:lpstr>PowerPoint Presentation</vt:lpstr>
      <vt:lpstr>PowerPoint Presentation</vt:lpstr>
      <vt:lpstr>PowerPoint Presentation</vt:lpstr>
      <vt:lpstr>PowerPoint Presentation</vt:lpstr>
      <vt:lpstr>PowerPoint Presentation</vt:lpstr>
      <vt:lpstr>INFRASTRUCTURE</vt:lpstr>
      <vt:lpstr>INFRASTRUCTURE COMPONENTS:PARTITIONING</vt:lpstr>
      <vt:lpstr>INFRASTRUCTURE COMPONENTS:DATA QUALITY MANAGEMENT</vt:lpstr>
      <vt:lpstr>INFRASTRUCTURE COMPONENTS: ARCHIVAL</vt:lpstr>
      <vt:lpstr>INFRASTRUCTURE COMPONENTS:ORCHESTRATION</vt:lpstr>
      <vt:lpstr>INFRASTRUCTURE COMPONENTS: METADATA MANAGEMENT</vt:lpstr>
      <vt:lpstr>INFRASTRUCTURE COMPONENTS: LOGGING</vt:lpstr>
      <vt:lpstr>INFRASTRUCTURE COMPONENTS: HIGH AVAILABILITY</vt:lpstr>
      <vt:lpstr>INFRASTRUCTURE COMPONENTS: COMPRESSION TECHNIQUES</vt:lpstr>
      <vt:lpstr>INFRASTRUCTURE COMPONENTS: SECURITY </vt:lpstr>
      <vt:lpstr>INFRASTRUCTURE COMPONENTS: CI/CD</vt:lpstr>
      <vt:lpstr>RAW LAYER</vt:lpstr>
      <vt:lpstr>RAW LAYER</vt:lpstr>
      <vt:lpstr>TRANSFORMATION LAYER</vt:lpstr>
      <vt:lpstr>TRANSFORMATION</vt:lpstr>
      <vt:lpstr>CONSOLIDATION LAYER</vt:lpstr>
      <vt:lpstr>CONSOLIDATION AND AGGREGATION</vt:lpstr>
      <vt:lpstr>METRIC ENGINE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keywords>*$%IU-*$%GenBus</cp:keywords>
  <cp:lastModifiedBy/>
  <cp:revision>2</cp:revision>
  <dcterms:created xsi:type="dcterms:W3CDTF">2017-09-27T09:19:12Z</dcterms:created>
  <dcterms:modified xsi:type="dcterms:W3CDTF">2022-08-15T14:49:30Z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c61e7e25-9a5a-4d2f-8948-0dabc5e98342</vt:lpwstr>
  </property>
  <property fmtid="{D5CDD505-2E9C-101B-9397-08002B2CF9AE}" pid="3" name="bjSaver">
    <vt:lpwstr>E8HLjnFCQPOVp3Mq0Xq7DFnLLh/mE9wS</vt:lpwstr>
  </property>
  <property fmtid="{D5CDD505-2E9C-101B-9397-08002B2CF9AE}" pid="4" name="bjDocumentLabelXML">
    <vt:lpwstr>&lt;?xml version="1.0" encoding="us-ascii"?&gt;&lt;sisl xmlns:xsi="http://www.w3.org/2001/XMLSchema-instance" xmlns:xsd="http://www.w3.org/2001/XMLSchema" sislVersion="0" policy="82ad3a63-90ad-4a46-a3cb-757f4658e205" origin="userSelected" xmlns="http://www.boldonj</vt:lpwstr>
  </property>
  <property fmtid="{D5CDD505-2E9C-101B-9397-08002B2CF9AE}" pid="5" name="bjDocumentLabelXML-0">
    <vt:lpwstr>ames.com/2008/01/sie/internal/label"&gt;&lt;element uid="03e9b10b-a1f9-4a88-9630-476473f62285" value="" /&gt;&lt;element uid="7349a702-6462-4442-88eb-c64cd513835c" value="" /&gt;&lt;element uid="9036a7a1-5a4f-48d3-b24b-dfdab053dac9" value="" /&gt;&lt;/sisl&gt;</vt:lpwstr>
  </property>
  <property fmtid="{D5CDD505-2E9C-101B-9397-08002B2CF9AE}" pid="6" name="bjDocumentSecurityLabel">
    <vt:lpwstr>Internal Use Only - General Business</vt:lpwstr>
  </property>
</Properties>
</file>