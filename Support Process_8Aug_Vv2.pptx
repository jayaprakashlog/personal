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8"/>
  </p:notesMasterIdLst>
  <p:handoutMasterIdLst>
    <p:handoutMasterId r:id="rId9"/>
  </p:handoutMasterIdLst>
  <p:sldIdLst>
    <p:sldId id="256" r:id="rId5"/>
    <p:sldId id="258" r:id="rId6"/>
    <p:sldId id="259" r:id="rId7"/>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5C0807-3A5E-96E4-7ED0-7C5598A75D98}" name="Kevin Francis" initials="KF" userId="S::kfrancis@trinitypartners.com::0a0ef771-4e5c-4db7-b444-a345de118777" providerId="AD"/>
  <p188:author id="{51E18207-149B-2AC3-BAD3-67A1E2E2A4AC}" name="Leslie Sandberg Orne" initials="LSO" userId="S::lsandberg@trinitypartners.com::4efe3528-0ed1-4a4f-b741-a17d7df519d9" providerId="AD"/>
  <p188:author id="{277BBB7B-2E4E-140C-2A86-2A073085C26C}" name="Abbey Bernardi" initials="AB" userId="S::abernardi@trinitypartners.com::506032e0-e854-499f-9e49-225b09e3c6e5" providerId="AD"/>
  <p188:author id="{A8467CAF-3B11-2D08-B1C9-4457F6FF5DD3}" name="Nagasubramanya Nabha" initials="NN" userId="S::nnabha@trinitypartners.com::c520b22e-0303-482c-9e20-ef3db4a2ae2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906" autoAdjust="0"/>
  </p:normalViewPr>
  <p:slideViewPr>
    <p:cSldViewPr snapToGrid="0">
      <p:cViewPr varScale="1">
        <p:scale>
          <a:sx n="70" d="100"/>
          <a:sy n="70" d="100"/>
        </p:scale>
        <p:origin x="536" y="56"/>
      </p:cViewPr>
      <p:guideLst>
        <p:guide orient="horz" pos="2160"/>
        <p:guide pos="732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p:scale>
          <a:sx n="1" d="2"/>
          <a:sy n="1" d="2"/>
        </p:scale>
        <p:origin x="6600" y="2696"/>
      </p:cViewPr>
      <p:guideLst/>
    </p:cSldViewPr>
  </p:notesViewPr>
  <p:gridSpacing cx="1080001" cy="1080001"/>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8/13/2024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dirty="0"/>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8/13/2024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dirty="0"/>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dirty="0">
                <a:solidFill>
                  <a:schemeClr val="bg2">
                    <a:lumMod val="50000"/>
                  </a:schemeClr>
                </a:solidFill>
              </a:rPr>
              <a:t>This presentation is provided to you by Trinity,</a:t>
            </a:r>
            <a:r>
              <a:rPr lang="en-US" sz="700" baseline="0" dirty="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dirty="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dirty="0"/>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dirty="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dirty="0"/>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dirty="0"/>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dirty="0"/>
              <a:t>Title Line 1</a:t>
            </a:r>
            <a:br>
              <a:rPr lang="en-US" dirty="0"/>
            </a:br>
            <a:r>
              <a:rPr lang="en-US" dirty="0"/>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dirty="0"/>
              <a:t>Title Line 1</a:t>
            </a:r>
            <a:br>
              <a:rPr lang="en-US" dirty="0"/>
            </a:br>
            <a:r>
              <a:rPr lang="en-US" dirty="0"/>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dirty="0"/>
              <a:t>Chart Title Line 1</a:t>
            </a:r>
            <a:br>
              <a:rPr lang="en-US" dirty="0"/>
            </a:br>
            <a:r>
              <a:rPr lang="en-US" dirty="0"/>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dirty="0"/>
              <a:t>Content Title Line 1</a:t>
            </a:r>
            <a:br>
              <a:rPr lang="en-US" dirty="0"/>
            </a:br>
            <a:r>
              <a:rPr lang="en-US" dirty="0"/>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dirty="0"/>
              <a:t>Icon</a:t>
            </a:r>
          </a:p>
          <a:p>
            <a:pPr lvl="0"/>
            <a:r>
              <a:rPr lang="en-US" dirty="0"/>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dirty="0"/>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dirty="0"/>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dirty="0"/>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dirty="0"/>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dirty="0"/>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dirty="0"/>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dirty="0"/>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dirty="0"/>
              <a:t>Content Title Line 1</a:t>
            </a:r>
            <a:br>
              <a:rPr lang="en-US" dirty="0"/>
            </a:br>
            <a:r>
              <a:rPr lang="en-US" dirty="0"/>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dirty="0"/>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A9CAE978-1C31-8C69-C452-146F4228717D}"/>
              </a:ext>
            </a:extLst>
          </p:cNvPr>
          <p:cNvGrpSpPr/>
          <p:nvPr userDrawn="1"/>
        </p:nvGrpSpPr>
        <p:grpSpPr>
          <a:xfrm>
            <a:off x="381357" y="5725874"/>
            <a:ext cx="912210" cy="341297"/>
            <a:chOff x="381357" y="5725874"/>
            <a:chExt cx="912210" cy="341297"/>
          </a:xfrm>
        </p:grpSpPr>
        <p:sp>
          <p:nvSpPr>
            <p:cNvPr id="3" name="Shape 2452">
              <a:extLst>
                <a:ext uri="{FF2B5EF4-FFF2-40B4-BE49-F238E27FC236}">
                  <a16:creationId xmlns:a16="http://schemas.microsoft.com/office/drawing/2014/main" id="{047302B8-13C4-56AE-9256-8A7B740D032E}"/>
                </a:ext>
              </a:extLst>
            </p:cNvPr>
            <p:cNvSpPr>
              <a:spLocks noChangeAspect="1"/>
            </p:cNvSpPr>
            <p:nvPr userDrawn="1"/>
          </p:nvSpPr>
          <p:spPr>
            <a:xfrm>
              <a:off x="791292"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7810425F-9063-9F01-9994-8A4A6568BF67}"/>
                </a:ext>
              </a:extLst>
            </p:cNvPr>
            <p:cNvSpPr txBox="1"/>
            <p:nvPr userDrawn="1"/>
          </p:nvSpPr>
          <p:spPr>
            <a:xfrm>
              <a:off x="381357"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E8840692-25DA-43DE-6526-243199E24B86}"/>
              </a:ext>
            </a:extLst>
          </p:cNvPr>
          <p:cNvGrpSpPr/>
          <p:nvPr userDrawn="1"/>
        </p:nvGrpSpPr>
        <p:grpSpPr>
          <a:xfrm>
            <a:off x="1337455" y="5725874"/>
            <a:ext cx="912210" cy="341297"/>
            <a:chOff x="1337455" y="5725874"/>
            <a:chExt cx="912210" cy="341297"/>
          </a:xfrm>
        </p:grpSpPr>
        <p:sp>
          <p:nvSpPr>
            <p:cNvPr id="6" name="Shape 2452">
              <a:extLst>
                <a:ext uri="{FF2B5EF4-FFF2-40B4-BE49-F238E27FC236}">
                  <a16:creationId xmlns:a16="http://schemas.microsoft.com/office/drawing/2014/main" id="{4445A435-D6F8-05A3-0EB1-F0F625BED988}"/>
                </a:ext>
              </a:extLst>
            </p:cNvPr>
            <p:cNvSpPr>
              <a:spLocks noChangeAspect="1"/>
            </p:cNvSpPr>
            <p:nvPr userDrawn="1"/>
          </p:nvSpPr>
          <p:spPr>
            <a:xfrm>
              <a:off x="174739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612433B8-D2ED-70D3-B2F2-11972C23B207}"/>
                </a:ext>
              </a:extLst>
            </p:cNvPr>
            <p:cNvSpPr txBox="1"/>
            <p:nvPr userDrawn="1"/>
          </p:nvSpPr>
          <p:spPr>
            <a:xfrm>
              <a:off x="1337455"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0" name="Group 9">
            <a:extLst>
              <a:ext uri="{FF2B5EF4-FFF2-40B4-BE49-F238E27FC236}">
                <a16:creationId xmlns:a16="http://schemas.microsoft.com/office/drawing/2014/main" id="{7067A7AF-72DA-F947-FC17-D45454120EA7}"/>
              </a:ext>
            </a:extLst>
          </p:cNvPr>
          <p:cNvGrpSpPr/>
          <p:nvPr userDrawn="1"/>
        </p:nvGrpSpPr>
        <p:grpSpPr>
          <a:xfrm>
            <a:off x="2293553" y="5725874"/>
            <a:ext cx="912210" cy="341297"/>
            <a:chOff x="2293553" y="5725874"/>
            <a:chExt cx="912210" cy="341297"/>
          </a:xfrm>
        </p:grpSpPr>
        <p:sp>
          <p:nvSpPr>
            <p:cNvPr id="11" name="Shape 2452">
              <a:extLst>
                <a:ext uri="{FF2B5EF4-FFF2-40B4-BE49-F238E27FC236}">
                  <a16:creationId xmlns:a16="http://schemas.microsoft.com/office/drawing/2014/main" id="{EA1A7DBF-93F4-7FA0-2026-C6E68377B8A8}"/>
                </a:ext>
              </a:extLst>
            </p:cNvPr>
            <p:cNvSpPr>
              <a:spLocks noChangeAspect="1"/>
            </p:cNvSpPr>
            <p:nvPr userDrawn="1"/>
          </p:nvSpPr>
          <p:spPr>
            <a:xfrm>
              <a:off x="270348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A2931132-FDC4-8202-02A1-6DCEA228F50E}"/>
                </a:ext>
              </a:extLst>
            </p:cNvPr>
            <p:cNvSpPr txBox="1"/>
            <p:nvPr userDrawn="1"/>
          </p:nvSpPr>
          <p:spPr>
            <a:xfrm>
              <a:off x="2293553"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grpSp>
      <p:grpSp>
        <p:nvGrpSpPr>
          <p:cNvPr id="13" name="Group 12">
            <a:extLst>
              <a:ext uri="{FF2B5EF4-FFF2-40B4-BE49-F238E27FC236}">
                <a16:creationId xmlns:a16="http://schemas.microsoft.com/office/drawing/2014/main" id="{89907273-F6B2-A570-0D72-9F8996E4A351}"/>
              </a:ext>
            </a:extLst>
          </p:cNvPr>
          <p:cNvGrpSpPr/>
          <p:nvPr userDrawn="1"/>
        </p:nvGrpSpPr>
        <p:grpSpPr>
          <a:xfrm>
            <a:off x="3249651" y="5725874"/>
            <a:ext cx="912210" cy="341297"/>
            <a:chOff x="3249651" y="5725874"/>
            <a:chExt cx="912210" cy="341297"/>
          </a:xfrm>
        </p:grpSpPr>
        <p:sp>
          <p:nvSpPr>
            <p:cNvPr id="14" name="Shape 2452">
              <a:extLst>
                <a:ext uri="{FF2B5EF4-FFF2-40B4-BE49-F238E27FC236}">
                  <a16:creationId xmlns:a16="http://schemas.microsoft.com/office/drawing/2014/main" id="{A21E97D9-71B4-B5A5-8949-AAED3176C8BF}"/>
                </a:ext>
              </a:extLst>
            </p:cNvPr>
            <p:cNvSpPr>
              <a:spLocks noChangeAspect="1"/>
            </p:cNvSpPr>
            <p:nvPr userDrawn="1"/>
          </p:nvSpPr>
          <p:spPr>
            <a:xfrm>
              <a:off x="3659586"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5B70521F-75B6-07F4-A80A-C81A34FF1658}"/>
                </a:ext>
              </a:extLst>
            </p:cNvPr>
            <p:cNvSpPr txBox="1"/>
            <p:nvPr userDrawn="1"/>
          </p:nvSpPr>
          <p:spPr>
            <a:xfrm>
              <a:off x="3249651" y="5928672"/>
              <a:ext cx="912210" cy="138499"/>
            </a:xfrm>
            <a:prstGeom prst="rect">
              <a:avLst/>
            </a:prstGeom>
            <a:noFill/>
          </p:spPr>
          <p:txBody>
            <a:bodyPr vert="horz" wrap="none" lIns="0" tIns="0" rIns="0" bIns="0" rtlCol="0" anchor="t">
              <a:spAutoFit/>
            </a:bodyPr>
            <a:lstStyle/>
            <a:p>
              <a:pPr marL="0" algn="ctr" defTabSz="914400" rtl="0" eaLnBrk="1" latinLnBrk="0" hangingPunct="1"/>
              <a:r>
                <a:rPr lang="en-US" sz="900" b="0" u="none" kern="1200" spc="100" baseline="0" dirty="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8F0854B0-C9A8-8AE9-F2D9-DCCDE86DE603}"/>
              </a:ext>
            </a:extLst>
          </p:cNvPr>
          <p:cNvGrpSpPr/>
          <p:nvPr userDrawn="1"/>
        </p:nvGrpSpPr>
        <p:grpSpPr>
          <a:xfrm>
            <a:off x="4205749" y="5725874"/>
            <a:ext cx="912210" cy="341297"/>
            <a:chOff x="4205749" y="5725874"/>
            <a:chExt cx="912210" cy="341297"/>
          </a:xfrm>
        </p:grpSpPr>
        <p:sp>
          <p:nvSpPr>
            <p:cNvPr id="17" name="Shape 2452">
              <a:extLst>
                <a:ext uri="{FF2B5EF4-FFF2-40B4-BE49-F238E27FC236}">
                  <a16:creationId xmlns:a16="http://schemas.microsoft.com/office/drawing/2014/main" id="{4D4BB030-CF05-ABC6-6D98-1A1595DBBE32}"/>
                </a:ext>
              </a:extLst>
            </p:cNvPr>
            <p:cNvSpPr>
              <a:spLocks noChangeAspect="1"/>
            </p:cNvSpPr>
            <p:nvPr userDrawn="1"/>
          </p:nvSpPr>
          <p:spPr>
            <a:xfrm>
              <a:off x="4615684"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4B8C667-D691-3A34-69D0-1E5AAD694B01}"/>
                </a:ext>
              </a:extLst>
            </p:cNvPr>
            <p:cNvSpPr txBox="1"/>
            <p:nvPr userDrawn="1"/>
          </p:nvSpPr>
          <p:spPr>
            <a:xfrm>
              <a:off x="4205749"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PENNSYLVANIA</a:t>
              </a:r>
            </a:p>
          </p:txBody>
        </p:sp>
      </p:grpSp>
      <p:grpSp>
        <p:nvGrpSpPr>
          <p:cNvPr id="19" name="Group 18">
            <a:extLst>
              <a:ext uri="{FF2B5EF4-FFF2-40B4-BE49-F238E27FC236}">
                <a16:creationId xmlns:a16="http://schemas.microsoft.com/office/drawing/2014/main" id="{6855A8BD-458A-06A8-4D1B-F18A02E597E3}"/>
              </a:ext>
            </a:extLst>
          </p:cNvPr>
          <p:cNvGrpSpPr/>
          <p:nvPr userDrawn="1"/>
        </p:nvGrpSpPr>
        <p:grpSpPr>
          <a:xfrm>
            <a:off x="8030141" y="5725874"/>
            <a:ext cx="912210" cy="341297"/>
            <a:chOff x="8986239" y="5725874"/>
            <a:chExt cx="912210" cy="341297"/>
          </a:xfrm>
        </p:grpSpPr>
        <p:sp>
          <p:nvSpPr>
            <p:cNvPr id="20" name="Shape 2452">
              <a:extLst>
                <a:ext uri="{FF2B5EF4-FFF2-40B4-BE49-F238E27FC236}">
                  <a16:creationId xmlns:a16="http://schemas.microsoft.com/office/drawing/2014/main" id="{6677D19A-9B6D-F306-154D-B33865EE7237}"/>
                </a:ext>
              </a:extLst>
            </p:cNvPr>
            <p:cNvSpPr>
              <a:spLocks noChangeAspect="1"/>
            </p:cNvSpPr>
            <p:nvPr userDrawn="1"/>
          </p:nvSpPr>
          <p:spPr>
            <a:xfrm>
              <a:off x="9396174"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1" name="TextBox 20">
              <a:extLst>
                <a:ext uri="{FF2B5EF4-FFF2-40B4-BE49-F238E27FC236}">
                  <a16:creationId xmlns:a16="http://schemas.microsoft.com/office/drawing/2014/main" id="{CBDAA8CB-8DE7-1F22-944E-47F332AAAD20}"/>
                </a:ext>
              </a:extLst>
            </p:cNvPr>
            <p:cNvSpPr txBox="1"/>
            <p:nvPr userDrawn="1"/>
          </p:nvSpPr>
          <p:spPr>
            <a:xfrm>
              <a:off x="8986239"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a:solidFill>
                    <a:schemeClr val="tx1"/>
                  </a:solidFill>
                  <a:latin typeface="+mj-lt"/>
                  <a:ea typeface="+mn-ea"/>
                  <a:cs typeface="Tahoma" pitchFamily="34" charset="0"/>
                </a:rPr>
                <a:t>LONDON</a:t>
              </a:r>
              <a:endParaRPr lang="en-US" sz="900" b="0" u="none" kern="1200" spc="100" baseline="0">
                <a:solidFill>
                  <a:schemeClr val="tx1"/>
                </a:solidFill>
                <a:latin typeface="+mj-lt"/>
                <a:ea typeface="+mn-ea"/>
                <a:cs typeface="Tahoma" pitchFamily="34" charset="0"/>
              </a:endParaRPr>
            </a:p>
          </p:txBody>
        </p:sp>
      </p:grpSp>
      <p:grpSp>
        <p:nvGrpSpPr>
          <p:cNvPr id="22" name="Group 21">
            <a:extLst>
              <a:ext uri="{FF2B5EF4-FFF2-40B4-BE49-F238E27FC236}">
                <a16:creationId xmlns:a16="http://schemas.microsoft.com/office/drawing/2014/main" id="{4F62F017-5CB1-F1CD-2BC5-4B426EC5953E}"/>
              </a:ext>
            </a:extLst>
          </p:cNvPr>
          <p:cNvGrpSpPr/>
          <p:nvPr userDrawn="1"/>
        </p:nvGrpSpPr>
        <p:grpSpPr>
          <a:xfrm>
            <a:off x="9942337" y="5725874"/>
            <a:ext cx="912210" cy="341297"/>
            <a:chOff x="8030141" y="5725874"/>
            <a:chExt cx="912210" cy="341297"/>
          </a:xfrm>
        </p:grpSpPr>
        <p:sp>
          <p:nvSpPr>
            <p:cNvPr id="23" name="Shape 2452">
              <a:extLst>
                <a:ext uri="{FF2B5EF4-FFF2-40B4-BE49-F238E27FC236}">
                  <a16:creationId xmlns:a16="http://schemas.microsoft.com/office/drawing/2014/main" id="{BFBCD1B5-D9E5-1493-57A0-7ED360CE73CE}"/>
                </a:ext>
              </a:extLst>
            </p:cNvPr>
            <p:cNvSpPr>
              <a:spLocks noChangeAspect="1"/>
            </p:cNvSpPr>
            <p:nvPr userDrawn="1"/>
          </p:nvSpPr>
          <p:spPr>
            <a:xfrm>
              <a:off x="8440076"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8D7711D0-E5D6-02D9-8FB8-D7194D3F1C8B}"/>
                </a:ext>
              </a:extLst>
            </p:cNvPr>
            <p:cNvSpPr txBox="1"/>
            <p:nvPr userDrawn="1"/>
          </p:nvSpPr>
          <p:spPr>
            <a:xfrm>
              <a:off x="8030141"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a:solidFill>
                    <a:schemeClr val="tx1"/>
                  </a:solidFill>
                  <a:latin typeface="+mj-lt"/>
                  <a:ea typeface="+mn-ea"/>
                  <a:cs typeface="Tahoma" pitchFamily="34" charset="0"/>
                </a:rPr>
                <a:t>CHENNAI</a:t>
              </a:r>
              <a:endParaRPr lang="en-US" sz="900" b="0" u="none" kern="1200" spc="100" baseline="0">
                <a:solidFill>
                  <a:schemeClr val="tx1"/>
                </a:solidFill>
                <a:latin typeface="+mj-lt"/>
                <a:ea typeface="+mn-ea"/>
                <a:cs typeface="Tahoma" pitchFamily="34" charset="0"/>
              </a:endParaRPr>
            </a:p>
          </p:txBody>
        </p:sp>
      </p:grpSp>
      <p:grpSp>
        <p:nvGrpSpPr>
          <p:cNvPr id="25" name="Group 24">
            <a:extLst>
              <a:ext uri="{FF2B5EF4-FFF2-40B4-BE49-F238E27FC236}">
                <a16:creationId xmlns:a16="http://schemas.microsoft.com/office/drawing/2014/main" id="{09853078-7E13-C4D6-598E-1B22B7349164}"/>
              </a:ext>
            </a:extLst>
          </p:cNvPr>
          <p:cNvGrpSpPr/>
          <p:nvPr userDrawn="1"/>
        </p:nvGrpSpPr>
        <p:grpSpPr>
          <a:xfrm>
            <a:off x="7074043" y="5725874"/>
            <a:ext cx="912210" cy="341297"/>
            <a:chOff x="6117945" y="5725874"/>
            <a:chExt cx="912210" cy="341297"/>
          </a:xfrm>
        </p:grpSpPr>
        <p:sp>
          <p:nvSpPr>
            <p:cNvPr id="26" name="Shape 2452">
              <a:extLst>
                <a:ext uri="{FF2B5EF4-FFF2-40B4-BE49-F238E27FC236}">
                  <a16:creationId xmlns:a16="http://schemas.microsoft.com/office/drawing/2014/main" id="{27D73B4D-5155-3FE8-B86E-0FD5163E85A9}"/>
                </a:ext>
              </a:extLst>
            </p:cNvPr>
            <p:cNvSpPr>
              <a:spLocks noChangeAspect="1"/>
            </p:cNvSpPr>
            <p:nvPr userDrawn="1"/>
          </p:nvSpPr>
          <p:spPr>
            <a:xfrm>
              <a:off x="652788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655A7D3B-5BED-DA36-F713-8251D6D02CB4}"/>
                </a:ext>
              </a:extLst>
            </p:cNvPr>
            <p:cNvSpPr txBox="1"/>
            <p:nvPr userDrawn="1"/>
          </p:nvSpPr>
          <p:spPr>
            <a:xfrm>
              <a:off x="6117945"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GURGAON</a:t>
              </a:r>
              <a:endParaRPr lang="en-US" sz="900" b="0" u="none" kern="1200" spc="100" baseline="0" dirty="0">
                <a:solidFill>
                  <a:schemeClr val="tx1"/>
                </a:solidFill>
                <a:latin typeface="+mj-lt"/>
                <a:ea typeface="+mn-ea"/>
                <a:cs typeface="Tahoma" pitchFamily="34" charset="0"/>
              </a:endParaRPr>
            </a:p>
          </p:txBody>
        </p:sp>
      </p:grpSp>
      <p:grpSp>
        <p:nvGrpSpPr>
          <p:cNvPr id="28" name="Group 27">
            <a:extLst>
              <a:ext uri="{FF2B5EF4-FFF2-40B4-BE49-F238E27FC236}">
                <a16:creationId xmlns:a16="http://schemas.microsoft.com/office/drawing/2014/main" id="{3FFF66C1-8A05-72E5-7D34-72FC67D4103E}"/>
              </a:ext>
            </a:extLst>
          </p:cNvPr>
          <p:cNvGrpSpPr/>
          <p:nvPr userDrawn="1"/>
        </p:nvGrpSpPr>
        <p:grpSpPr>
          <a:xfrm>
            <a:off x="8986239" y="5725874"/>
            <a:ext cx="912210" cy="341297"/>
            <a:chOff x="7074043" y="5725874"/>
            <a:chExt cx="912210" cy="341297"/>
          </a:xfrm>
        </p:grpSpPr>
        <p:sp>
          <p:nvSpPr>
            <p:cNvPr id="29" name="Shape 2452">
              <a:extLst>
                <a:ext uri="{FF2B5EF4-FFF2-40B4-BE49-F238E27FC236}">
                  <a16:creationId xmlns:a16="http://schemas.microsoft.com/office/drawing/2014/main" id="{2486E621-1DB9-0EF0-578A-979AA1B49CB9}"/>
                </a:ext>
              </a:extLst>
            </p:cNvPr>
            <p:cNvSpPr>
              <a:spLocks noChangeAspect="1"/>
            </p:cNvSpPr>
            <p:nvPr userDrawn="1"/>
          </p:nvSpPr>
          <p:spPr>
            <a:xfrm>
              <a:off x="748397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0" name="TextBox 29">
              <a:extLst>
                <a:ext uri="{FF2B5EF4-FFF2-40B4-BE49-F238E27FC236}">
                  <a16:creationId xmlns:a16="http://schemas.microsoft.com/office/drawing/2014/main" id="{31345704-3802-41D1-3C6A-BC1A0D7CE0A1}"/>
                </a:ext>
              </a:extLst>
            </p:cNvPr>
            <p:cNvSpPr txBox="1"/>
            <p:nvPr userDrawn="1"/>
          </p:nvSpPr>
          <p:spPr>
            <a:xfrm>
              <a:off x="7074043"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BENGALURU</a:t>
              </a:r>
              <a:endParaRPr lang="en-US" sz="900" b="0" u="none" kern="1200" spc="100" baseline="0" dirty="0">
                <a:solidFill>
                  <a:schemeClr val="tx1"/>
                </a:solidFill>
                <a:latin typeface="+mj-lt"/>
                <a:ea typeface="+mn-ea"/>
                <a:cs typeface="Tahoma" pitchFamily="34" charset="0"/>
              </a:endParaRPr>
            </a:p>
          </p:txBody>
        </p:sp>
      </p:grpSp>
      <p:grpSp>
        <p:nvGrpSpPr>
          <p:cNvPr id="32" name="Group 31">
            <a:extLst>
              <a:ext uri="{FF2B5EF4-FFF2-40B4-BE49-F238E27FC236}">
                <a16:creationId xmlns:a16="http://schemas.microsoft.com/office/drawing/2014/main" id="{71997E94-B164-1C98-15A2-8F0317664127}"/>
              </a:ext>
            </a:extLst>
          </p:cNvPr>
          <p:cNvGrpSpPr/>
          <p:nvPr userDrawn="1"/>
        </p:nvGrpSpPr>
        <p:grpSpPr>
          <a:xfrm>
            <a:off x="5161847" y="5725874"/>
            <a:ext cx="912210" cy="341297"/>
            <a:chOff x="5161847" y="5725874"/>
            <a:chExt cx="912210" cy="341297"/>
          </a:xfrm>
        </p:grpSpPr>
        <p:sp>
          <p:nvSpPr>
            <p:cNvPr id="33" name="Shape 2452">
              <a:extLst>
                <a:ext uri="{FF2B5EF4-FFF2-40B4-BE49-F238E27FC236}">
                  <a16:creationId xmlns:a16="http://schemas.microsoft.com/office/drawing/2014/main" id="{3E4A303B-0C43-6B3B-A05E-A8007015FA70}"/>
                </a:ext>
              </a:extLst>
            </p:cNvPr>
            <p:cNvSpPr>
              <a:spLocks noChangeAspect="1"/>
            </p:cNvSpPr>
            <p:nvPr userDrawn="1"/>
          </p:nvSpPr>
          <p:spPr>
            <a:xfrm>
              <a:off x="5571782"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DBA38B1-32B9-D55F-6ADC-03E0AE37E263}"/>
                </a:ext>
              </a:extLst>
            </p:cNvPr>
            <p:cNvSpPr txBox="1"/>
            <p:nvPr userDrawn="1"/>
          </p:nvSpPr>
          <p:spPr>
            <a:xfrm>
              <a:off x="5161847"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a:solidFill>
                    <a:schemeClr val="tx1"/>
                  </a:solidFill>
                  <a:latin typeface="+mj-lt"/>
                  <a:ea typeface="+mn-ea"/>
                  <a:cs typeface="Tahoma" pitchFamily="34" charset="0"/>
                </a:rPr>
                <a:t>TORONTO</a:t>
              </a:r>
              <a:endParaRPr lang="en-US" sz="900" b="0" u="none" kern="1200" spc="100" baseline="0">
                <a:solidFill>
                  <a:schemeClr val="tx1"/>
                </a:solidFill>
                <a:latin typeface="+mj-lt"/>
                <a:ea typeface="+mn-ea"/>
                <a:cs typeface="Tahoma" pitchFamily="34" charset="0"/>
              </a:endParaRPr>
            </a:p>
          </p:txBody>
        </p:sp>
      </p:grpSp>
      <p:grpSp>
        <p:nvGrpSpPr>
          <p:cNvPr id="35" name="Group 34">
            <a:extLst>
              <a:ext uri="{FF2B5EF4-FFF2-40B4-BE49-F238E27FC236}">
                <a16:creationId xmlns:a16="http://schemas.microsoft.com/office/drawing/2014/main" id="{656359F6-7642-94AA-1736-9C6F419FB820}"/>
              </a:ext>
            </a:extLst>
          </p:cNvPr>
          <p:cNvGrpSpPr/>
          <p:nvPr userDrawn="1"/>
        </p:nvGrpSpPr>
        <p:grpSpPr>
          <a:xfrm>
            <a:off x="6117945" y="5725874"/>
            <a:ext cx="912210" cy="341297"/>
            <a:chOff x="9942337" y="5725874"/>
            <a:chExt cx="912210" cy="341297"/>
          </a:xfrm>
        </p:grpSpPr>
        <p:sp>
          <p:nvSpPr>
            <p:cNvPr id="36" name="Shape 2452">
              <a:extLst>
                <a:ext uri="{FF2B5EF4-FFF2-40B4-BE49-F238E27FC236}">
                  <a16:creationId xmlns:a16="http://schemas.microsoft.com/office/drawing/2014/main" id="{D5D866F0-3CDC-794E-641F-96D29F89FCFC}"/>
                </a:ext>
              </a:extLst>
            </p:cNvPr>
            <p:cNvSpPr>
              <a:spLocks noChangeAspect="1"/>
            </p:cNvSpPr>
            <p:nvPr userDrawn="1"/>
          </p:nvSpPr>
          <p:spPr>
            <a:xfrm>
              <a:off x="10352272"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7" name="TextBox 36">
              <a:extLst>
                <a:ext uri="{FF2B5EF4-FFF2-40B4-BE49-F238E27FC236}">
                  <a16:creationId xmlns:a16="http://schemas.microsoft.com/office/drawing/2014/main" id="{4A13A82F-4082-A48B-5588-8D0AE36769C4}"/>
                </a:ext>
              </a:extLst>
            </p:cNvPr>
            <p:cNvSpPr txBox="1"/>
            <p:nvPr userDrawn="1"/>
          </p:nvSpPr>
          <p:spPr>
            <a:xfrm>
              <a:off x="9942337"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MUNICH</a:t>
              </a:r>
              <a:endParaRPr lang="en-US" sz="900" b="0" u="none" kern="1200" spc="100" baseline="0" dirty="0">
                <a:solidFill>
                  <a:schemeClr val="tx1"/>
                </a:solidFill>
                <a:latin typeface="+mj-lt"/>
                <a:ea typeface="+mn-ea"/>
                <a:cs typeface="Tahoma" pitchFamily="34" charset="0"/>
              </a:endParaRPr>
            </a:p>
          </p:txBody>
        </p:sp>
      </p:grpSp>
      <p:grpSp>
        <p:nvGrpSpPr>
          <p:cNvPr id="38" name="Group 37">
            <a:extLst>
              <a:ext uri="{FF2B5EF4-FFF2-40B4-BE49-F238E27FC236}">
                <a16:creationId xmlns:a16="http://schemas.microsoft.com/office/drawing/2014/main" id="{BB17CE35-1CB1-F576-ECA4-073028BC3423}"/>
              </a:ext>
            </a:extLst>
          </p:cNvPr>
          <p:cNvGrpSpPr/>
          <p:nvPr userDrawn="1"/>
        </p:nvGrpSpPr>
        <p:grpSpPr>
          <a:xfrm>
            <a:off x="10898433" y="5725874"/>
            <a:ext cx="912210" cy="341297"/>
            <a:chOff x="10898433" y="5725874"/>
            <a:chExt cx="912210" cy="341297"/>
          </a:xfrm>
        </p:grpSpPr>
        <p:sp>
          <p:nvSpPr>
            <p:cNvPr id="39" name="TextBox 38">
              <a:extLst>
                <a:ext uri="{FF2B5EF4-FFF2-40B4-BE49-F238E27FC236}">
                  <a16:creationId xmlns:a16="http://schemas.microsoft.com/office/drawing/2014/main" id="{AA1238FB-D632-F871-8F8B-DC1AFF1517EC}"/>
                </a:ext>
              </a:extLst>
            </p:cNvPr>
            <p:cNvSpPr txBox="1"/>
            <p:nvPr userDrawn="1"/>
          </p:nvSpPr>
          <p:spPr>
            <a:xfrm>
              <a:off x="10898433"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CAMBRIDGE</a:t>
              </a:r>
              <a:endParaRPr lang="en-US" sz="900" b="0" u="none" kern="1200" spc="100" baseline="0" dirty="0">
                <a:solidFill>
                  <a:schemeClr val="tx1"/>
                </a:solidFill>
                <a:latin typeface="+mj-lt"/>
                <a:ea typeface="+mn-ea"/>
                <a:cs typeface="Tahoma" pitchFamily="34" charset="0"/>
              </a:endParaRPr>
            </a:p>
          </p:txBody>
        </p:sp>
        <p:sp>
          <p:nvSpPr>
            <p:cNvPr id="40" name="Shape 2452">
              <a:extLst>
                <a:ext uri="{FF2B5EF4-FFF2-40B4-BE49-F238E27FC236}">
                  <a16:creationId xmlns:a16="http://schemas.microsoft.com/office/drawing/2014/main" id="{98E1D3E7-3C27-1396-8977-FC9B3E7723E7}"/>
                </a:ext>
              </a:extLst>
            </p:cNvPr>
            <p:cNvSpPr>
              <a:spLocks noChangeAspect="1"/>
            </p:cNvSpPr>
            <p:nvPr userDrawn="1"/>
          </p:nvSpPr>
          <p:spPr>
            <a:xfrm>
              <a:off x="11308367"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dirty="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dirty="0"/>
              <a:t>Title Line 1</a:t>
            </a:r>
            <a:br>
              <a:rPr lang="en-US" dirty="0"/>
            </a:br>
            <a:r>
              <a:rPr lang="en-US" dirty="0"/>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dirty="0"/>
              <a:t>Product </a:t>
            </a:r>
            <a:r>
              <a:rPr lang="en-US" dirty="0" err="1"/>
              <a:t>Engg</a:t>
            </a:r>
            <a:r>
              <a:rPr lang="en-US" dirty="0"/>
              <a:t> Support Process</a:t>
            </a:r>
          </a:p>
        </p:txBody>
      </p:sp>
      <p:sp>
        <p:nvSpPr>
          <p:cNvPr id="4" name="Text Placeholder 3"/>
          <p:cNvSpPr>
            <a:spLocks noGrp="1"/>
          </p:cNvSpPr>
          <p:nvPr>
            <p:ph type="body" sz="quarter" idx="13"/>
          </p:nvPr>
        </p:nvSpPr>
        <p:spPr>
          <a:xfrm>
            <a:off x="1993392" y="5406888"/>
            <a:ext cx="4876800" cy="304800"/>
          </a:xfrm>
        </p:spPr>
        <p:txBody>
          <a:bodyPr/>
          <a:lstStyle/>
          <a:p>
            <a:r>
              <a:rPr lang="en-US" dirty="0"/>
              <a:t>February 2024</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407A0B-9A2A-7EFA-D478-E59E6C4DED48}"/>
              </a:ext>
            </a:extLst>
          </p:cNvPr>
          <p:cNvGrpSpPr/>
          <p:nvPr/>
        </p:nvGrpSpPr>
        <p:grpSpPr>
          <a:xfrm>
            <a:off x="133710" y="764259"/>
            <a:ext cx="912637" cy="868379"/>
            <a:chOff x="517377" y="1011153"/>
            <a:chExt cx="1091184" cy="1003924"/>
          </a:xfrm>
        </p:grpSpPr>
        <p:pic>
          <p:nvPicPr>
            <p:cNvPr id="65" name="Picture 64" descr="Three people Generic Outline Color icon">
              <a:extLst>
                <a:ext uri="{FF2B5EF4-FFF2-40B4-BE49-F238E27FC236}">
                  <a16:creationId xmlns:a16="http://schemas.microsoft.com/office/drawing/2014/main" id="{08AFD80D-34BD-8261-4DD8-6DB359ECAF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09600" y="1011153"/>
              <a:ext cx="906738" cy="906738"/>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
              <a:extLst>
                <a:ext uri="{FF2B5EF4-FFF2-40B4-BE49-F238E27FC236}">
                  <a16:creationId xmlns:a16="http://schemas.microsoft.com/office/drawing/2014/main" id="{D5837136-FA42-A873-32C6-1648D8BE9723}"/>
                </a:ext>
              </a:extLst>
            </p:cNvPr>
            <p:cNvSpPr txBox="1"/>
            <p:nvPr/>
          </p:nvSpPr>
          <p:spPr>
            <a:xfrm>
              <a:off x="517377" y="1713452"/>
              <a:ext cx="1091184" cy="301625"/>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lgn="ctr">
                <a:spcBef>
                  <a:spcPts val="600"/>
                </a:spcBef>
                <a:spcAft>
                  <a:spcPts val="600"/>
                </a:spcAft>
                <a:buClr>
                  <a:srgbClr val="303030">
                    <a:lumMod val="50000"/>
                    <a:lumOff val="50000"/>
                  </a:srgbClr>
                </a:buClr>
              </a:pPr>
              <a:r>
                <a:rPr lang="en-US" sz="1000" dirty="0">
                  <a:solidFill>
                    <a:srgbClr val="002240"/>
                  </a:solidFill>
                  <a:cs typeface="Tahoma" pitchFamily="34" charset="0"/>
                </a:rPr>
                <a:t>CDS Project Team</a:t>
              </a:r>
            </a:p>
          </p:txBody>
        </p:sp>
      </p:grpSp>
      <p:sp>
        <p:nvSpPr>
          <p:cNvPr id="8" name="Rectangle 7">
            <a:extLst>
              <a:ext uri="{FF2B5EF4-FFF2-40B4-BE49-F238E27FC236}">
                <a16:creationId xmlns:a16="http://schemas.microsoft.com/office/drawing/2014/main" id="{3C6BDD39-C93D-B89C-764B-265771E72D18}"/>
              </a:ext>
            </a:extLst>
          </p:cNvPr>
          <p:cNvSpPr/>
          <p:nvPr/>
        </p:nvSpPr>
        <p:spPr>
          <a:xfrm>
            <a:off x="1690167" y="835382"/>
            <a:ext cx="1147980" cy="51705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Is it an Infra Issue or Product Issue?</a:t>
            </a:r>
          </a:p>
        </p:txBody>
      </p:sp>
      <p:sp>
        <p:nvSpPr>
          <p:cNvPr id="9" name="Rectangle 8">
            <a:extLst>
              <a:ext uri="{FF2B5EF4-FFF2-40B4-BE49-F238E27FC236}">
                <a16:creationId xmlns:a16="http://schemas.microsoft.com/office/drawing/2014/main" id="{6E1AF59F-3AFC-459F-28E2-D77DD810A30C}"/>
              </a:ext>
            </a:extLst>
          </p:cNvPr>
          <p:cNvSpPr/>
          <p:nvPr/>
        </p:nvSpPr>
        <p:spPr>
          <a:xfrm>
            <a:off x="7633296" y="759986"/>
            <a:ext cx="1728244" cy="619034"/>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Work with bug reporter  to discuss  further.</a:t>
            </a:r>
            <a:endParaRPr lang="en-US" sz="1000">
              <a:cs typeface="Calibri"/>
            </a:endParaRPr>
          </a:p>
        </p:txBody>
      </p:sp>
      <p:sp>
        <p:nvSpPr>
          <p:cNvPr id="10" name="Flowchart: Decision 9">
            <a:extLst>
              <a:ext uri="{FF2B5EF4-FFF2-40B4-BE49-F238E27FC236}">
                <a16:creationId xmlns:a16="http://schemas.microsoft.com/office/drawing/2014/main" id="{7863FF25-5DCE-2826-8E75-2FCF261D4939}"/>
              </a:ext>
            </a:extLst>
          </p:cNvPr>
          <p:cNvSpPr/>
          <p:nvPr/>
        </p:nvSpPr>
        <p:spPr>
          <a:xfrm>
            <a:off x="5415584" y="835958"/>
            <a:ext cx="1608201" cy="547717"/>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More info required</a:t>
            </a:r>
            <a:endParaRPr lang="en-US"/>
          </a:p>
        </p:txBody>
      </p:sp>
      <p:sp>
        <p:nvSpPr>
          <p:cNvPr id="11" name="Rectangle 10">
            <a:extLst>
              <a:ext uri="{FF2B5EF4-FFF2-40B4-BE49-F238E27FC236}">
                <a16:creationId xmlns:a16="http://schemas.microsoft.com/office/drawing/2014/main" id="{22371215-DF15-F1A2-1BD0-488A2F8F6217}"/>
              </a:ext>
            </a:extLst>
          </p:cNvPr>
          <p:cNvSpPr/>
          <p:nvPr/>
        </p:nvSpPr>
        <p:spPr>
          <a:xfrm>
            <a:off x="3778342" y="837123"/>
            <a:ext cx="1237760" cy="642452"/>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Acknowledged &amp; reviewed by Product </a:t>
            </a:r>
            <a:r>
              <a:rPr lang="en-US" sz="1000" dirty="0" err="1">
                <a:cs typeface="Calibri"/>
              </a:rPr>
              <a:t>Engg</a:t>
            </a:r>
            <a:r>
              <a:rPr lang="en-US" sz="1000" dirty="0">
                <a:cs typeface="Calibri"/>
              </a:rPr>
              <a:t> Team</a:t>
            </a:r>
            <a:endParaRPr lang="en-US" sz="1000" dirty="0"/>
          </a:p>
        </p:txBody>
      </p:sp>
      <p:cxnSp>
        <p:nvCxnSpPr>
          <p:cNvPr id="12" name="Straight Arrow Connector 11">
            <a:extLst>
              <a:ext uri="{FF2B5EF4-FFF2-40B4-BE49-F238E27FC236}">
                <a16:creationId xmlns:a16="http://schemas.microsoft.com/office/drawing/2014/main" id="{9B060155-E98D-21FF-2D9C-2A5921DB12EA}"/>
              </a:ext>
            </a:extLst>
          </p:cNvPr>
          <p:cNvCxnSpPr>
            <a:cxnSpLocks/>
            <a:endCxn id="8" idx="1"/>
          </p:cNvCxnSpPr>
          <p:nvPr/>
        </p:nvCxnSpPr>
        <p:spPr>
          <a:xfrm>
            <a:off x="1046347" y="1091364"/>
            <a:ext cx="643820" cy="254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id="{4CFB276C-66FF-A629-2912-387BDDE087EE}"/>
              </a:ext>
            </a:extLst>
          </p:cNvPr>
          <p:cNvCxnSpPr>
            <a:cxnSpLocks/>
          </p:cNvCxnSpPr>
          <p:nvPr/>
        </p:nvCxnSpPr>
        <p:spPr>
          <a:xfrm>
            <a:off x="5042528" y="1123844"/>
            <a:ext cx="38113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4" name="Straight Arrow Connector 13">
            <a:extLst>
              <a:ext uri="{FF2B5EF4-FFF2-40B4-BE49-F238E27FC236}">
                <a16:creationId xmlns:a16="http://schemas.microsoft.com/office/drawing/2014/main" id="{50AE7240-125B-9247-6805-7C8B9A93207E}"/>
              </a:ext>
            </a:extLst>
          </p:cNvPr>
          <p:cNvCxnSpPr>
            <a:cxnSpLocks/>
          </p:cNvCxnSpPr>
          <p:nvPr/>
        </p:nvCxnSpPr>
        <p:spPr>
          <a:xfrm flipV="1">
            <a:off x="6794398" y="1054549"/>
            <a:ext cx="829972" cy="19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Straight Arrow Connector 14">
            <a:extLst>
              <a:ext uri="{FF2B5EF4-FFF2-40B4-BE49-F238E27FC236}">
                <a16:creationId xmlns:a16="http://schemas.microsoft.com/office/drawing/2014/main" id="{BB2C3C26-95B7-AF2C-CFCB-5CA007A94A40}"/>
              </a:ext>
            </a:extLst>
          </p:cNvPr>
          <p:cNvCxnSpPr>
            <a:cxnSpLocks/>
          </p:cNvCxnSpPr>
          <p:nvPr/>
        </p:nvCxnSpPr>
        <p:spPr>
          <a:xfrm flipH="1">
            <a:off x="6211673" y="1255947"/>
            <a:ext cx="15" cy="3766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Connector: Elbow 15">
            <a:extLst>
              <a:ext uri="{FF2B5EF4-FFF2-40B4-BE49-F238E27FC236}">
                <a16:creationId xmlns:a16="http://schemas.microsoft.com/office/drawing/2014/main" id="{2CE1E7A8-FACF-C82E-6F3C-844C651A2EEE}"/>
              </a:ext>
            </a:extLst>
          </p:cNvPr>
          <p:cNvCxnSpPr>
            <a:cxnSpLocks/>
            <a:stCxn id="9" idx="2"/>
            <a:endCxn id="21" idx="3"/>
          </p:cNvCxnSpPr>
          <p:nvPr/>
        </p:nvCxnSpPr>
        <p:spPr>
          <a:xfrm rot="5400000">
            <a:off x="7395592" y="838936"/>
            <a:ext cx="561742" cy="1641911"/>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46">
            <a:extLst>
              <a:ext uri="{FF2B5EF4-FFF2-40B4-BE49-F238E27FC236}">
                <a16:creationId xmlns:a16="http://schemas.microsoft.com/office/drawing/2014/main" id="{6A94B98A-C09C-8BDD-BC99-45DBDEDB7278}"/>
              </a:ext>
            </a:extLst>
          </p:cNvPr>
          <p:cNvSpPr txBox="1"/>
          <p:nvPr/>
        </p:nvSpPr>
        <p:spPr>
          <a:xfrm>
            <a:off x="6911096" y="846286"/>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18" name="TextBox 47">
            <a:extLst>
              <a:ext uri="{FF2B5EF4-FFF2-40B4-BE49-F238E27FC236}">
                <a16:creationId xmlns:a16="http://schemas.microsoft.com/office/drawing/2014/main" id="{F708D20C-D533-D64A-0170-84CE9FA19556}"/>
              </a:ext>
            </a:extLst>
          </p:cNvPr>
          <p:cNvSpPr txBox="1"/>
          <p:nvPr/>
        </p:nvSpPr>
        <p:spPr>
          <a:xfrm>
            <a:off x="5564485" y="1421297"/>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No</a:t>
            </a:r>
          </a:p>
        </p:txBody>
      </p:sp>
      <p:sp>
        <p:nvSpPr>
          <p:cNvPr id="19" name="TextBox 62">
            <a:extLst>
              <a:ext uri="{FF2B5EF4-FFF2-40B4-BE49-F238E27FC236}">
                <a16:creationId xmlns:a16="http://schemas.microsoft.com/office/drawing/2014/main" id="{011BEA60-DD37-51E9-0B6F-4663A66FCC71}"/>
              </a:ext>
            </a:extLst>
          </p:cNvPr>
          <p:cNvSpPr txBox="1"/>
          <p:nvPr/>
        </p:nvSpPr>
        <p:spPr>
          <a:xfrm>
            <a:off x="945807" y="1116447"/>
            <a:ext cx="753446" cy="29600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lgn="ctr">
              <a:spcBef>
                <a:spcPts val="600"/>
              </a:spcBef>
              <a:spcAft>
                <a:spcPts val="600"/>
              </a:spcAft>
              <a:buClr>
                <a:srgbClr val="303030">
                  <a:lumMod val="50000"/>
                  <a:lumOff val="50000"/>
                </a:srgbClr>
              </a:buClr>
            </a:pPr>
            <a:r>
              <a:rPr lang="en-US" sz="1000" dirty="0">
                <a:solidFill>
                  <a:srgbClr val="002240"/>
                </a:solidFill>
                <a:cs typeface="Tahoma" pitchFamily="34" charset="0"/>
              </a:rPr>
              <a:t>Ticket raised</a:t>
            </a:r>
          </a:p>
        </p:txBody>
      </p:sp>
      <p:cxnSp>
        <p:nvCxnSpPr>
          <p:cNvPr id="20" name="Straight Arrow Connector 19">
            <a:extLst>
              <a:ext uri="{FF2B5EF4-FFF2-40B4-BE49-F238E27FC236}">
                <a16:creationId xmlns:a16="http://schemas.microsoft.com/office/drawing/2014/main" id="{247737E9-C4F6-7E40-54DE-02DDD2A846AE}"/>
              </a:ext>
            </a:extLst>
          </p:cNvPr>
          <p:cNvCxnSpPr>
            <a:cxnSpLocks/>
          </p:cNvCxnSpPr>
          <p:nvPr/>
        </p:nvCxnSpPr>
        <p:spPr>
          <a:xfrm>
            <a:off x="2048985" y="1388088"/>
            <a:ext cx="0" cy="61826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Rectangle 20">
            <a:extLst>
              <a:ext uri="{FF2B5EF4-FFF2-40B4-BE49-F238E27FC236}">
                <a16:creationId xmlns:a16="http://schemas.microsoft.com/office/drawing/2014/main" id="{7E00AD01-9278-1203-A038-4DDA975152CE}"/>
              </a:ext>
            </a:extLst>
          </p:cNvPr>
          <p:cNvSpPr/>
          <p:nvPr/>
        </p:nvSpPr>
        <p:spPr>
          <a:xfrm>
            <a:off x="5744547" y="1704892"/>
            <a:ext cx="1110960" cy="471739"/>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Ticket Analysis by Engineer</a:t>
            </a:r>
            <a:endParaRPr lang="en-US" sz="1000"/>
          </a:p>
        </p:txBody>
      </p:sp>
      <p:cxnSp>
        <p:nvCxnSpPr>
          <p:cNvPr id="23" name="Straight Arrow Connector 22">
            <a:extLst>
              <a:ext uri="{FF2B5EF4-FFF2-40B4-BE49-F238E27FC236}">
                <a16:creationId xmlns:a16="http://schemas.microsoft.com/office/drawing/2014/main" id="{C7A7F6F4-65C9-A8BE-5F43-C8EA83CB00FE}"/>
              </a:ext>
            </a:extLst>
          </p:cNvPr>
          <p:cNvCxnSpPr>
            <a:cxnSpLocks/>
            <a:endCxn id="25" idx="0"/>
          </p:cNvCxnSpPr>
          <p:nvPr/>
        </p:nvCxnSpPr>
        <p:spPr>
          <a:xfrm>
            <a:off x="6378458" y="2198084"/>
            <a:ext cx="1659" cy="58522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4" name="Flowchart: Decision 23">
            <a:extLst>
              <a:ext uri="{FF2B5EF4-FFF2-40B4-BE49-F238E27FC236}">
                <a16:creationId xmlns:a16="http://schemas.microsoft.com/office/drawing/2014/main" id="{52FB57E9-3EBA-ADA4-FB25-87D50C322B81}"/>
              </a:ext>
            </a:extLst>
          </p:cNvPr>
          <p:cNvSpPr/>
          <p:nvPr/>
        </p:nvSpPr>
        <p:spPr>
          <a:xfrm>
            <a:off x="3013650" y="2774648"/>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Is it a Bug?</a:t>
            </a:r>
          </a:p>
        </p:txBody>
      </p:sp>
      <p:sp>
        <p:nvSpPr>
          <p:cNvPr id="25" name="Flowchart: Decision 24">
            <a:extLst>
              <a:ext uri="{FF2B5EF4-FFF2-40B4-BE49-F238E27FC236}">
                <a16:creationId xmlns:a16="http://schemas.microsoft.com/office/drawing/2014/main" id="{15CCC04D-99DD-4171-5C75-0685416DB2CB}"/>
              </a:ext>
            </a:extLst>
          </p:cNvPr>
          <p:cNvSpPr/>
          <p:nvPr/>
        </p:nvSpPr>
        <p:spPr>
          <a:xfrm>
            <a:off x="5358814" y="2783304"/>
            <a:ext cx="2042605"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t>Enhancement?</a:t>
            </a:r>
          </a:p>
        </p:txBody>
      </p:sp>
      <p:sp>
        <p:nvSpPr>
          <p:cNvPr id="27" name="Flowchart: Decision 26">
            <a:extLst>
              <a:ext uri="{FF2B5EF4-FFF2-40B4-BE49-F238E27FC236}">
                <a16:creationId xmlns:a16="http://schemas.microsoft.com/office/drawing/2014/main" id="{F11D148D-DA81-43CE-30EE-7C99301801B9}"/>
              </a:ext>
            </a:extLst>
          </p:cNvPr>
          <p:cNvSpPr/>
          <p:nvPr/>
        </p:nvSpPr>
        <p:spPr>
          <a:xfrm>
            <a:off x="3013649" y="3977574"/>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t>Critical/</a:t>
            </a:r>
          </a:p>
          <a:p>
            <a:pPr algn="ctr"/>
            <a:r>
              <a:rPr lang="en-US" sz="1200" dirty="0"/>
              <a:t>High ?</a:t>
            </a:r>
          </a:p>
        </p:txBody>
      </p:sp>
      <p:cxnSp>
        <p:nvCxnSpPr>
          <p:cNvPr id="28" name="Straight Arrow Connector 27">
            <a:extLst>
              <a:ext uri="{FF2B5EF4-FFF2-40B4-BE49-F238E27FC236}">
                <a16:creationId xmlns:a16="http://schemas.microsoft.com/office/drawing/2014/main" id="{5012E229-4062-2281-5B34-E20586A6D569}"/>
              </a:ext>
            </a:extLst>
          </p:cNvPr>
          <p:cNvCxnSpPr>
            <a:cxnSpLocks/>
          </p:cNvCxnSpPr>
          <p:nvPr/>
        </p:nvCxnSpPr>
        <p:spPr>
          <a:xfrm>
            <a:off x="3786571" y="4873629"/>
            <a:ext cx="0" cy="4627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08DC5102-F0C6-5579-A61F-E7DEBA7BDEE1}"/>
              </a:ext>
            </a:extLst>
          </p:cNvPr>
          <p:cNvCxnSpPr>
            <a:cxnSpLocks/>
            <a:stCxn id="24" idx="2"/>
            <a:endCxn id="27" idx="0"/>
          </p:cNvCxnSpPr>
          <p:nvPr/>
        </p:nvCxnSpPr>
        <p:spPr>
          <a:xfrm flipH="1">
            <a:off x="3817750" y="3605477"/>
            <a:ext cx="1" cy="37209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77B05676-1239-4121-928C-06D3EDA43870}"/>
              </a:ext>
            </a:extLst>
          </p:cNvPr>
          <p:cNvCxnSpPr>
            <a:cxnSpLocks/>
          </p:cNvCxnSpPr>
          <p:nvPr/>
        </p:nvCxnSpPr>
        <p:spPr>
          <a:xfrm>
            <a:off x="4673860" y="3195095"/>
            <a:ext cx="67216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5" name="TextBox 1028">
            <a:extLst>
              <a:ext uri="{FF2B5EF4-FFF2-40B4-BE49-F238E27FC236}">
                <a16:creationId xmlns:a16="http://schemas.microsoft.com/office/drawing/2014/main" id="{99109622-3A97-A8B1-1F38-11FB1F6DDB99}"/>
              </a:ext>
            </a:extLst>
          </p:cNvPr>
          <p:cNvSpPr txBox="1"/>
          <p:nvPr/>
        </p:nvSpPr>
        <p:spPr>
          <a:xfrm>
            <a:off x="4833116" y="2957597"/>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No</a:t>
            </a:r>
          </a:p>
        </p:txBody>
      </p:sp>
      <p:sp>
        <p:nvSpPr>
          <p:cNvPr id="39" name="TextBox 1032">
            <a:extLst>
              <a:ext uri="{FF2B5EF4-FFF2-40B4-BE49-F238E27FC236}">
                <a16:creationId xmlns:a16="http://schemas.microsoft.com/office/drawing/2014/main" id="{0B0F91A0-2F6C-6454-7B8C-778E52ABFA2C}"/>
              </a:ext>
            </a:extLst>
          </p:cNvPr>
          <p:cNvSpPr txBox="1"/>
          <p:nvPr/>
        </p:nvSpPr>
        <p:spPr>
          <a:xfrm>
            <a:off x="3405666" y="4911991"/>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40" name="Rectangle 39">
            <a:extLst>
              <a:ext uri="{FF2B5EF4-FFF2-40B4-BE49-F238E27FC236}">
                <a16:creationId xmlns:a16="http://schemas.microsoft.com/office/drawing/2014/main" id="{47D56C05-0B9C-DBFD-11FD-139CF67B6394}"/>
              </a:ext>
            </a:extLst>
          </p:cNvPr>
          <p:cNvSpPr/>
          <p:nvPr/>
        </p:nvSpPr>
        <p:spPr>
          <a:xfrm>
            <a:off x="10328646" y="3937092"/>
            <a:ext cx="1311710" cy="54363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Backlog/capacity Prioritization by CDS lead</a:t>
            </a:r>
          </a:p>
        </p:txBody>
      </p:sp>
      <p:cxnSp>
        <p:nvCxnSpPr>
          <p:cNvPr id="41" name="Connector: Elbow 40">
            <a:extLst>
              <a:ext uri="{FF2B5EF4-FFF2-40B4-BE49-F238E27FC236}">
                <a16:creationId xmlns:a16="http://schemas.microsoft.com/office/drawing/2014/main" id="{2A06ECAC-A494-C440-3577-D2DE947795DF}"/>
              </a:ext>
            </a:extLst>
          </p:cNvPr>
          <p:cNvCxnSpPr>
            <a:cxnSpLocks/>
          </p:cNvCxnSpPr>
          <p:nvPr/>
        </p:nvCxnSpPr>
        <p:spPr>
          <a:xfrm flipV="1">
            <a:off x="4615334" y="4243415"/>
            <a:ext cx="5713312" cy="13070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TextBox 1038">
            <a:extLst>
              <a:ext uri="{FF2B5EF4-FFF2-40B4-BE49-F238E27FC236}">
                <a16:creationId xmlns:a16="http://schemas.microsoft.com/office/drawing/2014/main" id="{E3A0B152-5B1A-DE16-2945-4E7B63CB706D}"/>
              </a:ext>
            </a:extLst>
          </p:cNvPr>
          <p:cNvSpPr txBox="1"/>
          <p:nvPr/>
        </p:nvSpPr>
        <p:spPr>
          <a:xfrm>
            <a:off x="4635211" y="4134381"/>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No</a:t>
            </a:r>
          </a:p>
        </p:txBody>
      </p:sp>
      <p:cxnSp>
        <p:nvCxnSpPr>
          <p:cNvPr id="43" name="Connector: Elbow 42">
            <a:extLst>
              <a:ext uri="{FF2B5EF4-FFF2-40B4-BE49-F238E27FC236}">
                <a16:creationId xmlns:a16="http://schemas.microsoft.com/office/drawing/2014/main" id="{187A1022-F999-FD83-98FC-5CAF863B325E}"/>
              </a:ext>
            </a:extLst>
          </p:cNvPr>
          <p:cNvCxnSpPr>
            <a:cxnSpLocks/>
            <a:stCxn id="25" idx="2"/>
            <a:endCxn id="40" idx="0"/>
          </p:cNvCxnSpPr>
          <p:nvPr/>
        </p:nvCxnSpPr>
        <p:spPr>
          <a:xfrm rot="16200000" flipH="1">
            <a:off x="8520830" y="1473420"/>
            <a:ext cx="322959" cy="460438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Flowchart: Decision 43">
            <a:extLst>
              <a:ext uri="{FF2B5EF4-FFF2-40B4-BE49-F238E27FC236}">
                <a16:creationId xmlns:a16="http://schemas.microsoft.com/office/drawing/2014/main" id="{7AFAE09A-A4D3-ED05-9E0C-452263AE05AE}"/>
              </a:ext>
            </a:extLst>
          </p:cNvPr>
          <p:cNvSpPr/>
          <p:nvPr/>
        </p:nvSpPr>
        <p:spPr>
          <a:xfrm>
            <a:off x="3023255" y="5490633"/>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Identify Fix type</a:t>
            </a:r>
          </a:p>
        </p:txBody>
      </p:sp>
      <p:sp>
        <p:nvSpPr>
          <p:cNvPr id="45" name="Rectangle 44">
            <a:extLst>
              <a:ext uri="{FF2B5EF4-FFF2-40B4-BE49-F238E27FC236}">
                <a16:creationId xmlns:a16="http://schemas.microsoft.com/office/drawing/2014/main" id="{813DA1F2-AD40-6B18-42E3-FBD1688D9958}"/>
              </a:ext>
            </a:extLst>
          </p:cNvPr>
          <p:cNvSpPr/>
          <p:nvPr/>
        </p:nvSpPr>
        <p:spPr>
          <a:xfrm>
            <a:off x="5057929" y="5332456"/>
            <a:ext cx="925967" cy="29583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Minor Patch</a:t>
            </a:r>
          </a:p>
        </p:txBody>
      </p:sp>
      <p:sp>
        <p:nvSpPr>
          <p:cNvPr id="46" name="Rectangle 45">
            <a:extLst>
              <a:ext uri="{FF2B5EF4-FFF2-40B4-BE49-F238E27FC236}">
                <a16:creationId xmlns:a16="http://schemas.microsoft.com/office/drawing/2014/main" id="{AFBEFE0F-154A-ADC4-005A-465DE35CF041}"/>
              </a:ext>
            </a:extLst>
          </p:cNvPr>
          <p:cNvSpPr/>
          <p:nvPr/>
        </p:nvSpPr>
        <p:spPr>
          <a:xfrm>
            <a:off x="5057930" y="6150050"/>
            <a:ext cx="925965" cy="29583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Major release</a:t>
            </a:r>
          </a:p>
        </p:txBody>
      </p:sp>
      <p:cxnSp>
        <p:nvCxnSpPr>
          <p:cNvPr id="47" name="Connector: Elbow 46">
            <a:extLst>
              <a:ext uri="{FF2B5EF4-FFF2-40B4-BE49-F238E27FC236}">
                <a16:creationId xmlns:a16="http://schemas.microsoft.com/office/drawing/2014/main" id="{96E2392C-8080-0E26-D8FF-C517E424F2E0}"/>
              </a:ext>
            </a:extLst>
          </p:cNvPr>
          <p:cNvCxnSpPr>
            <a:cxnSpLocks/>
            <a:stCxn id="44" idx="3"/>
            <a:endCxn id="45" idx="1"/>
          </p:cNvCxnSpPr>
          <p:nvPr/>
        </p:nvCxnSpPr>
        <p:spPr>
          <a:xfrm flipV="1">
            <a:off x="4631456" y="5480374"/>
            <a:ext cx="426473" cy="42567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4607546E-E9A9-9971-2B89-F91723FDE64D}"/>
              </a:ext>
            </a:extLst>
          </p:cNvPr>
          <p:cNvCxnSpPr>
            <a:cxnSpLocks/>
            <a:stCxn id="44" idx="3"/>
            <a:endCxn id="46" idx="1"/>
          </p:cNvCxnSpPr>
          <p:nvPr/>
        </p:nvCxnSpPr>
        <p:spPr>
          <a:xfrm>
            <a:off x="4631456" y="5906048"/>
            <a:ext cx="426474" cy="39192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846F1244-AD90-CF48-1606-900B61BABF12}"/>
              </a:ext>
            </a:extLst>
          </p:cNvPr>
          <p:cNvSpPr/>
          <p:nvPr/>
        </p:nvSpPr>
        <p:spPr>
          <a:xfrm>
            <a:off x="6363697" y="5264911"/>
            <a:ext cx="925965" cy="3664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Estimate/ETA</a:t>
            </a:r>
            <a:endParaRPr lang="en-US" sz="1000"/>
          </a:p>
        </p:txBody>
      </p:sp>
      <p:cxnSp>
        <p:nvCxnSpPr>
          <p:cNvPr id="50" name="Straight Arrow Connector 49">
            <a:extLst>
              <a:ext uri="{FF2B5EF4-FFF2-40B4-BE49-F238E27FC236}">
                <a16:creationId xmlns:a16="http://schemas.microsoft.com/office/drawing/2014/main" id="{6966DB90-6A2C-FC0B-B0F3-723BD401928F}"/>
              </a:ext>
            </a:extLst>
          </p:cNvPr>
          <p:cNvCxnSpPr>
            <a:cxnSpLocks/>
            <a:endCxn id="49" idx="1"/>
          </p:cNvCxnSpPr>
          <p:nvPr/>
        </p:nvCxnSpPr>
        <p:spPr>
          <a:xfrm>
            <a:off x="6077395" y="5448124"/>
            <a:ext cx="2863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F143E5A3-3567-1E80-6DE8-53E265220810}"/>
              </a:ext>
            </a:extLst>
          </p:cNvPr>
          <p:cNvSpPr/>
          <p:nvPr/>
        </p:nvSpPr>
        <p:spPr>
          <a:xfrm>
            <a:off x="7579700" y="5264911"/>
            <a:ext cx="1463710" cy="3664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Sprint re-prioritization</a:t>
            </a:r>
            <a:endParaRPr lang="en-US" sz="1000"/>
          </a:p>
        </p:txBody>
      </p:sp>
      <p:sp>
        <p:nvSpPr>
          <p:cNvPr id="52" name="Rectangle 51">
            <a:extLst>
              <a:ext uri="{FF2B5EF4-FFF2-40B4-BE49-F238E27FC236}">
                <a16:creationId xmlns:a16="http://schemas.microsoft.com/office/drawing/2014/main" id="{D166E276-49D7-2B23-8674-7A8EFED71B58}"/>
              </a:ext>
            </a:extLst>
          </p:cNvPr>
          <p:cNvSpPr/>
          <p:nvPr/>
        </p:nvSpPr>
        <p:spPr>
          <a:xfrm>
            <a:off x="6363699" y="6108308"/>
            <a:ext cx="925964" cy="3664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Estimate/ETA</a:t>
            </a:r>
            <a:endParaRPr lang="en-US" sz="1000"/>
          </a:p>
        </p:txBody>
      </p:sp>
      <p:cxnSp>
        <p:nvCxnSpPr>
          <p:cNvPr id="53" name="Straight Arrow Connector 52">
            <a:extLst>
              <a:ext uri="{FF2B5EF4-FFF2-40B4-BE49-F238E27FC236}">
                <a16:creationId xmlns:a16="http://schemas.microsoft.com/office/drawing/2014/main" id="{A897B066-C793-3211-D71D-19EA7A74C5B4}"/>
              </a:ext>
            </a:extLst>
          </p:cNvPr>
          <p:cNvCxnSpPr>
            <a:cxnSpLocks/>
            <a:stCxn id="46" idx="3"/>
            <a:endCxn id="52" idx="1"/>
          </p:cNvCxnSpPr>
          <p:nvPr/>
        </p:nvCxnSpPr>
        <p:spPr>
          <a:xfrm flipV="1">
            <a:off x="5983895" y="6291521"/>
            <a:ext cx="379804" cy="64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CF147816-71D7-F607-EAF2-3E4E5F7BFDFD}"/>
              </a:ext>
            </a:extLst>
          </p:cNvPr>
          <p:cNvSpPr/>
          <p:nvPr/>
        </p:nvSpPr>
        <p:spPr>
          <a:xfrm>
            <a:off x="11147455" y="5344373"/>
            <a:ext cx="996771" cy="46274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RCA by  Product team</a:t>
            </a:r>
          </a:p>
        </p:txBody>
      </p:sp>
      <p:sp>
        <p:nvSpPr>
          <p:cNvPr id="56" name="Rectangle 55">
            <a:extLst>
              <a:ext uri="{FF2B5EF4-FFF2-40B4-BE49-F238E27FC236}">
                <a16:creationId xmlns:a16="http://schemas.microsoft.com/office/drawing/2014/main" id="{E8BAE767-C2C4-BF71-FC78-DECC3F03C897}"/>
              </a:ext>
            </a:extLst>
          </p:cNvPr>
          <p:cNvSpPr/>
          <p:nvPr/>
        </p:nvSpPr>
        <p:spPr>
          <a:xfrm>
            <a:off x="9342426" y="5584919"/>
            <a:ext cx="1110960" cy="471739"/>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Dev &amp; deploy</a:t>
            </a:r>
            <a:endParaRPr lang="en-US" sz="1000"/>
          </a:p>
        </p:txBody>
      </p:sp>
      <p:cxnSp>
        <p:nvCxnSpPr>
          <p:cNvPr id="57" name="Connector: Elbow 56">
            <a:extLst>
              <a:ext uri="{FF2B5EF4-FFF2-40B4-BE49-F238E27FC236}">
                <a16:creationId xmlns:a16="http://schemas.microsoft.com/office/drawing/2014/main" id="{3C6F742A-BC2E-388F-3668-98712BDAF548}"/>
              </a:ext>
            </a:extLst>
          </p:cNvPr>
          <p:cNvCxnSpPr>
            <a:cxnSpLocks/>
            <a:stCxn id="51" idx="3"/>
            <a:endCxn id="56" idx="0"/>
          </p:cNvCxnSpPr>
          <p:nvPr/>
        </p:nvCxnSpPr>
        <p:spPr>
          <a:xfrm>
            <a:off x="9043410" y="5448124"/>
            <a:ext cx="854496" cy="13679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nector: Elbow 57">
            <a:extLst>
              <a:ext uri="{FF2B5EF4-FFF2-40B4-BE49-F238E27FC236}">
                <a16:creationId xmlns:a16="http://schemas.microsoft.com/office/drawing/2014/main" id="{7E681E60-1325-CE1D-123F-0C78301EE1A5}"/>
              </a:ext>
            </a:extLst>
          </p:cNvPr>
          <p:cNvCxnSpPr>
            <a:cxnSpLocks/>
            <a:endCxn id="56" idx="2"/>
          </p:cNvCxnSpPr>
          <p:nvPr/>
        </p:nvCxnSpPr>
        <p:spPr>
          <a:xfrm flipV="1">
            <a:off x="8931269" y="6056658"/>
            <a:ext cx="966637" cy="19895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Flowchart: Decision 58">
            <a:extLst>
              <a:ext uri="{FF2B5EF4-FFF2-40B4-BE49-F238E27FC236}">
                <a16:creationId xmlns:a16="http://schemas.microsoft.com/office/drawing/2014/main" id="{9FA95430-263A-1E9E-AAF3-92D5F6A28A47}"/>
              </a:ext>
            </a:extLst>
          </p:cNvPr>
          <p:cNvSpPr/>
          <p:nvPr/>
        </p:nvSpPr>
        <p:spPr>
          <a:xfrm>
            <a:off x="7689703" y="6042916"/>
            <a:ext cx="1241566" cy="462065"/>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a:t>Alternate?</a:t>
            </a:r>
          </a:p>
        </p:txBody>
      </p:sp>
      <p:cxnSp>
        <p:nvCxnSpPr>
          <p:cNvPr id="60" name="Straight Arrow Connector 59">
            <a:extLst>
              <a:ext uri="{FF2B5EF4-FFF2-40B4-BE49-F238E27FC236}">
                <a16:creationId xmlns:a16="http://schemas.microsoft.com/office/drawing/2014/main" id="{53A1EACE-ACC2-5450-B6B8-AA96746A1B8A}"/>
              </a:ext>
            </a:extLst>
          </p:cNvPr>
          <p:cNvCxnSpPr>
            <a:cxnSpLocks/>
          </p:cNvCxnSpPr>
          <p:nvPr/>
        </p:nvCxnSpPr>
        <p:spPr>
          <a:xfrm flipV="1">
            <a:off x="7231923" y="6244187"/>
            <a:ext cx="370315" cy="14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7EC95E32-FAA0-0060-F1D6-AB809765092B}"/>
              </a:ext>
            </a:extLst>
          </p:cNvPr>
          <p:cNvCxnSpPr>
            <a:cxnSpLocks/>
          </p:cNvCxnSpPr>
          <p:nvPr/>
        </p:nvCxnSpPr>
        <p:spPr>
          <a:xfrm flipV="1">
            <a:off x="8238563" y="4480729"/>
            <a:ext cx="2763190" cy="202425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TextBox 1123">
            <a:extLst>
              <a:ext uri="{FF2B5EF4-FFF2-40B4-BE49-F238E27FC236}">
                <a16:creationId xmlns:a16="http://schemas.microsoft.com/office/drawing/2014/main" id="{691C430B-95DA-5BC8-B01E-AB5673C40E36}"/>
              </a:ext>
            </a:extLst>
          </p:cNvPr>
          <p:cNvSpPr txBox="1"/>
          <p:nvPr/>
        </p:nvSpPr>
        <p:spPr>
          <a:xfrm>
            <a:off x="8953388" y="6067048"/>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63" name="TextBox 1124">
            <a:extLst>
              <a:ext uri="{FF2B5EF4-FFF2-40B4-BE49-F238E27FC236}">
                <a16:creationId xmlns:a16="http://schemas.microsoft.com/office/drawing/2014/main" id="{BFE2753D-3A32-3311-A992-8DE0A8CB3653}"/>
              </a:ext>
            </a:extLst>
          </p:cNvPr>
          <p:cNvSpPr txBox="1"/>
          <p:nvPr/>
        </p:nvSpPr>
        <p:spPr>
          <a:xfrm>
            <a:off x="10634545" y="5336371"/>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No</a:t>
            </a:r>
          </a:p>
        </p:txBody>
      </p:sp>
      <p:sp>
        <p:nvSpPr>
          <p:cNvPr id="64" name="Title 1">
            <a:extLst>
              <a:ext uri="{FF2B5EF4-FFF2-40B4-BE49-F238E27FC236}">
                <a16:creationId xmlns:a16="http://schemas.microsoft.com/office/drawing/2014/main" id="{47FC912B-A588-197F-D240-EABD3D4462D5}"/>
              </a:ext>
            </a:extLst>
          </p:cNvPr>
          <p:cNvSpPr>
            <a:spLocks noGrp="1"/>
          </p:cNvSpPr>
          <p:nvPr/>
        </p:nvSpPr>
        <p:spPr>
          <a:xfrm>
            <a:off x="672859" y="215660"/>
            <a:ext cx="10893061" cy="381253"/>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2600" b="0" i="0" kern="1200" spc="120" baseline="0">
                <a:solidFill>
                  <a:schemeClr val="tx1"/>
                </a:solidFill>
                <a:latin typeface="+mn-lt"/>
                <a:ea typeface="+mj-ea"/>
                <a:cs typeface="Tahoma" pitchFamily="34" charset="0"/>
              </a:defRPr>
            </a:lvl1pPr>
          </a:lstStyle>
          <a:p>
            <a:r>
              <a:rPr lang="en-US" dirty="0">
                <a:cs typeface="Tahoma"/>
              </a:rPr>
              <a:t>Support flowchart</a:t>
            </a:r>
            <a:endParaRPr lang="en-US" dirty="0"/>
          </a:p>
        </p:txBody>
      </p:sp>
      <p:sp>
        <p:nvSpPr>
          <p:cNvPr id="4" name="Rectangle 3">
            <a:extLst>
              <a:ext uri="{FF2B5EF4-FFF2-40B4-BE49-F238E27FC236}">
                <a16:creationId xmlns:a16="http://schemas.microsoft.com/office/drawing/2014/main" id="{B2870BD7-A67F-B966-75C2-5AFB3D52AF84}"/>
              </a:ext>
            </a:extLst>
          </p:cNvPr>
          <p:cNvSpPr/>
          <p:nvPr/>
        </p:nvSpPr>
        <p:spPr>
          <a:xfrm>
            <a:off x="1436793" y="2015418"/>
            <a:ext cx="1186550" cy="55597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Acknowledged &amp; reviewed by CDS Support Team</a:t>
            </a:r>
            <a:endParaRPr lang="en-US" sz="1000" dirty="0"/>
          </a:p>
        </p:txBody>
      </p:sp>
      <p:cxnSp>
        <p:nvCxnSpPr>
          <p:cNvPr id="5" name="Straight Arrow Connector 4">
            <a:extLst>
              <a:ext uri="{FF2B5EF4-FFF2-40B4-BE49-F238E27FC236}">
                <a16:creationId xmlns:a16="http://schemas.microsoft.com/office/drawing/2014/main" id="{6B96CFD7-C29E-6C10-2AF3-169E3D4E17EC}"/>
              </a:ext>
            </a:extLst>
          </p:cNvPr>
          <p:cNvCxnSpPr>
            <a:cxnSpLocks/>
          </p:cNvCxnSpPr>
          <p:nvPr/>
        </p:nvCxnSpPr>
        <p:spPr>
          <a:xfrm>
            <a:off x="2933442" y="1109817"/>
            <a:ext cx="81847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7" name="TextBox 47">
            <a:extLst>
              <a:ext uri="{FF2B5EF4-FFF2-40B4-BE49-F238E27FC236}">
                <a16:creationId xmlns:a16="http://schemas.microsoft.com/office/drawing/2014/main" id="{555E52F7-E773-9255-9518-6A65727A9B5D}"/>
              </a:ext>
            </a:extLst>
          </p:cNvPr>
          <p:cNvSpPr txBox="1"/>
          <p:nvPr/>
        </p:nvSpPr>
        <p:spPr>
          <a:xfrm>
            <a:off x="3065074" y="1109816"/>
            <a:ext cx="741717" cy="319648"/>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Product Issues</a:t>
            </a:r>
          </a:p>
        </p:txBody>
      </p:sp>
      <p:sp>
        <p:nvSpPr>
          <p:cNvPr id="68" name="Rectangle 67">
            <a:extLst>
              <a:ext uri="{FF2B5EF4-FFF2-40B4-BE49-F238E27FC236}">
                <a16:creationId xmlns:a16="http://schemas.microsoft.com/office/drawing/2014/main" id="{95FA5A8C-FDB6-69AA-DB5F-C3BAC2C93AE1}"/>
              </a:ext>
            </a:extLst>
          </p:cNvPr>
          <p:cNvSpPr/>
          <p:nvPr/>
        </p:nvSpPr>
        <p:spPr>
          <a:xfrm>
            <a:off x="1447386" y="2971792"/>
            <a:ext cx="1186550" cy="55597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CDS Support Team Analyze and resolves the Ticket</a:t>
            </a:r>
            <a:endParaRPr lang="en-US" sz="1000" dirty="0"/>
          </a:p>
        </p:txBody>
      </p:sp>
      <p:sp>
        <p:nvSpPr>
          <p:cNvPr id="72" name="TextBox 47">
            <a:extLst>
              <a:ext uri="{FF2B5EF4-FFF2-40B4-BE49-F238E27FC236}">
                <a16:creationId xmlns:a16="http://schemas.microsoft.com/office/drawing/2014/main" id="{CACA8BE6-E2F1-01B7-EF64-5D261C626130}"/>
              </a:ext>
            </a:extLst>
          </p:cNvPr>
          <p:cNvSpPr txBox="1"/>
          <p:nvPr/>
        </p:nvSpPr>
        <p:spPr>
          <a:xfrm>
            <a:off x="2040661" y="1529200"/>
            <a:ext cx="668001" cy="29595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Infra Issues</a:t>
            </a:r>
          </a:p>
        </p:txBody>
      </p:sp>
      <p:cxnSp>
        <p:nvCxnSpPr>
          <p:cNvPr id="73" name="Straight Arrow Connector 72">
            <a:extLst>
              <a:ext uri="{FF2B5EF4-FFF2-40B4-BE49-F238E27FC236}">
                <a16:creationId xmlns:a16="http://schemas.microsoft.com/office/drawing/2014/main" id="{8B568ECB-C53A-3B7A-8582-7F935FF0DEFA}"/>
              </a:ext>
            </a:extLst>
          </p:cNvPr>
          <p:cNvCxnSpPr>
            <a:cxnSpLocks/>
          </p:cNvCxnSpPr>
          <p:nvPr/>
        </p:nvCxnSpPr>
        <p:spPr>
          <a:xfrm flipH="1">
            <a:off x="2025868" y="2595501"/>
            <a:ext cx="15" cy="3766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4" name="Rectangle: Rounded Corners 83">
            <a:extLst>
              <a:ext uri="{FF2B5EF4-FFF2-40B4-BE49-F238E27FC236}">
                <a16:creationId xmlns:a16="http://schemas.microsoft.com/office/drawing/2014/main" id="{CA20217A-9A07-00E4-2785-6FA050A4EF94}"/>
              </a:ext>
            </a:extLst>
          </p:cNvPr>
          <p:cNvSpPr/>
          <p:nvPr/>
        </p:nvSpPr>
        <p:spPr>
          <a:xfrm>
            <a:off x="9266784" y="1875324"/>
            <a:ext cx="2735522" cy="937597"/>
          </a:xfrm>
          <a:prstGeom prst="roundRect">
            <a:avLst/>
          </a:prstGeom>
          <a:solidFill>
            <a:schemeClr val="tx2">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400" b="1" dirty="0">
                <a:ea typeface="Aptos" panose="020B0004020202020204" pitchFamily="34" charset="0"/>
                <a:cs typeface="Aptos" panose="020B0004020202020204" pitchFamily="34" charset="0"/>
              </a:rPr>
              <a:t> Product </a:t>
            </a:r>
            <a:r>
              <a:rPr lang="en-IN" sz="1400" b="1" dirty="0" err="1">
                <a:ea typeface="Aptos" panose="020B0004020202020204" pitchFamily="34" charset="0"/>
                <a:cs typeface="Aptos" panose="020B0004020202020204" pitchFamily="34" charset="0"/>
              </a:rPr>
              <a:t>Engg</a:t>
            </a:r>
            <a:r>
              <a:rPr lang="en-IN" sz="1400" b="1" dirty="0">
                <a:ea typeface="Aptos" panose="020B0004020202020204" pitchFamily="34" charset="0"/>
                <a:cs typeface="Aptos" panose="020B0004020202020204" pitchFamily="34" charset="0"/>
              </a:rPr>
              <a:t> Team:</a:t>
            </a:r>
            <a:r>
              <a:rPr lang="en-IN" sz="1400" dirty="0">
                <a:ea typeface="Aptos" panose="020B0004020202020204" pitchFamily="34" charset="0"/>
                <a:cs typeface="Aptos" panose="020B0004020202020204" pitchFamily="34" charset="0"/>
              </a:rPr>
              <a:t> </a:t>
            </a:r>
          </a:p>
          <a:p>
            <a:r>
              <a:rPr lang="en-IN" sz="1400" b="1" dirty="0">
                <a:ea typeface="Aptos" panose="020B0004020202020204" pitchFamily="34" charset="0"/>
                <a:cs typeface="Aptos" panose="020B0004020202020204" pitchFamily="34" charset="0"/>
              </a:rPr>
              <a:t>Support </a:t>
            </a:r>
            <a:r>
              <a:rPr lang="en-IN" sz="1300" b="1" dirty="0">
                <a:ea typeface="Aptos" panose="020B0004020202020204" pitchFamily="34" charset="0"/>
                <a:cs typeface="Aptos" panose="020B0004020202020204" pitchFamily="34" charset="0"/>
              </a:rPr>
              <a:t>Coverage Window Timings</a:t>
            </a:r>
            <a:r>
              <a:rPr lang="en-IN" sz="1400" b="1" dirty="0">
                <a:ea typeface="Aptos" panose="020B0004020202020204" pitchFamily="34" charset="0"/>
                <a:cs typeface="Aptos" panose="020B0004020202020204" pitchFamily="34" charset="0"/>
              </a:rPr>
              <a:t> </a:t>
            </a:r>
          </a:p>
          <a:p>
            <a:r>
              <a:rPr lang="en-IN" sz="1400" b="1" dirty="0">
                <a:highlight>
                  <a:srgbClr val="008080"/>
                </a:highlight>
                <a:ea typeface="Aptos" panose="020B0004020202020204" pitchFamily="34" charset="0"/>
                <a:cs typeface="Aptos" panose="020B0004020202020204" pitchFamily="34" charset="0"/>
              </a:rPr>
              <a:t>12 noon IST – 9 pm IST </a:t>
            </a:r>
          </a:p>
          <a:p>
            <a:r>
              <a:rPr lang="en-IN" sz="1400" b="1" dirty="0">
                <a:highlight>
                  <a:srgbClr val="008080"/>
                </a:highlight>
                <a:ea typeface="Aptos" panose="020B0004020202020204" pitchFamily="34" charset="0"/>
                <a:cs typeface="Aptos" panose="020B0004020202020204" pitchFamily="34" charset="0"/>
              </a:rPr>
              <a:t>(2:30 am EST – 10:30 am EST)</a:t>
            </a:r>
            <a:endParaRPr lang="en-IN" sz="1400" dirty="0">
              <a:highlight>
                <a:srgbClr val="008080"/>
              </a:highlight>
            </a:endParaRPr>
          </a:p>
        </p:txBody>
      </p:sp>
      <p:sp>
        <p:nvSpPr>
          <p:cNvPr id="85" name="TextBox 46">
            <a:extLst>
              <a:ext uri="{FF2B5EF4-FFF2-40B4-BE49-F238E27FC236}">
                <a16:creationId xmlns:a16="http://schemas.microsoft.com/office/drawing/2014/main" id="{C89D7C45-9E3B-0865-13C8-8C675E75A3F0}"/>
              </a:ext>
            </a:extLst>
          </p:cNvPr>
          <p:cNvSpPr txBox="1"/>
          <p:nvPr/>
        </p:nvSpPr>
        <p:spPr>
          <a:xfrm>
            <a:off x="3357009" y="3637129"/>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cxnSp>
        <p:nvCxnSpPr>
          <p:cNvPr id="86" name="Connector: Elbow 85">
            <a:extLst>
              <a:ext uri="{FF2B5EF4-FFF2-40B4-BE49-F238E27FC236}">
                <a16:creationId xmlns:a16="http://schemas.microsoft.com/office/drawing/2014/main" id="{1B939AFF-4922-DB4C-E5B7-E0ABA4C1D48B}"/>
              </a:ext>
            </a:extLst>
          </p:cNvPr>
          <p:cNvCxnSpPr>
            <a:cxnSpLocks/>
            <a:stCxn id="21" idx="1"/>
          </p:cNvCxnSpPr>
          <p:nvPr/>
        </p:nvCxnSpPr>
        <p:spPr>
          <a:xfrm rot="10800000" flipV="1">
            <a:off x="3827299" y="1940761"/>
            <a:ext cx="1917248" cy="833885"/>
          </a:xfrm>
          <a:prstGeom prst="bentConnector3">
            <a:avLst>
              <a:gd name="adj1" fmla="val 99493"/>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6" name="Straight Arrow Connector 95">
            <a:extLst>
              <a:ext uri="{FF2B5EF4-FFF2-40B4-BE49-F238E27FC236}">
                <a16:creationId xmlns:a16="http://schemas.microsoft.com/office/drawing/2014/main" id="{5051A0F9-5767-45A1-BCEB-A2D9539F606F}"/>
              </a:ext>
            </a:extLst>
          </p:cNvPr>
          <p:cNvCxnSpPr>
            <a:cxnSpLocks/>
          </p:cNvCxnSpPr>
          <p:nvPr/>
        </p:nvCxnSpPr>
        <p:spPr>
          <a:xfrm>
            <a:off x="7289662" y="5439223"/>
            <a:ext cx="2863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0339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93D60-45C5-CFA5-732D-362A486C5367}"/>
              </a:ext>
            </a:extLst>
          </p:cNvPr>
          <p:cNvSpPr>
            <a:spLocks noGrp="1"/>
          </p:cNvSpPr>
          <p:nvPr>
            <p:ph type="title"/>
          </p:nvPr>
        </p:nvSpPr>
        <p:spPr/>
        <p:txBody>
          <a:bodyPr/>
          <a:lstStyle/>
          <a:p>
            <a:r>
              <a:rPr lang="en-US" dirty="0"/>
              <a:t>TERRA Customer SLA</a:t>
            </a:r>
            <a:endParaRPr lang="en-IN" dirty="0"/>
          </a:p>
        </p:txBody>
      </p:sp>
      <p:sp>
        <p:nvSpPr>
          <p:cNvPr id="3" name="Text Placeholder 2">
            <a:extLst>
              <a:ext uri="{FF2B5EF4-FFF2-40B4-BE49-F238E27FC236}">
                <a16:creationId xmlns:a16="http://schemas.microsoft.com/office/drawing/2014/main" id="{EFB6DA5A-71E8-B6BC-32EB-2624BE9100FA}"/>
              </a:ext>
            </a:extLst>
          </p:cNvPr>
          <p:cNvSpPr>
            <a:spLocks noGrp="1"/>
          </p:cNvSpPr>
          <p:nvPr>
            <p:ph type="body" sz="quarter" idx="14"/>
          </p:nvPr>
        </p:nvSpPr>
        <p:spPr/>
        <p:txBody>
          <a:bodyPr/>
          <a:lstStyle/>
          <a:p>
            <a:endParaRPr lang="en-IN"/>
          </a:p>
        </p:txBody>
      </p:sp>
      <p:graphicFrame>
        <p:nvGraphicFramePr>
          <p:cNvPr id="5" name="Table 4">
            <a:extLst>
              <a:ext uri="{FF2B5EF4-FFF2-40B4-BE49-F238E27FC236}">
                <a16:creationId xmlns:a16="http://schemas.microsoft.com/office/drawing/2014/main" id="{79F25733-22D8-266C-065C-CE1711D6595D}"/>
              </a:ext>
            </a:extLst>
          </p:cNvPr>
          <p:cNvGraphicFramePr>
            <a:graphicFrameLocks noGrp="1"/>
          </p:cNvGraphicFramePr>
          <p:nvPr>
            <p:extLst>
              <p:ext uri="{D42A27DB-BD31-4B8C-83A1-F6EECF244321}">
                <p14:modId xmlns:p14="http://schemas.microsoft.com/office/powerpoint/2010/main" val="545098463"/>
              </p:ext>
            </p:extLst>
          </p:nvPr>
        </p:nvGraphicFramePr>
        <p:xfrm>
          <a:off x="2077375" y="1711548"/>
          <a:ext cx="8282865" cy="4787642"/>
        </p:xfrm>
        <a:graphic>
          <a:graphicData uri="http://schemas.openxmlformats.org/drawingml/2006/table">
            <a:tbl>
              <a:tblPr/>
              <a:tblGrid>
                <a:gridCol w="1139252">
                  <a:extLst>
                    <a:ext uri="{9D8B030D-6E8A-4147-A177-3AD203B41FA5}">
                      <a16:colId xmlns:a16="http://schemas.microsoft.com/office/drawing/2014/main" val="3667290771"/>
                    </a:ext>
                  </a:extLst>
                </a:gridCol>
                <a:gridCol w="2178193">
                  <a:extLst>
                    <a:ext uri="{9D8B030D-6E8A-4147-A177-3AD203B41FA5}">
                      <a16:colId xmlns:a16="http://schemas.microsoft.com/office/drawing/2014/main" val="2190244131"/>
                    </a:ext>
                  </a:extLst>
                </a:gridCol>
                <a:gridCol w="1655140">
                  <a:extLst>
                    <a:ext uri="{9D8B030D-6E8A-4147-A177-3AD203B41FA5}">
                      <a16:colId xmlns:a16="http://schemas.microsoft.com/office/drawing/2014/main" val="1458907331"/>
                    </a:ext>
                  </a:extLst>
                </a:gridCol>
                <a:gridCol w="1655140">
                  <a:extLst>
                    <a:ext uri="{9D8B030D-6E8A-4147-A177-3AD203B41FA5}">
                      <a16:colId xmlns:a16="http://schemas.microsoft.com/office/drawing/2014/main" val="1008039729"/>
                    </a:ext>
                  </a:extLst>
                </a:gridCol>
                <a:gridCol w="1655140">
                  <a:extLst>
                    <a:ext uri="{9D8B030D-6E8A-4147-A177-3AD203B41FA5}">
                      <a16:colId xmlns:a16="http://schemas.microsoft.com/office/drawing/2014/main" val="4030712500"/>
                    </a:ext>
                  </a:extLst>
                </a:gridCol>
              </a:tblGrid>
              <a:tr h="0">
                <a:tc>
                  <a:txBody>
                    <a:bodyPr/>
                    <a:lstStyle/>
                    <a:p>
                      <a:pPr algn="l" fontAlgn="base"/>
                      <a:r>
                        <a:rPr lang="en-US" sz="1800" b="1" i="0">
                          <a:solidFill>
                            <a:srgbClr val="FFFFFF"/>
                          </a:solidFill>
                          <a:effectLst/>
                          <a:highlight>
                            <a:srgbClr val="346393"/>
                          </a:highlight>
                          <a:latin typeface="Calibri" panose="020F0502020204030204" pitchFamily="34" charset="0"/>
                        </a:rPr>
                        <a:t>Priority</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tc>
                  <a:txBody>
                    <a:bodyPr/>
                    <a:lstStyle/>
                    <a:p>
                      <a:pPr algn="l" fontAlgn="base"/>
                      <a:r>
                        <a:rPr lang="en-US" sz="1800" b="1" i="0">
                          <a:solidFill>
                            <a:srgbClr val="FFFFFF"/>
                          </a:solidFill>
                          <a:effectLst/>
                          <a:highlight>
                            <a:srgbClr val="346393"/>
                          </a:highlight>
                          <a:latin typeface="Calibri" panose="020F0502020204030204" pitchFamily="34" charset="0"/>
                        </a:rPr>
                        <a:t>Definition</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tc>
                  <a:txBody>
                    <a:bodyPr/>
                    <a:lstStyle/>
                    <a:p>
                      <a:pPr algn="l" fontAlgn="base"/>
                      <a:r>
                        <a:rPr lang="en-US" sz="1800" b="1" i="0">
                          <a:solidFill>
                            <a:srgbClr val="FFFFFF"/>
                          </a:solidFill>
                          <a:effectLst/>
                          <a:highlight>
                            <a:srgbClr val="346393"/>
                          </a:highlight>
                          <a:latin typeface="Calibri" panose="020F0502020204030204" pitchFamily="34" charset="0"/>
                        </a:rPr>
                        <a:t>Acknowledgement</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tc>
                  <a:txBody>
                    <a:bodyPr/>
                    <a:lstStyle/>
                    <a:p>
                      <a:pPr algn="l" fontAlgn="base"/>
                      <a:r>
                        <a:rPr lang="en-US" sz="1800" b="1" i="0">
                          <a:solidFill>
                            <a:srgbClr val="FFFFFF"/>
                          </a:solidFill>
                          <a:effectLst/>
                          <a:highlight>
                            <a:srgbClr val="346393"/>
                          </a:highlight>
                          <a:latin typeface="Calibri" panose="020F0502020204030204" pitchFamily="34" charset="0"/>
                        </a:rPr>
                        <a:t>Resolution  Time</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tc>
                  <a:txBody>
                    <a:bodyPr/>
                    <a:lstStyle/>
                    <a:p>
                      <a:pPr algn="l" fontAlgn="base"/>
                      <a:r>
                        <a:rPr lang="en-US" sz="1800" b="1" i="0">
                          <a:solidFill>
                            <a:srgbClr val="FFFFFF"/>
                          </a:solidFill>
                          <a:effectLst/>
                          <a:highlight>
                            <a:srgbClr val="346393"/>
                          </a:highlight>
                          <a:latin typeface="Calibri" panose="020F0502020204030204" pitchFamily="34" charset="0"/>
                        </a:rPr>
                        <a:t>Customer release</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extLst>
                  <a:ext uri="{0D108BD9-81ED-4DB2-BD59-A6C34878D82A}">
                    <a16:rowId xmlns:a16="http://schemas.microsoft.com/office/drawing/2014/main" val="2446461502"/>
                  </a:ext>
                </a:extLst>
              </a:tr>
              <a:tr h="956328">
                <a:tc>
                  <a:txBody>
                    <a:bodyPr/>
                    <a:lstStyle/>
                    <a:p>
                      <a:pPr algn="l" fontAlgn="base"/>
                      <a:r>
                        <a:rPr lang="en-US" sz="1600" b="1" i="0">
                          <a:solidFill>
                            <a:srgbClr val="172B3C"/>
                          </a:solidFill>
                          <a:effectLst/>
                          <a:latin typeface="Calibri" panose="020F0502020204030204" pitchFamily="34" charset="0"/>
                        </a:rPr>
                        <a:t>Critical </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dirty="0">
                          <a:solidFill>
                            <a:srgbClr val="172B3C"/>
                          </a:solidFill>
                          <a:effectLst/>
                          <a:latin typeface="Calibri" panose="020F0502020204030204" pitchFamily="34" charset="0"/>
                        </a:rPr>
                        <a:t>Renders Product / Core Feature not usable &amp; no workaround</a:t>
                      </a:r>
                      <a:r>
                        <a:rPr lang="en-US" sz="1600" b="0" i="0" dirty="0">
                          <a:solidFill>
                            <a:srgbClr val="304659"/>
                          </a:solidFill>
                          <a:effectLst/>
                          <a:latin typeface="Calibri" panose="020F0502020204030204" pitchFamily="34" charset="0"/>
                        </a:rPr>
                        <a:t>​</a:t>
                      </a:r>
                      <a:endParaRPr lang="en-US" sz="1600" b="0" i="0" dirty="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30mins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1 business day</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2 business day</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extLst>
                  <a:ext uri="{0D108BD9-81ED-4DB2-BD59-A6C34878D82A}">
                    <a16:rowId xmlns:a16="http://schemas.microsoft.com/office/drawing/2014/main" val="3288489318"/>
                  </a:ext>
                </a:extLst>
              </a:tr>
              <a:tr h="1177123">
                <a:tc>
                  <a:txBody>
                    <a:bodyPr/>
                    <a:lstStyle/>
                    <a:p>
                      <a:pPr algn="l" fontAlgn="base"/>
                      <a:r>
                        <a:rPr lang="en-US" sz="1600" b="1" i="0">
                          <a:solidFill>
                            <a:srgbClr val="172B3C"/>
                          </a:solidFill>
                          <a:effectLst/>
                          <a:latin typeface="Calibri" panose="020F0502020204030204" pitchFamily="34" charset="0"/>
                        </a:rPr>
                        <a:t>High</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Some Core Features impacted /   Partial outage without workaround</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30 mins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3 business days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5 business day</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extLst>
                  <a:ext uri="{0D108BD9-81ED-4DB2-BD59-A6C34878D82A}">
                    <a16:rowId xmlns:a16="http://schemas.microsoft.com/office/drawing/2014/main" val="3951684263"/>
                  </a:ext>
                </a:extLst>
              </a:tr>
              <a:tr h="950951">
                <a:tc>
                  <a:txBody>
                    <a:bodyPr/>
                    <a:lstStyle/>
                    <a:p>
                      <a:pPr algn="l" fontAlgn="base"/>
                      <a:r>
                        <a:rPr lang="en-US" sz="1600" b="1" i="0">
                          <a:solidFill>
                            <a:srgbClr val="172B3C"/>
                          </a:solidFill>
                          <a:effectLst/>
                          <a:latin typeface="Calibri" panose="020F0502020204030204" pitchFamily="34" charset="0"/>
                        </a:rPr>
                        <a:t>Medium</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dirty="0">
                          <a:solidFill>
                            <a:srgbClr val="172B3C"/>
                          </a:solidFill>
                          <a:effectLst/>
                          <a:latin typeface="Calibri" panose="020F0502020204030204" pitchFamily="34" charset="0"/>
                        </a:rPr>
                        <a:t>Some features not working  having some workaround</a:t>
                      </a:r>
                      <a:r>
                        <a:rPr lang="en-US" sz="1600" b="0" i="0" dirty="0">
                          <a:solidFill>
                            <a:srgbClr val="304659"/>
                          </a:solidFill>
                          <a:effectLst/>
                          <a:latin typeface="Calibri" panose="020F0502020204030204" pitchFamily="34" charset="0"/>
                        </a:rPr>
                        <a:t>​</a:t>
                      </a:r>
                      <a:endParaRPr lang="en-US" sz="1600" b="0" i="0" dirty="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1 Hour</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5 business days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TBD - Prioritization</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extLst>
                  <a:ext uri="{0D108BD9-81ED-4DB2-BD59-A6C34878D82A}">
                    <a16:rowId xmlns:a16="http://schemas.microsoft.com/office/drawing/2014/main" val="1471516105"/>
                  </a:ext>
                </a:extLst>
              </a:tr>
              <a:tr h="950951">
                <a:tc>
                  <a:txBody>
                    <a:bodyPr/>
                    <a:lstStyle/>
                    <a:p>
                      <a:pPr algn="l" fontAlgn="base"/>
                      <a:r>
                        <a:rPr lang="en-US" sz="1600" b="1" i="0">
                          <a:solidFill>
                            <a:srgbClr val="172B3C"/>
                          </a:solidFill>
                          <a:effectLst/>
                          <a:latin typeface="Calibri" panose="020F0502020204030204" pitchFamily="34" charset="0"/>
                        </a:rPr>
                        <a:t>Low</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New features / Additional   Features / Enhancements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dirty="0">
                          <a:solidFill>
                            <a:srgbClr val="172B3C"/>
                          </a:solidFill>
                          <a:effectLst/>
                          <a:latin typeface="Calibri" panose="020F0502020204030204" pitchFamily="34" charset="0"/>
                        </a:rPr>
                        <a:t>1 Day</a:t>
                      </a:r>
                      <a:r>
                        <a:rPr lang="en-US" sz="1600" b="0" i="0" dirty="0">
                          <a:solidFill>
                            <a:srgbClr val="304659"/>
                          </a:solidFill>
                          <a:effectLst/>
                          <a:latin typeface="Calibri" panose="020F0502020204030204" pitchFamily="34" charset="0"/>
                        </a:rPr>
                        <a:t>​</a:t>
                      </a:r>
                      <a:endParaRPr lang="en-US" sz="1600" b="0" i="0" dirty="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Backlog/Next feature release</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dirty="0">
                          <a:solidFill>
                            <a:srgbClr val="172B3C"/>
                          </a:solidFill>
                          <a:effectLst/>
                          <a:latin typeface="Calibri" panose="020F0502020204030204" pitchFamily="34" charset="0"/>
                        </a:rPr>
                        <a:t>Backlog Prioritization</a:t>
                      </a:r>
                      <a:r>
                        <a:rPr lang="en-US" sz="1600" b="0" i="0" dirty="0">
                          <a:solidFill>
                            <a:srgbClr val="304659"/>
                          </a:solidFill>
                          <a:effectLst/>
                          <a:latin typeface="Calibri" panose="020F0502020204030204" pitchFamily="34" charset="0"/>
                        </a:rPr>
                        <a:t>​</a:t>
                      </a:r>
                      <a:endParaRPr lang="en-US" sz="1600" b="0" i="0" dirty="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extLst>
                  <a:ext uri="{0D108BD9-81ED-4DB2-BD59-A6C34878D82A}">
                    <a16:rowId xmlns:a16="http://schemas.microsoft.com/office/drawing/2014/main" val="848784495"/>
                  </a:ext>
                </a:extLst>
              </a:tr>
            </a:tbl>
          </a:graphicData>
        </a:graphic>
      </p:graphicFrame>
      <p:sp>
        <p:nvSpPr>
          <p:cNvPr id="6" name="Rectangle 1">
            <a:extLst>
              <a:ext uri="{FF2B5EF4-FFF2-40B4-BE49-F238E27FC236}">
                <a16:creationId xmlns:a16="http://schemas.microsoft.com/office/drawing/2014/main" id="{0BDF7B95-F303-5065-8858-65EEE5728627}"/>
              </a:ext>
            </a:extLst>
          </p:cNvPr>
          <p:cNvSpPr>
            <a:spLocks noChangeArrowheads="1"/>
          </p:cNvSpPr>
          <p:nvPr/>
        </p:nvSpPr>
        <p:spPr bwMode="auto">
          <a:xfrm>
            <a:off x="1410585" y="945248"/>
            <a:ext cx="155714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31273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116D43C1-903A-47C3-8B3D-BD0FAA03CF86}" vid="{FD6EBC99-B8AC-4059-9827-D0B4D6874C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E76BEA3-4E07-476A-A775-0AF552C616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05a1d3-8381-4269-b97b-c59591b0fcbf"/>
    <ds:schemaRef ds:uri="54a53f59-c304-4886-9a17-7fc183a25b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3.xml><?xml version="1.0" encoding="utf-8"?>
<ds:datastoreItem xmlns:ds="http://schemas.openxmlformats.org/officeDocument/2006/customXml" ds:itemID="{5A53CCE1-4657-492A-B0FE-9D895D9461F5}">
  <ds:schemaRefs>
    <ds:schemaRef ds:uri="6d05a1d3-8381-4269-b97b-c59591b0fcbf"/>
    <ds:schemaRef ds:uri="http://schemas.microsoft.com/office/2006/metadata/properties"/>
    <ds:schemaRef ds:uri="http://purl.org/dc/elements/1.1/"/>
    <ds:schemaRef ds:uri="http://purl.org/dc/dcmitype/"/>
    <ds:schemaRef ds:uri="54a53f59-c304-4886-9a17-7fc183a25b92"/>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2334</TotalTime>
  <Words>244</Words>
  <Application>Microsoft Office PowerPoint</Application>
  <PresentationFormat>Widescreen</PresentationFormat>
  <Paragraphs>68</Paragraphs>
  <Slides>3</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11" baseType="lpstr">
      <vt:lpstr>Aptos</vt:lpstr>
      <vt:lpstr>Arial</vt:lpstr>
      <vt:lpstr>Calibri</vt:lpstr>
      <vt:lpstr>Courier New</vt:lpstr>
      <vt:lpstr>Tahoma</vt:lpstr>
      <vt:lpstr>Times New Roman</vt:lpstr>
      <vt:lpstr>Trinity Template 3.0</vt:lpstr>
      <vt:lpstr>think-cell Slide</vt:lpstr>
      <vt:lpstr>Product Engg Support Process</vt:lpstr>
      <vt:lpstr>PowerPoint Presentation</vt:lpstr>
      <vt:lpstr>TERRA Customer SLA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28 Point Title 1.2 Character Spacing</dc:title>
  <dc:creator>Settipally Diraj</dc:creator>
  <cp:lastModifiedBy>Jayaprakash Loganathan</cp:lastModifiedBy>
  <cp:revision>19</cp:revision>
  <dcterms:created xsi:type="dcterms:W3CDTF">2023-09-15T10:09:21Z</dcterms:created>
  <dcterms:modified xsi:type="dcterms:W3CDTF">2024-08-13T08:07:00Z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