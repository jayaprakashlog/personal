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7"/>
  </p:notesMasterIdLst>
  <p:handoutMasterIdLst>
    <p:handoutMasterId r:id="rId8"/>
  </p:handoutMasterIdLst>
  <p:sldIdLst>
    <p:sldId id="256" r:id="rId5"/>
    <p:sldId id="325" r:id="rId6"/>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9" d="100"/>
          <a:sy n="69" d="100"/>
        </p:scale>
        <p:origin x="524" y="60"/>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9/26/2024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9/26/2024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Weekly Connect Report – Prod </a:t>
            </a:r>
            <a:r>
              <a:rPr lang="en-US" dirty="0" err="1"/>
              <a:t>Engg</a:t>
            </a:r>
            <a:r>
              <a:rPr lang="en-US" dirty="0"/>
              <a:t> </a:t>
            </a:r>
          </a:p>
        </p:txBody>
      </p:sp>
      <p:sp>
        <p:nvSpPr>
          <p:cNvPr id="4" name="Text Placeholder 3"/>
          <p:cNvSpPr>
            <a:spLocks noGrp="1"/>
          </p:cNvSpPr>
          <p:nvPr>
            <p:ph type="body" sz="quarter" idx="13"/>
          </p:nvPr>
        </p:nvSpPr>
        <p:spPr>
          <a:xfrm>
            <a:off x="1993392" y="5406888"/>
            <a:ext cx="4876800" cy="304800"/>
          </a:xfrm>
        </p:spPr>
        <p:txBody>
          <a:bodyPr/>
          <a:lstStyle/>
          <a:p>
            <a:r>
              <a:rPr lang="en-US" dirty="0"/>
              <a:t>Aug 8, 2024</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dirty="0"/>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12" name="Title 11">
            <a:extLst>
              <a:ext uri="{FF2B5EF4-FFF2-40B4-BE49-F238E27FC236}">
                <a16:creationId xmlns:a16="http://schemas.microsoft.com/office/drawing/2014/main" id="{D5915986-042E-89F3-3904-49B11096F5DF}"/>
              </a:ext>
            </a:extLst>
          </p:cNvPr>
          <p:cNvSpPr>
            <a:spLocks noGrp="1"/>
          </p:cNvSpPr>
          <p:nvPr>
            <p:ph type="title"/>
          </p:nvPr>
        </p:nvSpPr>
        <p:spPr/>
        <p:txBody>
          <a:bodyPr/>
          <a:lstStyle/>
          <a:p>
            <a:r>
              <a:rPr lang="en-US" dirty="0"/>
              <a:t>Weekly Connect Report – Prod </a:t>
            </a:r>
            <a:r>
              <a:rPr lang="en-US" dirty="0" err="1"/>
              <a:t>Engg</a:t>
            </a:r>
            <a:endParaRPr lang="en-IN" dirty="0"/>
          </a:p>
        </p:txBody>
      </p:sp>
      <p:graphicFrame>
        <p:nvGraphicFramePr>
          <p:cNvPr id="17" name="Table 16">
            <a:extLst>
              <a:ext uri="{FF2B5EF4-FFF2-40B4-BE49-F238E27FC236}">
                <a16:creationId xmlns:a16="http://schemas.microsoft.com/office/drawing/2014/main" id="{13B0290F-63D3-6865-E4F0-CF61138801E5}"/>
              </a:ext>
            </a:extLst>
          </p:cNvPr>
          <p:cNvGraphicFramePr>
            <a:graphicFrameLocks noGrp="1"/>
          </p:cNvGraphicFramePr>
          <p:nvPr>
            <p:extLst>
              <p:ext uri="{D42A27DB-BD31-4B8C-83A1-F6EECF244321}">
                <p14:modId xmlns:p14="http://schemas.microsoft.com/office/powerpoint/2010/main" val="1471363795"/>
              </p:ext>
            </p:extLst>
          </p:nvPr>
        </p:nvGraphicFramePr>
        <p:xfrm>
          <a:off x="609600" y="812800"/>
          <a:ext cx="11254352" cy="4410722"/>
        </p:xfrm>
        <a:graphic>
          <a:graphicData uri="http://schemas.openxmlformats.org/drawingml/2006/table">
            <a:tbl>
              <a:tblPr>
                <a:tableStyleId>{21E4AEA4-8DFA-4A89-87EB-49C32662AFE0}</a:tableStyleId>
              </a:tblPr>
              <a:tblGrid>
                <a:gridCol w="1305856">
                  <a:extLst>
                    <a:ext uri="{9D8B030D-6E8A-4147-A177-3AD203B41FA5}">
                      <a16:colId xmlns:a16="http://schemas.microsoft.com/office/drawing/2014/main" val="2603018507"/>
                    </a:ext>
                  </a:extLst>
                </a:gridCol>
                <a:gridCol w="5445926">
                  <a:extLst>
                    <a:ext uri="{9D8B030D-6E8A-4147-A177-3AD203B41FA5}">
                      <a16:colId xmlns:a16="http://schemas.microsoft.com/office/drawing/2014/main" val="1117612962"/>
                    </a:ext>
                  </a:extLst>
                </a:gridCol>
                <a:gridCol w="1440873">
                  <a:extLst>
                    <a:ext uri="{9D8B030D-6E8A-4147-A177-3AD203B41FA5}">
                      <a16:colId xmlns:a16="http://schemas.microsoft.com/office/drawing/2014/main" val="2433567489"/>
                    </a:ext>
                  </a:extLst>
                </a:gridCol>
                <a:gridCol w="3061697">
                  <a:extLst>
                    <a:ext uri="{9D8B030D-6E8A-4147-A177-3AD203B41FA5}">
                      <a16:colId xmlns:a16="http://schemas.microsoft.com/office/drawing/2014/main" val="894164804"/>
                    </a:ext>
                  </a:extLst>
                </a:gridCol>
              </a:tblGrid>
              <a:tr h="307056">
                <a:tc>
                  <a:txBody>
                    <a:bodyPr/>
                    <a:lstStyle/>
                    <a:p>
                      <a:pPr algn="ctr" fontAlgn="ctr"/>
                      <a:r>
                        <a:rPr lang="en-IN" sz="1200" b="1" u="none" strike="noStrike">
                          <a:solidFill>
                            <a:srgbClr val="000000"/>
                          </a:solidFill>
                          <a:effectLst/>
                        </a:rPr>
                        <a:t>Topic</a:t>
                      </a:r>
                      <a:endParaRPr lang="en-IN" sz="1200" b="1" i="0" u="none" strike="noStrike">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dirty="0">
                          <a:solidFill>
                            <a:srgbClr val="000000"/>
                          </a:solidFill>
                          <a:effectLst/>
                        </a:rPr>
                        <a:t>Points Discussed</a:t>
                      </a:r>
                      <a:endParaRPr lang="en-IN" sz="1200" b="1" i="0" u="none" strike="noStrike" dirty="0">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dirty="0">
                          <a:solidFill>
                            <a:srgbClr val="000000"/>
                          </a:solidFill>
                          <a:effectLst/>
                        </a:rPr>
                        <a:t>ETA </a:t>
                      </a:r>
                      <a:endParaRPr lang="en-IN" sz="1200" b="1" i="0" u="none" strike="noStrike" dirty="0">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dirty="0">
                          <a:solidFill>
                            <a:srgbClr val="000000"/>
                          </a:solidFill>
                          <a:effectLst/>
                        </a:rPr>
                        <a:t>Comments</a:t>
                      </a:r>
                      <a:endParaRPr lang="en-IN" sz="1200" b="1" i="0" u="none" strike="noStrike" dirty="0">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extLst>
                  <a:ext uri="{0D108BD9-81ED-4DB2-BD59-A6C34878D82A}">
                    <a16:rowId xmlns:a16="http://schemas.microsoft.com/office/drawing/2014/main" val="210606602"/>
                  </a:ext>
                </a:extLst>
              </a:tr>
              <a:tr h="413380">
                <a:tc>
                  <a:txBody>
                    <a:bodyPr/>
                    <a:lstStyle/>
                    <a:p>
                      <a:pPr algn="l" fontAlgn="ctr"/>
                      <a:r>
                        <a:rPr lang="en-US" sz="1200" b="1" i="0" u="none" strike="noStrike" dirty="0">
                          <a:solidFill>
                            <a:srgbClr val="000000"/>
                          </a:solidFill>
                          <a:effectLst/>
                          <a:latin typeface="+mn-lt"/>
                        </a:rPr>
                        <a:t>SOBI – Catalog Request</a:t>
                      </a:r>
                      <a:endParaRPr lang="en-IN" sz="1200" b="1"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tc>
                  <a:txBody>
                    <a:bodyPr/>
                    <a:lstStyle/>
                    <a:p>
                      <a:pPr algn="l" fontAlgn="ctr"/>
                      <a:endParaRPr lang="en-US" sz="1200" b="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1143930089"/>
                  </a:ext>
                </a:extLst>
              </a:tr>
              <a:tr h="695038">
                <a:tc>
                  <a:txBody>
                    <a:bodyPr/>
                    <a:lstStyle/>
                    <a:p>
                      <a:pPr algn="l" fontAlgn="ctr"/>
                      <a:r>
                        <a:rPr lang="en-US" sz="1200" b="1" i="0" u="none" strike="noStrike" dirty="0">
                          <a:solidFill>
                            <a:srgbClr val="000000"/>
                          </a:solidFill>
                          <a:effectLst/>
                          <a:latin typeface="+mn-lt"/>
                        </a:rPr>
                        <a:t>Deployment Optimization</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Demo Completed. </a:t>
                      </a:r>
                    </a:p>
                    <a:p>
                      <a:pPr algn="l" fontAlgn="ctr"/>
                      <a:r>
                        <a:rPr lang="en-US" sz="1200" b="0" i="0" u="none" strike="noStrike" dirty="0">
                          <a:solidFill>
                            <a:srgbClr val="000000"/>
                          </a:solidFill>
                          <a:effectLst/>
                          <a:latin typeface="+mn-lt"/>
                        </a:rPr>
                        <a:t>Few questions raised by CDS team on the versions, discussions are scheduled for clarification</a:t>
                      </a:r>
                    </a:p>
                  </a:txBody>
                  <a:tcPr marL="6350" marR="6350" marT="6350" marB="0" anchor="ctr"/>
                </a:tc>
                <a:tc>
                  <a:txBody>
                    <a:bodyPr/>
                    <a:lstStyle/>
                    <a:p>
                      <a:pPr algn="l" fontAlgn="ct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632204546"/>
                  </a:ext>
                </a:extLst>
              </a:tr>
              <a:tr h="695038">
                <a:tc>
                  <a:txBody>
                    <a:bodyPr/>
                    <a:lstStyle/>
                    <a:p>
                      <a:pPr algn="l" fontAlgn="ctr"/>
                      <a:r>
                        <a:rPr lang="en-US" sz="1200" b="1" i="0" u="none" strike="noStrike" dirty="0">
                          <a:solidFill>
                            <a:srgbClr val="000000"/>
                          </a:solidFill>
                          <a:effectLst/>
                          <a:latin typeface="+mn-lt"/>
                        </a:rPr>
                        <a:t>Release 4.0 - Terra New features</a:t>
                      </a:r>
                      <a:endParaRPr lang="en-IN" sz="1200" b="1"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tc>
                  <a:txBody>
                    <a:bodyPr/>
                    <a:lstStyle/>
                    <a:p>
                      <a:pPr algn="l" fontAlgn="ct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1041346686"/>
                  </a:ext>
                </a:extLst>
              </a:tr>
              <a:tr h="867302">
                <a:tc>
                  <a:txBody>
                    <a:bodyPr/>
                    <a:lstStyle/>
                    <a:p>
                      <a:pPr algn="l" fontAlgn="ctr"/>
                      <a:r>
                        <a:rPr lang="en-IN" sz="1200" b="1" u="none" strike="noStrike" dirty="0">
                          <a:solidFill>
                            <a:srgbClr val="000000"/>
                          </a:solidFill>
                          <a:effectLst/>
                          <a:latin typeface="+mn-lt"/>
                        </a:rPr>
                        <a:t>Roadmap</a:t>
                      </a:r>
                      <a:endParaRPr lang="en-IN" sz="1200" b="1"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tc>
                  <a:txBody>
                    <a:bodyPr/>
                    <a:lstStyle/>
                    <a:p>
                      <a:pPr algn="l" fontAlgn="ct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339945027"/>
                  </a:ext>
                </a:extLst>
              </a:tr>
              <a:tr h="695038">
                <a:tc>
                  <a:txBody>
                    <a:bodyPr/>
                    <a:lstStyle/>
                    <a:p>
                      <a:pPr algn="l" fontAlgn="ctr"/>
                      <a:r>
                        <a:rPr lang="en-IN" sz="1200" b="1" u="none" strike="noStrike" dirty="0">
                          <a:solidFill>
                            <a:srgbClr val="000000"/>
                          </a:solidFill>
                          <a:effectLst/>
                          <a:latin typeface="+mn-lt"/>
                        </a:rPr>
                        <a:t>Ticket Status</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u="none" strike="noStrike" dirty="0">
                          <a:solidFill>
                            <a:srgbClr val="000000"/>
                          </a:solidFill>
                          <a:effectLst/>
                          <a:latin typeface="+mn-lt"/>
                        </a:rPr>
                        <a:t>No of Open tickets: 4 (All moved to Backlog)</a:t>
                      </a:r>
                    </a:p>
                    <a:p>
                      <a:pPr algn="l" fontAlgn="ctr"/>
                      <a:r>
                        <a:rPr lang="en-US" sz="1200" b="0" i="0" u="none" strike="noStrike" dirty="0">
                          <a:solidFill>
                            <a:srgbClr val="000000"/>
                          </a:solidFill>
                          <a:effectLst/>
                          <a:latin typeface="+mn-lt"/>
                        </a:rPr>
                        <a:t>No bug ticket raised in the last 3 weeks</a:t>
                      </a:r>
                    </a:p>
                  </a:txBody>
                  <a:tcPr marL="6350" marR="6350" marT="6350" marB="0" anchor="ctr"/>
                </a:tc>
                <a:tc>
                  <a:txBody>
                    <a:bodyPr/>
                    <a:lstStyle/>
                    <a:p>
                      <a:pPr algn="l" fontAlgn="ct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697122032"/>
                  </a:ext>
                </a:extLst>
              </a:tr>
              <a:tr h="731919">
                <a:tc>
                  <a:txBody>
                    <a:bodyPr/>
                    <a:lstStyle/>
                    <a:p>
                      <a:pPr algn="l" fontAlgn="ctr"/>
                      <a:r>
                        <a:rPr lang="en-US" sz="1200" b="1" i="0" u="none" strike="noStrike" dirty="0">
                          <a:solidFill>
                            <a:srgbClr val="000000"/>
                          </a:solidFill>
                          <a:effectLst/>
                          <a:latin typeface="+mn-lt"/>
                        </a:rPr>
                        <a:t>IRIS </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IRIS New features: </a:t>
                      </a:r>
                    </a:p>
                    <a:p>
                      <a:pPr algn="l" fontAlgn="ctr"/>
                      <a:endParaRPr lang="en-US" sz="1200" b="0" i="0" u="none" strike="noStrike" dirty="0">
                        <a:solidFill>
                          <a:srgbClr val="000000"/>
                        </a:solidFill>
                        <a:effectLst/>
                        <a:latin typeface="+mn-lt"/>
                      </a:endParaRPr>
                    </a:p>
                    <a:p>
                      <a:pPr algn="l" fontAlgn="ctr"/>
                      <a:r>
                        <a:rPr lang="en-US" sz="1200" b="0" i="0" u="none" strike="noStrike" dirty="0">
                          <a:solidFill>
                            <a:srgbClr val="000000"/>
                          </a:solidFill>
                          <a:effectLst/>
                          <a:latin typeface="+mn-lt"/>
                        </a:rPr>
                        <a:t>           ML Workflow – In Progress </a:t>
                      </a:r>
                    </a:p>
                    <a:p>
                      <a:pPr algn="l" fontAlgn="ctr"/>
                      <a:r>
                        <a:rPr lang="en-US" sz="1200" b="0" i="0" u="none" strike="noStrike" dirty="0">
                          <a:solidFill>
                            <a:srgbClr val="000000"/>
                          </a:solidFill>
                          <a:effectLst/>
                          <a:latin typeface="+mn-lt"/>
                        </a:rPr>
                        <a:t>           Multiple environment – In Progress</a:t>
                      </a:r>
                    </a:p>
                  </a:txBody>
                  <a:tcPr marL="6350" marR="6350" marT="6350" marB="0" anchor="ctr"/>
                </a:tc>
                <a:tc>
                  <a:txBody>
                    <a:bodyPr/>
                    <a:lstStyle/>
                    <a:p>
                      <a:pPr algn="l" fontAlgn="ctr"/>
                      <a:r>
                        <a:rPr lang="en-US" sz="1200" b="0" i="0" u="none" strike="noStrike" dirty="0">
                          <a:solidFill>
                            <a:srgbClr val="000000"/>
                          </a:solidFill>
                          <a:effectLst/>
                          <a:latin typeface="+mn-lt"/>
                        </a:rPr>
                        <a:t>   </a:t>
                      </a: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3040320075"/>
                  </a:ext>
                </a:extLst>
              </a:tr>
            </a:tbl>
          </a:graphicData>
        </a:graphic>
      </p:graphicFrame>
    </p:spTree>
    <p:extLst>
      <p:ext uri="{BB962C8B-B14F-4D97-AF65-F5344CB8AC3E}">
        <p14:creationId xmlns:p14="http://schemas.microsoft.com/office/powerpoint/2010/main" val="19281991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3.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2546</TotalTime>
  <Words>104</Words>
  <Application>Microsoft Office PowerPoint</Application>
  <PresentationFormat>Widescreen</PresentationFormat>
  <Paragraphs>24</Paragraphs>
  <Slides>2</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Aptos</vt:lpstr>
      <vt:lpstr>Arial</vt:lpstr>
      <vt:lpstr>Calibri</vt:lpstr>
      <vt:lpstr>Courier New</vt:lpstr>
      <vt:lpstr>Trinity Template 3.0</vt:lpstr>
      <vt:lpstr>think-cell Slide</vt:lpstr>
      <vt:lpstr>Weekly Connect Report – Prod Engg </vt:lpstr>
      <vt:lpstr>Weekly Connect Report – Prod Engg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15</cp:revision>
  <dcterms:created xsi:type="dcterms:W3CDTF">2024-06-17T05:33:16Z</dcterms:created>
  <dcterms:modified xsi:type="dcterms:W3CDTF">2024-09-26T16:36:25Z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