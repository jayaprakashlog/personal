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11"/>
  </p:notesMasterIdLst>
  <p:handoutMasterIdLst>
    <p:handoutMasterId r:id="rId12"/>
  </p:handoutMasterIdLst>
  <p:sldIdLst>
    <p:sldId id="256" r:id="rId5"/>
    <p:sldId id="2147483643" r:id="rId6"/>
    <p:sldId id="2147483646" r:id="rId7"/>
    <p:sldId id="2147483645" r:id="rId8"/>
    <p:sldId id="2147483647" r:id="rId9"/>
    <p:sldId id="257" r:id="rId10"/>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5C0807-3A5E-96E4-7ED0-7C5598A75D98}" name="Kevin Francis" initials="KF" userId="S::kfrancis@trinitypartners.com::0a0ef771-4e5c-4db7-b444-a345de118777" providerId="AD"/>
  <p188:author id="{51E18207-149B-2AC3-BAD3-67A1E2E2A4AC}" name="Leslie Sandberg Orne" initials="LSO" userId="S::lsandberg@trinitypartners.com::4efe3528-0ed1-4a4f-b741-a17d7df519d9" providerId="AD"/>
  <p188:author id="{277BBB7B-2E4E-140C-2A86-2A073085C26C}" name="Abbey Bernardi" initials="AB" userId="S::abernardi@trinitypartners.com::506032e0-e854-499f-9e49-225b09e3c6e5" providerId="AD"/>
  <p188:author id="{A8467CAF-3B11-2D08-B1C9-4457F6FF5DD3}" name="Nagasubramanya Nabha" initials="NN" userId="S::nnabha@trinitypartners.com::c520b22e-0303-482c-9e20-ef3db4a2ae2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06" autoAdjust="0"/>
  </p:normalViewPr>
  <p:slideViewPr>
    <p:cSldViewPr snapToGrid="0">
      <p:cViewPr varScale="1">
        <p:scale>
          <a:sx n="74" d="100"/>
          <a:sy n="74" d="100"/>
        </p:scale>
        <p:origin x="376" y="56"/>
      </p:cViewPr>
      <p:guideLst>
        <p:guide orient="horz" pos="2160"/>
        <p:guide pos="732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6600" y="2696"/>
      </p:cViewPr>
      <p:guideLst/>
    </p:cSldViewPr>
  </p:notesViewPr>
  <p:gridSpacing cx="1080001" cy="1080001"/>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8/11/2024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dirty="0"/>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8/11/2024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dirty="0"/>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dirty="0">
                <a:solidFill>
                  <a:schemeClr val="bg2">
                    <a:lumMod val="50000"/>
                  </a:schemeClr>
                </a:solidFill>
              </a:rPr>
              <a:t>This presentation is provided to you by Trinity,</a:t>
            </a:r>
            <a:r>
              <a:rPr lang="en-US" sz="700" baseline="0" dirty="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dirty="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dirty="0"/>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dirty="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dirty="0"/>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dirty="0"/>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Chart Title Line 1</a:t>
            </a:r>
            <a:br>
              <a:rPr lang="en-US" dirty="0"/>
            </a:br>
            <a:r>
              <a:rPr lang="en-US" dirty="0"/>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Content Title Line 1</a:t>
            </a:r>
            <a:br>
              <a:rPr lang="en-US" dirty="0"/>
            </a:br>
            <a:r>
              <a:rPr lang="en-US" dirty="0"/>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dirty="0"/>
              <a:t>Icon</a:t>
            </a:r>
          </a:p>
          <a:p>
            <a:pPr lvl="0"/>
            <a:r>
              <a:rPr lang="en-US" dirty="0"/>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dirty="0"/>
              <a:t>Content Title Line 1</a:t>
            </a:r>
            <a:br>
              <a:rPr lang="en-US" dirty="0"/>
            </a:br>
            <a:r>
              <a:rPr lang="en-US" dirty="0"/>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dirty="0"/>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A9CAE978-1C31-8C69-C452-146F4228717D}"/>
              </a:ext>
            </a:extLst>
          </p:cNvPr>
          <p:cNvGrpSpPr/>
          <p:nvPr userDrawn="1"/>
        </p:nvGrpSpPr>
        <p:grpSpPr>
          <a:xfrm>
            <a:off x="381357" y="5725874"/>
            <a:ext cx="912210" cy="341297"/>
            <a:chOff x="381357" y="5725874"/>
            <a:chExt cx="912210" cy="341297"/>
          </a:xfrm>
        </p:grpSpPr>
        <p:sp>
          <p:nvSpPr>
            <p:cNvPr id="3" name="Shape 2452">
              <a:extLst>
                <a:ext uri="{FF2B5EF4-FFF2-40B4-BE49-F238E27FC236}">
                  <a16:creationId xmlns:a16="http://schemas.microsoft.com/office/drawing/2014/main" id="{047302B8-13C4-56AE-9256-8A7B740D032E}"/>
                </a:ext>
              </a:extLst>
            </p:cNvPr>
            <p:cNvSpPr>
              <a:spLocks noChangeAspect="1"/>
            </p:cNvSpPr>
            <p:nvPr userDrawn="1"/>
          </p:nvSpPr>
          <p:spPr>
            <a:xfrm>
              <a:off x="79129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7810425F-9063-9F01-9994-8A4A6568BF67}"/>
                </a:ext>
              </a:extLst>
            </p:cNvPr>
            <p:cNvSpPr txBox="1"/>
            <p:nvPr userDrawn="1"/>
          </p:nvSpPr>
          <p:spPr>
            <a:xfrm>
              <a:off x="38135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E8840692-25DA-43DE-6526-243199E24B86}"/>
              </a:ext>
            </a:extLst>
          </p:cNvPr>
          <p:cNvGrpSpPr/>
          <p:nvPr userDrawn="1"/>
        </p:nvGrpSpPr>
        <p:grpSpPr>
          <a:xfrm>
            <a:off x="1337455" y="5725874"/>
            <a:ext cx="912210" cy="341297"/>
            <a:chOff x="1337455" y="5725874"/>
            <a:chExt cx="912210" cy="341297"/>
          </a:xfrm>
        </p:grpSpPr>
        <p:sp>
          <p:nvSpPr>
            <p:cNvPr id="6" name="Shape 2452">
              <a:extLst>
                <a:ext uri="{FF2B5EF4-FFF2-40B4-BE49-F238E27FC236}">
                  <a16:creationId xmlns:a16="http://schemas.microsoft.com/office/drawing/2014/main" id="{4445A435-D6F8-05A3-0EB1-F0F625BED988}"/>
                </a:ext>
              </a:extLst>
            </p:cNvPr>
            <p:cNvSpPr>
              <a:spLocks noChangeAspect="1"/>
            </p:cNvSpPr>
            <p:nvPr userDrawn="1"/>
          </p:nvSpPr>
          <p:spPr>
            <a:xfrm>
              <a:off x="174739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612433B8-D2ED-70D3-B2F2-11972C23B207}"/>
                </a:ext>
              </a:extLst>
            </p:cNvPr>
            <p:cNvSpPr txBox="1"/>
            <p:nvPr userDrawn="1"/>
          </p:nvSpPr>
          <p:spPr>
            <a:xfrm>
              <a:off x="133745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0" name="Group 9">
            <a:extLst>
              <a:ext uri="{FF2B5EF4-FFF2-40B4-BE49-F238E27FC236}">
                <a16:creationId xmlns:a16="http://schemas.microsoft.com/office/drawing/2014/main" id="{7067A7AF-72DA-F947-FC17-D45454120EA7}"/>
              </a:ext>
            </a:extLst>
          </p:cNvPr>
          <p:cNvGrpSpPr/>
          <p:nvPr userDrawn="1"/>
        </p:nvGrpSpPr>
        <p:grpSpPr>
          <a:xfrm>
            <a:off x="2293553" y="5725874"/>
            <a:ext cx="912210" cy="341297"/>
            <a:chOff x="2293553" y="5725874"/>
            <a:chExt cx="912210" cy="341297"/>
          </a:xfrm>
        </p:grpSpPr>
        <p:sp>
          <p:nvSpPr>
            <p:cNvPr id="11" name="Shape 2452">
              <a:extLst>
                <a:ext uri="{FF2B5EF4-FFF2-40B4-BE49-F238E27FC236}">
                  <a16:creationId xmlns:a16="http://schemas.microsoft.com/office/drawing/2014/main" id="{EA1A7DBF-93F4-7FA0-2026-C6E68377B8A8}"/>
                </a:ext>
              </a:extLst>
            </p:cNvPr>
            <p:cNvSpPr>
              <a:spLocks noChangeAspect="1"/>
            </p:cNvSpPr>
            <p:nvPr userDrawn="1"/>
          </p:nvSpPr>
          <p:spPr>
            <a:xfrm>
              <a:off x="270348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A2931132-FDC4-8202-02A1-6DCEA228F50E}"/>
                </a:ext>
              </a:extLst>
            </p:cNvPr>
            <p:cNvSpPr txBox="1"/>
            <p:nvPr userDrawn="1"/>
          </p:nvSpPr>
          <p:spPr>
            <a:xfrm>
              <a:off x="229355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grpSp>
      <p:grpSp>
        <p:nvGrpSpPr>
          <p:cNvPr id="13" name="Group 12">
            <a:extLst>
              <a:ext uri="{FF2B5EF4-FFF2-40B4-BE49-F238E27FC236}">
                <a16:creationId xmlns:a16="http://schemas.microsoft.com/office/drawing/2014/main" id="{89907273-F6B2-A570-0D72-9F8996E4A351}"/>
              </a:ext>
            </a:extLst>
          </p:cNvPr>
          <p:cNvGrpSpPr/>
          <p:nvPr userDrawn="1"/>
        </p:nvGrpSpPr>
        <p:grpSpPr>
          <a:xfrm>
            <a:off x="3249651" y="5725874"/>
            <a:ext cx="912210" cy="341297"/>
            <a:chOff x="3249651" y="5725874"/>
            <a:chExt cx="912210" cy="341297"/>
          </a:xfrm>
        </p:grpSpPr>
        <p:sp>
          <p:nvSpPr>
            <p:cNvPr id="14" name="Shape 2452">
              <a:extLst>
                <a:ext uri="{FF2B5EF4-FFF2-40B4-BE49-F238E27FC236}">
                  <a16:creationId xmlns:a16="http://schemas.microsoft.com/office/drawing/2014/main" id="{A21E97D9-71B4-B5A5-8949-AAED3176C8BF}"/>
                </a:ext>
              </a:extLst>
            </p:cNvPr>
            <p:cNvSpPr>
              <a:spLocks noChangeAspect="1"/>
            </p:cNvSpPr>
            <p:nvPr userDrawn="1"/>
          </p:nvSpPr>
          <p:spPr>
            <a:xfrm>
              <a:off x="365958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5B70521F-75B6-07F4-A80A-C81A34FF1658}"/>
                </a:ext>
              </a:extLst>
            </p:cNvPr>
            <p:cNvSpPr txBox="1"/>
            <p:nvPr userDrawn="1"/>
          </p:nvSpPr>
          <p:spPr>
            <a:xfrm>
              <a:off x="3249651" y="5928672"/>
              <a:ext cx="912210" cy="138499"/>
            </a:xfrm>
            <a:prstGeom prst="rect">
              <a:avLst/>
            </a:prstGeom>
            <a:noFill/>
          </p:spPr>
          <p:txBody>
            <a:bodyPr vert="horz" wrap="none" lIns="0" tIns="0" rIns="0" bIns="0" rtlCol="0" anchor="t">
              <a:spAutoFit/>
            </a:bodyPr>
            <a:lstStyle/>
            <a:p>
              <a:pPr marL="0" algn="ctr" defTabSz="914400" rtl="0" eaLnBrk="1" latinLnBrk="0" hangingPunct="1"/>
              <a:r>
                <a:rPr lang="en-US" sz="900" b="0" u="none" kern="1200" spc="100" baseline="0" dirty="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8F0854B0-C9A8-8AE9-F2D9-DCCDE86DE603}"/>
              </a:ext>
            </a:extLst>
          </p:cNvPr>
          <p:cNvGrpSpPr/>
          <p:nvPr userDrawn="1"/>
        </p:nvGrpSpPr>
        <p:grpSpPr>
          <a:xfrm>
            <a:off x="4205749" y="5725874"/>
            <a:ext cx="912210" cy="341297"/>
            <a:chOff x="4205749" y="5725874"/>
            <a:chExt cx="912210" cy="341297"/>
          </a:xfrm>
        </p:grpSpPr>
        <p:sp>
          <p:nvSpPr>
            <p:cNvPr id="17" name="Shape 2452">
              <a:extLst>
                <a:ext uri="{FF2B5EF4-FFF2-40B4-BE49-F238E27FC236}">
                  <a16:creationId xmlns:a16="http://schemas.microsoft.com/office/drawing/2014/main" id="{4D4BB030-CF05-ABC6-6D98-1A1595DBBE32}"/>
                </a:ext>
              </a:extLst>
            </p:cNvPr>
            <p:cNvSpPr>
              <a:spLocks noChangeAspect="1"/>
            </p:cNvSpPr>
            <p:nvPr userDrawn="1"/>
          </p:nvSpPr>
          <p:spPr>
            <a:xfrm>
              <a:off x="461568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4B8C667-D691-3A34-69D0-1E5AAD694B01}"/>
                </a:ext>
              </a:extLst>
            </p:cNvPr>
            <p:cNvSpPr txBox="1"/>
            <p:nvPr userDrawn="1"/>
          </p:nvSpPr>
          <p:spPr>
            <a:xfrm>
              <a:off x="420574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PENNSYLVANIA</a:t>
              </a:r>
            </a:p>
          </p:txBody>
        </p:sp>
      </p:grpSp>
      <p:grpSp>
        <p:nvGrpSpPr>
          <p:cNvPr id="19" name="Group 18">
            <a:extLst>
              <a:ext uri="{FF2B5EF4-FFF2-40B4-BE49-F238E27FC236}">
                <a16:creationId xmlns:a16="http://schemas.microsoft.com/office/drawing/2014/main" id="{6855A8BD-458A-06A8-4D1B-F18A02E597E3}"/>
              </a:ext>
            </a:extLst>
          </p:cNvPr>
          <p:cNvGrpSpPr/>
          <p:nvPr userDrawn="1"/>
        </p:nvGrpSpPr>
        <p:grpSpPr>
          <a:xfrm>
            <a:off x="8030141" y="5725874"/>
            <a:ext cx="912210" cy="341297"/>
            <a:chOff x="8986239" y="5725874"/>
            <a:chExt cx="912210" cy="341297"/>
          </a:xfrm>
        </p:grpSpPr>
        <p:sp>
          <p:nvSpPr>
            <p:cNvPr id="20" name="Shape 2452">
              <a:extLst>
                <a:ext uri="{FF2B5EF4-FFF2-40B4-BE49-F238E27FC236}">
                  <a16:creationId xmlns:a16="http://schemas.microsoft.com/office/drawing/2014/main" id="{6677D19A-9B6D-F306-154D-B33865EE7237}"/>
                </a:ext>
              </a:extLst>
            </p:cNvPr>
            <p:cNvSpPr>
              <a:spLocks noChangeAspect="1"/>
            </p:cNvSpPr>
            <p:nvPr userDrawn="1"/>
          </p:nvSpPr>
          <p:spPr>
            <a:xfrm>
              <a:off x="939617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1" name="TextBox 20">
              <a:extLst>
                <a:ext uri="{FF2B5EF4-FFF2-40B4-BE49-F238E27FC236}">
                  <a16:creationId xmlns:a16="http://schemas.microsoft.com/office/drawing/2014/main" id="{CBDAA8CB-8DE7-1F22-944E-47F332AAAD20}"/>
                </a:ext>
              </a:extLst>
            </p:cNvPr>
            <p:cNvSpPr txBox="1"/>
            <p:nvPr userDrawn="1"/>
          </p:nvSpPr>
          <p:spPr>
            <a:xfrm>
              <a:off x="898623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LONDON</a:t>
              </a:r>
              <a:endParaRPr lang="en-US" sz="900" b="0" u="none" kern="1200" spc="100" baseline="0">
                <a:solidFill>
                  <a:schemeClr val="tx1"/>
                </a:solidFill>
                <a:latin typeface="+mj-lt"/>
                <a:ea typeface="+mn-ea"/>
                <a:cs typeface="Tahoma" pitchFamily="34" charset="0"/>
              </a:endParaRPr>
            </a:p>
          </p:txBody>
        </p:sp>
      </p:grpSp>
      <p:grpSp>
        <p:nvGrpSpPr>
          <p:cNvPr id="22" name="Group 21">
            <a:extLst>
              <a:ext uri="{FF2B5EF4-FFF2-40B4-BE49-F238E27FC236}">
                <a16:creationId xmlns:a16="http://schemas.microsoft.com/office/drawing/2014/main" id="{4F62F017-5CB1-F1CD-2BC5-4B426EC5953E}"/>
              </a:ext>
            </a:extLst>
          </p:cNvPr>
          <p:cNvGrpSpPr/>
          <p:nvPr userDrawn="1"/>
        </p:nvGrpSpPr>
        <p:grpSpPr>
          <a:xfrm>
            <a:off x="9942337" y="5725874"/>
            <a:ext cx="912210" cy="341297"/>
            <a:chOff x="8030141" y="5725874"/>
            <a:chExt cx="912210" cy="341297"/>
          </a:xfrm>
        </p:grpSpPr>
        <p:sp>
          <p:nvSpPr>
            <p:cNvPr id="23" name="Shape 2452">
              <a:extLst>
                <a:ext uri="{FF2B5EF4-FFF2-40B4-BE49-F238E27FC236}">
                  <a16:creationId xmlns:a16="http://schemas.microsoft.com/office/drawing/2014/main" id="{BFBCD1B5-D9E5-1493-57A0-7ED360CE73CE}"/>
                </a:ext>
              </a:extLst>
            </p:cNvPr>
            <p:cNvSpPr>
              <a:spLocks noChangeAspect="1"/>
            </p:cNvSpPr>
            <p:nvPr userDrawn="1"/>
          </p:nvSpPr>
          <p:spPr>
            <a:xfrm>
              <a:off x="844007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8D7711D0-E5D6-02D9-8FB8-D7194D3F1C8B}"/>
                </a:ext>
              </a:extLst>
            </p:cNvPr>
            <p:cNvSpPr txBox="1"/>
            <p:nvPr userDrawn="1"/>
          </p:nvSpPr>
          <p:spPr>
            <a:xfrm>
              <a:off x="8030141"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CHENNAI</a:t>
              </a:r>
              <a:endParaRPr lang="en-US" sz="900" b="0" u="none" kern="1200" spc="100" baseline="0">
                <a:solidFill>
                  <a:schemeClr val="tx1"/>
                </a:solidFill>
                <a:latin typeface="+mj-lt"/>
                <a:ea typeface="+mn-ea"/>
                <a:cs typeface="Tahoma" pitchFamily="34" charset="0"/>
              </a:endParaRPr>
            </a:p>
          </p:txBody>
        </p:sp>
      </p:grpSp>
      <p:grpSp>
        <p:nvGrpSpPr>
          <p:cNvPr id="25" name="Group 24">
            <a:extLst>
              <a:ext uri="{FF2B5EF4-FFF2-40B4-BE49-F238E27FC236}">
                <a16:creationId xmlns:a16="http://schemas.microsoft.com/office/drawing/2014/main" id="{09853078-7E13-C4D6-598E-1B22B7349164}"/>
              </a:ext>
            </a:extLst>
          </p:cNvPr>
          <p:cNvGrpSpPr/>
          <p:nvPr userDrawn="1"/>
        </p:nvGrpSpPr>
        <p:grpSpPr>
          <a:xfrm>
            <a:off x="7074043" y="5725874"/>
            <a:ext cx="912210" cy="341297"/>
            <a:chOff x="6117945" y="5725874"/>
            <a:chExt cx="912210" cy="341297"/>
          </a:xfrm>
        </p:grpSpPr>
        <p:sp>
          <p:nvSpPr>
            <p:cNvPr id="26" name="Shape 2452">
              <a:extLst>
                <a:ext uri="{FF2B5EF4-FFF2-40B4-BE49-F238E27FC236}">
                  <a16:creationId xmlns:a16="http://schemas.microsoft.com/office/drawing/2014/main" id="{27D73B4D-5155-3FE8-B86E-0FD5163E85A9}"/>
                </a:ext>
              </a:extLst>
            </p:cNvPr>
            <p:cNvSpPr>
              <a:spLocks noChangeAspect="1"/>
            </p:cNvSpPr>
            <p:nvPr userDrawn="1"/>
          </p:nvSpPr>
          <p:spPr>
            <a:xfrm>
              <a:off x="652788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655A7D3B-5BED-DA36-F713-8251D6D02CB4}"/>
                </a:ext>
              </a:extLst>
            </p:cNvPr>
            <p:cNvSpPr txBox="1"/>
            <p:nvPr userDrawn="1"/>
          </p:nvSpPr>
          <p:spPr>
            <a:xfrm>
              <a:off x="611794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GURGAON</a:t>
              </a:r>
              <a:endParaRPr lang="en-US" sz="900" b="0" u="none" kern="1200" spc="100" baseline="0" dirty="0">
                <a:solidFill>
                  <a:schemeClr val="tx1"/>
                </a:solidFill>
                <a:latin typeface="+mj-lt"/>
                <a:ea typeface="+mn-ea"/>
                <a:cs typeface="Tahoma" pitchFamily="34" charset="0"/>
              </a:endParaRPr>
            </a:p>
          </p:txBody>
        </p:sp>
      </p:grpSp>
      <p:grpSp>
        <p:nvGrpSpPr>
          <p:cNvPr id="28" name="Group 27">
            <a:extLst>
              <a:ext uri="{FF2B5EF4-FFF2-40B4-BE49-F238E27FC236}">
                <a16:creationId xmlns:a16="http://schemas.microsoft.com/office/drawing/2014/main" id="{3FFF66C1-8A05-72E5-7D34-72FC67D4103E}"/>
              </a:ext>
            </a:extLst>
          </p:cNvPr>
          <p:cNvGrpSpPr/>
          <p:nvPr userDrawn="1"/>
        </p:nvGrpSpPr>
        <p:grpSpPr>
          <a:xfrm>
            <a:off x="8986239" y="5725874"/>
            <a:ext cx="912210" cy="341297"/>
            <a:chOff x="7074043" y="5725874"/>
            <a:chExt cx="912210" cy="341297"/>
          </a:xfrm>
        </p:grpSpPr>
        <p:sp>
          <p:nvSpPr>
            <p:cNvPr id="29" name="Shape 2452">
              <a:extLst>
                <a:ext uri="{FF2B5EF4-FFF2-40B4-BE49-F238E27FC236}">
                  <a16:creationId xmlns:a16="http://schemas.microsoft.com/office/drawing/2014/main" id="{2486E621-1DB9-0EF0-578A-979AA1B49CB9}"/>
                </a:ext>
              </a:extLst>
            </p:cNvPr>
            <p:cNvSpPr>
              <a:spLocks noChangeAspect="1"/>
            </p:cNvSpPr>
            <p:nvPr userDrawn="1"/>
          </p:nvSpPr>
          <p:spPr>
            <a:xfrm>
              <a:off x="748397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0" name="TextBox 29">
              <a:extLst>
                <a:ext uri="{FF2B5EF4-FFF2-40B4-BE49-F238E27FC236}">
                  <a16:creationId xmlns:a16="http://schemas.microsoft.com/office/drawing/2014/main" id="{31345704-3802-41D1-3C6A-BC1A0D7CE0A1}"/>
                </a:ext>
              </a:extLst>
            </p:cNvPr>
            <p:cNvSpPr txBox="1"/>
            <p:nvPr userDrawn="1"/>
          </p:nvSpPr>
          <p:spPr>
            <a:xfrm>
              <a:off x="707404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BENGALURU</a:t>
              </a:r>
              <a:endParaRPr lang="en-US" sz="900" b="0" u="none" kern="1200" spc="100" baseline="0" dirty="0">
                <a:solidFill>
                  <a:schemeClr val="tx1"/>
                </a:solidFill>
                <a:latin typeface="+mj-lt"/>
                <a:ea typeface="+mn-ea"/>
                <a:cs typeface="Tahoma" pitchFamily="34" charset="0"/>
              </a:endParaRPr>
            </a:p>
          </p:txBody>
        </p:sp>
      </p:grpSp>
      <p:grpSp>
        <p:nvGrpSpPr>
          <p:cNvPr id="32" name="Group 31">
            <a:extLst>
              <a:ext uri="{FF2B5EF4-FFF2-40B4-BE49-F238E27FC236}">
                <a16:creationId xmlns:a16="http://schemas.microsoft.com/office/drawing/2014/main" id="{71997E94-B164-1C98-15A2-8F0317664127}"/>
              </a:ext>
            </a:extLst>
          </p:cNvPr>
          <p:cNvGrpSpPr/>
          <p:nvPr userDrawn="1"/>
        </p:nvGrpSpPr>
        <p:grpSpPr>
          <a:xfrm>
            <a:off x="5161847" y="5725874"/>
            <a:ext cx="912210" cy="341297"/>
            <a:chOff x="5161847" y="5725874"/>
            <a:chExt cx="912210" cy="341297"/>
          </a:xfrm>
        </p:grpSpPr>
        <p:sp>
          <p:nvSpPr>
            <p:cNvPr id="33" name="Shape 2452">
              <a:extLst>
                <a:ext uri="{FF2B5EF4-FFF2-40B4-BE49-F238E27FC236}">
                  <a16:creationId xmlns:a16="http://schemas.microsoft.com/office/drawing/2014/main" id="{3E4A303B-0C43-6B3B-A05E-A8007015FA70}"/>
                </a:ext>
              </a:extLst>
            </p:cNvPr>
            <p:cNvSpPr>
              <a:spLocks noChangeAspect="1"/>
            </p:cNvSpPr>
            <p:nvPr userDrawn="1"/>
          </p:nvSpPr>
          <p:spPr>
            <a:xfrm>
              <a:off x="557178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DBA38B1-32B9-D55F-6ADC-03E0AE37E263}"/>
                </a:ext>
              </a:extLst>
            </p:cNvPr>
            <p:cNvSpPr txBox="1"/>
            <p:nvPr userDrawn="1"/>
          </p:nvSpPr>
          <p:spPr>
            <a:xfrm>
              <a:off x="516184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TORONTO</a:t>
              </a:r>
              <a:endParaRPr lang="en-US" sz="900" b="0" u="none" kern="1200" spc="100" baseline="0">
                <a:solidFill>
                  <a:schemeClr val="tx1"/>
                </a:solidFill>
                <a:latin typeface="+mj-lt"/>
                <a:ea typeface="+mn-ea"/>
                <a:cs typeface="Tahoma" pitchFamily="34" charset="0"/>
              </a:endParaRPr>
            </a:p>
          </p:txBody>
        </p:sp>
      </p:grpSp>
      <p:grpSp>
        <p:nvGrpSpPr>
          <p:cNvPr id="35" name="Group 34">
            <a:extLst>
              <a:ext uri="{FF2B5EF4-FFF2-40B4-BE49-F238E27FC236}">
                <a16:creationId xmlns:a16="http://schemas.microsoft.com/office/drawing/2014/main" id="{656359F6-7642-94AA-1736-9C6F419FB820}"/>
              </a:ext>
            </a:extLst>
          </p:cNvPr>
          <p:cNvGrpSpPr/>
          <p:nvPr userDrawn="1"/>
        </p:nvGrpSpPr>
        <p:grpSpPr>
          <a:xfrm>
            <a:off x="6117945" y="5725874"/>
            <a:ext cx="912210" cy="341297"/>
            <a:chOff x="9942337" y="5725874"/>
            <a:chExt cx="912210" cy="341297"/>
          </a:xfrm>
        </p:grpSpPr>
        <p:sp>
          <p:nvSpPr>
            <p:cNvPr id="36" name="Shape 2452">
              <a:extLst>
                <a:ext uri="{FF2B5EF4-FFF2-40B4-BE49-F238E27FC236}">
                  <a16:creationId xmlns:a16="http://schemas.microsoft.com/office/drawing/2014/main" id="{D5D866F0-3CDC-794E-641F-96D29F89FCFC}"/>
                </a:ext>
              </a:extLst>
            </p:cNvPr>
            <p:cNvSpPr>
              <a:spLocks noChangeAspect="1"/>
            </p:cNvSpPr>
            <p:nvPr userDrawn="1"/>
          </p:nvSpPr>
          <p:spPr>
            <a:xfrm>
              <a:off x="1035227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4A13A82F-4082-A48B-5588-8D0AE36769C4}"/>
                </a:ext>
              </a:extLst>
            </p:cNvPr>
            <p:cNvSpPr txBox="1"/>
            <p:nvPr userDrawn="1"/>
          </p:nvSpPr>
          <p:spPr>
            <a:xfrm>
              <a:off x="994233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MUNICH</a:t>
              </a:r>
              <a:endParaRPr lang="en-US" sz="900" b="0" u="none" kern="1200" spc="100" baseline="0" dirty="0">
                <a:solidFill>
                  <a:schemeClr val="tx1"/>
                </a:solidFill>
                <a:latin typeface="+mj-lt"/>
                <a:ea typeface="+mn-ea"/>
                <a:cs typeface="Tahoma" pitchFamily="34" charset="0"/>
              </a:endParaRPr>
            </a:p>
          </p:txBody>
        </p:sp>
      </p:grpSp>
      <p:grpSp>
        <p:nvGrpSpPr>
          <p:cNvPr id="38" name="Group 37">
            <a:extLst>
              <a:ext uri="{FF2B5EF4-FFF2-40B4-BE49-F238E27FC236}">
                <a16:creationId xmlns:a16="http://schemas.microsoft.com/office/drawing/2014/main" id="{BB17CE35-1CB1-F576-ECA4-073028BC3423}"/>
              </a:ext>
            </a:extLst>
          </p:cNvPr>
          <p:cNvGrpSpPr/>
          <p:nvPr userDrawn="1"/>
        </p:nvGrpSpPr>
        <p:grpSpPr>
          <a:xfrm>
            <a:off x="10898433" y="5725874"/>
            <a:ext cx="912210" cy="341297"/>
            <a:chOff x="10898433" y="5725874"/>
            <a:chExt cx="912210" cy="341297"/>
          </a:xfrm>
        </p:grpSpPr>
        <p:sp>
          <p:nvSpPr>
            <p:cNvPr id="39" name="TextBox 38">
              <a:extLst>
                <a:ext uri="{FF2B5EF4-FFF2-40B4-BE49-F238E27FC236}">
                  <a16:creationId xmlns:a16="http://schemas.microsoft.com/office/drawing/2014/main" id="{AA1238FB-D632-F871-8F8B-DC1AFF1517EC}"/>
                </a:ext>
              </a:extLst>
            </p:cNvPr>
            <p:cNvSpPr txBox="1"/>
            <p:nvPr userDrawn="1"/>
          </p:nvSpPr>
          <p:spPr>
            <a:xfrm>
              <a:off x="1089843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CAMBRIDGE</a:t>
              </a:r>
              <a:endParaRPr lang="en-US" sz="900" b="0" u="none" kern="1200" spc="100" baseline="0" dirty="0">
                <a:solidFill>
                  <a:schemeClr val="tx1"/>
                </a:solidFill>
                <a:latin typeface="+mj-lt"/>
                <a:ea typeface="+mn-ea"/>
                <a:cs typeface="Tahoma" pitchFamily="34" charset="0"/>
              </a:endParaRPr>
            </a:p>
          </p:txBody>
        </p:sp>
        <p:sp>
          <p:nvSpPr>
            <p:cNvPr id="40" name="Shape 2452">
              <a:extLst>
                <a:ext uri="{FF2B5EF4-FFF2-40B4-BE49-F238E27FC236}">
                  <a16:creationId xmlns:a16="http://schemas.microsoft.com/office/drawing/2014/main" id="{98E1D3E7-3C27-1396-8977-FC9B3E7723E7}"/>
                </a:ext>
              </a:extLst>
            </p:cNvPr>
            <p:cNvSpPr>
              <a:spLocks noChangeAspect="1"/>
            </p:cNvSpPr>
            <p:nvPr userDrawn="1"/>
          </p:nvSpPr>
          <p:spPr>
            <a:xfrm>
              <a:off x="11308367"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dirty="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dirty="0"/>
              <a:t>Title Line 1</a:t>
            </a:r>
            <a:br>
              <a:rPr lang="en-US" dirty="0"/>
            </a:br>
            <a:r>
              <a:rPr lang="en-US" dirty="0"/>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Trinity capabilities overview</a:t>
            </a:r>
          </a:p>
        </p:txBody>
      </p:sp>
      <p:sp>
        <p:nvSpPr>
          <p:cNvPr id="4" name="Text Placeholder 3"/>
          <p:cNvSpPr>
            <a:spLocks noGrp="1"/>
          </p:cNvSpPr>
          <p:nvPr>
            <p:ph type="body" sz="quarter" idx="13"/>
          </p:nvPr>
        </p:nvSpPr>
        <p:spPr>
          <a:xfrm>
            <a:off x="1993392" y="5406888"/>
            <a:ext cx="4876800" cy="304800"/>
          </a:xfrm>
        </p:spPr>
        <p:txBody>
          <a:bodyPr/>
          <a:lstStyle/>
          <a:p>
            <a:r>
              <a:rPr lang="en-US" dirty="0"/>
              <a:t>February 2024</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CDD9849D-9DC9-F0A8-40D4-A22A5CBB3283}"/>
              </a:ext>
            </a:extLst>
          </p:cNvPr>
          <p:cNvSpPr/>
          <p:nvPr/>
        </p:nvSpPr>
        <p:spPr>
          <a:xfrm>
            <a:off x="3672231" y="1082381"/>
            <a:ext cx="7071969" cy="4199793"/>
          </a:xfrm>
          <a:prstGeom prst="roundRect">
            <a:avLst/>
          </a:prstGeom>
          <a:solidFill>
            <a:schemeClr val="accent2">
              <a:alpha val="28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 Placeholder 2">
            <a:extLst>
              <a:ext uri="{FF2B5EF4-FFF2-40B4-BE49-F238E27FC236}">
                <a16:creationId xmlns:a16="http://schemas.microsoft.com/office/drawing/2014/main" id="{C5EB3090-CC8C-7189-C22D-5D5146C6E380}"/>
              </a:ext>
            </a:extLst>
          </p:cNvPr>
          <p:cNvSpPr>
            <a:spLocks noGrp="1"/>
          </p:cNvSpPr>
          <p:nvPr>
            <p:ph type="body" sz="quarter" idx="14"/>
          </p:nvPr>
        </p:nvSpPr>
        <p:spPr/>
        <p:txBody>
          <a:bodyPr/>
          <a:lstStyle/>
          <a:p>
            <a:endParaRPr lang="en-IN"/>
          </a:p>
        </p:txBody>
      </p:sp>
      <p:sp>
        <p:nvSpPr>
          <p:cNvPr id="5" name="Rectangle 4">
            <a:extLst>
              <a:ext uri="{FF2B5EF4-FFF2-40B4-BE49-F238E27FC236}">
                <a16:creationId xmlns:a16="http://schemas.microsoft.com/office/drawing/2014/main" id="{8107B378-A132-A57F-DEF7-D3B914D44AEE}"/>
              </a:ext>
            </a:extLst>
          </p:cNvPr>
          <p:cNvSpPr/>
          <p:nvPr/>
        </p:nvSpPr>
        <p:spPr>
          <a:xfrm>
            <a:off x="4181679" y="2419012"/>
            <a:ext cx="6343066" cy="2659254"/>
          </a:xfrm>
          <a:prstGeom prst="rect">
            <a:avLst/>
          </a:prstGeom>
          <a:solidFill>
            <a:schemeClr val="bg1"/>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a:p>
        </p:txBody>
      </p:sp>
      <p:sp>
        <p:nvSpPr>
          <p:cNvPr id="6" name="Rectangle: Rounded Corners 5">
            <a:extLst>
              <a:ext uri="{FF2B5EF4-FFF2-40B4-BE49-F238E27FC236}">
                <a16:creationId xmlns:a16="http://schemas.microsoft.com/office/drawing/2014/main" id="{4391920E-57B6-AF1E-C3B9-B9D7491FFD98}"/>
              </a:ext>
            </a:extLst>
          </p:cNvPr>
          <p:cNvSpPr/>
          <p:nvPr/>
        </p:nvSpPr>
        <p:spPr>
          <a:xfrm>
            <a:off x="241213" y="1091741"/>
            <a:ext cx="3050717" cy="424801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a:p>
        </p:txBody>
      </p:sp>
      <p:sp>
        <p:nvSpPr>
          <p:cNvPr id="7" name="Rectangle: Rounded Corners 6">
            <a:extLst>
              <a:ext uri="{FF2B5EF4-FFF2-40B4-BE49-F238E27FC236}">
                <a16:creationId xmlns:a16="http://schemas.microsoft.com/office/drawing/2014/main" id="{B5741FCC-8854-3874-4B70-DE9F62FE4D10}"/>
              </a:ext>
            </a:extLst>
          </p:cNvPr>
          <p:cNvSpPr/>
          <p:nvPr/>
        </p:nvSpPr>
        <p:spPr>
          <a:xfrm>
            <a:off x="4312085" y="2627248"/>
            <a:ext cx="6124755" cy="2299701"/>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a:p>
        </p:txBody>
      </p:sp>
      <p:sp>
        <p:nvSpPr>
          <p:cNvPr id="8" name="Rectangle: Rounded Corners 7">
            <a:extLst>
              <a:ext uri="{FF2B5EF4-FFF2-40B4-BE49-F238E27FC236}">
                <a16:creationId xmlns:a16="http://schemas.microsoft.com/office/drawing/2014/main" id="{357CCAF1-FF78-D865-CAE6-C9CD37FAFFE1}"/>
              </a:ext>
            </a:extLst>
          </p:cNvPr>
          <p:cNvSpPr/>
          <p:nvPr/>
        </p:nvSpPr>
        <p:spPr>
          <a:xfrm>
            <a:off x="1863674" y="1779417"/>
            <a:ext cx="1283217" cy="2854865"/>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9" name="Rectangle: Rounded Corners 8">
            <a:extLst>
              <a:ext uri="{FF2B5EF4-FFF2-40B4-BE49-F238E27FC236}">
                <a16:creationId xmlns:a16="http://schemas.microsoft.com/office/drawing/2014/main" id="{978984FB-62A0-3E73-B139-04C116B879EC}"/>
              </a:ext>
            </a:extLst>
          </p:cNvPr>
          <p:cNvSpPr/>
          <p:nvPr/>
        </p:nvSpPr>
        <p:spPr>
          <a:xfrm>
            <a:off x="1952095" y="1665616"/>
            <a:ext cx="1119068" cy="48646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Jayaprakash (Support Team)</a:t>
            </a:r>
            <a:endParaRPr lang="en-IN" sz="1200" dirty="0">
              <a:solidFill>
                <a:schemeClr val="tx1"/>
              </a:solidFill>
            </a:endParaRPr>
          </a:p>
        </p:txBody>
      </p:sp>
      <p:sp>
        <p:nvSpPr>
          <p:cNvPr id="10" name="Rectangle: Rounded Corners 9">
            <a:extLst>
              <a:ext uri="{FF2B5EF4-FFF2-40B4-BE49-F238E27FC236}">
                <a16:creationId xmlns:a16="http://schemas.microsoft.com/office/drawing/2014/main" id="{BC30D8BF-CF1D-D225-E657-B78905258C6B}"/>
              </a:ext>
            </a:extLst>
          </p:cNvPr>
          <p:cNvSpPr/>
          <p:nvPr/>
        </p:nvSpPr>
        <p:spPr>
          <a:xfrm>
            <a:off x="331407" y="1809232"/>
            <a:ext cx="1388537" cy="289078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12" name="Rectangle: Rounded Corners 11">
            <a:extLst>
              <a:ext uri="{FF2B5EF4-FFF2-40B4-BE49-F238E27FC236}">
                <a16:creationId xmlns:a16="http://schemas.microsoft.com/office/drawing/2014/main" id="{91E2F0B5-0DC2-462D-98CC-646F0F0CA90E}"/>
              </a:ext>
            </a:extLst>
          </p:cNvPr>
          <p:cNvSpPr/>
          <p:nvPr/>
        </p:nvSpPr>
        <p:spPr>
          <a:xfrm>
            <a:off x="445371" y="2609841"/>
            <a:ext cx="1152645" cy="4634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 Data Engineers </a:t>
            </a:r>
          </a:p>
        </p:txBody>
      </p:sp>
      <p:sp>
        <p:nvSpPr>
          <p:cNvPr id="13" name="Rectangle: Rounded Corners 12">
            <a:extLst>
              <a:ext uri="{FF2B5EF4-FFF2-40B4-BE49-F238E27FC236}">
                <a16:creationId xmlns:a16="http://schemas.microsoft.com/office/drawing/2014/main" id="{468AC41E-4AAB-F53A-03A6-402F0170F0AC}"/>
              </a:ext>
            </a:extLst>
          </p:cNvPr>
          <p:cNvSpPr/>
          <p:nvPr/>
        </p:nvSpPr>
        <p:spPr>
          <a:xfrm>
            <a:off x="445371" y="1565257"/>
            <a:ext cx="1220788" cy="82747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Gowtham</a:t>
            </a:r>
          </a:p>
          <a:p>
            <a:pPr algn="ctr"/>
            <a:r>
              <a:rPr lang="en-US" sz="1200" dirty="0">
                <a:solidFill>
                  <a:schemeClr val="tx1"/>
                </a:solidFill>
              </a:rPr>
              <a:t>(Existing Prod </a:t>
            </a:r>
            <a:r>
              <a:rPr lang="en-US" sz="1200" dirty="0" err="1">
                <a:solidFill>
                  <a:schemeClr val="tx1"/>
                </a:solidFill>
              </a:rPr>
              <a:t>Engg</a:t>
            </a:r>
            <a:r>
              <a:rPr lang="en-US" sz="1200" dirty="0">
                <a:solidFill>
                  <a:schemeClr val="tx1"/>
                </a:solidFill>
              </a:rPr>
              <a:t> Development Team)</a:t>
            </a:r>
            <a:endParaRPr lang="en-IN" sz="1200" dirty="0">
              <a:solidFill>
                <a:schemeClr val="tx1"/>
              </a:solidFill>
            </a:endParaRPr>
          </a:p>
        </p:txBody>
      </p:sp>
      <p:sp>
        <p:nvSpPr>
          <p:cNvPr id="16" name="Rectangle: Rounded Corners 15">
            <a:extLst>
              <a:ext uri="{FF2B5EF4-FFF2-40B4-BE49-F238E27FC236}">
                <a16:creationId xmlns:a16="http://schemas.microsoft.com/office/drawing/2014/main" id="{AC372B83-B028-8BDB-EF83-A5591765E567}"/>
              </a:ext>
            </a:extLst>
          </p:cNvPr>
          <p:cNvSpPr/>
          <p:nvPr/>
        </p:nvSpPr>
        <p:spPr>
          <a:xfrm>
            <a:off x="2050607" y="2711630"/>
            <a:ext cx="877891" cy="5289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a:t>
            </a:r>
            <a:r>
              <a:rPr lang="en-US" sz="1200" dirty="0" err="1"/>
              <a:t>Engg</a:t>
            </a:r>
            <a:r>
              <a:rPr lang="en-US" sz="1200" dirty="0"/>
              <a:t> - Support Engineer</a:t>
            </a:r>
            <a:endParaRPr lang="en-IN" sz="1200" dirty="0"/>
          </a:p>
        </p:txBody>
      </p:sp>
      <p:sp>
        <p:nvSpPr>
          <p:cNvPr id="18" name="Rectangle: Rounded Corners 17">
            <a:extLst>
              <a:ext uri="{FF2B5EF4-FFF2-40B4-BE49-F238E27FC236}">
                <a16:creationId xmlns:a16="http://schemas.microsoft.com/office/drawing/2014/main" id="{1B9A7F35-E6A3-BC58-72C9-6C6F9B046F8F}"/>
              </a:ext>
            </a:extLst>
          </p:cNvPr>
          <p:cNvSpPr/>
          <p:nvPr/>
        </p:nvSpPr>
        <p:spPr>
          <a:xfrm>
            <a:off x="4527734" y="3350997"/>
            <a:ext cx="1646212" cy="1520231"/>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19" name="Rectangle: Rounded Corners 18">
            <a:extLst>
              <a:ext uri="{FF2B5EF4-FFF2-40B4-BE49-F238E27FC236}">
                <a16:creationId xmlns:a16="http://schemas.microsoft.com/office/drawing/2014/main" id="{84C2AC3C-FE1B-AE89-E8E6-D60BA554EF73}"/>
              </a:ext>
            </a:extLst>
          </p:cNvPr>
          <p:cNvSpPr/>
          <p:nvPr/>
        </p:nvSpPr>
        <p:spPr>
          <a:xfrm>
            <a:off x="4804193" y="3642181"/>
            <a:ext cx="1138688" cy="29120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Acct (s)</a:t>
            </a:r>
            <a:endParaRPr lang="en-IN" sz="1200" dirty="0"/>
          </a:p>
        </p:txBody>
      </p:sp>
      <p:sp>
        <p:nvSpPr>
          <p:cNvPr id="20" name="Rectangle: Rounded Corners 19">
            <a:extLst>
              <a:ext uri="{FF2B5EF4-FFF2-40B4-BE49-F238E27FC236}">
                <a16:creationId xmlns:a16="http://schemas.microsoft.com/office/drawing/2014/main" id="{B905573A-A0C8-9C51-7BC6-7E2D8165D0F4}"/>
              </a:ext>
            </a:extLst>
          </p:cNvPr>
          <p:cNvSpPr/>
          <p:nvPr/>
        </p:nvSpPr>
        <p:spPr>
          <a:xfrm>
            <a:off x="4732617" y="3113953"/>
            <a:ext cx="1230703" cy="303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Acct Lead 1</a:t>
            </a:r>
            <a:endParaRPr lang="en-IN" sz="1300" dirty="0">
              <a:solidFill>
                <a:schemeClr val="tx1"/>
              </a:solidFill>
            </a:endParaRPr>
          </a:p>
        </p:txBody>
      </p:sp>
      <p:sp>
        <p:nvSpPr>
          <p:cNvPr id="21" name="Rectangle: Rounded Corners 20">
            <a:extLst>
              <a:ext uri="{FF2B5EF4-FFF2-40B4-BE49-F238E27FC236}">
                <a16:creationId xmlns:a16="http://schemas.microsoft.com/office/drawing/2014/main" id="{D1AB2C8B-A61B-BBF3-55A9-5D0718AEEA1D}"/>
              </a:ext>
            </a:extLst>
          </p:cNvPr>
          <p:cNvSpPr/>
          <p:nvPr/>
        </p:nvSpPr>
        <p:spPr>
          <a:xfrm>
            <a:off x="4799097" y="4077990"/>
            <a:ext cx="1138688" cy="30371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Sr Developers</a:t>
            </a:r>
            <a:endParaRPr lang="en-IN" sz="1200" dirty="0"/>
          </a:p>
        </p:txBody>
      </p:sp>
      <p:sp>
        <p:nvSpPr>
          <p:cNvPr id="22" name="Rectangle: Rounded Corners 21">
            <a:extLst>
              <a:ext uri="{FF2B5EF4-FFF2-40B4-BE49-F238E27FC236}">
                <a16:creationId xmlns:a16="http://schemas.microsoft.com/office/drawing/2014/main" id="{6887A459-CEC5-B408-30A2-81617B005DA9}"/>
              </a:ext>
            </a:extLst>
          </p:cNvPr>
          <p:cNvSpPr/>
          <p:nvPr/>
        </p:nvSpPr>
        <p:spPr>
          <a:xfrm>
            <a:off x="4795567" y="4533797"/>
            <a:ext cx="1138688" cy="25187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Developers</a:t>
            </a:r>
            <a:endParaRPr lang="en-IN" sz="1200" dirty="0"/>
          </a:p>
        </p:txBody>
      </p:sp>
      <p:sp>
        <p:nvSpPr>
          <p:cNvPr id="23" name="Rectangle: Rounded Corners 22">
            <a:extLst>
              <a:ext uri="{FF2B5EF4-FFF2-40B4-BE49-F238E27FC236}">
                <a16:creationId xmlns:a16="http://schemas.microsoft.com/office/drawing/2014/main" id="{A0502D72-D55D-5235-C994-CBCF5B5545EA}"/>
              </a:ext>
            </a:extLst>
          </p:cNvPr>
          <p:cNvSpPr/>
          <p:nvPr/>
        </p:nvSpPr>
        <p:spPr>
          <a:xfrm>
            <a:off x="6398958" y="3303716"/>
            <a:ext cx="1646212" cy="157110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p>
        </p:txBody>
      </p:sp>
      <p:sp>
        <p:nvSpPr>
          <p:cNvPr id="24" name="Rectangle: Rounded Corners 23">
            <a:extLst>
              <a:ext uri="{FF2B5EF4-FFF2-40B4-BE49-F238E27FC236}">
                <a16:creationId xmlns:a16="http://schemas.microsoft.com/office/drawing/2014/main" id="{4557B0A6-A3D7-63B9-AE13-367B568767BE}"/>
              </a:ext>
            </a:extLst>
          </p:cNvPr>
          <p:cNvSpPr/>
          <p:nvPr/>
        </p:nvSpPr>
        <p:spPr>
          <a:xfrm>
            <a:off x="6595215" y="3083038"/>
            <a:ext cx="1230703" cy="303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Acct Lead 2</a:t>
            </a:r>
            <a:endParaRPr lang="en-IN" sz="1300" dirty="0">
              <a:solidFill>
                <a:schemeClr val="tx1"/>
              </a:solidFill>
            </a:endParaRPr>
          </a:p>
        </p:txBody>
      </p:sp>
      <p:sp>
        <p:nvSpPr>
          <p:cNvPr id="25" name="Rectangle: Rounded Corners 24">
            <a:extLst>
              <a:ext uri="{FF2B5EF4-FFF2-40B4-BE49-F238E27FC236}">
                <a16:creationId xmlns:a16="http://schemas.microsoft.com/office/drawing/2014/main" id="{8C53EEA7-6CE1-13DD-06A3-CA03C2A83BD8}"/>
              </a:ext>
            </a:extLst>
          </p:cNvPr>
          <p:cNvSpPr/>
          <p:nvPr/>
        </p:nvSpPr>
        <p:spPr>
          <a:xfrm>
            <a:off x="8449187" y="3298363"/>
            <a:ext cx="1646212" cy="1541951"/>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dirty="0"/>
          </a:p>
        </p:txBody>
      </p:sp>
      <p:sp>
        <p:nvSpPr>
          <p:cNvPr id="26" name="Rectangle: Rounded Corners 25">
            <a:extLst>
              <a:ext uri="{FF2B5EF4-FFF2-40B4-BE49-F238E27FC236}">
                <a16:creationId xmlns:a16="http://schemas.microsoft.com/office/drawing/2014/main" id="{5C1E845B-3D98-3AD7-3538-269318A40386}"/>
              </a:ext>
            </a:extLst>
          </p:cNvPr>
          <p:cNvSpPr/>
          <p:nvPr/>
        </p:nvSpPr>
        <p:spPr>
          <a:xfrm>
            <a:off x="8662696" y="3074413"/>
            <a:ext cx="1230703" cy="30371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Acct Lead 3</a:t>
            </a:r>
            <a:endParaRPr lang="en-IN" sz="1300" dirty="0">
              <a:solidFill>
                <a:schemeClr val="tx1"/>
              </a:solidFill>
            </a:endParaRPr>
          </a:p>
        </p:txBody>
      </p:sp>
      <p:sp>
        <p:nvSpPr>
          <p:cNvPr id="29" name="Rectangle: Rounded Corners 28">
            <a:extLst>
              <a:ext uri="{FF2B5EF4-FFF2-40B4-BE49-F238E27FC236}">
                <a16:creationId xmlns:a16="http://schemas.microsoft.com/office/drawing/2014/main" id="{8D996605-005F-413D-9A0E-349318C49651}"/>
              </a:ext>
            </a:extLst>
          </p:cNvPr>
          <p:cNvSpPr/>
          <p:nvPr/>
        </p:nvSpPr>
        <p:spPr>
          <a:xfrm>
            <a:off x="6173946" y="2505596"/>
            <a:ext cx="2823750" cy="30037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Development Team</a:t>
            </a:r>
            <a:endParaRPr lang="en-IN" sz="1300" dirty="0">
              <a:solidFill>
                <a:schemeClr val="tx1"/>
              </a:solidFill>
            </a:endParaRPr>
          </a:p>
        </p:txBody>
      </p:sp>
      <p:sp>
        <p:nvSpPr>
          <p:cNvPr id="31" name="Rectangle 30">
            <a:extLst>
              <a:ext uri="{FF2B5EF4-FFF2-40B4-BE49-F238E27FC236}">
                <a16:creationId xmlns:a16="http://schemas.microsoft.com/office/drawing/2014/main" id="{3FD70FCD-6248-5595-755B-D6C4612325A8}"/>
              </a:ext>
            </a:extLst>
          </p:cNvPr>
          <p:cNvSpPr/>
          <p:nvPr/>
        </p:nvSpPr>
        <p:spPr>
          <a:xfrm>
            <a:off x="4181679" y="1542762"/>
            <a:ext cx="6343066" cy="592066"/>
          </a:xfrm>
          <a:prstGeom prst="rect">
            <a:avLst/>
          </a:prstGeom>
          <a:solidFill>
            <a:schemeClr val="bg1"/>
          </a:solid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00"/>
          </a:p>
        </p:txBody>
      </p:sp>
      <p:sp>
        <p:nvSpPr>
          <p:cNvPr id="33" name="Rectangle: Rounded Corners 32">
            <a:extLst>
              <a:ext uri="{FF2B5EF4-FFF2-40B4-BE49-F238E27FC236}">
                <a16:creationId xmlns:a16="http://schemas.microsoft.com/office/drawing/2014/main" id="{B6D06B3A-9E08-FD36-EE7A-965041FC4D2A}"/>
              </a:ext>
            </a:extLst>
          </p:cNvPr>
          <p:cNvSpPr/>
          <p:nvPr/>
        </p:nvSpPr>
        <p:spPr>
          <a:xfrm>
            <a:off x="6870537" y="1702944"/>
            <a:ext cx="1138688" cy="33771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Architects</a:t>
            </a:r>
            <a:endParaRPr lang="en-IN" sz="1200" dirty="0"/>
          </a:p>
        </p:txBody>
      </p:sp>
      <p:sp>
        <p:nvSpPr>
          <p:cNvPr id="34" name="Rectangle: Rounded Corners 33">
            <a:extLst>
              <a:ext uri="{FF2B5EF4-FFF2-40B4-BE49-F238E27FC236}">
                <a16:creationId xmlns:a16="http://schemas.microsoft.com/office/drawing/2014/main" id="{CAC9BDBA-2913-4012-EC55-B40DE73BD95F}"/>
              </a:ext>
            </a:extLst>
          </p:cNvPr>
          <p:cNvSpPr/>
          <p:nvPr/>
        </p:nvSpPr>
        <p:spPr>
          <a:xfrm>
            <a:off x="8706779" y="1702944"/>
            <a:ext cx="1138688" cy="32029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Data Modeler</a:t>
            </a:r>
            <a:endParaRPr lang="en-IN" sz="1200" dirty="0"/>
          </a:p>
        </p:txBody>
      </p:sp>
      <p:sp>
        <p:nvSpPr>
          <p:cNvPr id="35" name="Rectangle: Rounded Corners 34">
            <a:extLst>
              <a:ext uri="{FF2B5EF4-FFF2-40B4-BE49-F238E27FC236}">
                <a16:creationId xmlns:a16="http://schemas.microsoft.com/office/drawing/2014/main" id="{5DEE66C6-192A-8E1B-1264-09BC29B7CD58}"/>
              </a:ext>
            </a:extLst>
          </p:cNvPr>
          <p:cNvSpPr/>
          <p:nvPr/>
        </p:nvSpPr>
        <p:spPr>
          <a:xfrm>
            <a:off x="4954032" y="1703492"/>
            <a:ext cx="1138688" cy="33135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Cloud Architects</a:t>
            </a:r>
            <a:endParaRPr lang="en-IN" sz="1200" dirty="0"/>
          </a:p>
        </p:txBody>
      </p:sp>
      <p:sp>
        <p:nvSpPr>
          <p:cNvPr id="38" name="Rectangle: Rounded Corners 37">
            <a:extLst>
              <a:ext uri="{FF2B5EF4-FFF2-40B4-BE49-F238E27FC236}">
                <a16:creationId xmlns:a16="http://schemas.microsoft.com/office/drawing/2014/main" id="{C57C747D-7DCA-32A5-8967-DDF185D7CDC8}"/>
              </a:ext>
            </a:extLst>
          </p:cNvPr>
          <p:cNvSpPr/>
          <p:nvPr/>
        </p:nvSpPr>
        <p:spPr>
          <a:xfrm>
            <a:off x="1222065" y="869186"/>
            <a:ext cx="1283217" cy="624711"/>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rPr>
              <a:t>Platform Team (Karthik)</a:t>
            </a:r>
            <a:endParaRPr lang="en-IN" sz="1500" b="1" dirty="0">
              <a:solidFill>
                <a:schemeClr val="tx1"/>
              </a:solidFill>
            </a:endParaRPr>
          </a:p>
        </p:txBody>
      </p:sp>
      <p:sp>
        <p:nvSpPr>
          <p:cNvPr id="39" name="Rectangle: Rounded Corners 38">
            <a:extLst>
              <a:ext uri="{FF2B5EF4-FFF2-40B4-BE49-F238E27FC236}">
                <a16:creationId xmlns:a16="http://schemas.microsoft.com/office/drawing/2014/main" id="{EC562D35-4DC5-2853-B6D9-97610A3F47B0}"/>
              </a:ext>
            </a:extLst>
          </p:cNvPr>
          <p:cNvSpPr/>
          <p:nvPr/>
        </p:nvSpPr>
        <p:spPr>
          <a:xfrm>
            <a:off x="6673242" y="3622053"/>
            <a:ext cx="1138688" cy="29120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Acct (s)</a:t>
            </a:r>
            <a:endParaRPr lang="en-IN" sz="1200" dirty="0"/>
          </a:p>
        </p:txBody>
      </p:sp>
      <p:sp>
        <p:nvSpPr>
          <p:cNvPr id="40" name="Rectangle: Rounded Corners 39">
            <a:extLst>
              <a:ext uri="{FF2B5EF4-FFF2-40B4-BE49-F238E27FC236}">
                <a16:creationId xmlns:a16="http://schemas.microsoft.com/office/drawing/2014/main" id="{2F8A418D-0CF9-DC52-9AB0-F1C753DC5556}"/>
              </a:ext>
            </a:extLst>
          </p:cNvPr>
          <p:cNvSpPr/>
          <p:nvPr/>
        </p:nvSpPr>
        <p:spPr>
          <a:xfrm>
            <a:off x="6668146" y="4057862"/>
            <a:ext cx="1138688" cy="30371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Sr Developers</a:t>
            </a:r>
            <a:endParaRPr lang="en-IN" sz="1200" dirty="0"/>
          </a:p>
        </p:txBody>
      </p:sp>
      <p:sp>
        <p:nvSpPr>
          <p:cNvPr id="41" name="Rectangle: Rounded Corners 40">
            <a:extLst>
              <a:ext uri="{FF2B5EF4-FFF2-40B4-BE49-F238E27FC236}">
                <a16:creationId xmlns:a16="http://schemas.microsoft.com/office/drawing/2014/main" id="{56028CA8-9E27-6BFB-21B2-530B8F6A2AE8}"/>
              </a:ext>
            </a:extLst>
          </p:cNvPr>
          <p:cNvSpPr/>
          <p:nvPr/>
        </p:nvSpPr>
        <p:spPr>
          <a:xfrm>
            <a:off x="6664616" y="4513669"/>
            <a:ext cx="1138688" cy="25187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Developers</a:t>
            </a:r>
            <a:endParaRPr lang="en-IN" sz="1200" dirty="0"/>
          </a:p>
        </p:txBody>
      </p:sp>
      <p:sp>
        <p:nvSpPr>
          <p:cNvPr id="42" name="Rectangle: Rounded Corners 41">
            <a:extLst>
              <a:ext uri="{FF2B5EF4-FFF2-40B4-BE49-F238E27FC236}">
                <a16:creationId xmlns:a16="http://schemas.microsoft.com/office/drawing/2014/main" id="{543906D6-9272-8C39-FA2C-DC9A863825E8}"/>
              </a:ext>
            </a:extLst>
          </p:cNvPr>
          <p:cNvSpPr/>
          <p:nvPr/>
        </p:nvSpPr>
        <p:spPr>
          <a:xfrm>
            <a:off x="8732071" y="3619179"/>
            <a:ext cx="1138688" cy="291207"/>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Acct (s)</a:t>
            </a:r>
            <a:endParaRPr lang="en-IN" sz="1200" dirty="0"/>
          </a:p>
        </p:txBody>
      </p:sp>
      <p:sp>
        <p:nvSpPr>
          <p:cNvPr id="43" name="Rectangle: Rounded Corners 42">
            <a:extLst>
              <a:ext uri="{FF2B5EF4-FFF2-40B4-BE49-F238E27FC236}">
                <a16:creationId xmlns:a16="http://schemas.microsoft.com/office/drawing/2014/main" id="{310E9165-DD58-4150-BFE4-683BC7906225}"/>
              </a:ext>
            </a:extLst>
          </p:cNvPr>
          <p:cNvSpPr/>
          <p:nvPr/>
        </p:nvSpPr>
        <p:spPr>
          <a:xfrm>
            <a:off x="8726975" y="4054988"/>
            <a:ext cx="1138688" cy="303718"/>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Sr Developers</a:t>
            </a:r>
            <a:endParaRPr lang="en-IN" sz="1200" dirty="0"/>
          </a:p>
        </p:txBody>
      </p:sp>
      <p:sp>
        <p:nvSpPr>
          <p:cNvPr id="44" name="Rectangle: Rounded Corners 43">
            <a:extLst>
              <a:ext uri="{FF2B5EF4-FFF2-40B4-BE49-F238E27FC236}">
                <a16:creationId xmlns:a16="http://schemas.microsoft.com/office/drawing/2014/main" id="{A52E126B-CDFC-8538-5AC8-A2D3BB097C96}"/>
              </a:ext>
            </a:extLst>
          </p:cNvPr>
          <p:cNvSpPr/>
          <p:nvPr/>
        </p:nvSpPr>
        <p:spPr>
          <a:xfrm>
            <a:off x="8723445" y="4510795"/>
            <a:ext cx="1138688" cy="251875"/>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Developers</a:t>
            </a:r>
            <a:endParaRPr lang="en-IN" sz="1200" dirty="0"/>
          </a:p>
        </p:txBody>
      </p:sp>
      <p:sp>
        <p:nvSpPr>
          <p:cNvPr id="45" name="Rectangle 44">
            <a:extLst>
              <a:ext uri="{FF2B5EF4-FFF2-40B4-BE49-F238E27FC236}">
                <a16:creationId xmlns:a16="http://schemas.microsoft.com/office/drawing/2014/main" id="{A51D47D9-7B07-E0B4-CA34-83CBCCF03B4C}"/>
              </a:ext>
            </a:extLst>
          </p:cNvPr>
          <p:cNvSpPr/>
          <p:nvPr/>
        </p:nvSpPr>
        <p:spPr>
          <a:xfrm>
            <a:off x="429555" y="582007"/>
            <a:ext cx="11357061" cy="194399"/>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bg1"/>
                </a:solidFill>
              </a:rPr>
              <a:t>CDS Offshore Lead</a:t>
            </a:r>
            <a:endParaRPr lang="en-IN" sz="1500" b="1" dirty="0">
              <a:solidFill>
                <a:schemeClr val="bg1"/>
              </a:solidFill>
            </a:endParaRPr>
          </a:p>
        </p:txBody>
      </p:sp>
      <p:sp>
        <p:nvSpPr>
          <p:cNvPr id="46" name="Rectangle 45">
            <a:extLst>
              <a:ext uri="{FF2B5EF4-FFF2-40B4-BE49-F238E27FC236}">
                <a16:creationId xmlns:a16="http://schemas.microsoft.com/office/drawing/2014/main" id="{B9BBC97B-74C2-8CF7-3B86-1ED54B8A8167}"/>
              </a:ext>
            </a:extLst>
          </p:cNvPr>
          <p:cNvSpPr/>
          <p:nvPr/>
        </p:nvSpPr>
        <p:spPr>
          <a:xfrm>
            <a:off x="331407" y="247561"/>
            <a:ext cx="11463145" cy="222243"/>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bg1"/>
                </a:solidFill>
              </a:rPr>
              <a:t>CDS Onshore Lead</a:t>
            </a:r>
            <a:endParaRPr lang="en-IN" sz="1500" b="1" dirty="0">
              <a:solidFill>
                <a:schemeClr val="bg1"/>
              </a:solidFill>
            </a:endParaRPr>
          </a:p>
        </p:txBody>
      </p:sp>
      <p:sp>
        <p:nvSpPr>
          <p:cNvPr id="55" name="Rectangle: Rounded Corners 54">
            <a:extLst>
              <a:ext uri="{FF2B5EF4-FFF2-40B4-BE49-F238E27FC236}">
                <a16:creationId xmlns:a16="http://schemas.microsoft.com/office/drawing/2014/main" id="{E03D30FE-8989-FF4D-3956-5EB15AA0E303}"/>
              </a:ext>
            </a:extLst>
          </p:cNvPr>
          <p:cNvSpPr/>
          <p:nvPr/>
        </p:nvSpPr>
        <p:spPr>
          <a:xfrm>
            <a:off x="6265668" y="899423"/>
            <a:ext cx="2043704" cy="326901"/>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tx1"/>
                </a:solidFill>
              </a:rPr>
              <a:t>CDS Project Team</a:t>
            </a:r>
            <a:endParaRPr lang="en-IN" sz="1500" b="1" dirty="0">
              <a:solidFill>
                <a:schemeClr val="tx1"/>
              </a:solidFill>
            </a:endParaRPr>
          </a:p>
        </p:txBody>
      </p:sp>
      <p:sp>
        <p:nvSpPr>
          <p:cNvPr id="2" name="Rectangle: Rounded Corners 1">
            <a:extLst>
              <a:ext uri="{FF2B5EF4-FFF2-40B4-BE49-F238E27FC236}">
                <a16:creationId xmlns:a16="http://schemas.microsoft.com/office/drawing/2014/main" id="{41C548D6-10A3-F649-7220-ADA895DC8CBC}"/>
              </a:ext>
            </a:extLst>
          </p:cNvPr>
          <p:cNvSpPr/>
          <p:nvPr/>
        </p:nvSpPr>
        <p:spPr>
          <a:xfrm>
            <a:off x="2039105" y="3578849"/>
            <a:ext cx="877891" cy="5790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Infra Support Engineer</a:t>
            </a:r>
            <a:endParaRPr lang="en-IN" sz="1200" dirty="0"/>
          </a:p>
        </p:txBody>
      </p:sp>
      <p:cxnSp>
        <p:nvCxnSpPr>
          <p:cNvPr id="73" name="Straight Arrow Connector 72">
            <a:extLst>
              <a:ext uri="{FF2B5EF4-FFF2-40B4-BE49-F238E27FC236}">
                <a16:creationId xmlns:a16="http://schemas.microsoft.com/office/drawing/2014/main" id="{649A39DE-E739-267E-511F-350AF972D494}"/>
              </a:ext>
            </a:extLst>
          </p:cNvPr>
          <p:cNvCxnSpPr>
            <a:cxnSpLocks/>
          </p:cNvCxnSpPr>
          <p:nvPr/>
        </p:nvCxnSpPr>
        <p:spPr>
          <a:xfrm>
            <a:off x="2865240" y="776406"/>
            <a:ext cx="0" cy="346222"/>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5EECDFF2-C8C0-836E-2214-BD24F2B0283A}"/>
              </a:ext>
            </a:extLst>
          </p:cNvPr>
          <p:cNvCxnSpPr>
            <a:cxnSpLocks/>
          </p:cNvCxnSpPr>
          <p:nvPr/>
        </p:nvCxnSpPr>
        <p:spPr>
          <a:xfrm flipH="1">
            <a:off x="3291930" y="3785490"/>
            <a:ext cx="889749"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78FFBA4-4B67-F86A-FAEE-8E87675EE8A6}"/>
              </a:ext>
            </a:extLst>
          </p:cNvPr>
          <p:cNvCxnSpPr>
            <a:cxnSpLocks/>
          </p:cNvCxnSpPr>
          <p:nvPr/>
        </p:nvCxnSpPr>
        <p:spPr>
          <a:xfrm>
            <a:off x="2666833" y="469804"/>
            <a:ext cx="0" cy="652824"/>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C3F1687-3AB2-10E6-D92A-92D699C2B6E9}"/>
              </a:ext>
            </a:extLst>
          </p:cNvPr>
          <p:cNvCxnSpPr>
            <a:cxnSpLocks/>
          </p:cNvCxnSpPr>
          <p:nvPr/>
        </p:nvCxnSpPr>
        <p:spPr>
          <a:xfrm>
            <a:off x="731640" y="745519"/>
            <a:ext cx="0" cy="346222"/>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4D608711-6C12-0E43-1FEF-36475507E9E2}"/>
              </a:ext>
            </a:extLst>
          </p:cNvPr>
          <p:cNvCxnSpPr>
            <a:cxnSpLocks/>
          </p:cNvCxnSpPr>
          <p:nvPr/>
        </p:nvCxnSpPr>
        <p:spPr>
          <a:xfrm>
            <a:off x="947301" y="438917"/>
            <a:ext cx="0" cy="652824"/>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FA1E7E36-02CE-532E-1573-6CF6F55E1CA6}"/>
              </a:ext>
            </a:extLst>
          </p:cNvPr>
          <p:cNvCxnSpPr>
            <a:cxnSpLocks/>
          </p:cNvCxnSpPr>
          <p:nvPr/>
        </p:nvCxnSpPr>
        <p:spPr>
          <a:xfrm flipH="1">
            <a:off x="3291930" y="1867334"/>
            <a:ext cx="889749"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Rectangle: Rounded Corners 89">
            <a:extLst>
              <a:ext uri="{FF2B5EF4-FFF2-40B4-BE49-F238E27FC236}">
                <a16:creationId xmlns:a16="http://schemas.microsoft.com/office/drawing/2014/main" id="{1B38B7C7-E4EE-158D-8B1C-38814A182243}"/>
              </a:ext>
            </a:extLst>
          </p:cNvPr>
          <p:cNvSpPr/>
          <p:nvPr/>
        </p:nvSpPr>
        <p:spPr>
          <a:xfrm>
            <a:off x="479964" y="3793866"/>
            <a:ext cx="1152645" cy="4634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Infra Engineers</a:t>
            </a:r>
            <a:endParaRPr lang="en-IN" sz="1200" dirty="0"/>
          </a:p>
        </p:txBody>
      </p:sp>
    </p:spTree>
    <p:extLst>
      <p:ext uri="{BB962C8B-B14F-4D97-AF65-F5344CB8AC3E}">
        <p14:creationId xmlns:p14="http://schemas.microsoft.com/office/powerpoint/2010/main" val="503837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407A0B-9A2A-7EFA-D478-E59E6C4DED48}"/>
              </a:ext>
            </a:extLst>
          </p:cNvPr>
          <p:cNvGrpSpPr/>
          <p:nvPr/>
        </p:nvGrpSpPr>
        <p:grpSpPr>
          <a:xfrm>
            <a:off x="44345" y="764260"/>
            <a:ext cx="906708" cy="771034"/>
            <a:chOff x="517377" y="1011153"/>
            <a:chExt cx="1091184" cy="1003924"/>
          </a:xfrm>
        </p:grpSpPr>
        <p:pic>
          <p:nvPicPr>
            <p:cNvPr id="65" name="Picture 64" descr="Three people Generic Outline Color icon">
              <a:extLst>
                <a:ext uri="{FF2B5EF4-FFF2-40B4-BE49-F238E27FC236}">
                  <a16:creationId xmlns:a16="http://schemas.microsoft.com/office/drawing/2014/main" id="{08AFD80D-34BD-8261-4DD8-6DB359ECAF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09600" y="1011153"/>
              <a:ext cx="906738" cy="906738"/>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
              <a:extLst>
                <a:ext uri="{FF2B5EF4-FFF2-40B4-BE49-F238E27FC236}">
                  <a16:creationId xmlns:a16="http://schemas.microsoft.com/office/drawing/2014/main" id="{D5837136-FA42-A873-32C6-1648D8BE9723}"/>
                </a:ext>
              </a:extLst>
            </p:cNvPr>
            <p:cNvSpPr txBox="1"/>
            <p:nvPr/>
          </p:nvSpPr>
          <p:spPr>
            <a:xfrm>
              <a:off x="517377" y="1713452"/>
              <a:ext cx="1091184" cy="301625"/>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CDS Team</a:t>
              </a:r>
            </a:p>
          </p:txBody>
        </p:sp>
      </p:grpSp>
      <p:sp>
        <p:nvSpPr>
          <p:cNvPr id="8" name="Rectangle 7">
            <a:extLst>
              <a:ext uri="{FF2B5EF4-FFF2-40B4-BE49-F238E27FC236}">
                <a16:creationId xmlns:a16="http://schemas.microsoft.com/office/drawing/2014/main" id="{3C6BDD39-C93D-B89C-764B-265771E72D18}"/>
              </a:ext>
            </a:extLst>
          </p:cNvPr>
          <p:cNvSpPr/>
          <p:nvPr/>
        </p:nvSpPr>
        <p:spPr>
          <a:xfrm>
            <a:off x="1690167" y="835382"/>
            <a:ext cx="1311710" cy="54363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Raise All tickets on TER board</a:t>
            </a:r>
          </a:p>
        </p:txBody>
      </p:sp>
      <p:sp>
        <p:nvSpPr>
          <p:cNvPr id="9" name="Rectangle 8">
            <a:extLst>
              <a:ext uri="{FF2B5EF4-FFF2-40B4-BE49-F238E27FC236}">
                <a16:creationId xmlns:a16="http://schemas.microsoft.com/office/drawing/2014/main" id="{6E1AF59F-3AFC-459F-28E2-D77DD810A30C}"/>
              </a:ext>
            </a:extLst>
          </p:cNvPr>
          <p:cNvSpPr/>
          <p:nvPr/>
        </p:nvSpPr>
        <p:spPr>
          <a:xfrm>
            <a:off x="7633296" y="759986"/>
            <a:ext cx="1728244" cy="61903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Work with bug reporter  to discuss  further.</a:t>
            </a:r>
            <a:endParaRPr lang="en-US" sz="1000">
              <a:cs typeface="Calibri"/>
            </a:endParaRPr>
          </a:p>
        </p:txBody>
      </p:sp>
      <p:sp>
        <p:nvSpPr>
          <p:cNvPr id="10" name="Flowchart: Decision 9">
            <a:extLst>
              <a:ext uri="{FF2B5EF4-FFF2-40B4-BE49-F238E27FC236}">
                <a16:creationId xmlns:a16="http://schemas.microsoft.com/office/drawing/2014/main" id="{7863FF25-5DCE-2826-8E75-2FCF261D4939}"/>
              </a:ext>
            </a:extLst>
          </p:cNvPr>
          <p:cNvSpPr/>
          <p:nvPr/>
        </p:nvSpPr>
        <p:spPr>
          <a:xfrm>
            <a:off x="5415584" y="835958"/>
            <a:ext cx="1608201" cy="547717"/>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More info required</a:t>
            </a:r>
            <a:endParaRPr lang="en-US"/>
          </a:p>
        </p:txBody>
      </p:sp>
      <p:sp>
        <p:nvSpPr>
          <p:cNvPr id="11" name="Rectangle 10">
            <a:extLst>
              <a:ext uri="{FF2B5EF4-FFF2-40B4-BE49-F238E27FC236}">
                <a16:creationId xmlns:a16="http://schemas.microsoft.com/office/drawing/2014/main" id="{22371215-DF15-F1A2-1BD0-488A2F8F6217}"/>
              </a:ext>
            </a:extLst>
          </p:cNvPr>
          <p:cNvSpPr/>
          <p:nvPr/>
        </p:nvSpPr>
        <p:spPr>
          <a:xfrm>
            <a:off x="3864602" y="837123"/>
            <a:ext cx="1186550" cy="55597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Acknowledged &amp; reviewed by Product team</a:t>
            </a:r>
            <a:endParaRPr lang="en-US" sz="1000"/>
          </a:p>
        </p:txBody>
      </p:sp>
      <p:cxnSp>
        <p:nvCxnSpPr>
          <p:cNvPr id="12" name="Straight Arrow Connector 11">
            <a:extLst>
              <a:ext uri="{FF2B5EF4-FFF2-40B4-BE49-F238E27FC236}">
                <a16:creationId xmlns:a16="http://schemas.microsoft.com/office/drawing/2014/main" id="{9B060155-E98D-21FF-2D9C-2A5921DB12EA}"/>
              </a:ext>
            </a:extLst>
          </p:cNvPr>
          <p:cNvCxnSpPr>
            <a:cxnSpLocks/>
            <a:stCxn id="65" idx="1"/>
          </p:cNvCxnSpPr>
          <p:nvPr/>
        </p:nvCxnSpPr>
        <p:spPr>
          <a:xfrm flipV="1">
            <a:off x="874422" y="1089649"/>
            <a:ext cx="821651" cy="228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4CFB276C-66FF-A629-2912-387BDDE087EE}"/>
              </a:ext>
            </a:extLst>
          </p:cNvPr>
          <p:cNvCxnSpPr>
            <a:cxnSpLocks/>
            <a:stCxn id="11" idx="3"/>
            <a:endCxn id="10" idx="1"/>
          </p:cNvCxnSpPr>
          <p:nvPr/>
        </p:nvCxnSpPr>
        <p:spPr>
          <a:xfrm flipV="1">
            <a:off x="5051152" y="1109817"/>
            <a:ext cx="364432" cy="52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50AE7240-125B-9247-6805-7C8B9A93207E}"/>
              </a:ext>
            </a:extLst>
          </p:cNvPr>
          <p:cNvCxnSpPr>
            <a:cxnSpLocks/>
          </p:cNvCxnSpPr>
          <p:nvPr/>
        </p:nvCxnSpPr>
        <p:spPr>
          <a:xfrm flipV="1">
            <a:off x="6794398" y="1054549"/>
            <a:ext cx="829972" cy="19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BB2C3C26-95B7-AF2C-CFCB-5CA007A94A40}"/>
              </a:ext>
            </a:extLst>
          </p:cNvPr>
          <p:cNvCxnSpPr>
            <a:cxnSpLocks/>
          </p:cNvCxnSpPr>
          <p:nvPr/>
        </p:nvCxnSpPr>
        <p:spPr>
          <a:xfrm flipH="1">
            <a:off x="6211673" y="1255947"/>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2CE1E7A8-FACF-C82E-6F3C-844C651A2EEE}"/>
              </a:ext>
            </a:extLst>
          </p:cNvPr>
          <p:cNvCxnSpPr>
            <a:cxnSpLocks/>
            <a:stCxn id="9" idx="2"/>
            <a:endCxn id="21" idx="3"/>
          </p:cNvCxnSpPr>
          <p:nvPr/>
        </p:nvCxnSpPr>
        <p:spPr>
          <a:xfrm rot="5400000">
            <a:off x="7395592" y="838936"/>
            <a:ext cx="561742" cy="1641911"/>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46">
            <a:extLst>
              <a:ext uri="{FF2B5EF4-FFF2-40B4-BE49-F238E27FC236}">
                <a16:creationId xmlns:a16="http://schemas.microsoft.com/office/drawing/2014/main" id="{6A94B98A-C09C-8BDD-BC99-45DBDEDB7278}"/>
              </a:ext>
            </a:extLst>
          </p:cNvPr>
          <p:cNvSpPr txBox="1"/>
          <p:nvPr/>
        </p:nvSpPr>
        <p:spPr>
          <a:xfrm>
            <a:off x="6911096" y="846286"/>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18" name="TextBox 47">
            <a:extLst>
              <a:ext uri="{FF2B5EF4-FFF2-40B4-BE49-F238E27FC236}">
                <a16:creationId xmlns:a16="http://schemas.microsoft.com/office/drawing/2014/main" id="{F708D20C-D533-D64A-0170-84CE9FA19556}"/>
              </a:ext>
            </a:extLst>
          </p:cNvPr>
          <p:cNvSpPr txBox="1"/>
          <p:nvPr/>
        </p:nvSpPr>
        <p:spPr>
          <a:xfrm>
            <a:off x="5564485" y="14212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19" name="TextBox 62">
            <a:extLst>
              <a:ext uri="{FF2B5EF4-FFF2-40B4-BE49-F238E27FC236}">
                <a16:creationId xmlns:a16="http://schemas.microsoft.com/office/drawing/2014/main" id="{011BEA60-DD37-51E9-0B6F-4663A66FCC71}"/>
              </a:ext>
            </a:extLst>
          </p:cNvPr>
          <p:cNvSpPr txBox="1"/>
          <p:nvPr/>
        </p:nvSpPr>
        <p:spPr>
          <a:xfrm>
            <a:off x="835007" y="1097734"/>
            <a:ext cx="753446" cy="29600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lgn="ctr">
              <a:spcBef>
                <a:spcPts val="600"/>
              </a:spcBef>
              <a:spcAft>
                <a:spcPts val="600"/>
              </a:spcAft>
              <a:buClr>
                <a:srgbClr val="303030">
                  <a:lumMod val="50000"/>
                  <a:lumOff val="50000"/>
                </a:srgbClr>
              </a:buClr>
            </a:pPr>
            <a:r>
              <a:rPr lang="en-US" sz="1000" dirty="0">
                <a:solidFill>
                  <a:srgbClr val="002240"/>
                </a:solidFill>
                <a:cs typeface="Tahoma" pitchFamily="34" charset="0"/>
              </a:rPr>
              <a:t>Ticket raised</a:t>
            </a:r>
          </a:p>
        </p:txBody>
      </p:sp>
      <p:cxnSp>
        <p:nvCxnSpPr>
          <p:cNvPr id="20" name="Straight Arrow Connector 19">
            <a:extLst>
              <a:ext uri="{FF2B5EF4-FFF2-40B4-BE49-F238E27FC236}">
                <a16:creationId xmlns:a16="http://schemas.microsoft.com/office/drawing/2014/main" id="{247737E9-C4F6-7E40-54DE-02DDD2A846AE}"/>
              </a:ext>
            </a:extLst>
          </p:cNvPr>
          <p:cNvCxnSpPr>
            <a:cxnSpLocks/>
          </p:cNvCxnSpPr>
          <p:nvPr/>
        </p:nvCxnSpPr>
        <p:spPr>
          <a:xfrm>
            <a:off x="3049673" y="1054549"/>
            <a:ext cx="80624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7E00AD01-9278-1203-A038-4DDA975152CE}"/>
              </a:ext>
            </a:extLst>
          </p:cNvPr>
          <p:cNvSpPr/>
          <p:nvPr/>
        </p:nvSpPr>
        <p:spPr>
          <a:xfrm>
            <a:off x="5744547" y="1704892"/>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Ticket Analysis by Engineer</a:t>
            </a:r>
            <a:endParaRPr lang="en-US" sz="1000"/>
          </a:p>
        </p:txBody>
      </p:sp>
      <p:sp>
        <p:nvSpPr>
          <p:cNvPr id="22" name="Left Brace 21">
            <a:extLst>
              <a:ext uri="{FF2B5EF4-FFF2-40B4-BE49-F238E27FC236}">
                <a16:creationId xmlns:a16="http://schemas.microsoft.com/office/drawing/2014/main" id="{2F5D682F-92CF-5C70-EAB1-60FB5B8AC864}"/>
              </a:ext>
            </a:extLst>
          </p:cNvPr>
          <p:cNvSpPr/>
          <p:nvPr/>
        </p:nvSpPr>
        <p:spPr>
          <a:xfrm rot="5400000">
            <a:off x="6088901" y="8532"/>
            <a:ext cx="384279" cy="48629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cxnSp>
        <p:nvCxnSpPr>
          <p:cNvPr id="23" name="Straight Arrow Connector 22">
            <a:extLst>
              <a:ext uri="{FF2B5EF4-FFF2-40B4-BE49-F238E27FC236}">
                <a16:creationId xmlns:a16="http://schemas.microsoft.com/office/drawing/2014/main" id="{C7A7F6F4-65C9-A8BE-5F43-C8EA83CB00FE}"/>
              </a:ext>
            </a:extLst>
          </p:cNvPr>
          <p:cNvCxnSpPr>
            <a:cxnSpLocks/>
          </p:cNvCxnSpPr>
          <p:nvPr/>
        </p:nvCxnSpPr>
        <p:spPr>
          <a:xfrm flipH="1">
            <a:off x="6261118" y="2280846"/>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Flowchart: Decision 23">
            <a:extLst>
              <a:ext uri="{FF2B5EF4-FFF2-40B4-BE49-F238E27FC236}">
                <a16:creationId xmlns:a16="http://schemas.microsoft.com/office/drawing/2014/main" id="{52FB57E9-3EBA-ADA4-FB25-87D50C322B81}"/>
              </a:ext>
            </a:extLst>
          </p:cNvPr>
          <p:cNvSpPr/>
          <p:nvPr/>
        </p:nvSpPr>
        <p:spPr>
          <a:xfrm>
            <a:off x="3013650" y="2774648"/>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a:t>Is it a Bug?</a:t>
            </a:r>
          </a:p>
        </p:txBody>
      </p:sp>
      <p:sp>
        <p:nvSpPr>
          <p:cNvPr id="25" name="Flowchart: Decision 24">
            <a:extLst>
              <a:ext uri="{FF2B5EF4-FFF2-40B4-BE49-F238E27FC236}">
                <a16:creationId xmlns:a16="http://schemas.microsoft.com/office/drawing/2014/main" id="{15CCC04D-99DD-4171-5C75-0685416DB2CB}"/>
              </a:ext>
            </a:extLst>
          </p:cNvPr>
          <p:cNvSpPr/>
          <p:nvPr/>
        </p:nvSpPr>
        <p:spPr>
          <a:xfrm>
            <a:off x="5358815" y="2783304"/>
            <a:ext cx="1747132"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a:t>Enhancement?</a:t>
            </a:r>
          </a:p>
        </p:txBody>
      </p:sp>
      <p:sp>
        <p:nvSpPr>
          <p:cNvPr id="26" name="Flowchart: Decision 25">
            <a:extLst>
              <a:ext uri="{FF2B5EF4-FFF2-40B4-BE49-F238E27FC236}">
                <a16:creationId xmlns:a16="http://schemas.microsoft.com/office/drawing/2014/main" id="{784EDAC2-988A-B324-D7DE-FB3308B4479C}"/>
              </a:ext>
            </a:extLst>
          </p:cNvPr>
          <p:cNvSpPr/>
          <p:nvPr/>
        </p:nvSpPr>
        <p:spPr>
          <a:xfrm>
            <a:off x="7914281" y="2783303"/>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900"/>
              <a:t>platform issue?</a:t>
            </a:r>
          </a:p>
        </p:txBody>
      </p:sp>
      <p:sp>
        <p:nvSpPr>
          <p:cNvPr id="27" name="Flowchart: Decision 26">
            <a:extLst>
              <a:ext uri="{FF2B5EF4-FFF2-40B4-BE49-F238E27FC236}">
                <a16:creationId xmlns:a16="http://schemas.microsoft.com/office/drawing/2014/main" id="{F11D148D-DA81-43CE-30EE-7C99301801B9}"/>
              </a:ext>
            </a:extLst>
          </p:cNvPr>
          <p:cNvSpPr/>
          <p:nvPr/>
        </p:nvSpPr>
        <p:spPr>
          <a:xfrm>
            <a:off x="3013649" y="3977574"/>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Critical/High ?</a:t>
            </a:r>
          </a:p>
        </p:txBody>
      </p:sp>
      <p:cxnSp>
        <p:nvCxnSpPr>
          <p:cNvPr id="28" name="Straight Arrow Connector 27">
            <a:extLst>
              <a:ext uri="{FF2B5EF4-FFF2-40B4-BE49-F238E27FC236}">
                <a16:creationId xmlns:a16="http://schemas.microsoft.com/office/drawing/2014/main" id="{5012E229-4062-2281-5B34-E20586A6D569}"/>
              </a:ext>
            </a:extLst>
          </p:cNvPr>
          <p:cNvCxnSpPr>
            <a:cxnSpLocks/>
          </p:cNvCxnSpPr>
          <p:nvPr/>
        </p:nvCxnSpPr>
        <p:spPr>
          <a:xfrm>
            <a:off x="3786571" y="4873629"/>
            <a:ext cx="0" cy="4627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08DC5102-F0C6-5579-A61F-E7DEBA7BDEE1}"/>
              </a:ext>
            </a:extLst>
          </p:cNvPr>
          <p:cNvCxnSpPr>
            <a:cxnSpLocks/>
            <a:stCxn id="24" idx="2"/>
            <a:endCxn id="27" idx="0"/>
          </p:cNvCxnSpPr>
          <p:nvPr/>
        </p:nvCxnSpPr>
        <p:spPr>
          <a:xfrm flipH="1">
            <a:off x="3817750" y="3605477"/>
            <a:ext cx="1" cy="3720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985B5B0C-FE34-F3D3-A44C-9EA79E7F338C}"/>
              </a:ext>
            </a:extLst>
          </p:cNvPr>
          <p:cNvCxnSpPr>
            <a:cxnSpLocks/>
          </p:cNvCxnSpPr>
          <p:nvPr/>
        </p:nvCxnSpPr>
        <p:spPr>
          <a:xfrm>
            <a:off x="7131326" y="3135898"/>
            <a:ext cx="67216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7B05676-1239-4121-928C-06D3EDA43870}"/>
              </a:ext>
            </a:extLst>
          </p:cNvPr>
          <p:cNvCxnSpPr>
            <a:cxnSpLocks/>
          </p:cNvCxnSpPr>
          <p:nvPr/>
        </p:nvCxnSpPr>
        <p:spPr>
          <a:xfrm>
            <a:off x="4673860" y="3195095"/>
            <a:ext cx="67216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Straight Arrow Connector 31">
            <a:extLst>
              <a:ext uri="{FF2B5EF4-FFF2-40B4-BE49-F238E27FC236}">
                <a16:creationId xmlns:a16="http://schemas.microsoft.com/office/drawing/2014/main" id="{B2AE3B42-8FC6-E1BC-88A7-4E53B5BCF416}"/>
              </a:ext>
            </a:extLst>
          </p:cNvPr>
          <p:cNvCxnSpPr>
            <a:cxnSpLocks/>
            <a:endCxn id="33" idx="1"/>
          </p:cNvCxnSpPr>
          <p:nvPr/>
        </p:nvCxnSpPr>
        <p:spPr>
          <a:xfrm>
            <a:off x="9522482" y="3135898"/>
            <a:ext cx="809213" cy="3381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Rectangle 32">
            <a:extLst>
              <a:ext uri="{FF2B5EF4-FFF2-40B4-BE49-F238E27FC236}">
                <a16:creationId xmlns:a16="http://schemas.microsoft.com/office/drawing/2014/main" id="{C28052A8-B5EC-F46A-CD1E-95807ED70689}"/>
              </a:ext>
            </a:extLst>
          </p:cNvPr>
          <p:cNvSpPr/>
          <p:nvPr/>
        </p:nvSpPr>
        <p:spPr>
          <a:xfrm>
            <a:off x="10331695" y="2860197"/>
            <a:ext cx="1728244" cy="61903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Engage Infra team to resolve the issue in customer env.</a:t>
            </a:r>
            <a:endParaRPr lang="en-US" sz="1000">
              <a:cs typeface="Calibri"/>
            </a:endParaRPr>
          </a:p>
        </p:txBody>
      </p:sp>
      <p:cxnSp>
        <p:nvCxnSpPr>
          <p:cNvPr id="34" name="Connector: Elbow 33">
            <a:extLst>
              <a:ext uri="{FF2B5EF4-FFF2-40B4-BE49-F238E27FC236}">
                <a16:creationId xmlns:a16="http://schemas.microsoft.com/office/drawing/2014/main" id="{0A2E5227-BA9E-05E6-7D15-C97482AC59EA}"/>
              </a:ext>
            </a:extLst>
          </p:cNvPr>
          <p:cNvCxnSpPr>
            <a:stCxn id="26" idx="3"/>
            <a:endCxn id="9" idx="3"/>
          </p:cNvCxnSpPr>
          <p:nvPr/>
        </p:nvCxnSpPr>
        <p:spPr>
          <a:xfrm flipH="1" flipV="1">
            <a:off x="9361540" y="1069503"/>
            <a:ext cx="160942" cy="2129215"/>
          </a:xfrm>
          <a:prstGeom prst="bentConnector3">
            <a:avLst>
              <a:gd name="adj1" fmla="val -142039"/>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TextBox 1028">
            <a:extLst>
              <a:ext uri="{FF2B5EF4-FFF2-40B4-BE49-F238E27FC236}">
                <a16:creationId xmlns:a16="http://schemas.microsoft.com/office/drawing/2014/main" id="{99109622-3A97-A8B1-1F38-11FB1F6DDB99}"/>
              </a:ext>
            </a:extLst>
          </p:cNvPr>
          <p:cNvSpPr txBox="1"/>
          <p:nvPr/>
        </p:nvSpPr>
        <p:spPr>
          <a:xfrm>
            <a:off x="4833116" y="29575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sp>
        <p:nvSpPr>
          <p:cNvPr id="36" name="TextBox 1029">
            <a:extLst>
              <a:ext uri="{FF2B5EF4-FFF2-40B4-BE49-F238E27FC236}">
                <a16:creationId xmlns:a16="http://schemas.microsoft.com/office/drawing/2014/main" id="{B25C45BC-FDCE-2960-4380-095E0867FD41}"/>
              </a:ext>
            </a:extLst>
          </p:cNvPr>
          <p:cNvSpPr txBox="1"/>
          <p:nvPr/>
        </p:nvSpPr>
        <p:spPr>
          <a:xfrm>
            <a:off x="7242081" y="2860549"/>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37" name="TextBox 1030">
            <a:extLst>
              <a:ext uri="{FF2B5EF4-FFF2-40B4-BE49-F238E27FC236}">
                <a16:creationId xmlns:a16="http://schemas.microsoft.com/office/drawing/2014/main" id="{FA400ED2-2F33-EAEA-502D-BAAA12278AD8}"/>
              </a:ext>
            </a:extLst>
          </p:cNvPr>
          <p:cNvSpPr txBox="1"/>
          <p:nvPr/>
        </p:nvSpPr>
        <p:spPr>
          <a:xfrm>
            <a:off x="9445766" y="2090704"/>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38" name="TextBox 1031">
            <a:extLst>
              <a:ext uri="{FF2B5EF4-FFF2-40B4-BE49-F238E27FC236}">
                <a16:creationId xmlns:a16="http://schemas.microsoft.com/office/drawing/2014/main" id="{BFD357BA-1C78-64A1-267F-5A143BA190C7}"/>
              </a:ext>
            </a:extLst>
          </p:cNvPr>
          <p:cNvSpPr txBox="1"/>
          <p:nvPr/>
        </p:nvSpPr>
        <p:spPr>
          <a:xfrm>
            <a:off x="9823339" y="2925829"/>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39" name="TextBox 1032">
            <a:extLst>
              <a:ext uri="{FF2B5EF4-FFF2-40B4-BE49-F238E27FC236}">
                <a16:creationId xmlns:a16="http://schemas.microsoft.com/office/drawing/2014/main" id="{0B0F91A0-2F6C-6454-7B8C-778E52ABFA2C}"/>
              </a:ext>
            </a:extLst>
          </p:cNvPr>
          <p:cNvSpPr txBox="1"/>
          <p:nvPr/>
        </p:nvSpPr>
        <p:spPr>
          <a:xfrm>
            <a:off x="3405666" y="4911991"/>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40" name="Rectangle 39">
            <a:extLst>
              <a:ext uri="{FF2B5EF4-FFF2-40B4-BE49-F238E27FC236}">
                <a16:creationId xmlns:a16="http://schemas.microsoft.com/office/drawing/2014/main" id="{47D56C05-0B9C-DBFD-11FD-139CF67B6394}"/>
              </a:ext>
            </a:extLst>
          </p:cNvPr>
          <p:cNvSpPr/>
          <p:nvPr/>
        </p:nvSpPr>
        <p:spPr>
          <a:xfrm>
            <a:off x="10328646" y="3937092"/>
            <a:ext cx="1311710" cy="54363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Backlog/capacity Prioritization by CDS lead</a:t>
            </a:r>
          </a:p>
        </p:txBody>
      </p:sp>
      <p:cxnSp>
        <p:nvCxnSpPr>
          <p:cNvPr id="41" name="Connector: Elbow 40">
            <a:extLst>
              <a:ext uri="{FF2B5EF4-FFF2-40B4-BE49-F238E27FC236}">
                <a16:creationId xmlns:a16="http://schemas.microsoft.com/office/drawing/2014/main" id="{2A06ECAC-A494-C440-3577-D2DE947795DF}"/>
              </a:ext>
            </a:extLst>
          </p:cNvPr>
          <p:cNvCxnSpPr>
            <a:cxnSpLocks/>
          </p:cNvCxnSpPr>
          <p:nvPr/>
        </p:nvCxnSpPr>
        <p:spPr>
          <a:xfrm flipV="1">
            <a:off x="4615334" y="4243415"/>
            <a:ext cx="5713312" cy="13070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TextBox 1038">
            <a:extLst>
              <a:ext uri="{FF2B5EF4-FFF2-40B4-BE49-F238E27FC236}">
                <a16:creationId xmlns:a16="http://schemas.microsoft.com/office/drawing/2014/main" id="{E3A0B152-5B1A-DE16-2945-4E7B63CB706D}"/>
              </a:ext>
            </a:extLst>
          </p:cNvPr>
          <p:cNvSpPr txBox="1"/>
          <p:nvPr/>
        </p:nvSpPr>
        <p:spPr>
          <a:xfrm>
            <a:off x="4635211" y="413438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cxnSp>
        <p:nvCxnSpPr>
          <p:cNvPr id="43" name="Connector: Elbow 42">
            <a:extLst>
              <a:ext uri="{FF2B5EF4-FFF2-40B4-BE49-F238E27FC236}">
                <a16:creationId xmlns:a16="http://schemas.microsoft.com/office/drawing/2014/main" id="{187A1022-F999-FD83-98FC-5CAF863B325E}"/>
              </a:ext>
            </a:extLst>
          </p:cNvPr>
          <p:cNvCxnSpPr>
            <a:cxnSpLocks/>
            <a:stCxn id="25" idx="2"/>
            <a:endCxn id="40" idx="0"/>
          </p:cNvCxnSpPr>
          <p:nvPr/>
        </p:nvCxnSpPr>
        <p:spPr>
          <a:xfrm rot="16200000" flipH="1">
            <a:off x="8446962" y="1399552"/>
            <a:ext cx="322959" cy="47521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Flowchart: Decision 43">
            <a:extLst>
              <a:ext uri="{FF2B5EF4-FFF2-40B4-BE49-F238E27FC236}">
                <a16:creationId xmlns:a16="http://schemas.microsoft.com/office/drawing/2014/main" id="{7AFAE09A-A4D3-ED05-9E0C-452263AE05AE}"/>
              </a:ext>
            </a:extLst>
          </p:cNvPr>
          <p:cNvSpPr/>
          <p:nvPr/>
        </p:nvSpPr>
        <p:spPr>
          <a:xfrm>
            <a:off x="3023255" y="5490633"/>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Identify Fix type</a:t>
            </a:r>
          </a:p>
        </p:txBody>
      </p:sp>
      <p:sp>
        <p:nvSpPr>
          <p:cNvPr id="45" name="Rectangle 44">
            <a:extLst>
              <a:ext uri="{FF2B5EF4-FFF2-40B4-BE49-F238E27FC236}">
                <a16:creationId xmlns:a16="http://schemas.microsoft.com/office/drawing/2014/main" id="{813DA1F2-AD40-6B18-42E3-FBD1688D9958}"/>
              </a:ext>
            </a:extLst>
          </p:cNvPr>
          <p:cNvSpPr/>
          <p:nvPr/>
        </p:nvSpPr>
        <p:spPr>
          <a:xfrm>
            <a:off x="5057929" y="5332456"/>
            <a:ext cx="925967" cy="29583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Minor Patch</a:t>
            </a:r>
          </a:p>
        </p:txBody>
      </p:sp>
      <p:sp>
        <p:nvSpPr>
          <p:cNvPr id="46" name="Rectangle 45">
            <a:extLst>
              <a:ext uri="{FF2B5EF4-FFF2-40B4-BE49-F238E27FC236}">
                <a16:creationId xmlns:a16="http://schemas.microsoft.com/office/drawing/2014/main" id="{AFBEFE0F-154A-ADC4-005A-465DE35CF041}"/>
              </a:ext>
            </a:extLst>
          </p:cNvPr>
          <p:cNvSpPr/>
          <p:nvPr/>
        </p:nvSpPr>
        <p:spPr>
          <a:xfrm>
            <a:off x="5057930" y="6150050"/>
            <a:ext cx="925965" cy="29583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Major release</a:t>
            </a:r>
          </a:p>
        </p:txBody>
      </p:sp>
      <p:cxnSp>
        <p:nvCxnSpPr>
          <p:cNvPr id="47" name="Connector: Elbow 46">
            <a:extLst>
              <a:ext uri="{FF2B5EF4-FFF2-40B4-BE49-F238E27FC236}">
                <a16:creationId xmlns:a16="http://schemas.microsoft.com/office/drawing/2014/main" id="{96E2392C-8080-0E26-D8FF-C517E424F2E0}"/>
              </a:ext>
            </a:extLst>
          </p:cNvPr>
          <p:cNvCxnSpPr>
            <a:cxnSpLocks/>
            <a:stCxn id="44" idx="3"/>
            <a:endCxn id="45" idx="1"/>
          </p:cNvCxnSpPr>
          <p:nvPr/>
        </p:nvCxnSpPr>
        <p:spPr>
          <a:xfrm flipV="1">
            <a:off x="4631456" y="5480374"/>
            <a:ext cx="426473" cy="4256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4607546E-E9A9-9971-2B89-F91723FDE64D}"/>
              </a:ext>
            </a:extLst>
          </p:cNvPr>
          <p:cNvCxnSpPr>
            <a:cxnSpLocks/>
            <a:stCxn id="44" idx="3"/>
            <a:endCxn id="46" idx="1"/>
          </p:cNvCxnSpPr>
          <p:nvPr/>
        </p:nvCxnSpPr>
        <p:spPr>
          <a:xfrm>
            <a:off x="4631456" y="5906048"/>
            <a:ext cx="426474" cy="3919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846F1244-AD90-CF48-1606-900B61BABF12}"/>
              </a:ext>
            </a:extLst>
          </p:cNvPr>
          <p:cNvSpPr/>
          <p:nvPr/>
        </p:nvSpPr>
        <p:spPr>
          <a:xfrm>
            <a:off x="6363697" y="5264911"/>
            <a:ext cx="925965"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0" name="Straight Arrow Connector 49">
            <a:extLst>
              <a:ext uri="{FF2B5EF4-FFF2-40B4-BE49-F238E27FC236}">
                <a16:creationId xmlns:a16="http://schemas.microsoft.com/office/drawing/2014/main" id="{6966DB90-6A2C-FC0B-B0F3-723BD401928F}"/>
              </a:ext>
            </a:extLst>
          </p:cNvPr>
          <p:cNvCxnSpPr>
            <a:cxnSpLocks/>
            <a:endCxn id="49" idx="1"/>
          </p:cNvCxnSpPr>
          <p:nvPr/>
        </p:nvCxnSpPr>
        <p:spPr>
          <a:xfrm>
            <a:off x="6077395" y="5448124"/>
            <a:ext cx="286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F143E5A3-3567-1E80-6DE8-53E265220810}"/>
              </a:ext>
            </a:extLst>
          </p:cNvPr>
          <p:cNvSpPr/>
          <p:nvPr/>
        </p:nvSpPr>
        <p:spPr>
          <a:xfrm>
            <a:off x="7470510" y="5264911"/>
            <a:ext cx="1460760"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Sprint re-prioritization</a:t>
            </a:r>
            <a:endParaRPr lang="en-US" sz="1000"/>
          </a:p>
        </p:txBody>
      </p:sp>
      <p:sp>
        <p:nvSpPr>
          <p:cNvPr id="52" name="Rectangle 51">
            <a:extLst>
              <a:ext uri="{FF2B5EF4-FFF2-40B4-BE49-F238E27FC236}">
                <a16:creationId xmlns:a16="http://schemas.microsoft.com/office/drawing/2014/main" id="{D166E276-49D7-2B23-8674-7A8EFED71B58}"/>
              </a:ext>
            </a:extLst>
          </p:cNvPr>
          <p:cNvSpPr/>
          <p:nvPr/>
        </p:nvSpPr>
        <p:spPr>
          <a:xfrm>
            <a:off x="6363699" y="6108308"/>
            <a:ext cx="925964"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3" name="Straight Arrow Connector 52">
            <a:extLst>
              <a:ext uri="{FF2B5EF4-FFF2-40B4-BE49-F238E27FC236}">
                <a16:creationId xmlns:a16="http://schemas.microsoft.com/office/drawing/2014/main" id="{A897B066-C793-3211-D71D-19EA7A74C5B4}"/>
              </a:ext>
            </a:extLst>
          </p:cNvPr>
          <p:cNvCxnSpPr>
            <a:cxnSpLocks/>
            <a:stCxn id="46" idx="3"/>
            <a:endCxn id="52" idx="1"/>
          </p:cNvCxnSpPr>
          <p:nvPr/>
        </p:nvCxnSpPr>
        <p:spPr>
          <a:xfrm flipV="1">
            <a:off x="5983895" y="6291521"/>
            <a:ext cx="379804" cy="64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914592FB-899F-F4C7-9800-946703BDB0CA}"/>
              </a:ext>
            </a:extLst>
          </p:cNvPr>
          <p:cNvSpPr/>
          <p:nvPr/>
        </p:nvSpPr>
        <p:spPr>
          <a:xfrm>
            <a:off x="10331695" y="1739123"/>
            <a:ext cx="1728244" cy="61903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RCA by infra team</a:t>
            </a:r>
          </a:p>
        </p:txBody>
      </p:sp>
      <p:sp>
        <p:nvSpPr>
          <p:cNvPr id="55" name="Rectangle 54">
            <a:extLst>
              <a:ext uri="{FF2B5EF4-FFF2-40B4-BE49-F238E27FC236}">
                <a16:creationId xmlns:a16="http://schemas.microsoft.com/office/drawing/2014/main" id="{CF147816-71D7-F607-EAF2-3E4E5F7BFDFD}"/>
              </a:ext>
            </a:extLst>
          </p:cNvPr>
          <p:cNvSpPr/>
          <p:nvPr/>
        </p:nvSpPr>
        <p:spPr>
          <a:xfrm>
            <a:off x="11022721" y="5344373"/>
            <a:ext cx="1121505" cy="46274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RCA by  Product team</a:t>
            </a:r>
          </a:p>
        </p:txBody>
      </p:sp>
      <p:sp>
        <p:nvSpPr>
          <p:cNvPr id="56" name="Rectangle 55">
            <a:extLst>
              <a:ext uri="{FF2B5EF4-FFF2-40B4-BE49-F238E27FC236}">
                <a16:creationId xmlns:a16="http://schemas.microsoft.com/office/drawing/2014/main" id="{E8BAE767-C2C4-BF71-FC78-DECC3F03C897}"/>
              </a:ext>
            </a:extLst>
          </p:cNvPr>
          <p:cNvSpPr/>
          <p:nvPr/>
        </p:nvSpPr>
        <p:spPr>
          <a:xfrm>
            <a:off x="9342426" y="5584919"/>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Dev &amp; deploy</a:t>
            </a:r>
            <a:endParaRPr lang="en-US" sz="1000"/>
          </a:p>
        </p:txBody>
      </p:sp>
      <p:cxnSp>
        <p:nvCxnSpPr>
          <p:cNvPr id="57" name="Connector: Elbow 56">
            <a:extLst>
              <a:ext uri="{FF2B5EF4-FFF2-40B4-BE49-F238E27FC236}">
                <a16:creationId xmlns:a16="http://schemas.microsoft.com/office/drawing/2014/main" id="{3C6F742A-BC2E-388F-3668-98712BDAF548}"/>
              </a:ext>
            </a:extLst>
          </p:cNvPr>
          <p:cNvCxnSpPr>
            <a:stCxn id="51" idx="3"/>
            <a:endCxn id="56" idx="0"/>
          </p:cNvCxnSpPr>
          <p:nvPr/>
        </p:nvCxnSpPr>
        <p:spPr>
          <a:xfrm>
            <a:off x="8931270" y="5448124"/>
            <a:ext cx="966636" cy="1367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7E681E60-1325-CE1D-123F-0C78301EE1A5}"/>
              </a:ext>
            </a:extLst>
          </p:cNvPr>
          <p:cNvCxnSpPr>
            <a:cxnSpLocks/>
            <a:endCxn id="56" idx="2"/>
          </p:cNvCxnSpPr>
          <p:nvPr/>
        </p:nvCxnSpPr>
        <p:spPr>
          <a:xfrm flipV="1">
            <a:off x="8931269" y="6056658"/>
            <a:ext cx="966637" cy="1989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Flowchart: Decision 58">
            <a:extLst>
              <a:ext uri="{FF2B5EF4-FFF2-40B4-BE49-F238E27FC236}">
                <a16:creationId xmlns:a16="http://schemas.microsoft.com/office/drawing/2014/main" id="{9FA95430-263A-1E9E-AAF3-92D5F6A28A47}"/>
              </a:ext>
            </a:extLst>
          </p:cNvPr>
          <p:cNvSpPr/>
          <p:nvPr/>
        </p:nvSpPr>
        <p:spPr>
          <a:xfrm>
            <a:off x="7521671" y="6042916"/>
            <a:ext cx="1409598" cy="462065"/>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a:t>Alternate?</a:t>
            </a:r>
          </a:p>
        </p:txBody>
      </p:sp>
      <p:cxnSp>
        <p:nvCxnSpPr>
          <p:cNvPr id="60" name="Straight Arrow Connector 59">
            <a:extLst>
              <a:ext uri="{FF2B5EF4-FFF2-40B4-BE49-F238E27FC236}">
                <a16:creationId xmlns:a16="http://schemas.microsoft.com/office/drawing/2014/main" id="{53A1EACE-ACC2-5450-B6B8-AA96746A1B8A}"/>
              </a:ext>
            </a:extLst>
          </p:cNvPr>
          <p:cNvCxnSpPr>
            <a:cxnSpLocks/>
          </p:cNvCxnSpPr>
          <p:nvPr/>
        </p:nvCxnSpPr>
        <p:spPr>
          <a:xfrm flipV="1">
            <a:off x="7231923" y="6244187"/>
            <a:ext cx="370315" cy="14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7EC95E32-FAA0-0060-F1D6-AB809765092B}"/>
              </a:ext>
            </a:extLst>
          </p:cNvPr>
          <p:cNvCxnSpPr>
            <a:endCxn id="40" idx="2"/>
          </p:cNvCxnSpPr>
          <p:nvPr/>
        </p:nvCxnSpPr>
        <p:spPr>
          <a:xfrm flipV="1">
            <a:off x="8221311" y="4480729"/>
            <a:ext cx="2763190" cy="202425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1123">
            <a:extLst>
              <a:ext uri="{FF2B5EF4-FFF2-40B4-BE49-F238E27FC236}">
                <a16:creationId xmlns:a16="http://schemas.microsoft.com/office/drawing/2014/main" id="{691C430B-95DA-5BC8-B01E-AB5673C40E36}"/>
              </a:ext>
            </a:extLst>
          </p:cNvPr>
          <p:cNvSpPr txBox="1"/>
          <p:nvPr/>
        </p:nvSpPr>
        <p:spPr>
          <a:xfrm>
            <a:off x="8953388" y="6067048"/>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63" name="TextBox 1124">
            <a:extLst>
              <a:ext uri="{FF2B5EF4-FFF2-40B4-BE49-F238E27FC236}">
                <a16:creationId xmlns:a16="http://schemas.microsoft.com/office/drawing/2014/main" id="{BFE2753D-3A32-3311-A992-8DE0A8CB3653}"/>
              </a:ext>
            </a:extLst>
          </p:cNvPr>
          <p:cNvSpPr txBox="1"/>
          <p:nvPr/>
        </p:nvSpPr>
        <p:spPr>
          <a:xfrm>
            <a:off x="10634545" y="533637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64" name="Title 1">
            <a:extLst>
              <a:ext uri="{FF2B5EF4-FFF2-40B4-BE49-F238E27FC236}">
                <a16:creationId xmlns:a16="http://schemas.microsoft.com/office/drawing/2014/main" id="{47FC912B-A588-197F-D240-EABD3D4462D5}"/>
              </a:ext>
            </a:extLst>
          </p:cNvPr>
          <p:cNvSpPr>
            <a:spLocks noGrp="1"/>
          </p:cNvSpPr>
          <p:nvPr/>
        </p:nvSpPr>
        <p:spPr>
          <a:xfrm>
            <a:off x="672859" y="215660"/>
            <a:ext cx="10893061" cy="555474"/>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2600" b="0" i="0" kern="1200" spc="120" baseline="0">
                <a:solidFill>
                  <a:schemeClr val="tx1"/>
                </a:solidFill>
                <a:latin typeface="+mn-lt"/>
                <a:ea typeface="+mj-ea"/>
                <a:cs typeface="Tahoma" pitchFamily="34" charset="0"/>
              </a:defRPr>
            </a:lvl1pPr>
          </a:lstStyle>
          <a:p>
            <a:r>
              <a:rPr lang="en-US" dirty="0">
                <a:cs typeface="Tahoma"/>
              </a:rPr>
              <a:t>Support flowchart</a:t>
            </a:r>
            <a:endParaRPr lang="en-US" dirty="0"/>
          </a:p>
        </p:txBody>
      </p:sp>
    </p:spTree>
    <p:extLst>
      <p:ext uri="{BB962C8B-B14F-4D97-AF65-F5344CB8AC3E}">
        <p14:creationId xmlns:p14="http://schemas.microsoft.com/office/powerpoint/2010/main" val="2905699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18F1C-82E3-D9A5-E7C4-E39CC116F925}"/>
              </a:ext>
            </a:extLst>
          </p:cNvPr>
          <p:cNvSpPr>
            <a:spLocks noGrp="1"/>
          </p:cNvSpPr>
          <p:nvPr>
            <p:ph type="title"/>
          </p:nvPr>
        </p:nvSpPr>
        <p:spPr>
          <a:xfrm>
            <a:off x="609600" y="104415"/>
            <a:ext cx="10972800" cy="663336"/>
          </a:xfrm>
        </p:spPr>
        <p:txBody>
          <a:bodyPr/>
          <a:lstStyle/>
          <a:p>
            <a:r>
              <a:rPr lang="en-US" dirty="0"/>
              <a:t>Current State</a:t>
            </a:r>
            <a:endParaRPr lang="en-IN" dirty="0"/>
          </a:p>
        </p:txBody>
      </p:sp>
      <p:sp>
        <p:nvSpPr>
          <p:cNvPr id="3" name="Text Placeholder 2">
            <a:extLst>
              <a:ext uri="{FF2B5EF4-FFF2-40B4-BE49-F238E27FC236}">
                <a16:creationId xmlns:a16="http://schemas.microsoft.com/office/drawing/2014/main" id="{ED11F879-D882-48A4-4B71-7922170BF4DB}"/>
              </a:ext>
            </a:extLst>
          </p:cNvPr>
          <p:cNvSpPr>
            <a:spLocks noGrp="1"/>
          </p:cNvSpPr>
          <p:nvPr>
            <p:ph type="body" sz="quarter" idx="14"/>
          </p:nvPr>
        </p:nvSpPr>
        <p:spPr/>
        <p:txBody>
          <a:bodyPr/>
          <a:lstStyle/>
          <a:p>
            <a:endParaRPr lang="en-IN"/>
          </a:p>
        </p:txBody>
      </p:sp>
      <p:sp>
        <p:nvSpPr>
          <p:cNvPr id="5" name="TextBox 4">
            <a:extLst>
              <a:ext uri="{FF2B5EF4-FFF2-40B4-BE49-F238E27FC236}">
                <a16:creationId xmlns:a16="http://schemas.microsoft.com/office/drawing/2014/main" id="{10B7AB88-9B95-9AF7-56A2-8EB4F2065382}"/>
              </a:ext>
            </a:extLst>
          </p:cNvPr>
          <p:cNvSpPr txBox="1"/>
          <p:nvPr/>
        </p:nvSpPr>
        <p:spPr>
          <a:xfrm>
            <a:off x="609600" y="868200"/>
            <a:ext cx="10972800" cy="4832092"/>
          </a:xfrm>
          <a:prstGeom prst="rect">
            <a:avLst/>
          </a:prstGeom>
          <a:noFill/>
        </p:spPr>
        <p:txBody>
          <a:bodyPr wrap="square">
            <a:spAutoFit/>
          </a:bodyPr>
          <a:lstStyle/>
          <a:p>
            <a:r>
              <a:rPr lang="en-IN" sz="1400" dirty="0">
                <a:effectLst/>
                <a:latin typeface="Aptos" panose="020B0004020202020204" pitchFamily="34" charset="0"/>
                <a:ea typeface="Aptos" panose="020B0004020202020204" pitchFamily="34" charset="0"/>
                <a:cs typeface="Aptos" panose="020B0004020202020204" pitchFamily="34" charset="0"/>
              </a:rPr>
              <a:t> </a:t>
            </a:r>
            <a:r>
              <a:rPr lang="en-IN" sz="1400" b="1" dirty="0">
                <a:effectLst/>
                <a:latin typeface="Aptos" panose="020B0004020202020204" pitchFamily="34" charset="0"/>
                <a:ea typeface="Aptos" panose="020B0004020202020204" pitchFamily="34" charset="0"/>
                <a:cs typeface="Aptos" panose="020B0004020202020204" pitchFamily="34" charset="0"/>
              </a:rPr>
              <a:t>Current Work: </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400" dirty="0">
                <a:latin typeface="Aptos" panose="020B0004020202020204" pitchFamily="34" charset="0"/>
                <a:ea typeface="Aptos" panose="020B0004020202020204" pitchFamily="34" charset="0"/>
                <a:cs typeface="Aptos" panose="020B0004020202020204" pitchFamily="34" charset="0"/>
              </a:rPr>
              <a:t>IRIS:</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800100" lvl="1" indent="-342900">
              <a:buAutoNum type="arabicParenR"/>
            </a:pPr>
            <a:r>
              <a:rPr lang="en-IN" sz="1400" dirty="0">
                <a:effectLst/>
                <a:latin typeface="Aptos" panose="020B0004020202020204" pitchFamily="34" charset="0"/>
                <a:ea typeface="Aptos" panose="020B0004020202020204" pitchFamily="34" charset="0"/>
                <a:cs typeface="Aptos" panose="020B0004020202020204" pitchFamily="34" charset="0"/>
              </a:rPr>
              <a:t>IRIS has been adopted by 4 Customers and Development is started. IRIS reaching out to Platform Team for Support.</a:t>
            </a:r>
          </a:p>
          <a:p>
            <a:r>
              <a:rPr lang="en-IN" sz="1400" dirty="0">
                <a:latin typeface="Aptos" panose="020B0004020202020204" pitchFamily="34" charset="0"/>
                <a:ea typeface="Aptos" panose="020B0004020202020204" pitchFamily="34" charset="0"/>
                <a:cs typeface="Aptos" panose="020B0004020202020204" pitchFamily="34" charset="0"/>
              </a:rPr>
              <a:t>            </a:t>
            </a:r>
            <a:r>
              <a:rPr lang="en-IN" sz="1400" dirty="0">
                <a:effectLst/>
                <a:latin typeface="Aptos" panose="020B0004020202020204" pitchFamily="34" charset="0"/>
                <a:ea typeface="Aptos" panose="020B0004020202020204" pitchFamily="34" charset="0"/>
                <a:cs typeface="Aptos" panose="020B0004020202020204" pitchFamily="34" charset="0"/>
              </a:rPr>
              <a:t>2)  Platform team is already working on the planned Backlog (enhancements/requirements) for IRIS</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400" dirty="0">
                <a:latin typeface="Aptos" panose="020B0004020202020204" pitchFamily="34" charset="0"/>
                <a:ea typeface="Aptos" panose="020B0004020202020204" pitchFamily="34" charset="0"/>
                <a:cs typeface="Aptos" panose="020B0004020202020204" pitchFamily="34" charset="0"/>
              </a:rPr>
              <a:t>TERRA:</a:t>
            </a:r>
          </a:p>
          <a:p>
            <a:pPr marL="342900" indent="-342900">
              <a:buAutoNum type="arabicParenR"/>
            </a:pPr>
            <a:endParaRPr lang="en-IN" sz="1400" dirty="0">
              <a:effectLst/>
              <a:latin typeface="Aptos" panose="020B0004020202020204" pitchFamily="34" charset="0"/>
              <a:ea typeface="Aptos" panose="020B0004020202020204" pitchFamily="34" charset="0"/>
              <a:cs typeface="Aptos" panose="020B0004020202020204" pitchFamily="34" charset="0"/>
            </a:endParaRPr>
          </a:p>
          <a:p>
            <a:pPr marL="800100" lvl="1" indent="-342900">
              <a:buAutoNum type="arabicParenR"/>
            </a:pPr>
            <a:r>
              <a:rPr lang="en-IN" sz="1400" dirty="0">
                <a:latin typeface="Aptos" panose="020B0004020202020204" pitchFamily="34" charset="0"/>
                <a:ea typeface="Aptos" panose="020B0004020202020204" pitchFamily="34" charset="0"/>
                <a:cs typeface="Aptos" panose="020B0004020202020204" pitchFamily="34" charset="0"/>
              </a:rPr>
              <a:t>CDS Team reaching the Platform Team in late Evening/Night Hours for </a:t>
            </a:r>
            <a:r>
              <a:rPr lang="en-IN" sz="1400" dirty="0" err="1">
                <a:latin typeface="Aptos" panose="020B0004020202020204" pitchFamily="34" charset="0"/>
                <a:ea typeface="Aptos" panose="020B0004020202020204" pitchFamily="34" charset="0"/>
                <a:cs typeface="Aptos" panose="020B0004020202020204" pitchFamily="34" charset="0"/>
              </a:rPr>
              <a:t>Adhoc</a:t>
            </a:r>
            <a:r>
              <a:rPr lang="en-IN" sz="1400" dirty="0">
                <a:latin typeface="Aptos" panose="020B0004020202020204" pitchFamily="34" charset="0"/>
                <a:ea typeface="Aptos" panose="020B0004020202020204" pitchFamily="34" charset="0"/>
                <a:cs typeface="Aptos" panose="020B0004020202020204" pitchFamily="34" charset="0"/>
              </a:rPr>
              <a:t> requests/Tickets/Demos</a:t>
            </a:r>
          </a:p>
          <a:p>
            <a:pPr marL="800100" lvl="1" indent="-342900">
              <a:buAutoNum type="arabicParenR"/>
            </a:pPr>
            <a:r>
              <a:rPr lang="en-IN" sz="1400" dirty="0">
                <a:effectLst/>
                <a:latin typeface="Aptos" panose="020B0004020202020204" pitchFamily="34" charset="0"/>
                <a:ea typeface="Aptos" panose="020B0004020202020204" pitchFamily="34" charset="0"/>
                <a:cs typeface="Aptos" panose="020B0004020202020204" pitchFamily="34" charset="0"/>
              </a:rPr>
              <a:t>Platform team is already working on the planned Backlog (enhancements/requirements) for TERRA</a:t>
            </a:r>
          </a:p>
          <a:p>
            <a:pPr marL="342900" indent="-342900">
              <a:buAutoNum type="arabicParenR"/>
            </a:pPr>
            <a:endParaRPr lang="en-IN" sz="1400" dirty="0">
              <a:effectLst/>
              <a:latin typeface="Aptos" panose="020B0004020202020204" pitchFamily="34" charset="0"/>
              <a:ea typeface="Aptos" panose="020B0004020202020204" pitchFamily="34" charset="0"/>
              <a:cs typeface="Aptos" panose="020B0004020202020204" pitchFamily="34" charset="0"/>
            </a:endParaRPr>
          </a:p>
          <a:p>
            <a:r>
              <a:rPr lang="en-IN" sz="1400" dirty="0">
                <a:effectLst/>
                <a:latin typeface="Aptos" panose="020B0004020202020204" pitchFamily="34" charset="0"/>
                <a:ea typeface="Aptos" panose="020B0004020202020204" pitchFamily="34" charset="0"/>
                <a:cs typeface="Aptos" panose="020B0004020202020204" pitchFamily="34" charset="0"/>
              </a:rPr>
              <a:t> SYMPHONY Platform:</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800100" lvl="1" indent="-342900">
              <a:buAutoNum type="arabicParenR"/>
            </a:pPr>
            <a:r>
              <a:rPr lang="en-IN" sz="1400" dirty="0">
                <a:latin typeface="Aptos" panose="020B0004020202020204" pitchFamily="34" charset="0"/>
                <a:ea typeface="Aptos" panose="020B0004020202020204" pitchFamily="34" charset="0"/>
                <a:cs typeface="Aptos" panose="020B0004020202020204" pitchFamily="34" charset="0"/>
              </a:rPr>
              <a:t>Design in Progress and Development is going to be started soon.</a:t>
            </a:r>
          </a:p>
          <a:p>
            <a:pPr marL="800100" lvl="1" indent="-342900">
              <a:buAutoNum type="arabicParenR"/>
            </a:pPr>
            <a:r>
              <a:rPr lang="en-IN" sz="1400" dirty="0">
                <a:latin typeface="Aptos" panose="020B0004020202020204" pitchFamily="34" charset="0"/>
                <a:ea typeface="Aptos" panose="020B0004020202020204" pitchFamily="34" charset="0"/>
                <a:cs typeface="Aptos" panose="020B0004020202020204" pitchFamily="34" charset="0"/>
              </a:rPr>
              <a:t>There will be requests coming up from Symphony platform Team on Bugs/Service Requests/requirements</a:t>
            </a:r>
          </a:p>
          <a:p>
            <a:endParaRPr lang="en-IN" sz="1400" dirty="0">
              <a:effectLst/>
              <a:latin typeface="Aptos" panose="020B0004020202020204" pitchFamily="34" charset="0"/>
              <a:ea typeface="Aptos" panose="020B0004020202020204" pitchFamily="34" charset="0"/>
              <a:cs typeface="Aptos" panose="020B0004020202020204" pitchFamily="34" charset="0"/>
            </a:endParaRPr>
          </a:p>
          <a:p>
            <a:r>
              <a:rPr lang="en-IN" sz="1400" dirty="0">
                <a:latin typeface="Aptos" panose="020B0004020202020204" pitchFamily="34" charset="0"/>
                <a:ea typeface="Aptos" panose="020B0004020202020204" pitchFamily="34" charset="0"/>
                <a:cs typeface="Aptos" panose="020B0004020202020204" pitchFamily="34" charset="0"/>
              </a:rPr>
              <a:t>Current Team Operations</a:t>
            </a:r>
            <a:r>
              <a:rPr lang="en-IN" sz="1400" dirty="0">
                <a:effectLst/>
                <a:latin typeface="Aptos" panose="020B0004020202020204" pitchFamily="34" charset="0"/>
                <a:ea typeface="Aptos" panose="020B0004020202020204" pitchFamily="34" charset="0"/>
                <a:cs typeface="Aptos" panose="020B0004020202020204" pitchFamily="34" charset="0"/>
              </a:rPr>
              <a:t>:</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IN" sz="1400" dirty="0">
                <a:effectLst/>
                <a:latin typeface="Aptos" panose="020B0004020202020204" pitchFamily="34" charset="0"/>
                <a:ea typeface="Aptos" panose="020B0004020202020204" pitchFamily="34" charset="0"/>
                <a:cs typeface="Aptos" panose="020B0004020202020204" pitchFamily="34" charset="0"/>
              </a:rPr>
              <a:t>3 Resources (1 Data Engineer, 1 Back End Engineer &amp; 1 Front Engineer) Support CDS Bugs/Requirements/Enhancements</a:t>
            </a:r>
          </a:p>
          <a:p>
            <a:pPr marL="342900" indent="-342900">
              <a:buAutoNum type="arabicParenR"/>
            </a:pPr>
            <a:r>
              <a:rPr lang="en-IN" sz="1400" dirty="0">
                <a:latin typeface="Aptos" panose="020B0004020202020204" pitchFamily="34" charset="0"/>
                <a:ea typeface="Aptos" panose="020B0004020202020204" pitchFamily="34" charset="0"/>
                <a:cs typeface="Aptos" panose="020B0004020202020204" pitchFamily="34" charset="0"/>
              </a:rPr>
              <a:t>3 Resources </a:t>
            </a:r>
            <a:r>
              <a:rPr lang="en-IN" sz="1400" dirty="0">
                <a:effectLst/>
                <a:latin typeface="Aptos" panose="020B0004020202020204" pitchFamily="34" charset="0"/>
                <a:ea typeface="Aptos" panose="020B0004020202020204" pitchFamily="34" charset="0"/>
                <a:cs typeface="Aptos" panose="020B0004020202020204" pitchFamily="34" charset="0"/>
              </a:rPr>
              <a:t>(1 Data Engineer, 1 Back End Engineer &amp; 1 Front Engineer) Support IRIS Bugs/Requirements/Enhancements (</a:t>
            </a:r>
            <a:r>
              <a:rPr lang="en-IN" sz="1400" dirty="0" err="1">
                <a:effectLst/>
                <a:latin typeface="Aptos" panose="020B0004020202020204" pitchFamily="34" charset="0"/>
                <a:ea typeface="Aptos" panose="020B0004020202020204" pitchFamily="34" charset="0"/>
                <a:cs typeface="Aptos" panose="020B0004020202020204" pitchFamily="34" charset="0"/>
              </a:rPr>
              <a:t>Naba’s</a:t>
            </a:r>
            <a:r>
              <a:rPr lang="en-IN" sz="1400" dirty="0">
                <a:effectLst/>
                <a:latin typeface="Aptos" panose="020B0004020202020204" pitchFamily="34" charset="0"/>
                <a:ea typeface="Aptos" panose="020B0004020202020204" pitchFamily="34" charset="0"/>
                <a:cs typeface="Aptos" panose="020B0004020202020204" pitchFamily="34" charset="0"/>
              </a:rPr>
              <a:t>)</a:t>
            </a:r>
          </a:p>
          <a:p>
            <a:r>
              <a:rPr lang="en-IN" sz="1400" dirty="0">
                <a:effectLst/>
                <a:latin typeface="Aptos" panose="020B0004020202020204" pitchFamily="34" charset="0"/>
                <a:ea typeface="Aptos" panose="020B0004020202020204" pitchFamily="34" charset="0"/>
                <a:cs typeface="Aptos" panose="020B0004020202020204" pitchFamily="34" charset="0"/>
              </a:rPr>
              <a:t> </a:t>
            </a:r>
          </a:p>
        </p:txBody>
      </p:sp>
    </p:spTree>
    <p:extLst>
      <p:ext uri="{BB962C8B-B14F-4D97-AF65-F5344CB8AC3E}">
        <p14:creationId xmlns:p14="http://schemas.microsoft.com/office/powerpoint/2010/main" val="99070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6360-10D3-E7E8-102B-8B4CFB01E1C7}"/>
              </a:ext>
            </a:extLst>
          </p:cNvPr>
          <p:cNvSpPr>
            <a:spLocks noGrp="1"/>
          </p:cNvSpPr>
          <p:nvPr>
            <p:ph type="title"/>
          </p:nvPr>
        </p:nvSpPr>
        <p:spPr>
          <a:xfrm>
            <a:off x="609600" y="104415"/>
            <a:ext cx="10972800" cy="469530"/>
          </a:xfrm>
        </p:spPr>
        <p:txBody>
          <a:bodyPr/>
          <a:lstStyle/>
          <a:p>
            <a:r>
              <a:rPr lang="en-US" dirty="0"/>
              <a:t>Resource Need</a:t>
            </a:r>
            <a:endParaRPr lang="en-IN" dirty="0"/>
          </a:p>
        </p:txBody>
      </p:sp>
      <p:sp>
        <p:nvSpPr>
          <p:cNvPr id="3" name="Text Placeholder 2">
            <a:extLst>
              <a:ext uri="{FF2B5EF4-FFF2-40B4-BE49-F238E27FC236}">
                <a16:creationId xmlns:a16="http://schemas.microsoft.com/office/drawing/2014/main" id="{5FBF8737-2EB0-A4DB-F9FC-547A71D8EFB7}"/>
              </a:ext>
            </a:extLst>
          </p:cNvPr>
          <p:cNvSpPr>
            <a:spLocks noGrp="1"/>
          </p:cNvSpPr>
          <p:nvPr>
            <p:ph type="body" sz="quarter" idx="14"/>
          </p:nvPr>
        </p:nvSpPr>
        <p:spPr/>
        <p:txBody>
          <a:bodyPr/>
          <a:lstStyle/>
          <a:p>
            <a:endParaRPr lang="en-IN"/>
          </a:p>
        </p:txBody>
      </p:sp>
      <p:sp>
        <p:nvSpPr>
          <p:cNvPr id="6" name="Rectangle: Rounded Corners 5">
            <a:extLst>
              <a:ext uri="{FF2B5EF4-FFF2-40B4-BE49-F238E27FC236}">
                <a16:creationId xmlns:a16="http://schemas.microsoft.com/office/drawing/2014/main" id="{995FF65F-C3E9-2176-3179-540B39D29945}"/>
              </a:ext>
            </a:extLst>
          </p:cNvPr>
          <p:cNvSpPr/>
          <p:nvPr/>
        </p:nvSpPr>
        <p:spPr>
          <a:xfrm>
            <a:off x="750496" y="3313229"/>
            <a:ext cx="10972799" cy="3104741"/>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b="1" dirty="0">
                <a:latin typeface="Aptos" panose="020B0004020202020204" pitchFamily="34" charset="0"/>
                <a:ea typeface="Aptos" panose="020B0004020202020204" pitchFamily="34" charset="0"/>
                <a:cs typeface="Aptos" panose="020B0004020202020204" pitchFamily="34" charset="0"/>
              </a:rPr>
              <a:t>Notes: </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Communication with different Customer stakeholder</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Leading the Conversations with Stakeholders on Specific Product Features and Requirements</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Should provide the Solution on Issues/Cases which the stakeholders have raised</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He will start with IRIS and Terra, will expand his foothold to RWE, MDM </a:t>
            </a:r>
            <a:r>
              <a:rPr lang="en-US" sz="1300" dirty="0" err="1">
                <a:latin typeface="Aptos" panose="020B0004020202020204" pitchFamily="34" charset="0"/>
                <a:ea typeface="Aptos" panose="020B0004020202020204" pitchFamily="34" charset="0"/>
                <a:cs typeface="Aptos" panose="020B0004020202020204" pitchFamily="34" charset="0"/>
              </a:rPr>
              <a:t>etc</a:t>
            </a:r>
            <a:endParaRPr lang="en-US" sz="13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He will assist the Customer team in  </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Should be able to provide the fix (memory issue or network issue or </a:t>
            </a:r>
            <a:r>
              <a:rPr lang="en-US" sz="1300" dirty="0" err="1">
                <a:latin typeface="Aptos" panose="020B0004020202020204" pitchFamily="34" charset="0"/>
                <a:ea typeface="Aptos" panose="020B0004020202020204" pitchFamily="34" charset="0"/>
                <a:cs typeface="Aptos" panose="020B0004020202020204" pitchFamily="34" charset="0"/>
              </a:rPr>
              <a:t>datawarehouse</a:t>
            </a:r>
            <a:r>
              <a:rPr lang="en-US" sz="1300" dirty="0">
                <a:latin typeface="Aptos" panose="020B0004020202020204" pitchFamily="34" charset="0"/>
                <a:ea typeface="Aptos" panose="020B0004020202020204" pitchFamily="34" charset="0"/>
                <a:cs typeface="Aptos" panose="020B0004020202020204" pitchFamily="34" charset="0"/>
              </a:rPr>
              <a:t> table issue)</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How to use IRIS tool to build data workflows, wrangling </a:t>
            </a:r>
            <a:r>
              <a:rPr lang="en-US" sz="1300" dirty="0" err="1">
                <a:latin typeface="Aptos" panose="020B0004020202020204" pitchFamily="34" charset="0"/>
                <a:ea typeface="Aptos" panose="020B0004020202020204" pitchFamily="34" charset="0"/>
                <a:cs typeface="Aptos" panose="020B0004020202020204" pitchFamily="34" charset="0"/>
              </a:rPr>
              <a:t>etc</a:t>
            </a:r>
            <a:endParaRPr lang="en-US" sz="13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How to use Terra/IRIS tool to build data pipeline with proper configuration (Extractor, Pipeline, Catalog, DQ)</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Able to provide additional code which is not supported from Terra (example reading encrypt file)</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He will ensure the readiness of the environment/resources for the Product Demo Features</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Support during Product Implementation by Project teams at Customers side </a:t>
            </a:r>
          </a:p>
          <a:p>
            <a:pPr marL="342900" indent="-342900">
              <a:buAutoNum type="arabicParenR"/>
            </a:pPr>
            <a:r>
              <a:rPr lang="en-IN" sz="1300" b="1" dirty="0">
                <a:effectLst/>
                <a:latin typeface="Aptos" panose="020B0004020202020204" pitchFamily="34" charset="0"/>
                <a:ea typeface="Aptos" panose="020B0004020202020204" pitchFamily="34" charset="0"/>
                <a:cs typeface="Aptos" panose="020B0004020202020204" pitchFamily="34" charset="0"/>
              </a:rPr>
              <a:t>Low Dependency on the existing Platform Team</a:t>
            </a:r>
            <a:r>
              <a:rPr lang="en-IN" sz="1300" dirty="0">
                <a:effectLst/>
                <a:latin typeface="Aptos" panose="020B0004020202020204" pitchFamily="34" charset="0"/>
                <a:ea typeface="Aptos" panose="020B0004020202020204" pitchFamily="34" charset="0"/>
                <a:cs typeface="Aptos" panose="020B0004020202020204" pitchFamily="34" charset="0"/>
              </a:rPr>
              <a:t> Support. Only on need basis platform team will pitch in.</a:t>
            </a:r>
          </a:p>
          <a:p>
            <a:pPr marL="342900" indent="-342900">
              <a:buFontTx/>
              <a:buAutoNum type="arabicParenR"/>
            </a:pPr>
            <a:r>
              <a:rPr lang="en-US" sz="1300" dirty="0">
                <a:latin typeface="Aptos" panose="020B0004020202020204" pitchFamily="34" charset="0"/>
                <a:ea typeface="Aptos" panose="020B0004020202020204" pitchFamily="34" charset="0"/>
                <a:cs typeface="Aptos" panose="020B0004020202020204" pitchFamily="34" charset="0"/>
              </a:rPr>
              <a:t>He will ensure the readiness of the environment/resources for the Product Demo Features</a:t>
            </a:r>
          </a:p>
          <a:p>
            <a:pPr marL="342900" indent="-342900">
              <a:buAutoNum type="arabicParenR"/>
            </a:pPr>
            <a:endParaRPr lang="en-IN" sz="13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Rectangle: Rounded Corners 3">
            <a:extLst>
              <a:ext uri="{FF2B5EF4-FFF2-40B4-BE49-F238E27FC236}">
                <a16:creationId xmlns:a16="http://schemas.microsoft.com/office/drawing/2014/main" id="{8BDFF03E-1D5D-A3C7-5D9C-7FB256264F5C}"/>
              </a:ext>
            </a:extLst>
          </p:cNvPr>
          <p:cNvSpPr/>
          <p:nvPr/>
        </p:nvSpPr>
        <p:spPr>
          <a:xfrm>
            <a:off x="750498" y="734891"/>
            <a:ext cx="4718650" cy="1485596"/>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300" b="1" dirty="0">
                <a:effectLst/>
                <a:latin typeface="Aptos" panose="020B0004020202020204" pitchFamily="34" charset="0"/>
                <a:ea typeface="Aptos" panose="020B0004020202020204" pitchFamily="34" charset="0"/>
                <a:cs typeface="Aptos" panose="020B0004020202020204" pitchFamily="34" charset="0"/>
              </a:rPr>
              <a:t>Number of New Resources</a:t>
            </a:r>
            <a:r>
              <a:rPr lang="en-IN" sz="1400" dirty="0">
                <a:effectLst/>
                <a:latin typeface="Aptos" panose="020B0004020202020204" pitchFamily="34" charset="0"/>
                <a:ea typeface="Aptos" panose="020B0004020202020204" pitchFamily="34" charset="0"/>
                <a:cs typeface="Aptos" panose="020B0004020202020204" pitchFamily="34" charset="0"/>
              </a:rPr>
              <a:t>: </a:t>
            </a:r>
            <a:r>
              <a:rPr lang="en-IN" sz="1600" b="1" dirty="0">
                <a:effectLst/>
                <a:latin typeface="Aptos" panose="020B0004020202020204" pitchFamily="34" charset="0"/>
                <a:ea typeface="Aptos" panose="020B0004020202020204" pitchFamily="34" charset="0"/>
                <a:cs typeface="Aptos" panose="020B0004020202020204" pitchFamily="34" charset="0"/>
              </a:rPr>
              <a:t>1</a:t>
            </a:r>
            <a:r>
              <a:rPr lang="en-IN" sz="1400" dirty="0">
                <a:effectLst/>
                <a:latin typeface="Aptos" panose="020B0004020202020204" pitchFamily="34" charset="0"/>
                <a:ea typeface="Aptos" panose="020B0004020202020204" pitchFamily="34" charset="0"/>
                <a:cs typeface="Aptos" panose="020B0004020202020204" pitchFamily="34" charset="0"/>
              </a:rPr>
              <a:t> </a:t>
            </a:r>
            <a:r>
              <a:rPr lang="en-IN" sz="1400" b="1" dirty="0">
                <a:effectLst/>
                <a:latin typeface="Aptos" panose="020B0004020202020204" pitchFamily="34" charset="0"/>
                <a:ea typeface="Aptos" panose="020B0004020202020204" pitchFamily="34" charset="0"/>
                <a:cs typeface="Aptos" panose="020B0004020202020204" pitchFamily="34" charset="0"/>
              </a:rPr>
              <a:t>(Prod &amp; DE SME) </a:t>
            </a:r>
          </a:p>
          <a:p>
            <a:r>
              <a:rPr lang="en-IN" sz="1400" dirty="0">
                <a:latin typeface="Aptos" panose="020B0004020202020204" pitchFamily="34" charset="0"/>
                <a:ea typeface="Aptos" panose="020B0004020202020204" pitchFamily="34" charset="0"/>
                <a:cs typeface="Aptos" panose="020B0004020202020204" pitchFamily="34" charset="0"/>
              </a:rPr>
              <a:t> </a:t>
            </a:r>
          </a:p>
          <a:p>
            <a:r>
              <a:rPr lang="en-IN" sz="1300" b="1" dirty="0">
                <a:latin typeface="Aptos" panose="020B0004020202020204" pitchFamily="34" charset="0"/>
                <a:ea typeface="Aptos" panose="020B0004020202020204" pitchFamily="34" charset="0"/>
                <a:cs typeface="Aptos" panose="020B0004020202020204" pitchFamily="34" charset="0"/>
              </a:rPr>
              <a:t>Coverage Window Timings</a:t>
            </a:r>
            <a:r>
              <a:rPr lang="en-IN" sz="1400" b="1" dirty="0">
                <a:latin typeface="Aptos" panose="020B0004020202020204" pitchFamily="34" charset="0"/>
                <a:ea typeface="Aptos" panose="020B0004020202020204" pitchFamily="34" charset="0"/>
                <a:cs typeface="Aptos" panose="020B0004020202020204" pitchFamily="34" charset="0"/>
              </a:rPr>
              <a:t> </a:t>
            </a:r>
            <a:r>
              <a:rPr lang="en-IN" sz="1400" dirty="0">
                <a:latin typeface="Aptos" panose="020B0004020202020204" pitchFamily="34" charset="0"/>
                <a:ea typeface="Aptos" panose="020B0004020202020204" pitchFamily="34" charset="0"/>
                <a:cs typeface="Aptos" panose="020B0004020202020204" pitchFamily="34" charset="0"/>
              </a:rPr>
              <a:t>– </a:t>
            </a:r>
            <a:r>
              <a:rPr lang="en-IN" sz="1600" b="1" dirty="0">
                <a:latin typeface="Aptos" panose="020B0004020202020204" pitchFamily="34" charset="0"/>
                <a:ea typeface="Aptos" panose="020B0004020202020204" pitchFamily="34" charset="0"/>
                <a:cs typeface="Aptos" panose="020B0004020202020204" pitchFamily="34" charset="0"/>
              </a:rPr>
              <a:t>12 noon </a:t>
            </a:r>
            <a:r>
              <a:rPr lang="en-IN" sz="1300" b="1" dirty="0">
                <a:latin typeface="Aptos" panose="020B0004020202020204" pitchFamily="34" charset="0"/>
                <a:ea typeface="Aptos" panose="020B0004020202020204" pitchFamily="34" charset="0"/>
                <a:cs typeface="Aptos" panose="020B0004020202020204" pitchFamily="34" charset="0"/>
              </a:rPr>
              <a:t>IST</a:t>
            </a:r>
            <a:r>
              <a:rPr lang="en-IN" sz="1600" b="1" dirty="0">
                <a:latin typeface="Aptos" panose="020B0004020202020204" pitchFamily="34" charset="0"/>
                <a:ea typeface="Aptos" panose="020B0004020202020204" pitchFamily="34" charset="0"/>
                <a:cs typeface="Aptos" panose="020B0004020202020204" pitchFamily="34" charset="0"/>
              </a:rPr>
              <a:t> – 9 pm </a:t>
            </a:r>
            <a:r>
              <a:rPr lang="en-IN" sz="1300" b="1" dirty="0">
                <a:latin typeface="Aptos" panose="020B0004020202020204" pitchFamily="34" charset="0"/>
                <a:ea typeface="Aptos" panose="020B0004020202020204" pitchFamily="34" charset="0"/>
                <a:cs typeface="Aptos" panose="020B0004020202020204" pitchFamily="34" charset="0"/>
              </a:rPr>
              <a:t>IST </a:t>
            </a:r>
          </a:p>
          <a:p>
            <a:r>
              <a:rPr lang="en-IN" sz="1300" b="1" dirty="0">
                <a:latin typeface="Aptos" panose="020B0004020202020204" pitchFamily="34" charset="0"/>
                <a:ea typeface="Aptos" panose="020B0004020202020204" pitchFamily="34" charset="0"/>
                <a:cs typeface="Aptos" panose="020B0004020202020204" pitchFamily="34" charset="0"/>
              </a:rPr>
              <a:t>		</a:t>
            </a:r>
            <a:r>
              <a:rPr lang="en-IN" sz="1600" b="1" dirty="0">
                <a:latin typeface="Aptos" panose="020B0004020202020204" pitchFamily="34" charset="0"/>
                <a:ea typeface="Aptos" panose="020B0004020202020204" pitchFamily="34" charset="0"/>
                <a:cs typeface="Aptos" panose="020B0004020202020204" pitchFamily="34" charset="0"/>
              </a:rPr>
              <a:t>(2:30 am </a:t>
            </a:r>
            <a:r>
              <a:rPr lang="en-IN" sz="1300" b="1" dirty="0">
                <a:latin typeface="Aptos" panose="020B0004020202020204" pitchFamily="34" charset="0"/>
                <a:ea typeface="Aptos" panose="020B0004020202020204" pitchFamily="34" charset="0"/>
                <a:cs typeface="Aptos" panose="020B0004020202020204" pitchFamily="34" charset="0"/>
              </a:rPr>
              <a:t>EST</a:t>
            </a:r>
            <a:r>
              <a:rPr lang="en-IN" sz="1600" b="1" dirty="0">
                <a:latin typeface="Aptos" panose="020B0004020202020204" pitchFamily="34" charset="0"/>
                <a:ea typeface="Aptos" panose="020B0004020202020204" pitchFamily="34" charset="0"/>
                <a:cs typeface="Aptos" panose="020B0004020202020204" pitchFamily="34" charset="0"/>
              </a:rPr>
              <a:t> – 10:30 am </a:t>
            </a:r>
            <a:r>
              <a:rPr lang="en-IN" sz="1300" b="1" dirty="0">
                <a:latin typeface="Aptos" panose="020B0004020202020204" pitchFamily="34" charset="0"/>
                <a:ea typeface="Aptos" panose="020B0004020202020204" pitchFamily="34" charset="0"/>
                <a:cs typeface="Aptos" panose="020B0004020202020204" pitchFamily="34" charset="0"/>
              </a:rPr>
              <a:t>EST</a:t>
            </a:r>
            <a:r>
              <a:rPr lang="en-IN" sz="1600" b="1" dirty="0">
                <a:latin typeface="Aptos" panose="020B0004020202020204" pitchFamily="34" charset="0"/>
                <a:ea typeface="Aptos" panose="020B0004020202020204" pitchFamily="34" charset="0"/>
                <a:cs typeface="Aptos" panose="020B0004020202020204" pitchFamily="34" charset="0"/>
              </a:rPr>
              <a:t>)</a:t>
            </a:r>
            <a:endParaRPr lang="en-IN" sz="1400" dirty="0"/>
          </a:p>
        </p:txBody>
      </p:sp>
      <p:sp>
        <p:nvSpPr>
          <p:cNvPr id="7" name="Rectangle: Rounded Corners 6">
            <a:extLst>
              <a:ext uri="{FF2B5EF4-FFF2-40B4-BE49-F238E27FC236}">
                <a16:creationId xmlns:a16="http://schemas.microsoft.com/office/drawing/2014/main" id="{6D93E01F-0B96-7284-5324-C782D19926D9}"/>
              </a:ext>
            </a:extLst>
          </p:cNvPr>
          <p:cNvSpPr/>
          <p:nvPr/>
        </p:nvSpPr>
        <p:spPr>
          <a:xfrm>
            <a:off x="5538158" y="573945"/>
            <a:ext cx="6288658" cy="2591949"/>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b="1" dirty="0">
                <a:latin typeface="Aptos" panose="020B0004020202020204" pitchFamily="34" charset="0"/>
                <a:ea typeface="Aptos" panose="020B0004020202020204" pitchFamily="34" charset="0"/>
                <a:cs typeface="Aptos" panose="020B0004020202020204" pitchFamily="34" charset="0"/>
              </a:rPr>
              <a:t>Challenges: </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IN" sz="1300" b="1" dirty="0">
                <a:latin typeface="Aptos" panose="020B0004020202020204" pitchFamily="34" charset="0"/>
                <a:ea typeface="Aptos" panose="020B0004020202020204" pitchFamily="34" charset="0"/>
                <a:cs typeface="Aptos" panose="020B0004020202020204" pitchFamily="34" charset="0"/>
              </a:rPr>
              <a:t>High Dependency</a:t>
            </a:r>
            <a:r>
              <a:rPr lang="en-IN" sz="1300" dirty="0">
                <a:latin typeface="Aptos" panose="020B0004020202020204" pitchFamily="34" charset="0"/>
                <a:ea typeface="Aptos" panose="020B0004020202020204" pitchFamily="34" charset="0"/>
                <a:cs typeface="Aptos" panose="020B0004020202020204" pitchFamily="34" charset="0"/>
              </a:rPr>
              <a:t> on the </a:t>
            </a:r>
            <a:r>
              <a:rPr lang="en-US" sz="1300" dirty="0">
                <a:latin typeface="Aptos" panose="020B0004020202020204" pitchFamily="34" charset="0"/>
                <a:ea typeface="Aptos" panose="020B0004020202020204" pitchFamily="34" charset="0"/>
                <a:cs typeface="Aptos" panose="020B0004020202020204" pitchFamily="34" charset="0"/>
              </a:rPr>
              <a:t>Existing platform team in discussions and Solution building with Stakeholders on Specific Issues/Product Features/ Requirements which is impacting the Backlog Development</a:t>
            </a: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Existing team is taking care of the Product Implementations at Customer side which is again impacting the </a:t>
            </a:r>
            <a:r>
              <a:rPr lang="en-US" sz="1300">
                <a:latin typeface="Aptos" panose="020B0004020202020204" pitchFamily="34" charset="0"/>
                <a:ea typeface="Aptos" panose="020B0004020202020204" pitchFamily="34" charset="0"/>
                <a:cs typeface="Aptos" panose="020B0004020202020204" pitchFamily="34" charset="0"/>
              </a:rPr>
              <a:t>Backlog Development</a:t>
            </a:r>
            <a:endParaRPr lang="en-US" sz="13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US" sz="1300" dirty="0">
                <a:latin typeface="Aptos" panose="020B0004020202020204" pitchFamily="34" charset="0"/>
                <a:ea typeface="Aptos" panose="020B0004020202020204" pitchFamily="34" charset="0"/>
                <a:cs typeface="Aptos" panose="020B0004020202020204" pitchFamily="34" charset="0"/>
              </a:rPr>
              <a:t>Support during Product Implementation by Project teams at Customers side </a:t>
            </a:r>
          </a:p>
          <a:p>
            <a:pPr marL="342900" indent="-342900">
              <a:buFontTx/>
              <a:buAutoNum type="arabicParenR"/>
            </a:pPr>
            <a:r>
              <a:rPr lang="en-IN" sz="1300" dirty="0">
                <a:latin typeface="Aptos" panose="020B0004020202020204" pitchFamily="34" charset="0"/>
                <a:ea typeface="Aptos" panose="020B0004020202020204" pitchFamily="34" charset="0"/>
                <a:cs typeface="Aptos" panose="020B0004020202020204" pitchFamily="34" charset="0"/>
              </a:rPr>
              <a:t>Existing Team </a:t>
            </a:r>
            <a:r>
              <a:rPr lang="en-IN" sz="1300" b="1" dirty="0">
                <a:effectLst/>
                <a:latin typeface="Aptos" panose="020B0004020202020204" pitchFamily="34" charset="0"/>
                <a:ea typeface="Aptos" panose="020B0004020202020204" pitchFamily="34" charset="0"/>
                <a:cs typeface="Aptos" panose="020B0004020202020204" pitchFamily="34" charset="0"/>
              </a:rPr>
              <a:t>cannot support all the streams (IRIS, TERRA, Symphony etc) </a:t>
            </a:r>
            <a:r>
              <a:rPr lang="en-IN" sz="1300" dirty="0">
                <a:effectLst/>
                <a:latin typeface="Aptos" panose="020B0004020202020204" pitchFamily="34" charset="0"/>
                <a:ea typeface="Aptos" panose="020B0004020202020204" pitchFamily="34" charset="0"/>
                <a:cs typeface="Aptos" panose="020B0004020202020204" pitchFamily="34" charset="0"/>
              </a:rPr>
              <a:t>without Existing Platform team Support, which will again</a:t>
            </a:r>
            <a:r>
              <a:rPr lang="en-IN" sz="1300" b="1" dirty="0">
                <a:effectLst/>
                <a:latin typeface="Aptos" panose="020B0004020202020204" pitchFamily="34" charset="0"/>
                <a:ea typeface="Aptos" panose="020B0004020202020204" pitchFamily="34" charset="0"/>
                <a:cs typeface="Aptos" panose="020B0004020202020204" pitchFamily="34" charset="0"/>
              </a:rPr>
              <a:t> impact the Backlogs or other enhancements planned</a:t>
            </a:r>
            <a:endParaRPr lang="en-IN" sz="1400" dirty="0"/>
          </a:p>
        </p:txBody>
      </p:sp>
    </p:spTree>
    <p:extLst>
      <p:ext uri="{BB962C8B-B14F-4D97-AF65-F5344CB8AC3E}">
        <p14:creationId xmlns:p14="http://schemas.microsoft.com/office/powerpoint/2010/main" val="4234908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6360-10D3-E7E8-102B-8B4CFB01E1C7}"/>
              </a:ext>
            </a:extLst>
          </p:cNvPr>
          <p:cNvSpPr>
            <a:spLocks noGrp="1"/>
          </p:cNvSpPr>
          <p:nvPr>
            <p:ph type="title"/>
          </p:nvPr>
        </p:nvSpPr>
        <p:spPr>
          <a:xfrm>
            <a:off x="609600" y="104415"/>
            <a:ext cx="10972800" cy="469530"/>
          </a:xfrm>
        </p:spPr>
        <p:txBody>
          <a:bodyPr/>
          <a:lstStyle/>
          <a:p>
            <a:r>
              <a:rPr lang="en-US" dirty="0"/>
              <a:t>Appendix</a:t>
            </a:r>
            <a:endParaRPr lang="en-IN" dirty="0"/>
          </a:p>
        </p:txBody>
      </p:sp>
      <p:sp>
        <p:nvSpPr>
          <p:cNvPr id="3" name="Text Placeholder 2">
            <a:extLst>
              <a:ext uri="{FF2B5EF4-FFF2-40B4-BE49-F238E27FC236}">
                <a16:creationId xmlns:a16="http://schemas.microsoft.com/office/drawing/2014/main" id="{5FBF8737-2EB0-A4DB-F9FC-547A71D8EFB7}"/>
              </a:ext>
            </a:extLst>
          </p:cNvPr>
          <p:cNvSpPr>
            <a:spLocks noGrp="1"/>
          </p:cNvSpPr>
          <p:nvPr>
            <p:ph type="body" sz="quarter" idx="14"/>
          </p:nvPr>
        </p:nvSpPr>
        <p:spPr/>
        <p:txBody>
          <a:bodyPr/>
          <a:lstStyle/>
          <a:p>
            <a:endParaRPr lang="en-IN"/>
          </a:p>
        </p:txBody>
      </p:sp>
      <p:sp>
        <p:nvSpPr>
          <p:cNvPr id="5" name="Rectangle: Rounded Corners 4">
            <a:extLst>
              <a:ext uri="{FF2B5EF4-FFF2-40B4-BE49-F238E27FC236}">
                <a16:creationId xmlns:a16="http://schemas.microsoft.com/office/drawing/2014/main" id="{D02BD6F8-C304-FCBD-31A2-6F5207D18F83}"/>
              </a:ext>
            </a:extLst>
          </p:cNvPr>
          <p:cNvSpPr/>
          <p:nvPr/>
        </p:nvSpPr>
        <p:spPr>
          <a:xfrm>
            <a:off x="6676845" y="1667622"/>
            <a:ext cx="5168469" cy="4616433"/>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dirty="0">
                <a:latin typeface="Aptos" panose="020B0004020202020204" pitchFamily="34" charset="0"/>
                <a:ea typeface="Aptos" panose="020B0004020202020204" pitchFamily="34" charset="0"/>
                <a:cs typeface="Aptos" panose="020B0004020202020204" pitchFamily="34" charset="0"/>
              </a:rPr>
              <a:t> </a:t>
            </a:r>
            <a:r>
              <a:rPr lang="en-IN" sz="1300" b="1" dirty="0">
                <a:effectLst/>
                <a:latin typeface="Aptos" panose="020B0004020202020204" pitchFamily="34" charset="0"/>
                <a:ea typeface="Aptos" panose="020B0004020202020204" pitchFamily="34" charset="0"/>
                <a:cs typeface="Aptos" panose="020B0004020202020204" pitchFamily="34" charset="0"/>
              </a:rPr>
              <a:t>Number of New Resources</a:t>
            </a:r>
            <a:r>
              <a:rPr lang="en-IN" sz="1300" dirty="0">
                <a:effectLst/>
                <a:latin typeface="Aptos" panose="020B0004020202020204" pitchFamily="34" charset="0"/>
                <a:ea typeface="Aptos" panose="020B0004020202020204" pitchFamily="34" charset="0"/>
                <a:cs typeface="Aptos" panose="020B0004020202020204" pitchFamily="34" charset="0"/>
              </a:rPr>
              <a:t>:</a:t>
            </a:r>
            <a:r>
              <a:rPr lang="en-IN" sz="1400" dirty="0">
                <a:effectLst/>
                <a:latin typeface="Aptos" panose="020B0004020202020204" pitchFamily="34" charset="0"/>
                <a:ea typeface="Aptos" panose="020B0004020202020204" pitchFamily="34" charset="0"/>
                <a:cs typeface="Aptos" panose="020B0004020202020204" pitchFamily="34" charset="0"/>
              </a:rPr>
              <a:t> </a:t>
            </a:r>
            <a:r>
              <a:rPr lang="en-IN" sz="1600" b="1" dirty="0">
                <a:effectLst/>
                <a:latin typeface="Aptos" panose="020B0004020202020204" pitchFamily="34" charset="0"/>
                <a:ea typeface="Aptos" panose="020B0004020202020204" pitchFamily="34" charset="0"/>
                <a:cs typeface="Aptos" panose="020B0004020202020204" pitchFamily="34" charset="0"/>
              </a:rPr>
              <a:t>1</a:t>
            </a:r>
            <a:r>
              <a:rPr lang="en-IN" sz="1400" dirty="0">
                <a:effectLst/>
                <a:latin typeface="Aptos" panose="020B0004020202020204" pitchFamily="34" charset="0"/>
                <a:ea typeface="Aptos" panose="020B0004020202020204" pitchFamily="34" charset="0"/>
                <a:cs typeface="Aptos" panose="020B0004020202020204" pitchFamily="34" charset="0"/>
              </a:rPr>
              <a:t> </a:t>
            </a:r>
            <a:r>
              <a:rPr lang="en-IN" sz="1400" b="1" dirty="0">
                <a:effectLst/>
                <a:latin typeface="Aptos" panose="020B0004020202020204" pitchFamily="34" charset="0"/>
                <a:ea typeface="Aptos" panose="020B0004020202020204" pitchFamily="34" charset="0"/>
                <a:cs typeface="Aptos" panose="020B0004020202020204" pitchFamily="34" charset="0"/>
              </a:rPr>
              <a:t>(1 Infra Support Engineer)</a:t>
            </a:r>
            <a:r>
              <a:rPr lang="en-IN" sz="1400" dirty="0">
                <a:effectLst/>
                <a:latin typeface="Aptos" panose="020B0004020202020204" pitchFamily="34" charset="0"/>
                <a:ea typeface="Aptos" panose="020B0004020202020204" pitchFamily="34" charset="0"/>
                <a:cs typeface="Aptos" panose="020B0004020202020204" pitchFamily="34" charset="0"/>
              </a:rPr>
              <a:t> </a:t>
            </a:r>
          </a:p>
          <a:p>
            <a:r>
              <a:rPr lang="en-IN" sz="1400" dirty="0">
                <a:latin typeface="Aptos" panose="020B0004020202020204" pitchFamily="34" charset="0"/>
                <a:ea typeface="Aptos" panose="020B0004020202020204" pitchFamily="34" charset="0"/>
                <a:cs typeface="Aptos" panose="020B0004020202020204" pitchFamily="34" charset="0"/>
              </a:rPr>
              <a:t>                     </a:t>
            </a:r>
          </a:p>
          <a:p>
            <a:r>
              <a:rPr lang="en-IN" sz="1300" b="1" dirty="0">
                <a:latin typeface="Aptos" panose="020B0004020202020204" pitchFamily="34" charset="0"/>
                <a:ea typeface="Aptos" panose="020B0004020202020204" pitchFamily="34" charset="0"/>
                <a:cs typeface="Aptos" panose="020B0004020202020204" pitchFamily="34" charset="0"/>
              </a:rPr>
              <a:t>Coverage by New Resources</a:t>
            </a:r>
            <a:r>
              <a:rPr lang="en-IN" sz="1400" dirty="0">
                <a:latin typeface="Aptos" panose="020B0004020202020204" pitchFamily="34" charset="0"/>
                <a:ea typeface="Aptos" panose="020B0004020202020204" pitchFamily="34" charset="0"/>
                <a:cs typeface="Aptos" panose="020B0004020202020204" pitchFamily="34" charset="0"/>
              </a:rPr>
              <a:t>: </a:t>
            </a:r>
            <a:r>
              <a:rPr lang="en-IN" sz="1600" b="1" dirty="0">
                <a:latin typeface="Aptos" panose="020B0004020202020204" pitchFamily="34" charset="0"/>
                <a:ea typeface="Aptos" panose="020B0004020202020204" pitchFamily="34" charset="0"/>
                <a:cs typeface="Aptos" panose="020B0004020202020204" pitchFamily="34" charset="0"/>
              </a:rPr>
              <a:t>9</a:t>
            </a:r>
            <a:r>
              <a:rPr lang="en-IN" sz="1400" b="1" dirty="0">
                <a:latin typeface="Aptos" panose="020B0004020202020204" pitchFamily="34" charset="0"/>
                <a:ea typeface="Aptos" panose="020B0004020202020204" pitchFamily="34" charset="0"/>
                <a:cs typeface="Aptos" panose="020B0004020202020204" pitchFamily="34" charset="0"/>
              </a:rPr>
              <a:t> </a:t>
            </a:r>
            <a:r>
              <a:rPr lang="en-IN" sz="1400" dirty="0">
                <a:latin typeface="Aptos" panose="020B0004020202020204" pitchFamily="34" charset="0"/>
                <a:ea typeface="Aptos" panose="020B0004020202020204" pitchFamily="34" charset="0"/>
                <a:cs typeface="Aptos" panose="020B0004020202020204" pitchFamily="34" charset="0"/>
              </a:rPr>
              <a:t>Hours </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300" b="1" dirty="0">
                <a:latin typeface="Aptos" panose="020B0004020202020204" pitchFamily="34" charset="0"/>
                <a:ea typeface="Aptos" panose="020B0004020202020204" pitchFamily="34" charset="0"/>
                <a:cs typeface="Aptos" panose="020B0004020202020204" pitchFamily="34" charset="0"/>
              </a:rPr>
              <a:t>Coverage Window Timings</a:t>
            </a:r>
            <a:r>
              <a:rPr lang="en-IN" sz="1400" dirty="0">
                <a:latin typeface="Aptos" panose="020B0004020202020204" pitchFamily="34" charset="0"/>
                <a:ea typeface="Aptos" panose="020B0004020202020204" pitchFamily="34" charset="0"/>
                <a:cs typeface="Aptos" panose="020B0004020202020204" pitchFamily="34" charset="0"/>
              </a:rPr>
              <a:t> – </a:t>
            </a:r>
            <a:r>
              <a:rPr lang="en-IN" sz="1600" b="1" dirty="0">
                <a:latin typeface="Aptos" panose="020B0004020202020204" pitchFamily="34" charset="0"/>
                <a:ea typeface="Aptos" panose="020B0004020202020204" pitchFamily="34" charset="0"/>
                <a:cs typeface="Aptos" panose="020B0004020202020204" pitchFamily="34" charset="0"/>
              </a:rPr>
              <a:t>3 pm </a:t>
            </a:r>
            <a:r>
              <a:rPr lang="en-IN" sz="1300" b="1" dirty="0">
                <a:latin typeface="Aptos" panose="020B0004020202020204" pitchFamily="34" charset="0"/>
                <a:ea typeface="Aptos" panose="020B0004020202020204" pitchFamily="34" charset="0"/>
                <a:cs typeface="Aptos" panose="020B0004020202020204" pitchFamily="34" charset="0"/>
              </a:rPr>
              <a:t>IST</a:t>
            </a:r>
            <a:r>
              <a:rPr lang="en-IN" sz="1600" b="1" dirty="0">
                <a:latin typeface="Aptos" panose="020B0004020202020204" pitchFamily="34" charset="0"/>
                <a:ea typeface="Aptos" panose="020B0004020202020204" pitchFamily="34" charset="0"/>
                <a:cs typeface="Aptos" panose="020B0004020202020204" pitchFamily="34" charset="0"/>
              </a:rPr>
              <a:t> – 12 Midnight </a:t>
            </a:r>
            <a:r>
              <a:rPr lang="en-IN" sz="1300" b="1" dirty="0">
                <a:latin typeface="Aptos" panose="020B0004020202020204" pitchFamily="34" charset="0"/>
                <a:ea typeface="Aptos" panose="020B0004020202020204" pitchFamily="34" charset="0"/>
                <a:cs typeface="Aptos" panose="020B0004020202020204" pitchFamily="34" charset="0"/>
              </a:rPr>
              <a:t>IST</a:t>
            </a:r>
            <a:r>
              <a:rPr lang="en-IN" sz="1600" b="1" dirty="0">
                <a:latin typeface="Aptos" panose="020B0004020202020204" pitchFamily="34" charset="0"/>
                <a:ea typeface="Aptos" panose="020B0004020202020204" pitchFamily="34" charset="0"/>
                <a:cs typeface="Aptos" panose="020B0004020202020204" pitchFamily="34" charset="0"/>
              </a:rPr>
              <a:t> 		  (5:30 AM </a:t>
            </a:r>
            <a:r>
              <a:rPr lang="en-IN" sz="1300" b="1" dirty="0">
                <a:latin typeface="Aptos" panose="020B0004020202020204" pitchFamily="34" charset="0"/>
                <a:ea typeface="Aptos" panose="020B0004020202020204" pitchFamily="34" charset="0"/>
                <a:cs typeface="Aptos" panose="020B0004020202020204" pitchFamily="34" charset="0"/>
              </a:rPr>
              <a:t>EST </a:t>
            </a:r>
            <a:r>
              <a:rPr lang="en-IN" sz="1600" b="1" dirty="0">
                <a:latin typeface="Aptos" panose="020B0004020202020204" pitchFamily="34" charset="0"/>
                <a:ea typeface="Aptos" panose="020B0004020202020204" pitchFamily="34" charset="0"/>
                <a:cs typeface="Aptos" panose="020B0004020202020204" pitchFamily="34" charset="0"/>
              </a:rPr>
              <a:t>– 1:30 PM </a:t>
            </a:r>
            <a:r>
              <a:rPr lang="en-IN" sz="1300" b="1" dirty="0">
                <a:latin typeface="Aptos" panose="020B0004020202020204" pitchFamily="34" charset="0"/>
                <a:ea typeface="Aptos" panose="020B0004020202020204" pitchFamily="34" charset="0"/>
                <a:cs typeface="Aptos" panose="020B0004020202020204" pitchFamily="34" charset="0"/>
              </a:rPr>
              <a:t>EST</a:t>
            </a:r>
            <a:r>
              <a:rPr lang="en-IN" sz="1600" b="1" dirty="0">
                <a:latin typeface="Aptos" panose="020B0004020202020204" pitchFamily="34" charset="0"/>
                <a:ea typeface="Aptos" panose="020B0004020202020204" pitchFamily="34" charset="0"/>
                <a:cs typeface="Aptos" panose="020B0004020202020204" pitchFamily="34" charset="0"/>
              </a:rPr>
              <a:t>)</a:t>
            </a:r>
          </a:p>
          <a:p>
            <a:r>
              <a:rPr lang="en-IN" sz="1400" dirty="0">
                <a:latin typeface="Aptos" panose="020B0004020202020204" pitchFamily="34" charset="0"/>
                <a:ea typeface="Aptos" panose="020B0004020202020204" pitchFamily="34" charset="0"/>
                <a:cs typeface="Aptos" panose="020B0004020202020204" pitchFamily="34" charset="0"/>
              </a:rPr>
              <a:t>                     </a:t>
            </a:r>
          </a:p>
          <a:p>
            <a:r>
              <a:rPr lang="en-IN" sz="1400" b="1" dirty="0">
                <a:latin typeface="Aptos" panose="020B0004020202020204" pitchFamily="34" charset="0"/>
                <a:ea typeface="Aptos" panose="020B0004020202020204" pitchFamily="34" charset="0"/>
                <a:cs typeface="Aptos" panose="020B0004020202020204" pitchFamily="34" charset="0"/>
              </a:rPr>
              <a:t>Considerations: </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300" dirty="0">
                <a:latin typeface="Aptos" panose="020B0004020202020204" pitchFamily="34" charset="0"/>
                <a:ea typeface="Aptos" panose="020B0004020202020204" pitchFamily="34" charset="0"/>
                <a:cs typeface="Aptos" panose="020B0004020202020204" pitchFamily="34" charset="0"/>
              </a:rPr>
              <a:t>1) Coverage handles </a:t>
            </a:r>
            <a:r>
              <a:rPr lang="en-IN" sz="1300" b="1" dirty="0">
                <a:latin typeface="Aptos" panose="020B0004020202020204" pitchFamily="34" charset="0"/>
                <a:ea typeface="Aptos" panose="020B0004020202020204" pitchFamily="34" charset="0"/>
                <a:cs typeface="Aptos" panose="020B0004020202020204" pitchFamily="34" charset="0"/>
              </a:rPr>
              <a:t>a portion of the Peak hours</a:t>
            </a:r>
            <a:r>
              <a:rPr lang="en-IN" sz="1300" dirty="0">
                <a:latin typeface="Aptos" panose="020B0004020202020204" pitchFamily="34" charset="0"/>
                <a:ea typeface="Aptos" panose="020B0004020202020204" pitchFamily="34" charset="0"/>
                <a:cs typeface="Aptos" panose="020B0004020202020204" pitchFamily="34" charset="0"/>
              </a:rPr>
              <a:t> of the Work timings at Offshore and majority of the Onsite Work hours</a:t>
            </a:r>
          </a:p>
          <a:p>
            <a:r>
              <a:rPr lang="en-IN" sz="1300" dirty="0">
                <a:effectLst/>
                <a:latin typeface="Aptos" panose="020B0004020202020204" pitchFamily="34" charset="0"/>
                <a:ea typeface="Aptos" panose="020B0004020202020204" pitchFamily="34" charset="0"/>
                <a:cs typeface="Aptos" panose="020B0004020202020204" pitchFamily="34" charset="0"/>
              </a:rPr>
              <a:t>2) One new resource </a:t>
            </a:r>
            <a:r>
              <a:rPr lang="en-IN" sz="1300" b="1" dirty="0">
                <a:effectLst/>
                <a:latin typeface="Aptos" panose="020B0004020202020204" pitchFamily="34" charset="0"/>
                <a:ea typeface="Aptos" panose="020B0004020202020204" pitchFamily="34" charset="0"/>
                <a:cs typeface="Aptos" panose="020B0004020202020204" pitchFamily="34" charset="0"/>
              </a:rPr>
              <a:t>cannot support all the three streams </a:t>
            </a:r>
            <a:r>
              <a:rPr lang="en-IN" sz="1300" dirty="0">
                <a:effectLst/>
                <a:latin typeface="Aptos" panose="020B0004020202020204" pitchFamily="34" charset="0"/>
                <a:ea typeface="Aptos" panose="020B0004020202020204" pitchFamily="34" charset="0"/>
                <a:cs typeface="Aptos" panose="020B0004020202020204" pitchFamily="34" charset="0"/>
              </a:rPr>
              <a:t>without Existing Platform team Support, which will again</a:t>
            </a:r>
            <a:r>
              <a:rPr lang="en-IN" sz="1300" b="1" dirty="0">
                <a:effectLst/>
                <a:latin typeface="Aptos" panose="020B0004020202020204" pitchFamily="34" charset="0"/>
                <a:ea typeface="Aptos" panose="020B0004020202020204" pitchFamily="34" charset="0"/>
                <a:cs typeface="Aptos" panose="020B0004020202020204" pitchFamily="34" charset="0"/>
              </a:rPr>
              <a:t> impact the Backlogs or other enhancements planned</a:t>
            </a:r>
            <a:r>
              <a:rPr lang="en-IN" sz="1300" dirty="0">
                <a:effectLst/>
                <a:latin typeface="Aptos" panose="020B0004020202020204" pitchFamily="34" charset="0"/>
                <a:ea typeface="Aptos" panose="020B0004020202020204" pitchFamily="34" charset="0"/>
                <a:cs typeface="Aptos" panose="020B0004020202020204" pitchFamily="34" charset="0"/>
              </a:rPr>
              <a:t>. </a:t>
            </a:r>
          </a:p>
          <a:p>
            <a:r>
              <a:rPr lang="en-IN" sz="1300" dirty="0">
                <a:latin typeface="Aptos" panose="020B0004020202020204" pitchFamily="34" charset="0"/>
                <a:ea typeface="Aptos" panose="020B0004020202020204" pitchFamily="34" charset="0"/>
                <a:cs typeface="Aptos" panose="020B0004020202020204" pitchFamily="34" charset="0"/>
              </a:rPr>
              <a:t>3) Existing Platform Team must be planned to Support the Peak work timings of the Offshore. </a:t>
            </a:r>
            <a:r>
              <a:rPr lang="en-IN" sz="1300" b="1" dirty="0">
                <a:latin typeface="Aptos" panose="020B0004020202020204" pitchFamily="34" charset="0"/>
                <a:ea typeface="Aptos" panose="020B0004020202020204" pitchFamily="34" charset="0"/>
                <a:cs typeface="Aptos" panose="020B0004020202020204" pitchFamily="34" charset="0"/>
              </a:rPr>
              <a:t>High Dependency</a:t>
            </a:r>
            <a:r>
              <a:rPr lang="en-IN" sz="1300" dirty="0">
                <a:latin typeface="Aptos" panose="020B0004020202020204" pitchFamily="34" charset="0"/>
                <a:ea typeface="Aptos" panose="020B0004020202020204" pitchFamily="34" charset="0"/>
                <a:cs typeface="Aptos" panose="020B0004020202020204" pitchFamily="34" charset="0"/>
              </a:rPr>
              <a:t> on the Existing platform Team</a:t>
            </a:r>
          </a:p>
          <a:p>
            <a:pPr algn="ctr"/>
            <a:endParaRPr lang="en-IN" sz="1400" dirty="0"/>
          </a:p>
        </p:txBody>
      </p:sp>
      <p:sp>
        <p:nvSpPr>
          <p:cNvPr id="6" name="Rectangle: Rounded Corners 5">
            <a:extLst>
              <a:ext uri="{FF2B5EF4-FFF2-40B4-BE49-F238E27FC236}">
                <a16:creationId xmlns:a16="http://schemas.microsoft.com/office/drawing/2014/main" id="{995FF65F-C3E9-2176-3179-540B39D29945}"/>
              </a:ext>
            </a:extLst>
          </p:cNvPr>
          <p:cNvSpPr/>
          <p:nvPr/>
        </p:nvSpPr>
        <p:spPr>
          <a:xfrm>
            <a:off x="750498" y="1656272"/>
            <a:ext cx="5520906" cy="4614364"/>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300" b="1" dirty="0">
                <a:effectLst/>
                <a:latin typeface="Aptos" panose="020B0004020202020204" pitchFamily="34" charset="0"/>
                <a:ea typeface="Aptos" panose="020B0004020202020204" pitchFamily="34" charset="0"/>
                <a:cs typeface="Aptos" panose="020B0004020202020204" pitchFamily="34" charset="0"/>
              </a:rPr>
              <a:t>Number of New Resources</a:t>
            </a:r>
            <a:r>
              <a:rPr lang="en-IN" sz="1400" dirty="0">
                <a:effectLst/>
                <a:latin typeface="Aptos" panose="020B0004020202020204" pitchFamily="34" charset="0"/>
                <a:ea typeface="Aptos" panose="020B0004020202020204" pitchFamily="34" charset="0"/>
                <a:cs typeface="Aptos" panose="020B0004020202020204" pitchFamily="34" charset="0"/>
              </a:rPr>
              <a:t>: 1</a:t>
            </a:r>
            <a:r>
              <a:rPr lang="en-IN" sz="1400" b="1" dirty="0">
                <a:effectLst/>
                <a:latin typeface="Aptos" panose="020B0004020202020204" pitchFamily="34" charset="0"/>
                <a:ea typeface="Aptos" panose="020B0004020202020204" pitchFamily="34" charset="0"/>
                <a:cs typeface="Aptos" panose="020B0004020202020204" pitchFamily="34" charset="0"/>
              </a:rPr>
              <a:t> </a:t>
            </a:r>
          </a:p>
          <a:p>
            <a:r>
              <a:rPr lang="en-IN" sz="1400" b="1" dirty="0">
                <a:latin typeface="Aptos" panose="020B0004020202020204" pitchFamily="34" charset="0"/>
                <a:ea typeface="Aptos" panose="020B0004020202020204" pitchFamily="34" charset="0"/>
                <a:cs typeface="Aptos" panose="020B0004020202020204" pitchFamily="34" charset="0"/>
              </a:rPr>
              <a:t>	              </a:t>
            </a:r>
            <a:r>
              <a:rPr lang="en-IN" sz="1400" b="1" dirty="0">
                <a:effectLst/>
                <a:latin typeface="Aptos" panose="020B0004020202020204" pitchFamily="34" charset="0"/>
                <a:ea typeface="Aptos" panose="020B0004020202020204" pitchFamily="34" charset="0"/>
                <a:cs typeface="Aptos" panose="020B0004020202020204" pitchFamily="34" charset="0"/>
              </a:rPr>
              <a:t>(1 Infra Support Engineer, 1 Prod &amp; DE SME) </a:t>
            </a:r>
          </a:p>
          <a:p>
            <a:r>
              <a:rPr lang="en-IN" sz="1400" dirty="0">
                <a:latin typeface="Aptos" panose="020B0004020202020204" pitchFamily="34" charset="0"/>
                <a:ea typeface="Aptos" panose="020B0004020202020204" pitchFamily="34" charset="0"/>
                <a:cs typeface="Aptos" panose="020B0004020202020204" pitchFamily="34" charset="0"/>
              </a:rPr>
              <a:t> </a:t>
            </a:r>
          </a:p>
          <a:p>
            <a:r>
              <a:rPr lang="en-IN" sz="1300" b="1" dirty="0">
                <a:latin typeface="Aptos" panose="020B0004020202020204" pitchFamily="34" charset="0"/>
                <a:ea typeface="Aptos" panose="020B0004020202020204" pitchFamily="34" charset="0"/>
                <a:cs typeface="Aptos" panose="020B0004020202020204" pitchFamily="34" charset="0"/>
              </a:rPr>
              <a:t>Coverage by New Resources</a:t>
            </a:r>
            <a:r>
              <a:rPr lang="en-IN" sz="1400" dirty="0">
                <a:latin typeface="Aptos" panose="020B0004020202020204" pitchFamily="34" charset="0"/>
                <a:ea typeface="Aptos" panose="020B0004020202020204" pitchFamily="34" charset="0"/>
                <a:cs typeface="Aptos" panose="020B0004020202020204" pitchFamily="34" charset="0"/>
              </a:rPr>
              <a:t>: </a:t>
            </a:r>
            <a:r>
              <a:rPr lang="en-IN" sz="1600" b="1" dirty="0">
                <a:latin typeface="Aptos" panose="020B0004020202020204" pitchFamily="34" charset="0"/>
                <a:ea typeface="Aptos" panose="020B0004020202020204" pitchFamily="34" charset="0"/>
                <a:cs typeface="Aptos" panose="020B0004020202020204" pitchFamily="34" charset="0"/>
              </a:rPr>
              <a:t>12</a:t>
            </a:r>
            <a:r>
              <a:rPr lang="en-IN" sz="1400" dirty="0">
                <a:latin typeface="Aptos" panose="020B0004020202020204" pitchFamily="34" charset="0"/>
                <a:ea typeface="Aptos" panose="020B0004020202020204" pitchFamily="34" charset="0"/>
                <a:cs typeface="Aptos" panose="020B0004020202020204" pitchFamily="34" charset="0"/>
              </a:rPr>
              <a:t> Hours </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300" b="1" dirty="0">
                <a:latin typeface="Aptos" panose="020B0004020202020204" pitchFamily="34" charset="0"/>
                <a:ea typeface="Aptos" panose="020B0004020202020204" pitchFamily="34" charset="0"/>
                <a:cs typeface="Aptos" panose="020B0004020202020204" pitchFamily="34" charset="0"/>
              </a:rPr>
              <a:t>Coverage Window Timings</a:t>
            </a:r>
            <a:r>
              <a:rPr lang="en-IN" sz="1400" b="1" dirty="0">
                <a:latin typeface="Aptos" panose="020B0004020202020204" pitchFamily="34" charset="0"/>
                <a:ea typeface="Aptos" panose="020B0004020202020204" pitchFamily="34" charset="0"/>
                <a:cs typeface="Aptos" panose="020B0004020202020204" pitchFamily="34" charset="0"/>
              </a:rPr>
              <a:t> </a:t>
            </a:r>
            <a:r>
              <a:rPr lang="en-IN" sz="1400" dirty="0">
                <a:latin typeface="Aptos" panose="020B0004020202020204" pitchFamily="34" charset="0"/>
                <a:ea typeface="Aptos" panose="020B0004020202020204" pitchFamily="34" charset="0"/>
                <a:cs typeface="Aptos" panose="020B0004020202020204" pitchFamily="34" charset="0"/>
              </a:rPr>
              <a:t>– </a:t>
            </a:r>
            <a:r>
              <a:rPr lang="en-IN" sz="1600" b="1" dirty="0">
                <a:latin typeface="Aptos" panose="020B0004020202020204" pitchFamily="34" charset="0"/>
                <a:ea typeface="Aptos" panose="020B0004020202020204" pitchFamily="34" charset="0"/>
                <a:cs typeface="Aptos" panose="020B0004020202020204" pitchFamily="34" charset="0"/>
              </a:rPr>
              <a:t>12 Noon </a:t>
            </a:r>
            <a:r>
              <a:rPr lang="en-IN" sz="1300" b="1" dirty="0">
                <a:latin typeface="Aptos" panose="020B0004020202020204" pitchFamily="34" charset="0"/>
                <a:ea typeface="Aptos" panose="020B0004020202020204" pitchFamily="34" charset="0"/>
                <a:cs typeface="Aptos" panose="020B0004020202020204" pitchFamily="34" charset="0"/>
              </a:rPr>
              <a:t>IST</a:t>
            </a:r>
            <a:r>
              <a:rPr lang="en-IN" sz="1600" b="1" dirty="0">
                <a:latin typeface="Aptos" panose="020B0004020202020204" pitchFamily="34" charset="0"/>
                <a:ea typeface="Aptos" panose="020B0004020202020204" pitchFamily="34" charset="0"/>
                <a:cs typeface="Aptos" panose="020B0004020202020204" pitchFamily="34" charset="0"/>
              </a:rPr>
              <a:t> – 12 Midnight </a:t>
            </a:r>
            <a:r>
              <a:rPr lang="en-IN" sz="1300" b="1" dirty="0">
                <a:latin typeface="Aptos" panose="020B0004020202020204" pitchFamily="34" charset="0"/>
                <a:ea typeface="Aptos" panose="020B0004020202020204" pitchFamily="34" charset="0"/>
                <a:cs typeface="Aptos" panose="020B0004020202020204" pitchFamily="34" charset="0"/>
              </a:rPr>
              <a:t>IST</a:t>
            </a:r>
            <a:r>
              <a:rPr lang="en-IN" sz="1600" b="1" dirty="0">
                <a:latin typeface="Aptos" panose="020B0004020202020204" pitchFamily="34" charset="0"/>
                <a:ea typeface="Aptos" panose="020B0004020202020204" pitchFamily="34" charset="0"/>
                <a:cs typeface="Aptos" panose="020B0004020202020204" pitchFamily="34" charset="0"/>
              </a:rPr>
              <a:t>	                                      (2:30 AM </a:t>
            </a:r>
            <a:r>
              <a:rPr lang="en-IN" sz="1300" b="1" dirty="0">
                <a:latin typeface="Aptos" panose="020B0004020202020204" pitchFamily="34" charset="0"/>
                <a:ea typeface="Aptos" panose="020B0004020202020204" pitchFamily="34" charset="0"/>
                <a:cs typeface="Aptos" panose="020B0004020202020204" pitchFamily="34" charset="0"/>
              </a:rPr>
              <a:t>EST</a:t>
            </a:r>
            <a:r>
              <a:rPr lang="en-IN" sz="1600" b="1" dirty="0">
                <a:latin typeface="Aptos" panose="020B0004020202020204" pitchFamily="34" charset="0"/>
                <a:ea typeface="Aptos" panose="020B0004020202020204" pitchFamily="34" charset="0"/>
                <a:cs typeface="Aptos" panose="020B0004020202020204" pitchFamily="34" charset="0"/>
              </a:rPr>
              <a:t> – 1:30 PM </a:t>
            </a:r>
            <a:r>
              <a:rPr lang="en-IN" sz="1300" b="1" dirty="0">
                <a:latin typeface="Aptos" panose="020B0004020202020204" pitchFamily="34" charset="0"/>
                <a:ea typeface="Aptos" panose="020B0004020202020204" pitchFamily="34" charset="0"/>
                <a:cs typeface="Aptos" panose="020B0004020202020204" pitchFamily="34" charset="0"/>
              </a:rPr>
              <a:t>EST</a:t>
            </a:r>
            <a:r>
              <a:rPr lang="en-IN" sz="1600" b="1" dirty="0">
                <a:latin typeface="Aptos" panose="020B0004020202020204" pitchFamily="34" charset="0"/>
                <a:ea typeface="Aptos" panose="020B0004020202020204" pitchFamily="34" charset="0"/>
                <a:cs typeface="Aptos" panose="020B0004020202020204" pitchFamily="34" charset="0"/>
              </a:rPr>
              <a:t>)</a:t>
            </a:r>
            <a:r>
              <a:rPr lang="en-IN" sz="1600" dirty="0">
                <a:latin typeface="Aptos" panose="020B0004020202020204" pitchFamily="34" charset="0"/>
                <a:ea typeface="Aptos" panose="020B0004020202020204" pitchFamily="34" charset="0"/>
                <a:cs typeface="Aptos" panose="020B0004020202020204" pitchFamily="34" charset="0"/>
              </a:rPr>
              <a:t> </a:t>
            </a:r>
          </a:p>
          <a:p>
            <a:endParaRPr lang="en-IN" sz="1400" b="1" dirty="0">
              <a:latin typeface="Aptos" panose="020B0004020202020204" pitchFamily="34" charset="0"/>
              <a:ea typeface="Aptos" panose="020B0004020202020204" pitchFamily="34" charset="0"/>
              <a:cs typeface="Aptos" panose="020B0004020202020204" pitchFamily="34" charset="0"/>
            </a:endParaRPr>
          </a:p>
          <a:p>
            <a:r>
              <a:rPr lang="en-IN" sz="1400" b="1" dirty="0">
                <a:latin typeface="Aptos" panose="020B0004020202020204" pitchFamily="34" charset="0"/>
                <a:ea typeface="Aptos" panose="020B0004020202020204" pitchFamily="34" charset="0"/>
                <a:cs typeface="Aptos" panose="020B0004020202020204" pitchFamily="34" charset="0"/>
              </a:rPr>
              <a:t>Considerations: </a:t>
            </a:r>
          </a:p>
          <a:p>
            <a:endParaRPr lang="en-IN" sz="1400" dirty="0">
              <a:latin typeface="Aptos" panose="020B0004020202020204" pitchFamily="34" charset="0"/>
              <a:ea typeface="Aptos" panose="020B0004020202020204" pitchFamily="34" charset="0"/>
              <a:cs typeface="Aptos" panose="020B0004020202020204" pitchFamily="34" charset="0"/>
            </a:endParaRPr>
          </a:p>
          <a:p>
            <a:pPr marL="342900" indent="-342900">
              <a:buAutoNum type="arabicParenR"/>
            </a:pPr>
            <a:r>
              <a:rPr lang="en-IN" sz="1300" dirty="0">
                <a:latin typeface="Aptos" panose="020B0004020202020204" pitchFamily="34" charset="0"/>
                <a:ea typeface="Aptos" panose="020B0004020202020204" pitchFamily="34" charset="0"/>
                <a:cs typeface="Aptos" panose="020B0004020202020204" pitchFamily="34" charset="0"/>
              </a:rPr>
              <a:t>Coverage handles </a:t>
            </a:r>
            <a:r>
              <a:rPr lang="en-IN" sz="1300" b="1" dirty="0">
                <a:latin typeface="Aptos" panose="020B0004020202020204" pitchFamily="34" charset="0"/>
                <a:ea typeface="Aptos" panose="020B0004020202020204" pitchFamily="34" charset="0"/>
                <a:cs typeface="Aptos" panose="020B0004020202020204" pitchFamily="34" charset="0"/>
              </a:rPr>
              <a:t>majority of the Peak hours </a:t>
            </a:r>
            <a:r>
              <a:rPr lang="en-IN" sz="1300" dirty="0">
                <a:latin typeface="Aptos" panose="020B0004020202020204" pitchFamily="34" charset="0"/>
                <a:ea typeface="Aptos" panose="020B0004020202020204" pitchFamily="34" charset="0"/>
                <a:cs typeface="Aptos" panose="020B0004020202020204" pitchFamily="34" charset="0"/>
              </a:rPr>
              <a:t>of the Work timings at </a:t>
            </a:r>
            <a:r>
              <a:rPr lang="en-IN" sz="1300" b="1" dirty="0">
                <a:latin typeface="Aptos" panose="020B0004020202020204" pitchFamily="34" charset="0"/>
                <a:ea typeface="Aptos" panose="020B0004020202020204" pitchFamily="34" charset="0"/>
                <a:cs typeface="Aptos" panose="020B0004020202020204" pitchFamily="34" charset="0"/>
              </a:rPr>
              <a:t>both Offshore and Onsite</a:t>
            </a:r>
            <a:r>
              <a:rPr lang="en-IN" sz="1300" dirty="0">
                <a:latin typeface="Aptos" panose="020B0004020202020204" pitchFamily="34" charset="0"/>
                <a:ea typeface="Aptos" panose="020B0004020202020204" pitchFamily="34" charset="0"/>
                <a:cs typeface="Aptos" panose="020B0004020202020204" pitchFamily="34" charset="0"/>
              </a:rPr>
              <a:t> </a:t>
            </a:r>
          </a:p>
          <a:p>
            <a:pPr marL="342900" indent="-342900">
              <a:buAutoNum type="arabicParenR"/>
            </a:pPr>
            <a:r>
              <a:rPr lang="en-IN" sz="1300" dirty="0">
                <a:latin typeface="Aptos" panose="020B0004020202020204" pitchFamily="34" charset="0"/>
                <a:ea typeface="Aptos" panose="020B0004020202020204" pitchFamily="34" charset="0"/>
                <a:cs typeface="Aptos" panose="020B0004020202020204" pitchFamily="34" charset="0"/>
              </a:rPr>
              <a:t>These two resources are going to </a:t>
            </a:r>
            <a:r>
              <a:rPr lang="en-IN" sz="1300" b="1" dirty="0">
                <a:latin typeface="Aptos" panose="020B0004020202020204" pitchFamily="34" charset="0"/>
                <a:ea typeface="Aptos" panose="020B0004020202020204" pitchFamily="34" charset="0"/>
                <a:cs typeface="Aptos" panose="020B0004020202020204" pitchFamily="34" charset="0"/>
              </a:rPr>
              <a:t>Support 3 main streams </a:t>
            </a:r>
            <a:r>
              <a:rPr lang="en-IN" sz="1300" dirty="0">
                <a:latin typeface="Aptos" panose="020B0004020202020204" pitchFamily="34" charset="0"/>
                <a:ea typeface="Aptos" panose="020B0004020202020204" pitchFamily="34" charset="0"/>
                <a:cs typeface="Aptos" panose="020B0004020202020204" pitchFamily="34" charset="0"/>
              </a:rPr>
              <a:t>(TERRA, IRIS &amp; Symphony platform)</a:t>
            </a:r>
          </a:p>
          <a:p>
            <a:pPr marL="342900" indent="-342900">
              <a:buAutoNum type="arabicParenR"/>
            </a:pPr>
            <a:r>
              <a:rPr lang="en-IN" sz="1300" b="1" dirty="0">
                <a:effectLst/>
                <a:latin typeface="Aptos" panose="020B0004020202020204" pitchFamily="34" charset="0"/>
                <a:ea typeface="Aptos" panose="020B0004020202020204" pitchFamily="34" charset="0"/>
                <a:cs typeface="Aptos" panose="020B0004020202020204" pitchFamily="34" charset="0"/>
              </a:rPr>
              <a:t>Low Dependency on the existing Platform Team</a:t>
            </a:r>
            <a:r>
              <a:rPr lang="en-IN" sz="1300" dirty="0">
                <a:effectLst/>
                <a:latin typeface="Aptos" panose="020B0004020202020204" pitchFamily="34" charset="0"/>
                <a:ea typeface="Aptos" panose="020B0004020202020204" pitchFamily="34" charset="0"/>
                <a:cs typeface="Aptos" panose="020B0004020202020204" pitchFamily="34" charset="0"/>
              </a:rPr>
              <a:t> Support. Only on need basis platform team will pitch in.</a:t>
            </a:r>
          </a:p>
          <a:p>
            <a:endParaRPr lang="en-IN" sz="1400" dirty="0">
              <a:latin typeface="Aptos" panose="020B0004020202020204" pitchFamily="34" charset="0"/>
              <a:ea typeface="Aptos" panose="020B0004020202020204" pitchFamily="34" charset="0"/>
              <a:cs typeface="Aptos" panose="020B0004020202020204" pitchFamily="34" charset="0"/>
            </a:endParaRPr>
          </a:p>
          <a:p>
            <a:r>
              <a:rPr lang="en-IN" sz="1400" dirty="0">
                <a:effectLst/>
                <a:latin typeface="Aptos" panose="020B0004020202020204" pitchFamily="34" charset="0"/>
                <a:ea typeface="Aptos" panose="020B0004020202020204" pitchFamily="34" charset="0"/>
                <a:cs typeface="Aptos" panose="020B0004020202020204" pitchFamily="34" charset="0"/>
              </a:rPr>
              <a:t> </a:t>
            </a:r>
            <a:endParaRPr lang="en-IN" sz="1400" dirty="0"/>
          </a:p>
        </p:txBody>
      </p:sp>
    </p:spTree>
    <p:extLst>
      <p:ext uri="{BB962C8B-B14F-4D97-AF65-F5344CB8AC3E}">
        <p14:creationId xmlns:p14="http://schemas.microsoft.com/office/powerpoint/2010/main" val="2886751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116D43C1-903A-47C3-8B3D-BD0FAA03CF86}" vid="{FD6EBC99-B8AC-4059-9827-D0B4D6874C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2.xml><?xml version="1.0" encoding="utf-8"?>
<ds:datastoreItem xmlns:ds="http://schemas.openxmlformats.org/officeDocument/2006/customXml" ds:itemID="{6E76BEA3-4E07-476A-A775-0AF552C616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05a1d3-8381-4269-b97b-c59591b0fcbf"/>
    <ds:schemaRef ds:uri="54a53f59-c304-4886-9a17-7fc183a25b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53CCE1-4657-492A-B0FE-9D895D9461F5}">
  <ds:schemaRefs>
    <ds:schemaRef ds:uri="6d05a1d3-8381-4269-b97b-c59591b0fcbf"/>
    <ds:schemaRef ds:uri="http://schemas.microsoft.com/office/2006/metadata/properties"/>
    <ds:schemaRef ds:uri="http://purl.org/dc/elements/1.1/"/>
    <ds:schemaRef ds:uri="http://purl.org/dc/dcmitype/"/>
    <ds:schemaRef ds:uri="54a53f59-c304-4886-9a17-7fc183a25b92"/>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2033</TotalTime>
  <Words>900</Words>
  <Application>Microsoft Office PowerPoint</Application>
  <PresentationFormat>Widescreen</PresentationFormat>
  <Paragraphs>139</Paragraphs>
  <Slides>6</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3" baseType="lpstr">
      <vt:lpstr>Aptos</vt:lpstr>
      <vt:lpstr>Arial</vt:lpstr>
      <vt:lpstr>Calibri</vt:lpstr>
      <vt:lpstr>Courier New</vt:lpstr>
      <vt:lpstr>Tahoma</vt:lpstr>
      <vt:lpstr>Trinity Template 3.0</vt:lpstr>
      <vt:lpstr>think-cell Slide</vt:lpstr>
      <vt:lpstr>Trinity capabilities overview</vt:lpstr>
      <vt:lpstr>PowerPoint Presentation</vt:lpstr>
      <vt:lpstr>PowerPoint Presentation</vt:lpstr>
      <vt:lpstr>Current State</vt:lpstr>
      <vt:lpstr>Resource Need</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Point Title 1.2 Character Spacing</dc:title>
  <dc:creator>Settipally Diraj</dc:creator>
  <cp:lastModifiedBy>Jayaprakash Loganathan</cp:lastModifiedBy>
  <cp:revision>12</cp:revision>
  <dcterms:created xsi:type="dcterms:W3CDTF">2023-09-15T10:09:21Z</dcterms:created>
  <dcterms:modified xsi:type="dcterms:W3CDTF">2024-08-11T13:35:58Z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