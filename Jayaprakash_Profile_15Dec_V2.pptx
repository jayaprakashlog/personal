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>
        <p:scale>
          <a:sx n="77" d="100"/>
          <a:sy n="77" d="100"/>
        </p:scale>
        <p:origin x="-462" y="-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7E398-E21C-4F38-B923-CE00F3D5A80C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66CBD-CDC2-4E96-A0A0-81DB8982E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47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66CBD-CDC2-4E96-A0A0-81DB8982E0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66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66CBD-CDC2-4E96-A0A0-81DB8982E0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86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4D9C6A-AE47-5D64-587F-D96760E2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3355A7B-DC41-629D-B2DA-0C289BA1D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0A7906-75F6-C988-60D0-572DA71A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70F5FE-62BE-3AA2-CD9A-389F9471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ACC864-967E-173F-2BE5-81EBF61E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7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8E987-70E0-71F0-4E6C-109651F0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208540-280C-D05F-A476-011A54F7E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70C347-3672-8AD3-1C15-9F15223F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2DD4DA-3F55-AFF4-8821-2347B75C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BA4A18-ED6E-2582-7AB8-B9896AF3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4C9240-8D9C-4A09-A553-AE4A2FF7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5D0B86-91F2-A536-FB81-9A22F5E51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189D46-32DD-0546-A583-06FFBCCE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78BE1E-F65E-6058-8824-75F0D4CE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AF85EA9-84FF-CD15-12CE-3502BD97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6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81DE6-A385-50CC-29D0-EED0294C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E44BBB-0CD4-15A6-6AA6-D9CE46BA1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4A8D94-6306-4A3F-B058-7CC9ED185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43CBE14-BA74-BBD0-8FC0-2CC6E0FE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A018659-4713-035E-222A-D28420C0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54DBD5E-C642-774D-903E-840A43DA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6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14A42B-5354-941A-7CE0-FE5F2DAB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B2BE251-522F-D62D-2B55-5EC80D8E2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547EC1-24BB-7B23-775F-3B301E60E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0640B55-4A52-8D31-1F47-F7AACCA5A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9E3A230-8273-E46D-D4B4-222C1D8FC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749D66A-3EFB-1B8F-41D3-FC90CDC1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0E79FE2-24B6-8FD5-B74D-B90C4D0A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EC5BC40-0BB5-5C1F-F0F5-5B3D060A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8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61EF4B-E9F2-776F-3FD7-A260A94E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BD70C2A-123A-2F53-0490-83AB83A5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CE7AEC0-887F-33A8-743A-936BBCC4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0C56D24-A64B-7589-E16F-9CFD3D4D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3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A81B9DA-347B-107F-A43C-EDAA96E9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7340313-7A30-9793-74AB-BD319BF5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970EBE0-4912-A15A-1F74-FD359940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8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F5F2B1-067C-25D5-8BB9-5728EB9F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A17E51-98D3-8FB8-78D0-AEE4631A0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100ACDE-421C-7DED-CDB8-4A30669C7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84A9F74-02D3-0083-979F-83AB74CC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46DA034-A5F0-7755-8E32-643EE1E75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F49A99B-C07E-BE37-AFB8-93D744FF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8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69A738-8C56-4EE7-D2DA-E428BA60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ACB0F51-E351-F2E9-B388-841CAC3A2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3241587-76A3-B83D-52BC-5956A5F2A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FA3B8B9-F4CF-AEFA-C3EC-F02F560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F947AB-FAFC-B62F-800E-171FB29B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D9F926-DA45-A462-7705-D7DD6C39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9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644FBB-D2B4-BC13-EDE8-7B8989ED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C4B2074-F448-7B4E-0285-3A46F6701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1D93B3-4BAD-65C3-F35B-9DBF2512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A9A969-4377-0FB9-9D79-BA4C2CF5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B947EC3-F8D7-8423-5D98-DF3E5581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9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0949F9B-1E3C-C23B-7AE5-B4A2DA0F7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9663D06-10E7-9435-1DFB-CD57A0FBB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4A5854-5611-9760-9DAB-C05ED6B7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BFDCFD-B356-3CEC-E13A-5345C0DA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D3D307-8EB7-C968-DFF9-330E0D71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4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7BE2C23-B308-DBA6-FD04-C099802C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560FF26-BBFC-5692-5BAE-03A2977D3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E9EAF6-4095-E1BF-44B2-4F2B281AB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D2B9F-5F07-4AA3-BABF-4D02EDDCB0ED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10FBF6E-4332-4413-5740-CD839CC5B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D5F210-9D53-6FF4-5B67-94242932F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D42ED-AC49-4AE0-BD3B-FF5A07D4B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848A0BA-FC50-0459-01B0-454622D895B2}"/>
              </a:ext>
            </a:extLst>
          </p:cNvPr>
          <p:cNvSpPr/>
          <p:nvPr/>
        </p:nvSpPr>
        <p:spPr>
          <a:xfrm>
            <a:off x="50232" y="25536"/>
            <a:ext cx="5223517" cy="121528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JAYAPRAKASH LOGANATHAN</a:t>
            </a:r>
            <a:endParaRPr lang="en-US" sz="1800" b="1" kern="100" dirty="0">
              <a:solidFill>
                <a:srgbClr val="595959"/>
              </a:solidFill>
              <a:effectLst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Director – Data &amp; Analytics </a:t>
            </a:r>
            <a:endParaRPr lang="en-US" sz="1400" kern="100" dirty="0">
              <a:solidFill>
                <a:srgbClr val="595959"/>
              </a:solidFill>
              <a:effectLst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1300" i="1" dirty="0">
                <a:solidFill>
                  <a:srgbClr val="FFFFFF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(Program/Project Management)</a:t>
            </a:r>
            <a:endParaRPr lang="en-US" sz="1300" dirty="0">
              <a:solidFill>
                <a:srgbClr val="FFFFFF"/>
              </a:solidFill>
              <a:cs typeface="Segoe UI" panose="020B0502040204020203" pitchFamily="34" charset="0"/>
            </a:endParaRPr>
          </a:p>
          <a:p>
            <a:endParaRPr lang="en-US" sz="1400" dirty="0">
              <a:solidFill>
                <a:srgbClr val="FFFFFF"/>
              </a:solidFill>
              <a:cs typeface="Segoe UI" panose="020B0502040204020203" pitchFamily="34" charset="0"/>
            </a:endParaRPr>
          </a:p>
          <a:p>
            <a:endParaRPr lang="en-US" sz="1400" dirty="0">
              <a:cs typeface="Segoe UI" panose="020B0502040204020203" pitchFamily="34" charset="0"/>
            </a:endParaRPr>
          </a:p>
        </p:txBody>
      </p:sp>
      <p:pic>
        <p:nvPicPr>
          <p:cNvPr id="6" name="Graphic 5" descr="Envelope outline">
            <a:extLst>
              <a:ext uri="{FF2B5EF4-FFF2-40B4-BE49-F238E27FC236}">
                <a16:creationId xmlns:a16="http://schemas.microsoft.com/office/drawing/2014/main" xmlns="" id="{7EDEF9BE-2184-CA33-AD8A-8D1CB362A9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915635" y="861295"/>
            <a:ext cx="425302" cy="425302"/>
          </a:xfrm>
          <a:prstGeom prst="rect">
            <a:avLst/>
          </a:prstGeom>
        </p:spPr>
      </p:pic>
      <p:pic>
        <p:nvPicPr>
          <p:cNvPr id="8" name="Graphic 7" descr="Receiver outline">
            <a:extLst>
              <a:ext uri="{FF2B5EF4-FFF2-40B4-BE49-F238E27FC236}">
                <a16:creationId xmlns:a16="http://schemas.microsoft.com/office/drawing/2014/main" xmlns="" id="{230DE804-45D2-2AC8-C732-77EC5366F4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96645" y="871870"/>
            <a:ext cx="366881" cy="3668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A13C0-C546-AA2B-8AE3-6BABD57AE9C9}"/>
              </a:ext>
            </a:extLst>
          </p:cNvPr>
          <p:cNvSpPr txBox="1"/>
          <p:nvPr/>
        </p:nvSpPr>
        <p:spPr>
          <a:xfrm>
            <a:off x="554220" y="971101"/>
            <a:ext cx="1444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+91 9884821179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23867D8-C3AD-D042-8CD5-A0A267D14497}"/>
              </a:ext>
            </a:extLst>
          </p:cNvPr>
          <p:cNvSpPr txBox="1"/>
          <p:nvPr/>
        </p:nvSpPr>
        <p:spPr>
          <a:xfrm>
            <a:off x="2338281" y="963816"/>
            <a:ext cx="1876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pratap.log@gmail.com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EDB5E55-E8F6-574B-27B2-8B98DC0096B3}"/>
              </a:ext>
            </a:extLst>
          </p:cNvPr>
          <p:cNvSpPr/>
          <p:nvPr/>
        </p:nvSpPr>
        <p:spPr>
          <a:xfrm>
            <a:off x="5327539" y="38938"/>
            <a:ext cx="6814229" cy="67801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endParaRPr lang="en-US" sz="14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400" b="1" dirty="0">
                <a:solidFill>
                  <a:schemeClr val="tx1"/>
                </a:solidFill>
                <a:cs typeface="Segoe UI" panose="020B0502040204020203" pitchFamily="34" charset="0"/>
              </a:rPr>
              <a:t>Highlights:</a:t>
            </a:r>
          </a:p>
          <a:p>
            <a:endParaRPr lang="en-US" sz="12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chemeClr val="tx1"/>
                </a:solidFill>
                <a:cs typeface="Segoe UI" panose="020B0502040204020203" pitchFamily="34" charset="0"/>
              </a:rPr>
              <a:t>Solutions: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	A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Visionary Solutions Director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focused on converting Business problems to values through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advanced ideation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Started with a small team of trainees, expanded to a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20+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member team which successfully built various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Advanced Data and Analytics Solutions/Accelerators/Frameworks/Tools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serving various use cases across multiple domains. 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Key Solutions: </a:t>
            </a:r>
          </a:p>
          <a:p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	Vehicle 360 (Telematics)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: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CAFÉ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(Corporate Average Fuel Economy),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Customer360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Fleetmatics.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	Analytics solutions being built on vehicle running data which recommends the Auto OEMs to take business decisions on the Vehicle Model manufacturing and decommissioning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ultimately increasing the overall revenue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</a:t>
            </a:r>
          </a:p>
          <a:p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	Fleetmatics Solutions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is being implemented in one of the Logistics companies for effective tracking of their Fleets attaining a ~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15%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overall revenue growth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	Cooling System Analytics Solutions (</a:t>
            </a:r>
            <a:r>
              <a:rPr lang="en-US" sz="1100" b="1" i="1" dirty="0" err="1">
                <a:solidFill>
                  <a:schemeClr val="tx1"/>
                </a:solidFill>
                <a:cs typeface="Segoe UI" panose="020B0502040204020203" pitchFamily="34" charset="0"/>
              </a:rPr>
              <a:t>Refeer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 Analytics)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: An integrated, robust and scalable analytical platform for effectively managing the Cooling System Operations. By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predictive maintenance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recommendations improves the quality and consistency coupled with improved efficiency.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	Data/Component Migration Solution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: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Alcazar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 Development accelerator mainly utilized in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Data Modernization initiatives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(Data Platform Assessment, Analysis, Data Migration, Component Migration) of an Organization to cope up with the Overall Business growth and expansion. </a:t>
            </a:r>
          </a:p>
          <a:p>
            <a:endParaRPr lang="en-US" sz="11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chemeClr val="tx1"/>
                </a:solidFill>
                <a:cs typeface="Segoe UI" panose="020B0502040204020203" pitchFamily="34" charset="0"/>
              </a:rPr>
              <a:t>Program Management, Governance &amp; Delivery:</a:t>
            </a:r>
          </a:p>
          <a:p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	A Program Director having a commanding foothold on all the stages of Software Lifecyle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(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Discovery, Assessment, Program/Project Scoping, Planning (Estimation, Scheduling &amp; Milestones), Quality &amp; KPI Monitoring, Risk management,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Communication between project stakeholders, Execution Control and Delivery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responsible for end-to-end smooth implementation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) executed critical engagements to reach the Business goals.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Enterprise Datawarehouse Platform for an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Electronics parts Manufacturer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serving their Reporting needs for Sales/Operations/Executive and Financial Dashboards. 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Successfully lead and managed this challenging program (On-Prem SQL Server with Data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migrated to  Azure Cloud Platform) for overall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Data platform rationalization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a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 Scalable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platform for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accommodating multiple brands and markets</a:t>
            </a:r>
          </a:p>
          <a:p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    while cutting down the Cost significantly to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~25%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On-Shelf Availability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Assortment Planning Recommendation Engine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Implementation with Seasonality factors for a leading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Cosmetic Company (Retail)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Report Rationalization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a large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Auto manufacturer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resulting in almost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20% savings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in effort spent on Support &amp; Maintenance of the critical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8B43B5F-834C-3D3C-2A28-F9EB63B8CDEB}"/>
              </a:ext>
            </a:extLst>
          </p:cNvPr>
          <p:cNvSpPr/>
          <p:nvPr/>
        </p:nvSpPr>
        <p:spPr>
          <a:xfrm>
            <a:off x="50232" y="3200400"/>
            <a:ext cx="5238179" cy="22322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Profile Summary: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An IT Professional having around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20 years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of experience with specialization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Data Analytics/Business/Artificial Intelligence/Cloud Solutions, Program/Project Governance and Delivery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.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Diversified experience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Technical, Functional and Management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areas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3 years of Onsite (USA)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experience at various clients</a:t>
            </a:r>
          </a:p>
          <a:p>
            <a:pPr marL="171450" marR="167005" indent="-171450" algn="just">
              <a:lnSpc>
                <a:spcPts val="1200"/>
              </a:lnSpc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Being a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Director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LTIMindtree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the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past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2 years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with deep Solution expertise, embracing the advanced tools and technologies helped Business to deliver values aligning to overall Organizations IT strategy.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Successfully ran challenging engagements through an effective Program/Project Management/Governance and Delivery which helped the customer in faster Go-To Market strategies. </a:t>
            </a:r>
          </a:p>
          <a:p>
            <a:pPr marL="171450" marR="167005" lvl="0" indent="-17145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Previously worked in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Cognizant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and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Infosys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as Senior Solutions/Project Manager and Lead</a:t>
            </a:r>
          </a:p>
        </p:txBody>
      </p:sp>
      <p:pic>
        <p:nvPicPr>
          <p:cNvPr id="18" name="Picture 17" descr="A person with a mustache&#10;&#10;Description automatically generated with medium confidence">
            <a:extLst>
              <a:ext uri="{FF2B5EF4-FFF2-40B4-BE49-F238E27FC236}">
                <a16:creationId xmlns:a16="http://schemas.microsoft.com/office/drawing/2014/main" xmlns="" id="{C651BEF6-D52B-4A83-A61E-856B97E4A8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301" y="38939"/>
            <a:ext cx="1059448" cy="11375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DA0380F-6B3B-4D22-8F34-B33875668604}"/>
              </a:ext>
            </a:extLst>
          </p:cNvPr>
          <p:cNvSpPr/>
          <p:nvPr/>
        </p:nvSpPr>
        <p:spPr>
          <a:xfrm>
            <a:off x="50232" y="1272715"/>
            <a:ext cx="5238179" cy="1889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cs typeface="Segoe UI" panose="020B0502040204020203" pitchFamily="34" charset="0"/>
              </a:rPr>
              <a:t>Work Experience:  </a:t>
            </a:r>
          </a:p>
          <a:p>
            <a:endParaRPr lang="en-US" sz="1200" b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Director – Data and Analytics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(Program &amp; Project Management) – 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LTIMindtree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, Chennai - 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Nov 2022 – till date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  <a:p>
            <a:endParaRPr lang="en-US" sz="12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Senior Solutions/Program/Project Manager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– 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Cognizant Technology Solutions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</a:p>
          <a:p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-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Mar 2014 – Nov 2022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  <a:p>
            <a:endParaRPr lang="en-US" sz="1200" i="1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Segoe UI" panose="020B0502040204020203" pitchFamily="34" charset="0"/>
              </a:rPr>
              <a:t>Technology/Solutions Lead/Manager</a:t>
            </a:r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– 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Infosys Technologies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 </a:t>
            </a:r>
          </a:p>
          <a:p>
            <a:r>
              <a:rPr lang="en-US" sz="1200" dirty="0">
                <a:solidFill>
                  <a:schemeClr val="tx1"/>
                </a:solidFill>
                <a:cs typeface="Segoe UI" panose="020B0502040204020203" pitchFamily="34" charset="0"/>
              </a:rPr>
              <a:t>- 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(</a:t>
            </a:r>
            <a:r>
              <a:rPr lang="en-US" sz="1200" b="1" i="1" dirty="0">
                <a:solidFill>
                  <a:schemeClr val="tx1"/>
                </a:solidFill>
                <a:cs typeface="Segoe UI" panose="020B0502040204020203" pitchFamily="34" charset="0"/>
              </a:rPr>
              <a:t>Jul  2004 – Feb 2014</a:t>
            </a:r>
            <a:r>
              <a:rPr lang="en-US" sz="12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56A35DF-9DAA-CBD8-4875-1DE6F3AE42B7}"/>
              </a:ext>
            </a:extLst>
          </p:cNvPr>
          <p:cNvSpPr/>
          <p:nvPr/>
        </p:nvSpPr>
        <p:spPr>
          <a:xfrm>
            <a:off x="54856" y="5464513"/>
            <a:ext cx="5238179" cy="13545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Skills: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Data Engineering, Data Analytics, Data Quality, Data Intelligence, Data Governance, </a:t>
            </a:r>
            <a:r>
              <a:rPr lang="en-US" sz="1000" b="1" dirty="0" err="1">
                <a:solidFill>
                  <a:schemeClr val="tx1"/>
                </a:solidFill>
                <a:cs typeface="Arial" panose="020B0604020202020204" pitchFamily="34" charset="0"/>
              </a:rPr>
              <a:t>DataOps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, Observability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Project Execution Methodologies (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Waterfall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Agile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Hybrid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) </a:t>
            </a:r>
          </a:p>
          <a:p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Domain: </a:t>
            </a:r>
            <a:r>
              <a:rPr lang="en-US" sz="1000" b="1" i="1" dirty="0">
                <a:solidFill>
                  <a:schemeClr val="tx1"/>
                </a:solidFill>
                <a:cs typeface="Arial" panose="020B0604020202020204" pitchFamily="34" charset="0"/>
              </a:rPr>
              <a:t>R</a:t>
            </a:r>
            <a:r>
              <a:rPr lang="en-US" sz="1000" b="1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etailing, Manufacturing</a:t>
            </a:r>
            <a:r>
              <a:rPr lang="en-US" sz="1000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000" b="1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Life Sciences</a:t>
            </a:r>
            <a:r>
              <a:rPr lang="en-US" sz="1000" i="1" dirty="0">
                <a:solidFill>
                  <a:schemeClr val="tx1"/>
                </a:solidFill>
                <a:ea typeface="Quattrocento Sans" panose="020F0502020204030204" pitchFamily="34" charset="0"/>
                <a:cs typeface="Arial" panose="020B0604020202020204" pitchFamily="34" charset="0"/>
              </a:rPr>
              <a:t>, Logistics and Energy/Utilities</a:t>
            </a:r>
          </a:p>
          <a:p>
            <a:endParaRPr lang="en-US" sz="10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Technologies and Tools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Advanced BI and Data Tools (</a:t>
            </a:r>
            <a:r>
              <a:rPr lang="en-US" sz="1000" dirty="0" err="1">
                <a:solidFill>
                  <a:schemeClr val="tx1"/>
                </a:solidFill>
                <a:cs typeface="Arial" panose="020B0604020202020204" pitchFamily="34" charset="0"/>
              </a:rPr>
              <a:t>Qlikview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Power BI, Tableau, SQL, ETL, DB, ADF, Azure SQL)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  <a:cs typeface="Arial" panose="020B0604020202020204" pitchFamily="34" charset="0"/>
              </a:rPr>
              <a:t>Hyperscalers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(Cloud-AWS, Azure)</a:t>
            </a:r>
          </a:p>
        </p:txBody>
      </p:sp>
    </p:spTree>
    <p:extLst>
      <p:ext uri="{BB962C8B-B14F-4D97-AF65-F5344CB8AC3E}">
        <p14:creationId xmlns:p14="http://schemas.microsoft.com/office/powerpoint/2010/main" val="371557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1FB6224-AEF1-239F-2629-14716A8AABC1}"/>
              </a:ext>
            </a:extLst>
          </p:cNvPr>
          <p:cNvSpPr/>
          <p:nvPr/>
        </p:nvSpPr>
        <p:spPr>
          <a:xfrm>
            <a:off x="5728492" y="48201"/>
            <a:ext cx="6373858" cy="54985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solidFill>
                  <a:schemeClr val="tx1"/>
                </a:solidFill>
                <a:cs typeface="Arial" panose="020B0604020202020204" pitchFamily="34" charset="0"/>
              </a:rPr>
              <a:t>Areas of Experience/Knowledge:</a:t>
            </a:r>
          </a:p>
          <a:p>
            <a:endParaRPr lang="en-US" sz="12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Data Engineering:</a:t>
            </a:r>
            <a:r>
              <a:rPr lang="en-US" sz="1100" b="1" i="1" dirty="0">
                <a:solidFill>
                  <a:schemeClr val="tx1"/>
                </a:solidFill>
                <a:cs typeface="Arial" panose="020B0604020202020204" pitchFamily="34" charset="0"/>
              </a:rPr>
              <a:t> Data Quality, Data Standardization, Data Reconciliation, Transformation</a:t>
            </a:r>
          </a:p>
          <a:p>
            <a:endParaRPr lang="en-US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BI Reporting:</a:t>
            </a:r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KPI Enrichment, Business Insights Solutions</a:t>
            </a:r>
          </a:p>
          <a:p>
            <a:endParaRPr lang="en-US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Data Quality Framework: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Data Quality Monitoring, Data Quality Mitigation, Data Quality Issue Resolution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Discover, Analyze, Define and Implement</a:t>
            </a:r>
          </a:p>
          <a:p>
            <a:endParaRPr lang="en-US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Rapid Assessment Methodology: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An Assessment method tailored for Data programs that focuses on defining the Enterprise Data Management Journey.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	We bring modularized templates, workshop structures and plans</a:t>
            </a:r>
          </a:p>
          <a:p>
            <a:pPr lvl="1"/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Observability 360:</a:t>
            </a:r>
          </a:p>
          <a:p>
            <a:endParaRPr lang="en-US" sz="1100" b="1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Platform Observability – Platform and Infra monitoring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Pipeline Observability – Jobs Scheduling, Completion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Consumption Observability – Application Performance Monitoring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Quality Observability – Anomaly detection</a:t>
            </a:r>
          </a:p>
          <a:p>
            <a:endParaRPr lang="en-US" sz="1100" b="1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 err="1">
                <a:solidFill>
                  <a:schemeClr val="tx1"/>
                </a:solidFill>
                <a:cs typeface="Arial" panose="020B0604020202020204" pitchFamily="34" charset="0"/>
              </a:rPr>
              <a:t>DataOps</a:t>
            </a:r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:</a:t>
            </a:r>
            <a:r>
              <a:rPr lang="en-US" sz="1100" b="1" i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</a:p>
          <a:p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Strategize, Optimize (Orchestrate, CI/CD), Automate (Automate Testing and Platform Monitoring, Observability), Intelligence (Auto Healing, BOTs based Self Service)</a:t>
            </a:r>
          </a:p>
          <a:p>
            <a:endParaRPr lang="en-US" sz="1100" b="1" i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i="1" dirty="0">
                <a:solidFill>
                  <a:schemeClr val="tx1"/>
                </a:solidFill>
                <a:cs typeface="Arial" panose="020B0604020202020204" pitchFamily="34" charset="0"/>
              </a:rPr>
              <a:t>Data Governance:</a:t>
            </a:r>
            <a:r>
              <a:rPr lang="en-US" sz="1100" b="1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</a:p>
          <a:p>
            <a:r>
              <a:rPr lang="en-US" sz="1100" b="1" i="1" dirty="0">
                <a:solidFill>
                  <a:schemeClr val="tx1"/>
                </a:solidFill>
                <a:cs typeface="Arial" panose="020B0604020202020204" pitchFamily="34" charset="0"/>
              </a:rPr>
              <a:t>	Themis - GRC360 solution for data </a:t>
            </a:r>
            <a:r>
              <a:rPr lang="en-US" sz="1100" i="1" dirty="0">
                <a:solidFill>
                  <a:schemeClr val="tx1"/>
                </a:solidFill>
                <a:cs typeface="Arial" panose="020B0604020202020204" pitchFamily="34" charset="0"/>
              </a:rPr>
              <a:t>(Governance, Regulations and Compliance)</a:t>
            </a: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6693423-2FDD-4DD3-7616-9BF6F2C8F3A2}"/>
              </a:ext>
            </a:extLst>
          </p:cNvPr>
          <p:cNvSpPr/>
          <p:nvPr/>
        </p:nvSpPr>
        <p:spPr>
          <a:xfrm>
            <a:off x="80685" y="48201"/>
            <a:ext cx="5597345" cy="6727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C44E50EE-B201-BBA2-8544-A85F41FB4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471815"/>
              </p:ext>
            </p:extLst>
          </p:nvPr>
        </p:nvGraphicFramePr>
        <p:xfrm>
          <a:off x="140112" y="1796430"/>
          <a:ext cx="5462830" cy="29468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1131">
                  <a:extLst>
                    <a:ext uri="{9D8B030D-6E8A-4147-A177-3AD203B41FA5}">
                      <a16:colId xmlns:a16="http://schemas.microsoft.com/office/drawing/2014/main" xmlns="" val="1454280668"/>
                    </a:ext>
                  </a:extLst>
                </a:gridCol>
                <a:gridCol w="1829500">
                  <a:extLst>
                    <a:ext uri="{9D8B030D-6E8A-4147-A177-3AD203B41FA5}">
                      <a16:colId xmlns:a16="http://schemas.microsoft.com/office/drawing/2014/main" xmlns="" val="2194468635"/>
                    </a:ext>
                  </a:extLst>
                </a:gridCol>
                <a:gridCol w="2442199">
                  <a:extLst>
                    <a:ext uri="{9D8B030D-6E8A-4147-A177-3AD203B41FA5}">
                      <a16:colId xmlns:a16="http://schemas.microsoft.com/office/drawing/2014/main" xmlns="" val="1557480137"/>
                    </a:ext>
                  </a:extLst>
                </a:gridCol>
              </a:tblGrid>
              <a:tr h="66420">
                <a:tc>
                  <a:txBody>
                    <a:bodyPr/>
                    <a:lstStyle/>
                    <a:p>
                      <a:pPr marL="457200" marR="0" indent="-38100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17145083"/>
                  </a:ext>
                </a:extLst>
              </a:tr>
              <a:tr h="2794404">
                <a:tc>
                  <a:txBody>
                    <a:bodyPr/>
                    <a:lstStyle/>
                    <a:p>
                      <a:pPr marL="0" marR="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Senior BI/Cloud</a:t>
                      </a:r>
                    </a:p>
                    <a:p>
                      <a:pPr marL="0" marR="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Manager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Manager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GSK – Life Sciences (UK),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Toyota – Auto Sales(USA),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Amgen – Pharma (USA),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Schneider Electric(USA)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Team  -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Banking and Insurance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Team –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Manufacturing and Logistics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Marketing Analytics (GSK)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Parts and Sales Analytics (Toyota)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Research Data Lake (AMGEN)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BMS Analytics (Schneider)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SPENDWIZ (Spend Analytics) </a:t>
                      </a:r>
                    </a:p>
                    <a:p>
                      <a:pPr marL="342900" marR="0" lvl="0" indent="-342900">
                        <a:spcBef>
                          <a:spcPts val="270"/>
                        </a:spcBef>
                        <a:spcAft>
                          <a:spcPts val="0"/>
                        </a:spcAft>
                        <a:buFont typeface="Calibri" panose="020F0502020204030204" pitchFamily="34" charset="0"/>
                        <a:buChar char="–"/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JPMorgan Chase &amp; Co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 Analytics – 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Wellsfargo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Metlife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Telematics – Vehicle 360,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SPENDWIZ (Spend Analytics),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 Energize,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Warranty Analytics,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  <a:tabLst>
                          <a:tab pos="622935" algn="ctr"/>
                        </a:tabLs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OPTILAY (Warehouse Optimization)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059430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442DDEDF-0A4F-3687-8691-2A2A9338D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32157"/>
              </p:ext>
            </p:extLst>
          </p:nvPr>
        </p:nvGraphicFramePr>
        <p:xfrm>
          <a:off x="149076" y="4994383"/>
          <a:ext cx="5453866" cy="1615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9400">
                  <a:extLst>
                    <a:ext uri="{9D8B030D-6E8A-4147-A177-3AD203B41FA5}">
                      <a16:colId xmlns:a16="http://schemas.microsoft.com/office/drawing/2014/main" xmlns="" val="3000784752"/>
                    </a:ext>
                  </a:extLst>
                </a:gridCol>
                <a:gridCol w="1701581">
                  <a:extLst>
                    <a:ext uri="{9D8B030D-6E8A-4147-A177-3AD203B41FA5}">
                      <a16:colId xmlns:a16="http://schemas.microsoft.com/office/drawing/2014/main" xmlns="" val="2021531024"/>
                    </a:ext>
                  </a:extLst>
                </a:gridCol>
                <a:gridCol w="2432885">
                  <a:extLst>
                    <a:ext uri="{9D8B030D-6E8A-4147-A177-3AD203B41FA5}">
                      <a16:colId xmlns:a16="http://schemas.microsoft.com/office/drawing/2014/main" xmlns="" val="2346812928"/>
                    </a:ext>
                  </a:extLst>
                </a:gridCol>
              </a:tblGrid>
              <a:tr h="51904"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spc="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Systems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70350"/>
                  </a:ext>
                </a:extLst>
              </a:tr>
              <a:tr h="1097329">
                <a:tc>
                  <a:txBody>
                    <a:bodyPr/>
                    <a:lstStyle/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 Solutions Lead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3810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 Lead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Starbucks, SEARS,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Nordstrom (Solutions Team)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Walmart,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JC Penney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(Onsite –USA)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Loyalty and Campaign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 Analytics,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Diagnostics Solution 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Analytics,</a:t>
                      </a:r>
                    </a:p>
                    <a:p>
                      <a:pPr marL="457200" marR="0" indent="-381000"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Number Upgrade 2.0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73019963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9596DDF-1548-E123-E2FE-BD3DF5FB3A56}"/>
              </a:ext>
            </a:extLst>
          </p:cNvPr>
          <p:cNvSpPr/>
          <p:nvPr/>
        </p:nvSpPr>
        <p:spPr>
          <a:xfrm>
            <a:off x="5728492" y="5581291"/>
            <a:ext cx="6382824" cy="1194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Education:  </a:t>
            </a:r>
          </a:p>
          <a:p>
            <a:endParaRPr lang="en-US" sz="12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M.B.A (Technology Management)  from Anna University (Distance), Chennai</a:t>
            </a:r>
          </a:p>
          <a:p>
            <a:endParaRPr lang="en-US" sz="1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B.E (Electrical &amp; Electronics) from University of Madras, Chennai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FBDAD7-4A62-ACAC-99B6-7822D9711BAF}"/>
              </a:ext>
            </a:extLst>
          </p:cNvPr>
          <p:cNvSpPr txBox="1"/>
          <p:nvPr/>
        </p:nvSpPr>
        <p:spPr>
          <a:xfrm>
            <a:off x="149076" y="1529975"/>
            <a:ext cx="2585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Cognizant Technology Solutions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1C5768B-DC1D-E14B-BA12-0EFCE8D10716}"/>
              </a:ext>
            </a:extLst>
          </p:cNvPr>
          <p:cNvSpPr txBox="1"/>
          <p:nvPr/>
        </p:nvSpPr>
        <p:spPr>
          <a:xfrm>
            <a:off x="80068" y="125835"/>
            <a:ext cx="550432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tx1"/>
                </a:solidFill>
                <a:cs typeface="Segoe UI" panose="020B0502040204020203" pitchFamily="34" charset="0"/>
              </a:rPr>
              <a:t>Recent Deals: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Implementation of a Launchpad Application for Global CPG Company -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Provided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Azure Databricks and Advanced Visualization Solution for the Data modernization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with a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 cost savings of 20 – 30 % 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in development through </a:t>
            </a: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Alcazar’s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automation.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cs typeface="Segoe UI" panose="020B0502040204020203" pitchFamily="34" charset="0"/>
              </a:rPr>
              <a:t>Assortment Planning Recommendation Engine</a:t>
            </a:r>
            <a:r>
              <a:rPr lang="en-US" sz="1100" dirty="0">
                <a:solidFill>
                  <a:schemeClr val="tx1"/>
                </a:solidFill>
                <a:cs typeface="Segoe UI" panose="020B0502040204020203" pitchFamily="34" charset="0"/>
              </a:rPr>
              <a:t> for a 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Global CPG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 (</a:t>
            </a:r>
            <a:r>
              <a:rPr lang="en-US" sz="1100" b="1" i="1" dirty="0">
                <a:solidFill>
                  <a:schemeClr val="tx1"/>
                </a:solidFill>
                <a:cs typeface="Segoe UI" panose="020B0502040204020203" pitchFamily="34" charset="0"/>
              </a:rPr>
              <a:t>1.5 M</a:t>
            </a:r>
            <a:r>
              <a:rPr lang="en-US" sz="1100" i="1" dirty="0">
                <a:solidFill>
                  <a:schemeClr val="tx1"/>
                </a:solidFill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4AED867-61A2-CBAB-4D45-B7001DDD6CEF}"/>
              </a:ext>
            </a:extLst>
          </p:cNvPr>
          <p:cNvSpPr txBox="1"/>
          <p:nvPr/>
        </p:nvSpPr>
        <p:spPr>
          <a:xfrm>
            <a:off x="55442" y="1296370"/>
            <a:ext cx="25854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Past Experience: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7464F965-ED83-80F1-7C61-04E87E2F307A}"/>
              </a:ext>
            </a:extLst>
          </p:cNvPr>
          <p:cNvSpPr txBox="1"/>
          <p:nvPr/>
        </p:nvSpPr>
        <p:spPr>
          <a:xfrm>
            <a:off x="140450" y="4761213"/>
            <a:ext cx="2585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Infosys Technologies</a:t>
            </a:r>
          </a:p>
        </p:txBody>
      </p:sp>
    </p:spTree>
    <p:extLst>
      <p:ext uri="{BB962C8B-B14F-4D97-AF65-F5344CB8AC3E}">
        <p14:creationId xmlns:p14="http://schemas.microsoft.com/office/powerpoint/2010/main" val="94475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475</Words>
  <Application>Microsoft Office PowerPoint</Application>
  <PresentationFormat>Custom</PresentationFormat>
  <Paragraphs>193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Jayaprakash Loganathan</dc:creator>
  <cp:lastModifiedBy>ARA-LAP7</cp:lastModifiedBy>
  <cp:revision>17</cp:revision>
  <dcterms:created xsi:type="dcterms:W3CDTF">2023-09-10T19:02:56Z</dcterms:created>
  <dcterms:modified xsi:type="dcterms:W3CDTF">2023-12-15T18:36:14Z</dcterms:modified>
</cp:coreProperties>
</file>