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9"/>
  </p:notesMasterIdLst>
  <p:handoutMasterIdLst>
    <p:handoutMasterId r:id="rId10"/>
  </p:handoutMasterIdLst>
  <p:sldIdLst>
    <p:sldId id="256" r:id="rId5"/>
    <p:sldId id="327" r:id="rId6"/>
    <p:sldId id="326" r:id="rId7"/>
    <p:sldId id="325" r:id="rId8"/>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2" d="100"/>
          <a:sy n="62" d="100"/>
        </p:scale>
        <p:origin x="828" y="216"/>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1/22/2025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1/22/2025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oleObject" Target="../embeddings/oleObject12.bin"/><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emf"/><Relationship Id="rId9" Type="http://schemas.openxmlformats.org/officeDocument/2006/relationships/image" Target="../media/image19.png"/><Relationship Id="rId1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dirty="0"/>
              <a:t>Sprint Retrospective – Prod </a:t>
            </a:r>
            <a:r>
              <a:rPr lang="en-US" dirty="0" err="1"/>
              <a:t>Engg</a:t>
            </a:r>
            <a:r>
              <a:rPr lang="en-US" dirty="0"/>
              <a:t> </a:t>
            </a:r>
          </a:p>
        </p:txBody>
      </p:sp>
      <p:sp>
        <p:nvSpPr>
          <p:cNvPr id="4" name="Text Placeholder 3"/>
          <p:cNvSpPr>
            <a:spLocks noGrp="1"/>
          </p:cNvSpPr>
          <p:nvPr>
            <p:ph type="body" sz="quarter" idx="13"/>
          </p:nvPr>
        </p:nvSpPr>
        <p:spPr>
          <a:xfrm>
            <a:off x="1993392" y="5406888"/>
            <a:ext cx="4876800" cy="304800"/>
          </a:xfrm>
        </p:spPr>
        <p:txBody>
          <a:bodyPr/>
          <a:lstStyle/>
          <a:p>
            <a:r>
              <a:rPr lang="en-US" dirty="0"/>
              <a:t>Jan, 2025</a:t>
            </a:r>
          </a:p>
        </p:txBody>
      </p:sp>
      <p:sp>
        <p:nvSpPr>
          <p:cNvPr id="11" name="Speech Bubble: Rectangle with Corners Rounded 7"/>
          <p:cNvSpPr/>
          <p:nvPr/>
        </p:nvSpPr>
        <p:spPr>
          <a:xfrm>
            <a:off x="4254453" y="2529060"/>
            <a:ext cx="2549237" cy="312470"/>
          </a:xfrm>
          <a:prstGeom prst="wedgeRectCallout">
            <a:avLst>
              <a:gd name="adj1" fmla="val -35749"/>
              <a:gd name="adj2" fmla="val 9726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172B3C"/>
                </a:solidFill>
                <a:effectLst/>
                <a:uLnTx/>
                <a:uFillTx/>
                <a:latin typeface="Calibri" panose="020F0502020204030204"/>
                <a:ea typeface="+mn-ea"/>
                <a:cs typeface="+mn-cs"/>
              </a:rPr>
              <a:t>Place to drop in Trinity and/or client logo</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E15F35-91D9-21C7-87A9-1E454B61773D}"/>
              </a:ext>
            </a:extLst>
          </p:cNvPr>
          <p:cNvSpPr>
            <a:spLocks noGrp="1"/>
          </p:cNvSpPr>
          <p:nvPr>
            <p:ph type="title"/>
          </p:nvPr>
        </p:nvSpPr>
        <p:spPr/>
        <p:txBody>
          <a:bodyPr/>
          <a:lstStyle/>
          <a:p>
            <a:r>
              <a:rPr lang="en-US" dirty="0" err="1"/>
              <a:t>Notebooklm</a:t>
            </a:r>
            <a:r>
              <a:rPr lang="en-US" dirty="0"/>
              <a:t> Overview</a:t>
            </a:r>
            <a:endParaRPr lang="en-IN" dirty="0"/>
          </a:p>
        </p:txBody>
      </p:sp>
      <p:sp>
        <p:nvSpPr>
          <p:cNvPr id="5" name="TextBox 4">
            <a:extLst>
              <a:ext uri="{FF2B5EF4-FFF2-40B4-BE49-F238E27FC236}">
                <a16:creationId xmlns:a16="http://schemas.microsoft.com/office/drawing/2014/main" id="{473A6F44-ABFE-5C0A-B56F-D892548B08D2}"/>
              </a:ext>
            </a:extLst>
          </p:cNvPr>
          <p:cNvSpPr txBox="1"/>
          <p:nvPr/>
        </p:nvSpPr>
        <p:spPr>
          <a:xfrm>
            <a:off x="682751" y="1298448"/>
            <a:ext cx="4102898" cy="2718748"/>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AI search engine mainly used for creating notes/summaries from multiple sources which user can upload </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Works with Google Gemini API, available in Google Workspace</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Premium is available as </a:t>
            </a:r>
            <a:r>
              <a:rPr lang="en-US" sz="1300" dirty="0" err="1">
                <a:solidFill>
                  <a:srgbClr val="002240"/>
                </a:solidFill>
                <a:cs typeface="Tahoma" pitchFamily="34" charset="0"/>
              </a:rPr>
              <a:t>Notbooklm</a:t>
            </a:r>
            <a:r>
              <a:rPr lang="en-US" sz="1300" dirty="0">
                <a:solidFill>
                  <a:srgbClr val="002240"/>
                </a:solidFill>
                <a:cs typeface="Tahoma" pitchFamily="34" charset="0"/>
              </a:rPr>
              <a:t> Plus with advanced features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Supports various file formats like Google drive files, pdfs, text, web </a:t>
            </a:r>
            <a:r>
              <a:rPr lang="en-US" sz="1300" dirty="0" err="1">
                <a:solidFill>
                  <a:srgbClr val="002240"/>
                </a:solidFill>
                <a:cs typeface="Tahoma" pitchFamily="34" charset="0"/>
              </a:rPr>
              <a:t>url</a:t>
            </a:r>
            <a:r>
              <a:rPr lang="en-US" sz="1300" dirty="0">
                <a:solidFill>
                  <a:srgbClr val="002240"/>
                </a:solidFill>
                <a:cs typeface="Tahoma" pitchFamily="34" charset="0"/>
              </a:rPr>
              <a:t> and audio files</a:t>
            </a:r>
          </a:p>
        </p:txBody>
      </p:sp>
      <p:sp>
        <p:nvSpPr>
          <p:cNvPr id="6" name="TextBox 5">
            <a:extLst>
              <a:ext uri="{FF2B5EF4-FFF2-40B4-BE49-F238E27FC236}">
                <a16:creationId xmlns:a16="http://schemas.microsoft.com/office/drawing/2014/main" id="{86E2226D-91EA-652B-133D-FCAD5344C113}"/>
              </a:ext>
            </a:extLst>
          </p:cNvPr>
          <p:cNvSpPr txBox="1"/>
          <p:nvPr/>
        </p:nvSpPr>
        <p:spPr>
          <a:xfrm>
            <a:off x="1616202" y="1081648"/>
            <a:ext cx="1554480" cy="433599"/>
          </a:xfrm>
          <a:prstGeom prst="rect">
            <a:avLst/>
          </a:prstGeom>
          <a:solidFill>
            <a:schemeClr val="tx1">
              <a:lumMod val="20000"/>
              <a:lumOff val="80000"/>
            </a:schemeClr>
          </a:solidFill>
        </p:spPr>
        <p:txBody>
          <a:bodyPr wrap="square" rtlCol="0">
            <a:noAutofit/>
          </a:bodyPr>
          <a:lstStyle>
            <a:defPPr>
              <a:defRPr lang="en-US"/>
            </a:defPPr>
            <a:lvl1pPr marL="3175" algn="ctr">
              <a:spcBef>
                <a:spcPts val="600"/>
              </a:spcBef>
              <a:spcAft>
                <a:spcPts val="600"/>
              </a:spcAft>
              <a:buClr>
                <a:srgbClr val="303030">
                  <a:lumMod val="50000"/>
                  <a:lumOff val="50000"/>
                </a:srgbClr>
              </a:buClr>
              <a:defRPr>
                <a:solidFill>
                  <a:srgbClr val="002240"/>
                </a:solidFill>
                <a:cs typeface="Tahoma" pitchFamily="34" charset="0"/>
              </a:defRPr>
            </a:lvl1pPr>
          </a:lstStyle>
          <a:p>
            <a:r>
              <a:rPr lang="en-US" dirty="0"/>
              <a:t>Overview</a:t>
            </a:r>
            <a:endParaRPr lang="en-IN" dirty="0"/>
          </a:p>
        </p:txBody>
      </p:sp>
      <p:sp>
        <p:nvSpPr>
          <p:cNvPr id="7" name="TextBox 6">
            <a:extLst>
              <a:ext uri="{FF2B5EF4-FFF2-40B4-BE49-F238E27FC236}">
                <a16:creationId xmlns:a16="http://schemas.microsoft.com/office/drawing/2014/main" id="{BF3D70F7-B9A4-F472-87A4-1CBB29EEF5F2}"/>
              </a:ext>
            </a:extLst>
          </p:cNvPr>
          <p:cNvSpPr txBox="1"/>
          <p:nvPr/>
        </p:nvSpPr>
        <p:spPr>
          <a:xfrm>
            <a:off x="4984241" y="1252337"/>
            <a:ext cx="3930345" cy="2639177"/>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Podcast - Audio Reviews and Interactive discussions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Citations - Highlights the exact quote from the source being shown in the O/P</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Notes Customization and additional note inclusion</a:t>
            </a:r>
          </a:p>
        </p:txBody>
      </p:sp>
      <p:sp>
        <p:nvSpPr>
          <p:cNvPr id="8" name="TextBox 7">
            <a:extLst>
              <a:ext uri="{FF2B5EF4-FFF2-40B4-BE49-F238E27FC236}">
                <a16:creationId xmlns:a16="http://schemas.microsoft.com/office/drawing/2014/main" id="{940925C9-C0C7-4918-9861-F8CD92D80AE0}"/>
              </a:ext>
            </a:extLst>
          </p:cNvPr>
          <p:cNvSpPr txBox="1"/>
          <p:nvPr/>
        </p:nvSpPr>
        <p:spPr>
          <a:xfrm>
            <a:off x="5917692" y="1035537"/>
            <a:ext cx="1554480" cy="433599"/>
          </a:xfrm>
          <a:prstGeom prst="rect">
            <a:avLst/>
          </a:prstGeom>
          <a:solidFill>
            <a:schemeClr val="tx1">
              <a:lumMod val="20000"/>
              <a:lumOff val="80000"/>
            </a:schemeClr>
          </a:solidFill>
        </p:spPr>
        <p:txBody>
          <a:bodyPr wrap="square" rtlCol="0">
            <a:noAutofit/>
          </a:bodyPr>
          <a:lstStyle>
            <a:defPPr>
              <a:defRPr lang="en-US"/>
            </a:defPPr>
            <a:lvl1pPr marL="3175" algn="ctr">
              <a:spcBef>
                <a:spcPts val="600"/>
              </a:spcBef>
              <a:spcAft>
                <a:spcPts val="600"/>
              </a:spcAft>
              <a:buClr>
                <a:srgbClr val="303030">
                  <a:lumMod val="50000"/>
                  <a:lumOff val="50000"/>
                </a:srgbClr>
              </a:buClr>
              <a:defRPr>
                <a:solidFill>
                  <a:srgbClr val="002240"/>
                </a:solidFill>
                <a:cs typeface="Tahoma" pitchFamily="34" charset="0"/>
              </a:defRPr>
            </a:lvl1pPr>
          </a:lstStyle>
          <a:p>
            <a:r>
              <a:rPr lang="en-US" dirty="0"/>
              <a:t>Key Features</a:t>
            </a:r>
            <a:endParaRPr lang="en-IN" dirty="0"/>
          </a:p>
        </p:txBody>
      </p:sp>
      <p:sp>
        <p:nvSpPr>
          <p:cNvPr id="9" name="TextBox 8">
            <a:extLst>
              <a:ext uri="{FF2B5EF4-FFF2-40B4-BE49-F238E27FC236}">
                <a16:creationId xmlns:a16="http://schemas.microsoft.com/office/drawing/2014/main" id="{8F434F71-D2FD-1794-1157-7D6C08A8389C}"/>
              </a:ext>
            </a:extLst>
          </p:cNvPr>
          <p:cNvSpPr txBox="1"/>
          <p:nvPr/>
        </p:nvSpPr>
        <p:spPr>
          <a:xfrm>
            <a:off x="641654" y="4313416"/>
            <a:ext cx="4102898" cy="2357977"/>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Available only in browser</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No internet search capability</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Strict restrictions to the stipulated file formats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Citations - Highlights the exact quote from the source being shown in the O/P</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Notes Customization and additional note inclusion</a:t>
            </a:r>
          </a:p>
        </p:txBody>
      </p:sp>
      <p:sp>
        <p:nvSpPr>
          <p:cNvPr id="10" name="TextBox 9">
            <a:extLst>
              <a:ext uri="{FF2B5EF4-FFF2-40B4-BE49-F238E27FC236}">
                <a16:creationId xmlns:a16="http://schemas.microsoft.com/office/drawing/2014/main" id="{840D99ED-C9C5-868A-62B9-2B29E1E506AD}"/>
              </a:ext>
            </a:extLst>
          </p:cNvPr>
          <p:cNvSpPr txBox="1"/>
          <p:nvPr/>
        </p:nvSpPr>
        <p:spPr>
          <a:xfrm>
            <a:off x="1718942" y="4108315"/>
            <a:ext cx="1554480" cy="287294"/>
          </a:xfrm>
          <a:prstGeom prst="rect">
            <a:avLst/>
          </a:prstGeom>
          <a:solidFill>
            <a:schemeClr val="tx1">
              <a:lumMod val="20000"/>
              <a:lumOff val="80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dirty="0">
                <a:solidFill>
                  <a:srgbClr val="002240"/>
                </a:solidFill>
                <a:cs typeface="Tahoma" pitchFamily="34" charset="0"/>
              </a:rPr>
              <a:t>Limitations</a:t>
            </a:r>
            <a:endParaRPr lang="en-IN" dirty="0">
              <a:solidFill>
                <a:srgbClr val="002240"/>
              </a:solidFill>
              <a:cs typeface="Tahoma" pitchFamily="34" charset="0"/>
            </a:endParaRPr>
          </a:p>
        </p:txBody>
      </p:sp>
      <p:sp>
        <p:nvSpPr>
          <p:cNvPr id="11" name="TextBox 10">
            <a:extLst>
              <a:ext uri="{FF2B5EF4-FFF2-40B4-BE49-F238E27FC236}">
                <a16:creationId xmlns:a16="http://schemas.microsoft.com/office/drawing/2014/main" id="{9B2E87B5-FE88-60F7-C3DA-CF6FFDA9FA9A}"/>
              </a:ext>
            </a:extLst>
          </p:cNvPr>
          <p:cNvSpPr txBox="1"/>
          <p:nvPr/>
        </p:nvSpPr>
        <p:spPr>
          <a:xfrm>
            <a:off x="4984242" y="4314151"/>
            <a:ext cx="4128936" cy="2357977"/>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err="1">
                <a:solidFill>
                  <a:srgbClr val="002240"/>
                </a:solidFill>
                <a:cs typeface="Tahoma" pitchFamily="34" charset="0"/>
              </a:rPr>
              <a:t>Notebooklm</a:t>
            </a:r>
            <a:r>
              <a:rPr lang="en-US" sz="1300" b="1" dirty="0">
                <a:solidFill>
                  <a:srgbClr val="002240"/>
                </a:solidFill>
                <a:cs typeface="Tahoma" pitchFamily="34" charset="0"/>
              </a:rPr>
              <a:t> Plus</a:t>
            </a:r>
            <a:r>
              <a:rPr lang="en-US" sz="1300" dirty="0">
                <a:solidFill>
                  <a:srgbClr val="002240"/>
                </a:solidFill>
                <a:cs typeface="Tahoma" pitchFamily="34" charset="0"/>
              </a:rPr>
              <a:t> – Power users need for Organization</a:t>
            </a:r>
          </a:p>
          <a:p>
            <a:pPr marL="746125" lvl="1" indent="-285750">
              <a:spcBef>
                <a:spcPts val="600"/>
              </a:spcBef>
              <a:spcAft>
                <a:spcPts val="600"/>
              </a:spcAft>
              <a:buClr>
                <a:srgbClr val="303030">
                  <a:lumMod val="50000"/>
                  <a:lumOff val="50000"/>
                </a:srgbClr>
              </a:buClr>
              <a:buFont typeface="Wingdings" panose="05000000000000000000" pitchFamily="2" charset="2"/>
              <a:buChar char="Ø"/>
            </a:pPr>
            <a:r>
              <a:rPr lang="en-US" sz="1300" i="1" dirty="0">
                <a:solidFill>
                  <a:srgbClr val="002240"/>
                </a:solidFill>
                <a:cs typeface="Tahoma" pitchFamily="34" charset="0"/>
              </a:rPr>
              <a:t>Get 5x more Audio Overviews, notebooks, queries, and sources per notebook</a:t>
            </a:r>
          </a:p>
          <a:p>
            <a:pPr marL="746125" lvl="1" indent="-285750">
              <a:spcBef>
                <a:spcPts val="600"/>
              </a:spcBef>
              <a:spcAft>
                <a:spcPts val="600"/>
              </a:spcAft>
              <a:buClr>
                <a:srgbClr val="303030">
                  <a:lumMod val="50000"/>
                  <a:lumOff val="50000"/>
                </a:srgbClr>
              </a:buClr>
              <a:buFont typeface="Wingdings" panose="05000000000000000000" pitchFamily="2" charset="2"/>
              <a:buChar char="Ø"/>
            </a:pPr>
            <a:r>
              <a:rPr lang="en-US" sz="1300" i="1" dirty="0">
                <a:solidFill>
                  <a:srgbClr val="002240"/>
                </a:solidFill>
                <a:cs typeface="Tahoma" pitchFamily="34" charset="0"/>
              </a:rPr>
              <a:t>Customize the style and length of your notebook responses</a:t>
            </a:r>
          </a:p>
          <a:p>
            <a:pPr marL="746125" lvl="1" indent="-285750">
              <a:spcBef>
                <a:spcPts val="600"/>
              </a:spcBef>
              <a:spcAft>
                <a:spcPts val="600"/>
              </a:spcAft>
              <a:buClr>
                <a:srgbClr val="303030">
                  <a:lumMod val="50000"/>
                  <a:lumOff val="50000"/>
                </a:srgbClr>
              </a:buClr>
              <a:buFont typeface="Wingdings" panose="05000000000000000000" pitchFamily="2" charset="2"/>
              <a:buChar char="Ø"/>
            </a:pPr>
            <a:r>
              <a:rPr lang="en-US" sz="1300" i="1" dirty="0">
                <a:solidFill>
                  <a:srgbClr val="002240"/>
                </a:solidFill>
                <a:cs typeface="Tahoma" pitchFamily="34" charset="0"/>
              </a:rPr>
              <a:t>Create shared notebooks for your team and get usage analytics</a:t>
            </a:r>
          </a:p>
          <a:p>
            <a:pPr marL="746125" lvl="1" indent="-285750">
              <a:spcBef>
                <a:spcPts val="600"/>
              </a:spcBef>
              <a:spcAft>
                <a:spcPts val="600"/>
              </a:spcAft>
              <a:buClr>
                <a:srgbClr val="303030">
                  <a:lumMod val="50000"/>
                  <a:lumOff val="50000"/>
                </a:srgbClr>
              </a:buClr>
              <a:buFont typeface="Wingdings" panose="05000000000000000000" pitchFamily="2" charset="2"/>
              <a:buChar char="Ø"/>
            </a:pPr>
            <a:r>
              <a:rPr lang="en-US" sz="1300" i="1" dirty="0">
                <a:solidFill>
                  <a:srgbClr val="002240"/>
                </a:solidFill>
                <a:cs typeface="Tahoma" pitchFamily="34" charset="0"/>
              </a:rPr>
              <a:t>Additional privacy and security</a:t>
            </a:r>
          </a:p>
        </p:txBody>
      </p:sp>
      <p:sp>
        <p:nvSpPr>
          <p:cNvPr id="12" name="TextBox 11">
            <a:extLst>
              <a:ext uri="{FF2B5EF4-FFF2-40B4-BE49-F238E27FC236}">
                <a16:creationId xmlns:a16="http://schemas.microsoft.com/office/drawing/2014/main" id="{F7A2C37E-2DF3-AA5A-BB40-AA72B016C37C}"/>
              </a:ext>
            </a:extLst>
          </p:cNvPr>
          <p:cNvSpPr txBox="1"/>
          <p:nvPr/>
        </p:nvSpPr>
        <p:spPr>
          <a:xfrm>
            <a:off x="5732120" y="4091602"/>
            <a:ext cx="2434588" cy="287294"/>
          </a:xfrm>
          <a:prstGeom prst="rect">
            <a:avLst/>
          </a:prstGeom>
          <a:solidFill>
            <a:schemeClr val="tx1">
              <a:lumMod val="20000"/>
              <a:lumOff val="80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dirty="0">
                <a:solidFill>
                  <a:srgbClr val="002240"/>
                </a:solidFill>
                <a:cs typeface="Tahoma" pitchFamily="34" charset="0"/>
              </a:rPr>
              <a:t>Premium</a:t>
            </a:r>
            <a:endParaRPr lang="en-IN" dirty="0">
              <a:solidFill>
                <a:srgbClr val="002240"/>
              </a:solidFill>
              <a:cs typeface="Tahoma" pitchFamily="34" charset="0"/>
            </a:endParaRPr>
          </a:p>
        </p:txBody>
      </p:sp>
      <p:sp>
        <p:nvSpPr>
          <p:cNvPr id="13" name="TextBox 12">
            <a:extLst>
              <a:ext uri="{FF2B5EF4-FFF2-40B4-BE49-F238E27FC236}">
                <a16:creationId xmlns:a16="http://schemas.microsoft.com/office/drawing/2014/main" id="{B307E81B-0699-0DDA-8946-BEE4CAD4F3AB}"/>
              </a:ext>
            </a:extLst>
          </p:cNvPr>
          <p:cNvSpPr txBox="1"/>
          <p:nvPr/>
        </p:nvSpPr>
        <p:spPr>
          <a:xfrm>
            <a:off x="9113178" y="1264524"/>
            <a:ext cx="2789475" cy="2639177"/>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Business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Enterprise</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Education</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Consumer</a:t>
            </a:r>
            <a:r>
              <a:rPr lang="en-US" sz="1300" dirty="0">
                <a:solidFill>
                  <a:srgbClr val="002240"/>
                </a:solidFill>
                <a:cs typeface="Tahoma" pitchFamily="34" charset="0"/>
              </a:rPr>
              <a:t> (Currently not available, may be in 2025 early or mid)</a:t>
            </a:r>
          </a:p>
        </p:txBody>
      </p:sp>
      <p:sp>
        <p:nvSpPr>
          <p:cNvPr id="14" name="TextBox 13">
            <a:extLst>
              <a:ext uri="{FF2B5EF4-FFF2-40B4-BE49-F238E27FC236}">
                <a16:creationId xmlns:a16="http://schemas.microsoft.com/office/drawing/2014/main" id="{6DEBC9E9-06E2-ACC3-E73A-0BA421C5B747}"/>
              </a:ext>
            </a:extLst>
          </p:cNvPr>
          <p:cNvSpPr txBox="1"/>
          <p:nvPr/>
        </p:nvSpPr>
        <p:spPr>
          <a:xfrm>
            <a:off x="10176516" y="938001"/>
            <a:ext cx="1103258" cy="433599"/>
          </a:xfrm>
          <a:prstGeom prst="rect">
            <a:avLst/>
          </a:prstGeom>
          <a:solidFill>
            <a:schemeClr val="tx1">
              <a:lumMod val="20000"/>
              <a:lumOff val="80000"/>
            </a:schemeClr>
          </a:solidFill>
        </p:spPr>
        <p:txBody>
          <a:bodyPr wrap="square" rtlCol="0">
            <a:noAutofit/>
          </a:bodyPr>
          <a:lstStyle>
            <a:defPPr>
              <a:defRPr lang="en-US"/>
            </a:defPPr>
            <a:lvl1pPr marL="3175" algn="ctr">
              <a:spcBef>
                <a:spcPts val="600"/>
              </a:spcBef>
              <a:spcAft>
                <a:spcPts val="600"/>
              </a:spcAft>
              <a:buClr>
                <a:srgbClr val="303030">
                  <a:lumMod val="50000"/>
                  <a:lumOff val="50000"/>
                </a:srgbClr>
              </a:buClr>
              <a:defRPr>
                <a:solidFill>
                  <a:srgbClr val="002240"/>
                </a:solidFill>
                <a:cs typeface="Tahoma" pitchFamily="34" charset="0"/>
              </a:defRPr>
            </a:lvl1pPr>
          </a:lstStyle>
          <a:p>
            <a:r>
              <a:rPr lang="en-US" dirty="0"/>
              <a:t>Upgrades</a:t>
            </a:r>
            <a:endParaRPr lang="en-IN" dirty="0"/>
          </a:p>
        </p:txBody>
      </p:sp>
    </p:spTree>
    <p:extLst>
      <p:ext uri="{BB962C8B-B14F-4D97-AF65-F5344CB8AC3E}">
        <p14:creationId xmlns:p14="http://schemas.microsoft.com/office/powerpoint/2010/main" val="2365261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0DE298-BCBC-8DB2-B018-D3CA5B736960}"/>
              </a:ext>
            </a:extLst>
          </p:cNvPr>
          <p:cNvSpPr>
            <a:spLocks noGrp="1"/>
          </p:cNvSpPr>
          <p:nvPr>
            <p:ph type="title"/>
          </p:nvPr>
        </p:nvSpPr>
        <p:spPr/>
        <p:txBody>
          <a:bodyPr/>
          <a:lstStyle/>
          <a:p>
            <a:r>
              <a:rPr lang="en-US" dirty="0" err="1"/>
              <a:t>Notebooklm</a:t>
            </a:r>
            <a:r>
              <a:rPr lang="en-US" dirty="0"/>
              <a:t> and Other AI search engines</a:t>
            </a:r>
            <a:endParaRPr lang="en-IN" dirty="0"/>
          </a:p>
        </p:txBody>
      </p:sp>
      <p:sp>
        <p:nvSpPr>
          <p:cNvPr id="7" name="Rectangle 6">
            <a:extLst>
              <a:ext uri="{FF2B5EF4-FFF2-40B4-BE49-F238E27FC236}">
                <a16:creationId xmlns:a16="http://schemas.microsoft.com/office/drawing/2014/main" id="{36514141-C504-AED7-9E00-92BB279999C7}"/>
              </a:ext>
            </a:extLst>
          </p:cNvPr>
          <p:cNvSpPr/>
          <p:nvPr/>
        </p:nvSpPr>
        <p:spPr>
          <a:xfrm>
            <a:off x="292608" y="1188720"/>
            <a:ext cx="11289792" cy="5276088"/>
          </a:xfrm>
          <a:prstGeom prst="rect">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4F47F37-8A90-6594-068D-FC7BF45C8042}"/>
              </a:ext>
            </a:extLst>
          </p:cNvPr>
          <p:cNvSpPr txBox="1"/>
          <p:nvPr/>
        </p:nvSpPr>
        <p:spPr>
          <a:xfrm>
            <a:off x="609600" y="1618488"/>
            <a:ext cx="2598420" cy="4751490"/>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Mainly for </a:t>
            </a:r>
            <a:r>
              <a:rPr lang="en-US" sz="1300" b="1" dirty="0">
                <a:solidFill>
                  <a:srgbClr val="002240"/>
                </a:solidFill>
                <a:cs typeface="Tahoma" pitchFamily="34" charset="0"/>
              </a:rPr>
              <a:t>searching the document</a:t>
            </a:r>
            <a:r>
              <a:rPr lang="en-US" sz="1300" dirty="0">
                <a:solidFill>
                  <a:srgbClr val="002240"/>
                </a:solidFill>
                <a:cs typeface="Tahoma" pitchFamily="34" charset="0"/>
              </a:rPr>
              <a:t> which we upload as the source</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No intelligence to go and search the internet on its own, </a:t>
            </a:r>
            <a:r>
              <a:rPr lang="en-US" sz="1300" dirty="0">
                <a:solidFill>
                  <a:srgbClr val="002240"/>
                </a:solidFill>
                <a:cs typeface="Tahoma" pitchFamily="34" charset="0"/>
              </a:rPr>
              <a:t>Internet search capable only on the </a:t>
            </a:r>
            <a:r>
              <a:rPr lang="en-US" sz="1300" dirty="0" err="1">
                <a:solidFill>
                  <a:srgbClr val="002240"/>
                </a:solidFill>
                <a:cs typeface="Tahoma" pitchFamily="34" charset="0"/>
              </a:rPr>
              <a:t>urls</a:t>
            </a:r>
            <a:r>
              <a:rPr lang="en-US" sz="1300" dirty="0">
                <a:solidFill>
                  <a:srgbClr val="002240"/>
                </a:solidFill>
                <a:cs typeface="Tahoma" pitchFamily="34" charset="0"/>
              </a:rPr>
              <a:t> we type, </a:t>
            </a:r>
            <a:endParaRPr lang="en-US" sz="1300" b="1"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Many file format restrictions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err="1">
                <a:solidFill>
                  <a:srgbClr val="002240"/>
                </a:solidFill>
                <a:cs typeface="Tahoma" pitchFamily="34" charset="0"/>
              </a:rPr>
              <a:t>Everytime</a:t>
            </a:r>
            <a:r>
              <a:rPr lang="en-US" sz="1300" dirty="0">
                <a:solidFill>
                  <a:srgbClr val="002240"/>
                </a:solidFill>
                <a:cs typeface="Tahoma" pitchFamily="34" charset="0"/>
              </a:rPr>
              <a:t> the internet URL and Google drives </a:t>
            </a:r>
            <a:r>
              <a:rPr lang="en-US" sz="1300" dirty="0" err="1">
                <a:solidFill>
                  <a:srgbClr val="002240"/>
                </a:solidFill>
                <a:cs typeface="Tahoma" pitchFamily="34" charset="0"/>
              </a:rPr>
              <a:t>url</a:t>
            </a:r>
            <a:r>
              <a:rPr lang="en-US" sz="1300" dirty="0">
                <a:solidFill>
                  <a:srgbClr val="002240"/>
                </a:solidFill>
                <a:cs typeface="Tahoma" pitchFamily="34" charset="0"/>
              </a:rPr>
              <a:t> has </a:t>
            </a:r>
            <a:r>
              <a:rPr lang="en-US" sz="1300" b="1" dirty="0">
                <a:solidFill>
                  <a:srgbClr val="002240"/>
                </a:solidFill>
                <a:cs typeface="Tahoma" pitchFamily="34" charset="0"/>
              </a:rPr>
              <a:t>to be updated if any updates</a:t>
            </a:r>
            <a:r>
              <a:rPr lang="en-US" sz="1300" dirty="0">
                <a:solidFill>
                  <a:srgbClr val="002240"/>
                </a:solidFill>
                <a:cs typeface="Tahoma" pitchFamily="34" charset="0"/>
              </a:rPr>
              <a:t>. </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Can be used as a simple tool for </a:t>
            </a:r>
            <a:r>
              <a:rPr lang="en-US" sz="1300" b="1" dirty="0">
                <a:solidFill>
                  <a:srgbClr val="002240"/>
                </a:solidFill>
                <a:cs typeface="Tahoma" pitchFamily="34" charset="0"/>
              </a:rPr>
              <a:t>taking notes, summaries</a:t>
            </a:r>
            <a:r>
              <a:rPr lang="en-US" sz="1300" dirty="0">
                <a:solidFill>
                  <a:srgbClr val="002240"/>
                </a:solidFill>
                <a:cs typeface="Tahoma" pitchFamily="34" charset="0"/>
              </a:rPr>
              <a:t> but </a:t>
            </a:r>
            <a:r>
              <a:rPr lang="en-US" sz="1300" b="1" dirty="0">
                <a:solidFill>
                  <a:srgbClr val="002240"/>
                </a:solidFill>
                <a:cs typeface="Tahoma" pitchFamily="34" charset="0"/>
              </a:rPr>
              <a:t>not for guidance/recommendations</a:t>
            </a:r>
            <a:r>
              <a:rPr lang="en-US" sz="1300" dirty="0">
                <a:solidFill>
                  <a:srgbClr val="002240"/>
                </a:solidFill>
                <a:cs typeface="Tahoma" pitchFamily="34" charset="0"/>
              </a:rPr>
              <a:t> </a:t>
            </a:r>
            <a:r>
              <a:rPr lang="en-US" sz="1300" dirty="0" err="1">
                <a:solidFill>
                  <a:srgbClr val="002240"/>
                </a:solidFill>
                <a:cs typeface="Tahoma" pitchFamily="34" charset="0"/>
              </a:rPr>
              <a:t>etc</a:t>
            </a: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Restricted to </a:t>
            </a:r>
            <a:r>
              <a:rPr lang="en-US" sz="1300" b="1" dirty="0">
                <a:solidFill>
                  <a:srgbClr val="002240"/>
                </a:solidFill>
                <a:cs typeface="Tahoma" pitchFamily="34" charset="0"/>
              </a:rPr>
              <a:t>500000</a:t>
            </a:r>
            <a:r>
              <a:rPr lang="en-US" sz="1300" dirty="0">
                <a:solidFill>
                  <a:srgbClr val="002240"/>
                </a:solidFill>
                <a:cs typeface="Tahoma" pitchFamily="34" charset="0"/>
              </a:rPr>
              <a:t> word for 10 documents </a:t>
            </a:r>
            <a:endParaRPr lang="en-IN" sz="1300" dirty="0">
              <a:solidFill>
                <a:srgbClr val="002240"/>
              </a:solidFill>
              <a:cs typeface="Tahoma" pitchFamily="34" charset="0"/>
            </a:endParaRPr>
          </a:p>
        </p:txBody>
      </p:sp>
      <p:sp>
        <p:nvSpPr>
          <p:cNvPr id="10" name="TextBox 9">
            <a:extLst>
              <a:ext uri="{FF2B5EF4-FFF2-40B4-BE49-F238E27FC236}">
                <a16:creationId xmlns:a16="http://schemas.microsoft.com/office/drawing/2014/main" id="{483D6D0B-9AC4-1486-317E-1EE7C691955A}"/>
              </a:ext>
            </a:extLst>
          </p:cNvPr>
          <p:cNvSpPr txBox="1"/>
          <p:nvPr/>
        </p:nvSpPr>
        <p:spPr>
          <a:xfrm>
            <a:off x="3450336" y="1618488"/>
            <a:ext cx="2313432" cy="3840480"/>
          </a:xfrm>
          <a:prstGeom prst="rect">
            <a:avLst/>
          </a:prstGeom>
          <a:noFill/>
          <a:ln>
            <a:solidFill>
              <a:srgbClr val="00B050"/>
            </a:solidFill>
          </a:ln>
        </p:spPr>
        <p:txBody>
          <a:bodyPr wrap="square" rtlCol="0">
            <a:noAutofit/>
          </a:bodyPr>
          <a:lstStyle>
            <a:defPPr>
              <a:defRPr lang="en-US"/>
            </a:defPPr>
            <a:lvl1pPr marL="233363" indent="-230188">
              <a:spcBef>
                <a:spcPts val="600"/>
              </a:spcBef>
              <a:spcAft>
                <a:spcPts val="600"/>
              </a:spcAft>
              <a:buClr>
                <a:srgbClr val="303030">
                  <a:lumMod val="50000"/>
                  <a:lumOff val="50000"/>
                </a:srgbClr>
              </a:buClr>
              <a:buFont typeface="Arial" panose="020B0604020202020204" pitchFamily="34" charset="0"/>
              <a:buChar char="•"/>
              <a:defRPr sz="1300">
                <a:solidFill>
                  <a:srgbClr val="002240"/>
                </a:solidFill>
                <a:cs typeface="Tahoma" pitchFamily="34" charset="0"/>
              </a:defRPr>
            </a:lvl1pPr>
          </a:lstStyle>
          <a:p>
            <a:endParaRPr lang="en-US" dirty="0"/>
          </a:p>
          <a:p>
            <a:r>
              <a:rPr lang="en-US" b="1" dirty="0"/>
              <a:t>Internet search </a:t>
            </a:r>
            <a:r>
              <a:rPr lang="en-US" dirty="0"/>
              <a:t>capable</a:t>
            </a:r>
          </a:p>
          <a:p>
            <a:r>
              <a:rPr lang="en-US" dirty="0"/>
              <a:t>Capable of handling user upload documents and search and throw the output based on the need</a:t>
            </a:r>
          </a:p>
          <a:p>
            <a:r>
              <a:rPr lang="en-US" b="1" dirty="0"/>
              <a:t>Flexible</a:t>
            </a:r>
            <a:r>
              <a:rPr lang="en-US" dirty="0"/>
              <a:t> formats</a:t>
            </a:r>
          </a:p>
          <a:p>
            <a:r>
              <a:rPr lang="en-US" dirty="0"/>
              <a:t>Provides </a:t>
            </a:r>
            <a:r>
              <a:rPr lang="en-US" b="1" dirty="0"/>
              <a:t>applicable solution recommendations, reasoning and code generation</a:t>
            </a:r>
          </a:p>
          <a:p>
            <a:r>
              <a:rPr lang="en-US" dirty="0"/>
              <a:t>Restricted to </a:t>
            </a:r>
            <a:r>
              <a:rPr lang="en-US" b="1" dirty="0"/>
              <a:t>100000</a:t>
            </a:r>
            <a:r>
              <a:rPr lang="en-US" dirty="0"/>
              <a:t> token context window</a:t>
            </a:r>
            <a:endParaRPr lang="en-IN" dirty="0"/>
          </a:p>
        </p:txBody>
      </p:sp>
      <p:sp>
        <p:nvSpPr>
          <p:cNvPr id="11" name="TextBox 10">
            <a:extLst>
              <a:ext uri="{FF2B5EF4-FFF2-40B4-BE49-F238E27FC236}">
                <a16:creationId xmlns:a16="http://schemas.microsoft.com/office/drawing/2014/main" id="{7CF9434D-6CE2-011D-9CF4-DA71F9DF1B57}"/>
              </a:ext>
            </a:extLst>
          </p:cNvPr>
          <p:cNvSpPr txBox="1"/>
          <p:nvPr/>
        </p:nvSpPr>
        <p:spPr>
          <a:xfrm>
            <a:off x="6283452" y="1618488"/>
            <a:ext cx="2313432" cy="3118104"/>
          </a:xfrm>
          <a:prstGeom prst="rect">
            <a:avLst/>
          </a:prstGeom>
          <a:noFill/>
          <a:ln>
            <a:solidFill>
              <a:srgbClr val="00B050"/>
            </a:solidFill>
          </a:ln>
        </p:spPr>
        <p:txBody>
          <a:bodyPr wrap="square" rtlCol="0">
            <a:noAutofit/>
          </a:bodyPr>
          <a:lstStyle>
            <a:defPPr>
              <a:defRPr lang="en-US"/>
            </a:defPPr>
            <a:lvl1pPr marL="233363" indent="-230188">
              <a:spcBef>
                <a:spcPts val="600"/>
              </a:spcBef>
              <a:spcAft>
                <a:spcPts val="600"/>
              </a:spcAft>
              <a:buClr>
                <a:srgbClr val="303030">
                  <a:lumMod val="50000"/>
                  <a:lumOff val="50000"/>
                </a:srgbClr>
              </a:buClr>
              <a:buFont typeface="Arial" panose="020B0604020202020204" pitchFamily="34" charset="0"/>
              <a:buChar char="•"/>
              <a:defRPr sz="1300">
                <a:solidFill>
                  <a:srgbClr val="002240"/>
                </a:solidFill>
                <a:cs typeface="Tahoma" pitchFamily="34" charset="0"/>
              </a:defRPr>
            </a:lvl1pPr>
          </a:lstStyle>
          <a:p>
            <a:endParaRPr lang="en-IN" dirty="0"/>
          </a:p>
          <a:p>
            <a:r>
              <a:rPr lang="en-IN" b="1" dirty="0"/>
              <a:t>Internet search</a:t>
            </a:r>
            <a:r>
              <a:rPr lang="en-IN" dirty="0"/>
              <a:t> capable </a:t>
            </a:r>
          </a:p>
        </p:txBody>
      </p:sp>
      <p:sp>
        <p:nvSpPr>
          <p:cNvPr id="12" name="TextBox 11">
            <a:extLst>
              <a:ext uri="{FF2B5EF4-FFF2-40B4-BE49-F238E27FC236}">
                <a16:creationId xmlns:a16="http://schemas.microsoft.com/office/drawing/2014/main" id="{C844DD4D-F2A7-5F71-58D0-31BAE0CF118E}"/>
              </a:ext>
            </a:extLst>
          </p:cNvPr>
          <p:cNvSpPr txBox="1"/>
          <p:nvPr/>
        </p:nvSpPr>
        <p:spPr>
          <a:xfrm>
            <a:off x="8996172" y="1618488"/>
            <a:ext cx="2313432" cy="3118104"/>
          </a:xfrm>
          <a:prstGeom prst="rect">
            <a:avLst/>
          </a:prstGeom>
          <a:noFill/>
          <a:ln>
            <a:solidFill>
              <a:srgbClr val="00B050"/>
            </a:solidFill>
          </a:ln>
        </p:spPr>
        <p:txBody>
          <a:bodyPr wrap="square" rtlCol="0">
            <a:noAutofit/>
          </a:bodyPr>
          <a:lstStyle>
            <a:defPPr>
              <a:defRPr lang="en-US"/>
            </a:defPPr>
            <a:lvl1pPr marL="233363" indent="-230188">
              <a:spcBef>
                <a:spcPts val="600"/>
              </a:spcBef>
              <a:spcAft>
                <a:spcPts val="600"/>
              </a:spcAft>
              <a:buClr>
                <a:srgbClr val="303030">
                  <a:lumMod val="50000"/>
                  <a:lumOff val="50000"/>
                </a:srgbClr>
              </a:buClr>
              <a:buFont typeface="Arial" panose="020B0604020202020204" pitchFamily="34" charset="0"/>
              <a:buChar char="•"/>
              <a:defRPr sz="1300">
                <a:solidFill>
                  <a:srgbClr val="002240"/>
                </a:solidFill>
                <a:cs typeface="Tahoma" pitchFamily="34" charset="0"/>
              </a:defRPr>
            </a:lvl1pPr>
          </a:lstStyle>
          <a:p>
            <a:endParaRPr lang="en-IN" dirty="0"/>
          </a:p>
          <a:p>
            <a:r>
              <a:rPr lang="en-IN" b="1" dirty="0"/>
              <a:t>Internet search</a:t>
            </a:r>
            <a:r>
              <a:rPr lang="en-IN" dirty="0"/>
              <a:t> capable</a:t>
            </a:r>
          </a:p>
          <a:p>
            <a:r>
              <a:rPr lang="en-IN" dirty="0"/>
              <a:t>Mainly used for both document analysis as well as Internet search</a:t>
            </a:r>
          </a:p>
        </p:txBody>
      </p:sp>
      <p:sp>
        <p:nvSpPr>
          <p:cNvPr id="13" name="Rectangle 12">
            <a:extLst>
              <a:ext uri="{FF2B5EF4-FFF2-40B4-BE49-F238E27FC236}">
                <a16:creationId xmlns:a16="http://schemas.microsoft.com/office/drawing/2014/main" id="{7B68744F-E483-F0E9-9411-59839FC54B98}"/>
              </a:ext>
            </a:extLst>
          </p:cNvPr>
          <p:cNvSpPr/>
          <p:nvPr/>
        </p:nvSpPr>
        <p:spPr>
          <a:xfrm>
            <a:off x="888492" y="1420532"/>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err="1"/>
              <a:t>NotebookLm</a:t>
            </a:r>
            <a:endParaRPr lang="en-IN" dirty="0"/>
          </a:p>
        </p:txBody>
      </p:sp>
      <p:sp>
        <p:nvSpPr>
          <p:cNvPr id="14" name="Rectangle 13">
            <a:extLst>
              <a:ext uri="{FF2B5EF4-FFF2-40B4-BE49-F238E27FC236}">
                <a16:creationId xmlns:a16="http://schemas.microsoft.com/office/drawing/2014/main" id="{BC11B2EA-9D78-C70C-58DF-721B2BDC9DF3}"/>
              </a:ext>
            </a:extLst>
          </p:cNvPr>
          <p:cNvSpPr/>
          <p:nvPr/>
        </p:nvSpPr>
        <p:spPr>
          <a:xfrm>
            <a:off x="3729228" y="1420532"/>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Claude</a:t>
            </a:r>
          </a:p>
        </p:txBody>
      </p:sp>
      <p:sp>
        <p:nvSpPr>
          <p:cNvPr id="15" name="Rectangle 14">
            <a:extLst>
              <a:ext uri="{FF2B5EF4-FFF2-40B4-BE49-F238E27FC236}">
                <a16:creationId xmlns:a16="http://schemas.microsoft.com/office/drawing/2014/main" id="{5E444BBE-FDE7-3357-9CBE-1259017F4637}"/>
              </a:ext>
            </a:extLst>
          </p:cNvPr>
          <p:cNvSpPr/>
          <p:nvPr/>
        </p:nvSpPr>
        <p:spPr>
          <a:xfrm>
            <a:off x="6569964" y="1335188"/>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Perplexity</a:t>
            </a:r>
          </a:p>
        </p:txBody>
      </p:sp>
      <p:sp>
        <p:nvSpPr>
          <p:cNvPr id="16" name="Rectangle 15">
            <a:extLst>
              <a:ext uri="{FF2B5EF4-FFF2-40B4-BE49-F238E27FC236}">
                <a16:creationId xmlns:a16="http://schemas.microsoft.com/office/drawing/2014/main" id="{76463929-A75B-F6B9-7ED5-28588FBB75C0}"/>
              </a:ext>
            </a:extLst>
          </p:cNvPr>
          <p:cNvSpPr/>
          <p:nvPr/>
        </p:nvSpPr>
        <p:spPr>
          <a:xfrm>
            <a:off x="9311640" y="1335188"/>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Glean</a:t>
            </a:r>
          </a:p>
        </p:txBody>
      </p:sp>
    </p:spTree>
    <p:extLst>
      <p:ext uri="{BB962C8B-B14F-4D97-AF65-F5344CB8AC3E}">
        <p14:creationId xmlns:p14="http://schemas.microsoft.com/office/powerpoint/2010/main" val="4104939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8797BE45-ABB1-1B2D-2024-19C775FC9701}"/>
              </a:ext>
            </a:extLst>
          </p:cNvPr>
          <p:cNvSpPr/>
          <p:nvPr/>
        </p:nvSpPr>
        <p:spPr>
          <a:xfrm>
            <a:off x="2743200" y="1133856"/>
            <a:ext cx="9204960" cy="5340096"/>
          </a:xfrm>
          <a:prstGeom prst="roundRect">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828B0E8F-C5D0-9E98-8B04-A28D34717F21}"/>
              </a:ext>
            </a:extLst>
          </p:cNvPr>
          <p:cNvSpPr/>
          <p:nvPr/>
        </p:nvSpPr>
        <p:spPr>
          <a:xfrm>
            <a:off x="621792" y="1323160"/>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Summary</a:t>
            </a:r>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extLst>
              <p:ext uri="{D42A27DB-BD31-4B8C-83A1-F6EECF244321}">
                <p14:modId xmlns:p14="http://schemas.microsoft.com/office/powerpoint/2010/main" val="460664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dirty="0"/>
          </a:p>
        </p:txBody>
      </p:sp>
      <p:sp>
        <p:nvSpPr>
          <p:cNvPr id="7" name="TextBox 6">
            <a:extLst>
              <a:ext uri="{FF2B5EF4-FFF2-40B4-BE49-F238E27FC236}">
                <a16:creationId xmlns:a16="http://schemas.microsoft.com/office/drawing/2014/main" id="{99B38F64-8308-9D47-96C0-0459E50B7CFB}"/>
              </a:ext>
            </a:extLst>
          </p:cNvPr>
          <p:cNvSpPr txBox="1"/>
          <p:nvPr/>
        </p:nvSpPr>
        <p:spPr>
          <a:xfrm>
            <a:off x="1174155" y="1514693"/>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12" name="Title 11">
            <a:extLst>
              <a:ext uri="{FF2B5EF4-FFF2-40B4-BE49-F238E27FC236}">
                <a16:creationId xmlns:a16="http://schemas.microsoft.com/office/drawing/2014/main" id="{D5915986-042E-89F3-3904-49B11096F5DF}"/>
              </a:ext>
            </a:extLst>
          </p:cNvPr>
          <p:cNvSpPr>
            <a:spLocks noGrp="1"/>
          </p:cNvSpPr>
          <p:nvPr>
            <p:ph type="title"/>
          </p:nvPr>
        </p:nvSpPr>
        <p:spPr>
          <a:xfrm>
            <a:off x="609600" y="104415"/>
            <a:ext cx="10972800" cy="713845"/>
          </a:xfrm>
        </p:spPr>
        <p:txBody>
          <a:bodyPr/>
          <a:lstStyle/>
          <a:p>
            <a:r>
              <a:rPr lang="en-US" dirty="0"/>
              <a:t>Weekly Connect Report – Prod </a:t>
            </a:r>
            <a:r>
              <a:rPr lang="en-US" dirty="0" err="1"/>
              <a:t>Engg</a:t>
            </a:r>
            <a:endParaRPr lang="en-IN" dirty="0"/>
          </a:p>
        </p:txBody>
      </p:sp>
      <p:sp>
        <p:nvSpPr>
          <p:cNvPr id="2" name="Rectangle: Rounded Corners 1">
            <a:extLst>
              <a:ext uri="{FF2B5EF4-FFF2-40B4-BE49-F238E27FC236}">
                <a16:creationId xmlns:a16="http://schemas.microsoft.com/office/drawing/2014/main" id="{914087AC-8976-09FF-E630-96E4BA984ECB}"/>
              </a:ext>
            </a:extLst>
          </p:cNvPr>
          <p:cNvSpPr/>
          <p:nvPr/>
        </p:nvSpPr>
        <p:spPr>
          <a:xfrm>
            <a:off x="256032" y="1719072"/>
            <a:ext cx="2368296" cy="3703320"/>
          </a:xfrm>
          <a:prstGeom prst="roundRect">
            <a:avLst/>
          </a:prstGeom>
          <a:solidFill>
            <a:schemeClr val="tx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pic>
        <p:nvPicPr>
          <p:cNvPr id="5" name="Graphic 4" descr="Checklist with solid fill">
            <a:extLst>
              <a:ext uri="{FF2B5EF4-FFF2-40B4-BE49-F238E27FC236}">
                <a16:creationId xmlns:a16="http://schemas.microsoft.com/office/drawing/2014/main" id="{753B8A42-9DB3-53A5-1ED9-58BD98EC10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792" y="1323160"/>
            <a:ext cx="395912" cy="395912"/>
          </a:xfrm>
          <a:prstGeom prst="rect">
            <a:avLst/>
          </a:prstGeom>
        </p:spPr>
      </p:pic>
      <p:cxnSp>
        <p:nvCxnSpPr>
          <p:cNvPr id="11" name="Straight Connector 10">
            <a:extLst>
              <a:ext uri="{FF2B5EF4-FFF2-40B4-BE49-F238E27FC236}">
                <a16:creationId xmlns:a16="http://schemas.microsoft.com/office/drawing/2014/main" id="{B7612C6D-61AA-60B0-46B0-86D2B63CE043}"/>
              </a:ext>
            </a:extLst>
          </p:cNvPr>
          <p:cNvCxnSpPr>
            <a:cxnSpLocks/>
          </p:cNvCxnSpPr>
          <p:nvPr/>
        </p:nvCxnSpPr>
        <p:spPr>
          <a:xfrm>
            <a:off x="5715000" y="1323160"/>
            <a:ext cx="0" cy="4858184"/>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4CAAD2-510C-67E7-2C70-4DC9458C5F9C}"/>
              </a:ext>
            </a:extLst>
          </p:cNvPr>
          <p:cNvCxnSpPr>
            <a:cxnSpLocks/>
          </p:cNvCxnSpPr>
          <p:nvPr/>
        </p:nvCxnSpPr>
        <p:spPr>
          <a:xfrm>
            <a:off x="8613648" y="1323160"/>
            <a:ext cx="0" cy="479417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72CA4FF-9BE1-14B7-D346-CA567E16FB3C}"/>
              </a:ext>
            </a:extLst>
          </p:cNvPr>
          <p:cNvSpPr txBox="1"/>
          <p:nvPr/>
        </p:nvSpPr>
        <p:spPr>
          <a:xfrm>
            <a:off x="3593592" y="1421892"/>
            <a:ext cx="1545333" cy="361188"/>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IN" sz="1400" dirty="0">
                <a:solidFill>
                  <a:srgbClr val="002240"/>
                </a:solidFill>
                <a:cs typeface="Tahoma" pitchFamily="34" charset="0"/>
              </a:rPr>
              <a:t>What Went Well</a:t>
            </a:r>
          </a:p>
        </p:txBody>
      </p:sp>
      <p:sp>
        <p:nvSpPr>
          <p:cNvPr id="22" name="TextBox 21">
            <a:extLst>
              <a:ext uri="{FF2B5EF4-FFF2-40B4-BE49-F238E27FC236}">
                <a16:creationId xmlns:a16="http://schemas.microsoft.com/office/drawing/2014/main" id="{5D828E93-2BD0-B209-C7FD-DBD1DD01BD57}"/>
              </a:ext>
            </a:extLst>
          </p:cNvPr>
          <p:cNvSpPr txBox="1"/>
          <p:nvPr/>
        </p:nvSpPr>
        <p:spPr>
          <a:xfrm>
            <a:off x="6208788" y="1435736"/>
            <a:ext cx="2407909" cy="274192"/>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IN" sz="1400" dirty="0">
                <a:solidFill>
                  <a:srgbClr val="002240"/>
                </a:solidFill>
                <a:cs typeface="Tahoma" pitchFamily="34" charset="0"/>
              </a:rPr>
              <a:t>What Would Have Been Better</a:t>
            </a:r>
          </a:p>
        </p:txBody>
      </p:sp>
      <p:pic>
        <p:nvPicPr>
          <p:cNvPr id="27" name="Graphic 26" descr="Megaphone with solid fill">
            <a:extLst>
              <a:ext uri="{FF2B5EF4-FFF2-40B4-BE49-F238E27FC236}">
                <a16:creationId xmlns:a16="http://schemas.microsoft.com/office/drawing/2014/main" id="{5E300782-8FBF-2F1B-C733-E8900E318D3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57139" y="4562856"/>
            <a:ext cx="396249" cy="396249"/>
          </a:xfrm>
          <a:prstGeom prst="rect">
            <a:avLst/>
          </a:prstGeom>
        </p:spPr>
      </p:pic>
      <p:sp>
        <p:nvSpPr>
          <p:cNvPr id="28" name="TextBox 27">
            <a:extLst>
              <a:ext uri="{FF2B5EF4-FFF2-40B4-BE49-F238E27FC236}">
                <a16:creationId xmlns:a16="http://schemas.microsoft.com/office/drawing/2014/main" id="{0DFE7A79-B22C-530F-3B71-F2A1653DFD1C}"/>
              </a:ext>
            </a:extLst>
          </p:cNvPr>
          <p:cNvSpPr txBox="1"/>
          <p:nvPr/>
        </p:nvSpPr>
        <p:spPr>
          <a:xfrm>
            <a:off x="3419858" y="4544568"/>
            <a:ext cx="1545333" cy="361188"/>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IN" sz="1600" dirty="0">
                <a:solidFill>
                  <a:srgbClr val="002240"/>
                </a:solidFill>
                <a:cs typeface="Tahoma" pitchFamily="34" charset="0"/>
              </a:rPr>
              <a:t>Shout Outs</a:t>
            </a:r>
          </a:p>
        </p:txBody>
      </p:sp>
      <p:sp>
        <p:nvSpPr>
          <p:cNvPr id="29" name="TextBox 28">
            <a:extLst>
              <a:ext uri="{FF2B5EF4-FFF2-40B4-BE49-F238E27FC236}">
                <a16:creationId xmlns:a16="http://schemas.microsoft.com/office/drawing/2014/main" id="{3A59C890-0FBB-3405-4833-2EAC98628C6F}"/>
              </a:ext>
            </a:extLst>
          </p:cNvPr>
          <p:cNvSpPr txBox="1"/>
          <p:nvPr/>
        </p:nvSpPr>
        <p:spPr>
          <a:xfrm>
            <a:off x="2925065" y="1810512"/>
            <a:ext cx="2524751" cy="2449818"/>
          </a:xfrm>
          <a:prstGeom prst="rect">
            <a:avLst/>
          </a:prstGeom>
          <a:noFill/>
          <a:ln>
            <a:solidFill>
              <a:schemeClr val="tx2"/>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IN" sz="2000" dirty="0">
              <a:solidFill>
                <a:srgbClr val="002240"/>
              </a:solidFill>
              <a:cs typeface="Tahoma" pitchFamily="34" charset="0"/>
            </a:endParaRPr>
          </a:p>
        </p:txBody>
      </p:sp>
      <p:sp>
        <p:nvSpPr>
          <p:cNvPr id="30" name="TextBox 29">
            <a:extLst>
              <a:ext uri="{FF2B5EF4-FFF2-40B4-BE49-F238E27FC236}">
                <a16:creationId xmlns:a16="http://schemas.microsoft.com/office/drawing/2014/main" id="{B501DE15-7EA8-043C-A80B-689D2621C189}"/>
              </a:ext>
            </a:extLst>
          </p:cNvPr>
          <p:cNvSpPr txBox="1"/>
          <p:nvPr/>
        </p:nvSpPr>
        <p:spPr>
          <a:xfrm>
            <a:off x="2925065" y="4977393"/>
            <a:ext cx="2524750" cy="1062347"/>
          </a:xfrm>
          <a:prstGeom prst="rect">
            <a:avLst/>
          </a:prstGeom>
          <a:noFill/>
          <a:ln>
            <a:solidFill>
              <a:schemeClr val="tx2"/>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IN" sz="2000" dirty="0">
              <a:solidFill>
                <a:srgbClr val="002240"/>
              </a:solidFill>
              <a:cs typeface="Tahoma" pitchFamily="34" charset="0"/>
            </a:endParaRPr>
          </a:p>
        </p:txBody>
      </p:sp>
      <p:sp>
        <p:nvSpPr>
          <p:cNvPr id="31" name="TextBox 30">
            <a:extLst>
              <a:ext uri="{FF2B5EF4-FFF2-40B4-BE49-F238E27FC236}">
                <a16:creationId xmlns:a16="http://schemas.microsoft.com/office/drawing/2014/main" id="{20A105A1-50E4-2419-2D2F-B1E03C0EE63B}"/>
              </a:ext>
            </a:extLst>
          </p:cNvPr>
          <p:cNvSpPr txBox="1"/>
          <p:nvPr/>
        </p:nvSpPr>
        <p:spPr>
          <a:xfrm>
            <a:off x="5907025" y="1838072"/>
            <a:ext cx="2517630" cy="2449818"/>
          </a:xfrm>
          <a:prstGeom prst="rect">
            <a:avLst/>
          </a:prstGeom>
          <a:noFill/>
          <a:ln>
            <a:solidFill>
              <a:schemeClr val="tx2"/>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IN" sz="2000" dirty="0">
              <a:solidFill>
                <a:srgbClr val="002240"/>
              </a:solidFill>
              <a:cs typeface="Tahoma" pitchFamily="34" charset="0"/>
            </a:endParaRPr>
          </a:p>
        </p:txBody>
      </p:sp>
      <p:sp>
        <p:nvSpPr>
          <p:cNvPr id="32" name="TextBox 31">
            <a:extLst>
              <a:ext uri="{FF2B5EF4-FFF2-40B4-BE49-F238E27FC236}">
                <a16:creationId xmlns:a16="http://schemas.microsoft.com/office/drawing/2014/main" id="{C7CFB6E6-49C5-BCD3-9BDB-124EEBF2C919}"/>
              </a:ext>
            </a:extLst>
          </p:cNvPr>
          <p:cNvSpPr txBox="1"/>
          <p:nvPr/>
        </p:nvSpPr>
        <p:spPr>
          <a:xfrm>
            <a:off x="9054593" y="1394460"/>
            <a:ext cx="1991360" cy="35191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IN" sz="1600" dirty="0">
                <a:solidFill>
                  <a:srgbClr val="002240"/>
                </a:solidFill>
                <a:cs typeface="Tahoma" pitchFamily="34" charset="0"/>
              </a:rPr>
              <a:t>Action Items</a:t>
            </a:r>
          </a:p>
        </p:txBody>
      </p:sp>
      <p:sp>
        <p:nvSpPr>
          <p:cNvPr id="33" name="TextBox 32">
            <a:extLst>
              <a:ext uri="{FF2B5EF4-FFF2-40B4-BE49-F238E27FC236}">
                <a16:creationId xmlns:a16="http://schemas.microsoft.com/office/drawing/2014/main" id="{A021D9B7-3FE7-2486-ED8F-E741B05F0375}"/>
              </a:ext>
            </a:extLst>
          </p:cNvPr>
          <p:cNvSpPr txBox="1"/>
          <p:nvPr/>
        </p:nvSpPr>
        <p:spPr>
          <a:xfrm>
            <a:off x="8935709" y="1828800"/>
            <a:ext cx="2158990" cy="2449818"/>
          </a:xfrm>
          <a:prstGeom prst="rect">
            <a:avLst/>
          </a:prstGeom>
          <a:noFill/>
          <a:ln>
            <a:solidFill>
              <a:schemeClr val="tx2"/>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IN" sz="2000" dirty="0">
              <a:solidFill>
                <a:srgbClr val="002240"/>
              </a:solidFill>
              <a:cs typeface="Tahoma" pitchFamily="34" charset="0"/>
            </a:endParaRPr>
          </a:p>
        </p:txBody>
      </p:sp>
      <p:pic>
        <p:nvPicPr>
          <p:cNvPr id="35" name="Graphic 34" descr="Labor with solid fill">
            <a:extLst>
              <a:ext uri="{FF2B5EF4-FFF2-40B4-BE49-F238E27FC236}">
                <a16:creationId xmlns:a16="http://schemas.microsoft.com/office/drawing/2014/main" id="{CCB29649-49DD-CE33-0783-76B8888B33E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28178" y="1312164"/>
            <a:ext cx="457196" cy="457196"/>
          </a:xfrm>
          <a:prstGeom prst="rect">
            <a:avLst/>
          </a:prstGeom>
        </p:spPr>
      </p:pic>
      <p:pic>
        <p:nvPicPr>
          <p:cNvPr id="37" name="Graphic 36" descr="Thumbs up sign with solid fill">
            <a:extLst>
              <a:ext uri="{FF2B5EF4-FFF2-40B4-BE49-F238E27FC236}">
                <a16:creationId xmlns:a16="http://schemas.microsoft.com/office/drawing/2014/main" id="{1BD845CF-AD4F-00C2-7B13-973EE08CB2E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63806" y="1386136"/>
            <a:ext cx="441959" cy="396944"/>
          </a:xfrm>
          <a:prstGeom prst="rect">
            <a:avLst/>
          </a:prstGeom>
        </p:spPr>
      </p:pic>
      <p:pic>
        <p:nvPicPr>
          <p:cNvPr id="39" name="Graphic 38" descr="Thumbs Down with solid fill">
            <a:extLst>
              <a:ext uri="{FF2B5EF4-FFF2-40B4-BE49-F238E27FC236}">
                <a16:creationId xmlns:a16="http://schemas.microsoft.com/office/drawing/2014/main" id="{8D8B79E8-2871-2343-C59E-0EEF29C8606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814568" y="1394460"/>
            <a:ext cx="476491" cy="476491"/>
          </a:xfrm>
          <a:prstGeom prst="rect">
            <a:avLst/>
          </a:prstGeom>
        </p:spPr>
      </p:pic>
    </p:spTree>
    <p:extLst>
      <p:ext uri="{BB962C8B-B14F-4D97-AF65-F5344CB8AC3E}">
        <p14:creationId xmlns:p14="http://schemas.microsoft.com/office/powerpoint/2010/main" val="19281991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FA821CE-AEF2-44CE-A85D-AE5B456D39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2598</TotalTime>
  <Words>370</Words>
  <Application>Microsoft Office PowerPoint</Application>
  <PresentationFormat>Widescreen</PresentationFormat>
  <Paragraphs>64</Paragraphs>
  <Slides>4</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1" baseType="lpstr">
      <vt:lpstr>Arial</vt:lpstr>
      <vt:lpstr>Calibri</vt:lpstr>
      <vt:lpstr>Courier New</vt:lpstr>
      <vt:lpstr>Tahoma</vt:lpstr>
      <vt:lpstr>Wingdings</vt:lpstr>
      <vt:lpstr>Trinity Template 3.0</vt:lpstr>
      <vt:lpstr>think-cell Slide</vt:lpstr>
      <vt:lpstr>Sprint Retrospective – Prod Engg </vt:lpstr>
      <vt:lpstr>Notebooklm Overview</vt:lpstr>
      <vt:lpstr>Notebooklm and Other AI search engines</vt:lpstr>
      <vt:lpstr>Weekly Connect Report – Prod Engg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 Loganathan</cp:lastModifiedBy>
  <cp:revision>21</cp:revision>
  <dcterms:created xsi:type="dcterms:W3CDTF">2024-06-17T05:33:16Z</dcterms:created>
  <dcterms:modified xsi:type="dcterms:W3CDTF">2025-01-22T10:44:52Z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