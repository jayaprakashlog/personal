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16"/>
  </p:notesMasterIdLst>
  <p:handoutMasterIdLst>
    <p:handoutMasterId r:id="rId17"/>
  </p:handoutMasterIdLst>
  <p:sldIdLst>
    <p:sldId id="256" r:id="rId5"/>
    <p:sldId id="325" r:id="rId6"/>
    <p:sldId id="330" r:id="rId7"/>
    <p:sldId id="331" r:id="rId8"/>
    <p:sldId id="350" r:id="rId9"/>
    <p:sldId id="327" r:id="rId10"/>
    <p:sldId id="329" r:id="rId11"/>
    <p:sldId id="326" r:id="rId12"/>
    <p:sldId id="328" r:id="rId13"/>
    <p:sldId id="267" r:id="rId14"/>
    <p:sldId id="266" r:id="rId15"/>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varScale="1">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5/30/2024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5/29/2024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345422024"/>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2"/>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4" imgW="383" imgH="384" progId="TCLayout.ActiveDocument.1">
                  <p:embed/>
                </p:oleObj>
              </mc:Choice>
              <mc:Fallback>
                <p:oleObj name="think-cell Slide" r:id="rId14" imgW="383" imgH="384" progId="TCLayout.ActiveDocument.1">
                  <p:embed/>
                  <p:pic>
                    <p:nvPicPr>
                      <p:cNvPr id="6" name="Object 5" hidden="1"/>
                      <p:cNvPicPr/>
                      <p:nvPr/>
                    </p:nvPicPr>
                    <p:blipFill>
                      <a:blip r:embed="rId15"/>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3"/>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oleObject" Target="../embeddings/oleObject13.bin"/><Relationship Id="rId7" Type="http://schemas.openxmlformats.org/officeDocument/2006/relationships/image" Target="../media/image17.png"/><Relationship Id="rId12" Type="http://schemas.microsoft.com/office/2007/relationships/hdphoto" Target="../media/hdphoto4.wdp"/><Relationship Id="rId17" Type="http://schemas.microsoft.com/office/2007/relationships/hdphoto" Target="../media/hdphoto5.wdp"/><Relationship Id="rId2" Type="http://schemas.openxmlformats.org/officeDocument/2006/relationships/slideLayout" Target="../slideLayouts/slideLayout3.xml"/><Relationship Id="rId16" Type="http://schemas.openxmlformats.org/officeDocument/2006/relationships/image" Target="../media/image25.png"/><Relationship Id="rId1" Type="http://schemas.openxmlformats.org/officeDocument/2006/relationships/tags" Target="../tags/tag1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14.emf"/><Relationship Id="rId9" Type="http://schemas.openxmlformats.org/officeDocument/2006/relationships/image" Target="../media/image19.png"/><Relationship Id="rId14"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oleObject" Target="../embeddings/oleObject13.bin"/><Relationship Id="rId7" Type="http://schemas.openxmlformats.org/officeDocument/2006/relationships/image" Target="../media/image17.png"/><Relationship Id="rId12" Type="http://schemas.microsoft.com/office/2007/relationships/hdphoto" Target="../media/hdphoto4.wdp"/><Relationship Id="rId17" Type="http://schemas.microsoft.com/office/2007/relationships/hdphoto" Target="../media/hdphoto5.wdp"/><Relationship Id="rId2" Type="http://schemas.openxmlformats.org/officeDocument/2006/relationships/slideLayout" Target="../slideLayouts/slideLayout3.xml"/><Relationship Id="rId16" Type="http://schemas.openxmlformats.org/officeDocument/2006/relationships/image" Target="../media/image25.png"/><Relationship Id="rId1" Type="http://schemas.openxmlformats.org/officeDocument/2006/relationships/tags" Target="../tags/tag16.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14.emf"/><Relationship Id="rId9" Type="http://schemas.openxmlformats.org/officeDocument/2006/relationships/image" Target="../media/image19.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6" Type="http://schemas.openxmlformats.org/officeDocument/2006/relationships/image" Target="../media/image40.svg"/><Relationship Id="rId1" Type="http://schemas.openxmlformats.org/officeDocument/2006/relationships/slideLayout" Target="../slideLayouts/slideLayout10.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9.xml"/><Relationship Id="rId1" Type="http://schemas.openxmlformats.org/officeDocument/2006/relationships/tags" Target="../tags/tag17.x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tags" Target="../tags/tag18.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tags" Target="../tags/tag19.xml"/><Relationship Id="rId6" Type="http://schemas.openxmlformats.org/officeDocument/2006/relationships/hyperlink" Target="https://tpius.sharepoint.com/sites/kims-stratops/SitePages/PowerPoint-Resource-Hub.aspx" TargetMode="External"/><Relationship Id="rId5" Type="http://schemas.openxmlformats.org/officeDocument/2006/relationships/hyperlink" Target="https://tpius.sharepoint.com/projects/Trinity%20PowerPoint%20Resource%20Hub/SitePages/Home.aspx"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a:t>28 Point Title 1.2 Character Spacing</a:t>
            </a:r>
          </a:p>
        </p:txBody>
      </p:sp>
      <p:sp>
        <p:nvSpPr>
          <p:cNvPr id="3" name="Subtitle 2"/>
          <p:cNvSpPr>
            <a:spLocks noGrp="1"/>
          </p:cNvSpPr>
          <p:nvPr>
            <p:ph type="subTitle" idx="1"/>
          </p:nvPr>
        </p:nvSpPr>
        <p:spPr>
          <a:xfrm>
            <a:off x="1993392" y="4971085"/>
            <a:ext cx="8165592" cy="335280"/>
          </a:xfrm>
        </p:spPr>
        <p:txBody>
          <a:bodyPr/>
          <a:lstStyle/>
          <a:p>
            <a:r>
              <a:rPr lang="en-US"/>
              <a:t>18 Point Subtitle</a:t>
            </a:r>
          </a:p>
        </p:txBody>
      </p:sp>
      <p:sp>
        <p:nvSpPr>
          <p:cNvPr id="4" name="Text Placeholder 3"/>
          <p:cNvSpPr>
            <a:spLocks noGrp="1"/>
          </p:cNvSpPr>
          <p:nvPr>
            <p:ph type="body" sz="quarter" idx="13"/>
          </p:nvPr>
        </p:nvSpPr>
        <p:spPr>
          <a:xfrm>
            <a:off x="1993392" y="5406888"/>
            <a:ext cx="4876800" cy="304800"/>
          </a:xfrm>
        </p:spPr>
        <p:txBody>
          <a:bodyPr/>
          <a:lstStyle/>
          <a:p>
            <a:r>
              <a:rPr lang="en-US"/>
              <a:t>Month Day, Year</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3" name="Rectangle 1222">
            <a:extLst>
              <a:ext uri="{FF2B5EF4-FFF2-40B4-BE49-F238E27FC236}">
                <a16:creationId xmlns:a16="http://schemas.microsoft.com/office/drawing/2014/main" id="{7FEB14F1-CBC4-5050-AE03-0199B215F9AF}"/>
              </a:ext>
            </a:extLst>
          </p:cNvPr>
          <p:cNvSpPr/>
          <p:nvPr/>
        </p:nvSpPr>
        <p:spPr>
          <a:xfrm>
            <a:off x="2037053" y="3150113"/>
            <a:ext cx="9847982" cy="2428505"/>
          </a:xfrm>
          <a:prstGeom prst="rect">
            <a:avLst/>
          </a:prstGeom>
          <a:solidFill>
            <a:schemeClr val="bg1">
              <a:lumMod val="95000"/>
            </a:schemeClr>
          </a:solidFill>
          <a:ln>
            <a:solidFill>
              <a:schemeClr val="tx1"/>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78" name="Rectangle 177">
            <a:extLst>
              <a:ext uri="{FF2B5EF4-FFF2-40B4-BE49-F238E27FC236}">
                <a16:creationId xmlns:a16="http://schemas.microsoft.com/office/drawing/2014/main" id="{48B0A336-F138-520C-38F3-F3F05E47DB80}"/>
              </a:ext>
            </a:extLst>
          </p:cNvPr>
          <p:cNvSpPr/>
          <p:nvPr/>
        </p:nvSpPr>
        <p:spPr>
          <a:xfrm>
            <a:off x="2041253" y="384876"/>
            <a:ext cx="9847982" cy="2568415"/>
          </a:xfrm>
          <a:prstGeom prst="rect">
            <a:avLst/>
          </a:prstGeom>
          <a:solidFill>
            <a:schemeClr val="bg1">
              <a:lumMod val="95000"/>
            </a:schemeClr>
          </a:solidFill>
          <a:ln>
            <a:solidFill>
              <a:schemeClr val="tx1"/>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45922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11" name="Rectangle 10">
            <a:extLst>
              <a:ext uri="{FF2B5EF4-FFF2-40B4-BE49-F238E27FC236}">
                <a16:creationId xmlns:a16="http://schemas.microsoft.com/office/drawing/2014/main" id="{79AD4F97-B68A-C1BA-A128-F924D4875258}"/>
              </a:ext>
            </a:extLst>
          </p:cNvPr>
          <p:cNvSpPr/>
          <p:nvPr/>
        </p:nvSpPr>
        <p:spPr>
          <a:xfrm>
            <a:off x="150871" y="950254"/>
            <a:ext cx="1282280" cy="44043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1">
            <a:extLst>
              <a:ext uri="{FF2B5EF4-FFF2-40B4-BE49-F238E27FC236}">
                <a16:creationId xmlns:a16="http://schemas.microsoft.com/office/drawing/2014/main" id="{666D81C6-847D-B04C-7CF3-46F87498211B}"/>
              </a:ext>
            </a:extLst>
          </p:cNvPr>
          <p:cNvSpPr txBox="1"/>
          <p:nvPr/>
        </p:nvSpPr>
        <p:spPr>
          <a:xfrm>
            <a:off x="355092" y="720302"/>
            <a:ext cx="908033" cy="238333"/>
          </a:xfrm>
          <a:prstGeom prst="rect">
            <a:avLst/>
          </a:prstGeom>
          <a:solidFill>
            <a:schemeClr val="tx2"/>
          </a:solidFill>
        </p:spPr>
        <p:txBody>
          <a:bodyPr wrap="square">
            <a:spAutoFit/>
          </a:bodyPr>
          <a:lstStyle/>
          <a:p>
            <a:pPr algn="ctr"/>
            <a:r>
              <a:rPr lang="en-IN" sz="1050" b="1" dirty="0">
                <a:solidFill>
                  <a:schemeClr val="bg1"/>
                </a:solidFill>
              </a:rPr>
              <a:t>Data Sources</a:t>
            </a:r>
            <a:endParaRPr lang="en-IN" sz="1050" dirty="0">
              <a:solidFill>
                <a:schemeClr val="bg1"/>
              </a:solidFill>
            </a:endParaRPr>
          </a:p>
        </p:txBody>
      </p:sp>
      <p:grpSp>
        <p:nvGrpSpPr>
          <p:cNvPr id="19" name="Group 18">
            <a:extLst>
              <a:ext uri="{FF2B5EF4-FFF2-40B4-BE49-F238E27FC236}">
                <a16:creationId xmlns:a16="http://schemas.microsoft.com/office/drawing/2014/main" id="{7E76B120-5F3C-C9B8-CFBE-7235C498C592}"/>
              </a:ext>
            </a:extLst>
          </p:cNvPr>
          <p:cNvGrpSpPr/>
          <p:nvPr/>
        </p:nvGrpSpPr>
        <p:grpSpPr>
          <a:xfrm>
            <a:off x="210634" y="1077251"/>
            <a:ext cx="1096404" cy="622407"/>
            <a:chOff x="796510" y="1834635"/>
            <a:chExt cx="1444093" cy="979714"/>
          </a:xfrm>
        </p:grpSpPr>
        <p:grpSp>
          <p:nvGrpSpPr>
            <p:cNvPr id="20" name="Group 19">
              <a:extLst>
                <a:ext uri="{FF2B5EF4-FFF2-40B4-BE49-F238E27FC236}">
                  <a16:creationId xmlns:a16="http://schemas.microsoft.com/office/drawing/2014/main" id="{AB233336-7737-D4BF-0E35-6A8710804651}"/>
                </a:ext>
              </a:extLst>
            </p:cNvPr>
            <p:cNvGrpSpPr/>
            <p:nvPr/>
          </p:nvGrpSpPr>
          <p:grpSpPr>
            <a:xfrm>
              <a:off x="796510" y="1834635"/>
              <a:ext cx="1444093" cy="979714"/>
              <a:chOff x="796510" y="1066800"/>
              <a:chExt cx="1444093" cy="979714"/>
            </a:xfrm>
          </p:grpSpPr>
          <p:sp>
            <p:nvSpPr>
              <p:cNvPr id="22" name="Rectangle 21">
                <a:extLst>
                  <a:ext uri="{FF2B5EF4-FFF2-40B4-BE49-F238E27FC236}">
                    <a16:creationId xmlns:a16="http://schemas.microsoft.com/office/drawing/2014/main" id="{C2F124C2-5589-02FD-94A1-663698F2F80E}"/>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TextBox 22">
                <a:extLst>
                  <a:ext uri="{FF2B5EF4-FFF2-40B4-BE49-F238E27FC236}">
                    <a16:creationId xmlns:a16="http://schemas.microsoft.com/office/drawing/2014/main" id="{08EF7BD5-007B-6083-0118-CADA36B65843}"/>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Unstructured Data</a:t>
                </a:r>
              </a:p>
              <a:p>
                <a:pPr algn="ctr"/>
                <a:r>
                  <a:rPr lang="en-IN" sz="800" dirty="0"/>
                  <a:t>Videos, Images, Audio </a:t>
                </a:r>
              </a:p>
            </p:txBody>
          </p:sp>
        </p:grpSp>
        <p:pic>
          <p:nvPicPr>
            <p:cNvPr id="21" name="Picture 6" descr="Unstructured data - Free seo and web icons">
              <a:extLst>
                <a:ext uri="{FF2B5EF4-FFF2-40B4-BE49-F238E27FC236}">
                  <a16:creationId xmlns:a16="http://schemas.microsoft.com/office/drawing/2014/main" id="{FD59FD0E-A7AA-344B-91D7-8F5017FEF6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17170" y="1909581"/>
              <a:ext cx="402772" cy="402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A9A6D771-9315-FBDA-680D-DF1EB0851A36}"/>
              </a:ext>
            </a:extLst>
          </p:cNvPr>
          <p:cNvGrpSpPr/>
          <p:nvPr/>
        </p:nvGrpSpPr>
        <p:grpSpPr>
          <a:xfrm>
            <a:off x="166651" y="1786077"/>
            <a:ext cx="1096405" cy="591348"/>
            <a:chOff x="813390" y="1066800"/>
            <a:chExt cx="1444093" cy="1032019"/>
          </a:xfrm>
        </p:grpSpPr>
        <p:sp>
          <p:nvSpPr>
            <p:cNvPr id="25" name="Rectangle 24">
              <a:extLst>
                <a:ext uri="{FF2B5EF4-FFF2-40B4-BE49-F238E27FC236}">
                  <a16:creationId xmlns:a16="http://schemas.microsoft.com/office/drawing/2014/main" id="{0D6C73D1-FCD4-B28A-1D1A-818D8B642576}"/>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6" name="TextBox 25">
              <a:extLst>
                <a:ext uri="{FF2B5EF4-FFF2-40B4-BE49-F238E27FC236}">
                  <a16:creationId xmlns:a16="http://schemas.microsoft.com/office/drawing/2014/main" id="{E8B15965-1417-74DA-1618-18F873487E05}"/>
                </a:ext>
              </a:extLst>
            </p:cNvPr>
            <p:cNvSpPr txBox="1"/>
            <p:nvPr/>
          </p:nvSpPr>
          <p:spPr>
            <a:xfrm>
              <a:off x="813390" y="1698710"/>
              <a:ext cx="1444093" cy="400109"/>
            </a:xfrm>
            <a:prstGeom prst="rect">
              <a:avLst/>
            </a:prstGeom>
            <a:noFill/>
          </p:spPr>
          <p:txBody>
            <a:bodyPr wrap="square">
              <a:spAutoFit/>
            </a:bodyPr>
            <a:lstStyle/>
            <a:p>
              <a:pPr algn="ctr"/>
              <a:r>
                <a:rPr lang="en-IN" sz="800" b="1" dirty="0">
                  <a:solidFill>
                    <a:schemeClr val="tx1"/>
                  </a:solidFill>
                </a:rPr>
                <a:t>Semi-structured Data</a:t>
              </a:r>
            </a:p>
            <a:p>
              <a:pPr algn="ctr"/>
              <a:r>
                <a:rPr lang="en-IN" sz="800" dirty="0"/>
                <a:t>Csv, Logs, Json, Xml</a:t>
              </a:r>
            </a:p>
          </p:txBody>
        </p:sp>
      </p:grpSp>
      <p:grpSp>
        <p:nvGrpSpPr>
          <p:cNvPr id="27" name="Group 26">
            <a:extLst>
              <a:ext uri="{FF2B5EF4-FFF2-40B4-BE49-F238E27FC236}">
                <a16:creationId xmlns:a16="http://schemas.microsoft.com/office/drawing/2014/main" id="{C190575E-0E52-AFE7-E433-6D32C36EF74E}"/>
              </a:ext>
            </a:extLst>
          </p:cNvPr>
          <p:cNvGrpSpPr/>
          <p:nvPr/>
        </p:nvGrpSpPr>
        <p:grpSpPr>
          <a:xfrm>
            <a:off x="258813" y="2520025"/>
            <a:ext cx="1000044" cy="643117"/>
            <a:chOff x="796508" y="4495800"/>
            <a:chExt cx="1444093" cy="979714"/>
          </a:xfrm>
        </p:grpSpPr>
        <p:grpSp>
          <p:nvGrpSpPr>
            <p:cNvPr id="28" name="Group 27">
              <a:extLst>
                <a:ext uri="{FF2B5EF4-FFF2-40B4-BE49-F238E27FC236}">
                  <a16:creationId xmlns:a16="http://schemas.microsoft.com/office/drawing/2014/main" id="{6923CBF6-F4D9-DFF2-F2D3-4160196E7595}"/>
                </a:ext>
              </a:extLst>
            </p:cNvPr>
            <p:cNvGrpSpPr/>
            <p:nvPr/>
          </p:nvGrpSpPr>
          <p:grpSpPr>
            <a:xfrm>
              <a:off x="796508" y="4495800"/>
              <a:ext cx="1444093" cy="979714"/>
              <a:chOff x="796510" y="1066800"/>
              <a:chExt cx="1444093" cy="979714"/>
            </a:xfrm>
          </p:grpSpPr>
          <p:sp>
            <p:nvSpPr>
              <p:cNvPr id="30" name="Rectangle 29">
                <a:extLst>
                  <a:ext uri="{FF2B5EF4-FFF2-40B4-BE49-F238E27FC236}">
                    <a16:creationId xmlns:a16="http://schemas.microsoft.com/office/drawing/2014/main" id="{0ED75ECB-2492-FE58-1CC4-AD99A2FA2ED8}"/>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1" name="TextBox 30">
                <a:extLst>
                  <a:ext uri="{FF2B5EF4-FFF2-40B4-BE49-F238E27FC236}">
                    <a16:creationId xmlns:a16="http://schemas.microsoft.com/office/drawing/2014/main" id="{2C293F68-5C8A-A9C9-63A3-FF87DB671FB7}"/>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Relational Database</a:t>
                </a:r>
              </a:p>
              <a:p>
                <a:pPr algn="ctr"/>
                <a:r>
                  <a:rPr lang="en-IN" sz="800" dirty="0"/>
                  <a:t>Structured</a:t>
                </a:r>
              </a:p>
            </p:txBody>
          </p:sp>
        </p:grpSp>
        <p:pic>
          <p:nvPicPr>
            <p:cNvPr id="29" name="Picture 12" descr="Relational Database Icon - Free Download Network &amp; Communication Icons |  IconScout">
              <a:extLst>
                <a:ext uri="{FF2B5EF4-FFF2-40B4-BE49-F238E27FC236}">
                  <a16:creationId xmlns:a16="http://schemas.microsoft.com/office/drawing/2014/main" id="{521EFA3B-796B-4FEC-F875-0A4C57FD61A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00841" y="4550229"/>
              <a:ext cx="478971" cy="478971"/>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24" descr="Semi-Structured Data Processing | Forms Recognition | ESILAB">
            <a:extLst>
              <a:ext uri="{FF2B5EF4-FFF2-40B4-BE49-F238E27FC236}">
                <a16:creationId xmlns:a16="http://schemas.microsoft.com/office/drawing/2014/main" id="{133C68DB-F3D9-8DE5-45FA-B74909FCADF4}"/>
              </a:ext>
            </a:extLst>
          </p:cNvPr>
          <p:cNvPicPr>
            <a:picLocks noChangeAspect="1" noChangeArrowheads="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8027" y="1890071"/>
            <a:ext cx="303777" cy="288062"/>
          </a:xfrm>
          <a:prstGeom prst="rect">
            <a:avLst/>
          </a:prstGeom>
          <a:noFill/>
          <a:extLst>
            <a:ext uri="{909E8E84-426E-40DD-AFC4-6F175D3DCCD1}">
              <a14:hiddenFill xmlns:a14="http://schemas.microsoft.com/office/drawing/2010/main">
                <a:solidFill>
                  <a:srgbClr val="FFFFFF"/>
                </a:solidFill>
              </a14:hiddenFill>
            </a:ext>
          </a:extLst>
        </p:spPr>
      </p:pic>
      <p:sp>
        <p:nvSpPr>
          <p:cNvPr id="100" name="Cylinder 99">
            <a:extLst>
              <a:ext uri="{FF2B5EF4-FFF2-40B4-BE49-F238E27FC236}">
                <a16:creationId xmlns:a16="http://schemas.microsoft.com/office/drawing/2014/main" id="{2463266A-882E-CEBE-9181-11EA74D29692}"/>
              </a:ext>
            </a:extLst>
          </p:cNvPr>
          <p:cNvSpPr/>
          <p:nvPr/>
        </p:nvSpPr>
        <p:spPr>
          <a:xfrm rot="16200000">
            <a:off x="1674713" y="865720"/>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01" name="Rectangle 100">
            <a:extLst>
              <a:ext uri="{FF2B5EF4-FFF2-40B4-BE49-F238E27FC236}">
                <a16:creationId xmlns:a16="http://schemas.microsoft.com/office/drawing/2014/main" id="{8A59FB5F-0789-9A19-9300-EC36AED6F357}"/>
              </a:ext>
            </a:extLst>
          </p:cNvPr>
          <p:cNvSpPr/>
          <p:nvPr/>
        </p:nvSpPr>
        <p:spPr>
          <a:xfrm>
            <a:off x="2354884" y="836290"/>
            <a:ext cx="389132" cy="16577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p>
          <a:p>
            <a:pPr algn="ctr"/>
            <a:r>
              <a:rPr lang="en-US" sz="1400" dirty="0">
                <a:solidFill>
                  <a:schemeClr val="tx1"/>
                </a:solidFill>
              </a:rPr>
              <a:t>A</a:t>
            </a:r>
          </a:p>
          <a:p>
            <a:pPr algn="ctr"/>
            <a:r>
              <a:rPr lang="en-US" sz="1400" dirty="0">
                <a:solidFill>
                  <a:schemeClr val="tx1"/>
                </a:solidFill>
              </a:rPr>
              <a:t>w</a:t>
            </a:r>
          </a:p>
        </p:txBody>
      </p:sp>
      <p:sp>
        <p:nvSpPr>
          <p:cNvPr id="102" name="Rectangle 101">
            <a:extLst>
              <a:ext uri="{FF2B5EF4-FFF2-40B4-BE49-F238E27FC236}">
                <a16:creationId xmlns:a16="http://schemas.microsoft.com/office/drawing/2014/main" id="{D5BB4ADC-4659-CD7F-B84C-C181562F3EDF}"/>
              </a:ext>
            </a:extLst>
          </p:cNvPr>
          <p:cNvSpPr/>
          <p:nvPr/>
        </p:nvSpPr>
        <p:spPr>
          <a:xfrm>
            <a:off x="3204797" y="882439"/>
            <a:ext cx="856097" cy="6299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Cleansed</a:t>
            </a:r>
          </a:p>
        </p:txBody>
      </p:sp>
      <p:cxnSp>
        <p:nvCxnSpPr>
          <p:cNvPr id="104" name="Straight Arrow Connector 103">
            <a:extLst>
              <a:ext uri="{FF2B5EF4-FFF2-40B4-BE49-F238E27FC236}">
                <a16:creationId xmlns:a16="http://schemas.microsoft.com/office/drawing/2014/main" id="{EA33EAD0-E2B5-808D-B258-BCAEEAA30A29}"/>
              </a:ext>
            </a:extLst>
          </p:cNvPr>
          <p:cNvCxnSpPr>
            <a:cxnSpLocks/>
          </p:cNvCxnSpPr>
          <p:nvPr/>
        </p:nvCxnSpPr>
        <p:spPr>
          <a:xfrm flipV="1">
            <a:off x="1452058" y="989894"/>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D1A5BBD-C6C2-EC3A-0755-AE218523141B}"/>
              </a:ext>
            </a:extLst>
          </p:cNvPr>
          <p:cNvCxnSpPr>
            <a:cxnSpLocks/>
          </p:cNvCxnSpPr>
          <p:nvPr/>
        </p:nvCxnSpPr>
        <p:spPr>
          <a:xfrm>
            <a:off x="2744016" y="1161844"/>
            <a:ext cx="492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3945087-EA54-1CA9-D2AA-2EB598163C4C}"/>
              </a:ext>
            </a:extLst>
          </p:cNvPr>
          <p:cNvCxnSpPr>
            <a:cxnSpLocks/>
          </p:cNvCxnSpPr>
          <p:nvPr/>
        </p:nvCxnSpPr>
        <p:spPr>
          <a:xfrm>
            <a:off x="4046836" y="1159735"/>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850D3832-A568-0B77-0C1B-821B1693EF27}"/>
              </a:ext>
            </a:extLst>
          </p:cNvPr>
          <p:cNvSpPr/>
          <p:nvPr/>
        </p:nvSpPr>
        <p:spPr>
          <a:xfrm>
            <a:off x="4410532" y="913428"/>
            <a:ext cx="856097" cy="80049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CDM</a:t>
            </a:r>
          </a:p>
        </p:txBody>
      </p:sp>
      <p:sp>
        <p:nvSpPr>
          <p:cNvPr id="119" name="Rectangle 118">
            <a:extLst>
              <a:ext uri="{FF2B5EF4-FFF2-40B4-BE49-F238E27FC236}">
                <a16:creationId xmlns:a16="http://schemas.microsoft.com/office/drawing/2014/main" id="{50D2B81C-9C7E-0157-A3A0-AD3E3ED7F0D7}"/>
              </a:ext>
            </a:extLst>
          </p:cNvPr>
          <p:cNvSpPr/>
          <p:nvPr/>
        </p:nvSpPr>
        <p:spPr>
          <a:xfrm>
            <a:off x="5616531" y="893344"/>
            <a:ext cx="2002152" cy="9257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highlight>
                  <a:srgbClr val="FF00FF"/>
                </a:highlight>
              </a:rPr>
              <a:t>Semantic Layer</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p:txBody>
      </p:sp>
      <p:cxnSp>
        <p:nvCxnSpPr>
          <p:cNvPr id="120" name="Straight Arrow Connector 119">
            <a:extLst>
              <a:ext uri="{FF2B5EF4-FFF2-40B4-BE49-F238E27FC236}">
                <a16:creationId xmlns:a16="http://schemas.microsoft.com/office/drawing/2014/main" id="{BB031DC1-1120-C545-BA5A-1F75ED19A1E6}"/>
              </a:ext>
            </a:extLst>
          </p:cNvPr>
          <p:cNvCxnSpPr>
            <a:cxnSpLocks/>
          </p:cNvCxnSpPr>
          <p:nvPr/>
        </p:nvCxnSpPr>
        <p:spPr>
          <a:xfrm>
            <a:off x="5247068" y="1174407"/>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509FB43D-6D7C-4FD8-9147-12351BEF5C70}"/>
              </a:ext>
            </a:extLst>
          </p:cNvPr>
          <p:cNvSpPr txBox="1"/>
          <p:nvPr/>
        </p:nvSpPr>
        <p:spPr>
          <a:xfrm>
            <a:off x="1455815" y="544974"/>
            <a:ext cx="632338" cy="338554"/>
          </a:xfrm>
          <a:prstGeom prst="rect">
            <a:avLst/>
          </a:prstGeom>
          <a:noFill/>
        </p:spPr>
        <p:txBody>
          <a:bodyPr wrap="square">
            <a:spAutoFit/>
          </a:bodyPr>
          <a:lstStyle/>
          <a:p>
            <a:pPr algn="ctr"/>
            <a:r>
              <a:rPr lang="en-US" sz="800" dirty="0"/>
              <a:t>Data Ingestion </a:t>
            </a:r>
            <a:endParaRPr lang="en-IN" sz="800" dirty="0"/>
          </a:p>
        </p:txBody>
      </p:sp>
      <p:cxnSp>
        <p:nvCxnSpPr>
          <p:cNvPr id="129" name="Straight Arrow Connector 128">
            <a:extLst>
              <a:ext uri="{FF2B5EF4-FFF2-40B4-BE49-F238E27FC236}">
                <a16:creationId xmlns:a16="http://schemas.microsoft.com/office/drawing/2014/main" id="{EE377EC9-C928-0D03-9C8C-E1451513AF44}"/>
              </a:ext>
            </a:extLst>
          </p:cNvPr>
          <p:cNvCxnSpPr>
            <a:cxnSpLocks/>
          </p:cNvCxnSpPr>
          <p:nvPr/>
        </p:nvCxnSpPr>
        <p:spPr>
          <a:xfrm>
            <a:off x="2951954" y="1196863"/>
            <a:ext cx="0" cy="63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3E7B9F-C803-DF02-AEB3-F28255148C7A}"/>
              </a:ext>
            </a:extLst>
          </p:cNvPr>
          <p:cNvCxnSpPr>
            <a:cxnSpLocks/>
          </p:cNvCxnSpPr>
          <p:nvPr/>
        </p:nvCxnSpPr>
        <p:spPr>
          <a:xfrm flipV="1">
            <a:off x="3070592" y="1187189"/>
            <a:ext cx="0" cy="64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134">
            <a:extLst>
              <a:ext uri="{FF2B5EF4-FFF2-40B4-BE49-F238E27FC236}">
                <a16:creationId xmlns:a16="http://schemas.microsoft.com/office/drawing/2014/main" id="{3DAF1252-2BCD-6DE1-4F92-E767A0EE1556}"/>
              </a:ext>
            </a:extLst>
          </p:cNvPr>
          <p:cNvSpPr/>
          <p:nvPr/>
        </p:nvSpPr>
        <p:spPr>
          <a:xfrm>
            <a:off x="2873489" y="1833699"/>
            <a:ext cx="630660" cy="67136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DQ Framework</a:t>
            </a:r>
            <a:endParaRPr lang="en-IN" sz="1100" dirty="0"/>
          </a:p>
        </p:txBody>
      </p:sp>
      <p:cxnSp>
        <p:nvCxnSpPr>
          <p:cNvPr id="136" name="Straight Arrow Connector 135">
            <a:extLst>
              <a:ext uri="{FF2B5EF4-FFF2-40B4-BE49-F238E27FC236}">
                <a16:creationId xmlns:a16="http://schemas.microsoft.com/office/drawing/2014/main" id="{D2C59B5A-5790-1797-C4FD-2C2CE95B99B5}"/>
              </a:ext>
            </a:extLst>
          </p:cNvPr>
          <p:cNvCxnSpPr>
            <a:cxnSpLocks/>
          </p:cNvCxnSpPr>
          <p:nvPr/>
        </p:nvCxnSpPr>
        <p:spPr>
          <a:xfrm flipV="1">
            <a:off x="7618683" y="922325"/>
            <a:ext cx="1367041" cy="14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DE51068E-D608-C78E-0B87-0EAC8F95FC3E}"/>
              </a:ext>
            </a:extLst>
          </p:cNvPr>
          <p:cNvSpPr txBox="1"/>
          <p:nvPr/>
        </p:nvSpPr>
        <p:spPr>
          <a:xfrm>
            <a:off x="4288912" y="126895"/>
            <a:ext cx="3825192" cy="307777"/>
          </a:xfrm>
          <a:prstGeom prst="rect">
            <a:avLst/>
          </a:prstGeom>
          <a:solidFill>
            <a:srgbClr val="FFFF00"/>
          </a:solidFill>
        </p:spPr>
        <p:txBody>
          <a:bodyPr wrap="square">
            <a:spAutoFit/>
          </a:bodyPr>
          <a:lstStyle/>
          <a:p>
            <a:pPr algn="ctr"/>
            <a:r>
              <a:rPr lang="en-US" sz="1400" b="1" dirty="0"/>
              <a:t>SINGLE TENANT (Server 1, Different Instance)</a:t>
            </a:r>
            <a:endParaRPr lang="en-IN" sz="1400" b="1" dirty="0"/>
          </a:p>
        </p:txBody>
      </p:sp>
      <p:sp>
        <p:nvSpPr>
          <p:cNvPr id="140" name="Rectangle 139">
            <a:extLst>
              <a:ext uri="{FF2B5EF4-FFF2-40B4-BE49-F238E27FC236}">
                <a16:creationId xmlns:a16="http://schemas.microsoft.com/office/drawing/2014/main" id="{D068E701-0FA8-F256-561E-516F036847EE}"/>
              </a:ext>
            </a:extLst>
          </p:cNvPr>
          <p:cNvSpPr/>
          <p:nvPr/>
        </p:nvSpPr>
        <p:spPr>
          <a:xfrm>
            <a:off x="8972899" y="673019"/>
            <a:ext cx="2568695" cy="31687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1</a:t>
            </a:r>
          </a:p>
        </p:txBody>
      </p:sp>
      <p:sp>
        <p:nvSpPr>
          <p:cNvPr id="147" name="Cylinder 146">
            <a:extLst>
              <a:ext uri="{FF2B5EF4-FFF2-40B4-BE49-F238E27FC236}">
                <a16:creationId xmlns:a16="http://schemas.microsoft.com/office/drawing/2014/main" id="{C2799010-F5E7-B5CF-43BC-FEB43C7BB12A}"/>
              </a:ext>
            </a:extLst>
          </p:cNvPr>
          <p:cNvSpPr/>
          <p:nvPr/>
        </p:nvSpPr>
        <p:spPr>
          <a:xfrm rot="16200000">
            <a:off x="1627813" y="153923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9" name="TextBox 148">
            <a:extLst>
              <a:ext uri="{FF2B5EF4-FFF2-40B4-BE49-F238E27FC236}">
                <a16:creationId xmlns:a16="http://schemas.microsoft.com/office/drawing/2014/main" id="{C2C1D545-8E2C-E2E8-7D7B-B98AB9FF5D54}"/>
              </a:ext>
            </a:extLst>
          </p:cNvPr>
          <p:cNvSpPr txBox="1"/>
          <p:nvPr/>
        </p:nvSpPr>
        <p:spPr>
          <a:xfrm>
            <a:off x="1408915" y="1218490"/>
            <a:ext cx="632338" cy="338554"/>
          </a:xfrm>
          <a:prstGeom prst="rect">
            <a:avLst/>
          </a:prstGeom>
          <a:noFill/>
        </p:spPr>
        <p:txBody>
          <a:bodyPr wrap="square">
            <a:spAutoFit/>
          </a:bodyPr>
          <a:lstStyle/>
          <a:p>
            <a:pPr algn="ctr"/>
            <a:r>
              <a:rPr lang="en-US" sz="800" dirty="0"/>
              <a:t>Data Ingestion </a:t>
            </a:r>
            <a:endParaRPr lang="en-IN" sz="800" dirty="0"/>
          </a:p>
        </p:txBody>
      </p:sp>
      <p:sp>
        <p:nvSpPr>
          <p:cNvPr id="151" name="Cylinder 150">
            <a:extLst>
              <a:ext uri="{FF2B5EF4-FFF2-40B4-BE49-F238E27FC236}">
                <a16:creationId xmlns:a16="http://schemas.microsoft.com/office/drawing/2014/main" id="{63709F95-F1CE-CE08-961D-3C454DE6DA5E}"/>
              </a:ext>
            </a:extLst>
          </p:cNvPr>
          <p:cNvSpPr/>
          <p:nvPr/>
        </p:nvSpPr>
        <p:spPr>
          <a:xfrm rot="16200000">
            <a:off x="1633741" y="222630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53" name="TextBox 152">
            <a:extLst>
              <a:ext uri="{FF2B5EF4-FFF2-40B4-BE49-F238E27FC236}">
                <a16:creationId xmlns:a16="http://schemas.microsoft.com/office/drawing/2014/main" id="{F192DB71-90EC-3F41-6001-872C33F060CD}"/>
              </a:ext>
            </a:extLst>
          </p:cNvPr>
          <p:cNvSpPr txBox="1"/>
          <p:nvPr/>
        </p:nvSpPr>
        <p:spPr>
          <a:xfrm>
            <a:off x="1414843" y="1970209"/>
            <a:ext cx="632338" cy="338554"/>
          </a:xfrm>
          <a:prstGeom prst="rect">
            <a:avLst/>
          </a:prstGeom>
          <a:noFill/>
        </p:spPr>
        <p:txBody>
          <a:bodyPr wrap="square">
            <a:spAutoFit/>
          </a:bodyPr>
          <a:lstStyle/>
          <a:p>
            <a:pPr algn="ctr"/>
            <a:r>
              <a:rPr lang="en-US" sz="800" dirty="0"/>
              <a:t>Data Ingestion </a:t>
            </a:r>
            <a:endParaRPr lang="en-IN" sz="800" dirty="0"/>
          </a:p>
        </p:txBody>
      </p:sp>
      <p:sp>
        <p:nvSpPr>
          <p:cNvPr id="159" name="Cylinder 158">
            <a:extLst>
              <a:ext uri="{FF2B5EF4-FFF2-40B4-BE49-F238E27FC236}">
                <a16:creationId xmlns:a16="http://schemas.microsoft.com/office/drawing/2014/main" id="{332A8359-0476-F8CC-480B-94CD3A8F540B}"/>
              </a:ext>
            </a:extLst>
          </p:cNvPr>
          <p:cNvSpPr/>
          <p:nvPr/>
        </p:nvSpPr>
        <p:spPr>
          <a:xfrm rot="152875">
            <a:off x="5831143" y="1264202"/>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0" name="Cylinder 159">
            <a:extLst>
              <a:ext uri="{FF2B5EF4-FFF2-40B4-BE49-F238E27FC236}">
                <a16:creationId xmlns:a16="http://schemas.microsoft.com/office/drawing/2014/main" id="{3846FFB6-182E-E17D-E923-E7BA6FA55231}"/>
              </a:ext>
            </a:extLst>
          </p:cNvPr>
          <p:cNvSpPr/>
          <p:nvPr/>
        </p:nvSpPr>
        <p:spPr>
          <a:xfrm rot="152875">
            <a:off x="6447234" y="126696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1" name="Cylinder 160">
            <a:extLst>
              <a:ext uri="{FF2B5EF4-FFF2-40B4-BE49-F238E27FC236}">
                <a16:creationId xmlns:a16="http://schemas.microsoft.com/office/drawing/2014/main" id="{BB206BDE-44AA-BA9F-10B9-EA9243BF6A54}"/>
              </a:ext>
            </a:extLst>
          </p:cNvPr>
          <p:cNvSpPr/>
          <p:nvPr/>
        </p:nvSpPr>
        <p:spPr>
          <a:xfrm rot="152875">
            <a:off x="7128533" y="127111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2" name="TextBox 161">
            <a:extLst>
              <a:ext uri="{FF2B5EF4-FFF2-40B4-BE49-F238E27FC236}">
                <a16:creationId xmlns:a16="http://schemas.microsoft.com/office/drawing/2014/main" id="{622DB3A7-5AC2-28FF-B5AD-A524163EF7FE}"/>
              </a:ext>
            </a:extLst>
          </p:cNvPr>
          <p:cNvSpPr txBox="1"/>
          <p:nvPr/>
        </p:nvSpPr>
        <p:spPr>
          <a:xfrm>
            <a:off x="5710724" y="1012856"/>
            <a:ext cx="632338" cy="215444"/>
          </a:xfrm>
          <a:prstGeom prst="rect">
            <a:avLst/>
          </a:prstGeom>
          <a:noFill/>
        </p:spPr>
        <p:txBody>
          <a:bodyPr wrap="square">
            <a:spAutoFit/>
          </a:bodyPr>
          <a:lstStyle/>
          <a:p>
            <a:pPr algn="ctr"/>
            <a:r>
              <a:rPr lang="en-US" sz="800" dirty="0"/>
              <a:t>DB 1</a:t>
            </a:r>
            <a:endParaRPr lang="en-IN" sz="800" dirty="0"/>
          </a:p>
        </p:txBody>
      </p:sp>
      <p:sp>
        <p:nvSpPr>
          <p:cNvPr id="163" name="TextBox 162">
            <a:extLst>
              <a:ext uri="{FF2B5EF4-FFF2-40B4-BE49-F238E27FC236}">
                <a16:creationId xmlns:a16="http://schemas.microsoft.com/office/drawing/2014/main" id="{725ACE0D-3001-3294-876B-5B7E3AE9EBCE}"/>
              </a:ext>
            </a:extLst>
          </p:cNvPr>
          <p:cNvSpPr txBox="1"/>
          <p:nvPr/>
        </p:nvSpPr>
        <p:spPr>
          <a:xfrm>
            <a:off x="6276097" y="1042928"/>
            <a:ext cx="632338" cy="215444"/>
          </a:xfrm>
          <a:prstGeom prst="rect">
            <a:avLst/>
          </a:prstGeom>
          <a:noFill/>
        </p:spPr>
        <p:txBody>
          <a:bodyPr wrap="square">
            <a:spAutoFit/>
          </a:bodyPr>
          <a:lstStyle/>
          <a:p>
            <a:pPr algn="ctr"/>
            <a:r>
              <a:rPr lang="en-US" sz="800" dirty="0"/>
              <a:t>DB 2</a:t>
            </a:r>
            <a:endParaRPr lang="en-IN" sz="800" dirty="0"/>
          </a:p>
        </p:txBody>
      </p:sp>
      <p:sp>
        <p:nvSpPr>
          <p:cNvPr id="164" name="TextBox 163">
            <a:extLst>
              <a:ext uri="{FF2B5EF4-FFF2-40B4-BE49-F238E27FC236}">
                <a16:creationId xmlns:a16="http://schemas.microsoft.com/office/drawing/2014/main" id="{1504B931-F9C2-FCD3-9F3B-D3DD4DF83345}"/>
              </a:ext>
            </a:extLst>
          </p:cNvPr>
          <p:cNvSpPr txBox="1"/>
          <p:nvPr/>
        </p:nvSpPr>
        <p:spPr>
          <a:xfrm>
            <a:off x="6807335" y="1055481"/>
            <a:ext cx="632338" cy="215444"/>
          </a:xfrm>
          <a:prstGeom prst="rect">
            <a:avLst/>
          </a:prstGeom>
          <a:noFill/>
        </p:spPr>
        <p:txBody>
          <a:bodyPr wrap="square">
            <a:spAutoFit/>
          </a:bodyPr>
          <a:lstStyle/>
          <a:p>
            <a:pPr algn="ctr"/>
            <a:r>
              <a:rPr lang="en-US" sz="800" dirty="0"/>
              <a:t>DB 3</a:t>
            </a:r>
            <a:endParaRPr lang="en-IN" sz="800" dirty="0"/>
          </a:p>
        </p:txBody>
      </p:sp>
      <p:sp>
        <p:nvSpPr>
          <p:cNvPr id="165" name="TextBox 164">
            <a:extLst>
              <a:ext uri="{FF2B5EF4-FFF2-40B4-BE49-F238E27FC236}">
                <a16:creationId xmlns:a16="http://schemas.microsoft.com/office/drawing/2014/main" id="{75C45BF7-7420-E9E3-9D7C-4D609288804E}"/>
              </a:ext>
            </a:extLst>
          </p:cNvPr>
          <p:cNvSpPr txBox="1"/>
          <p:nvPr/>
        </p:nvSpPr>
        <p:spPr>
          <a:xfrm>
            <a:off x="4486480" y="1339445"/>
            <a:ext cx="802085" cy="338554"/>
          </a:xfrm>
          <a:prstGeom prst="rect">
            <a:avLst/>
          </a:prstGeom>
          <a:noFill/>
        </p:spPr>
        <p:txBody>
          <a:bodyPr wrap="square">
            <a:spAutoFit/>
          </a:bodyPr>
          <a:lstStyle/>
          <a:p>
            <a:pPr algn="ctr"/>
            <a:r>
              <a:rPr lang="en-US" sz="800" dirty="0"/>
              <a:t>(Common Data Model)</a:t>
            </a:r>
            <a:endParaRPr lang="en-IN" sz="800" dirty="0"/>
          </a:p>
        </p:txBody>
      </p:sp>
      <p:pic>
        <p:nvPicPr>
          <p:cNvPr id="1028" name="Picture 4" descr="Symphony | Your Portal For Data-Driven ...">
            <a:extLst>
              <a:ext uri="{FF2B5EF4-FFF2-40B4-BE49-F238E27FC236}">
                <a16:creationId xmlns:a16="http://schemas.microsoft.com/office/drawing/2014/main" id="{5EAF119A-DB6E-D107-4A82-74448619ABA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5473" y="4230450"/>
            <a:ext cx="855456" cy="3425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vailable IQVIA Data - IQVIA">
            <a:extLst>
              <a:ext uri="{FF2B5EF4-FFF2-40B4-BE49-F238E27FC236}">
                <a16:creationId xmlns:a16="http://schemas.microsoft.com/office/drawing/2014/main" id="{AA4915D0-CA67-56C7-6675-D9B7BE7E338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6995" y="4848336"/>
            <a:ext cx="1123070" cy="196589"/>
          </a:xfrm>
          <a:prstGeom prst="rect">
            <a:avLst/>
          </a:prstGeom>
          <a:noFill/>
          <a:extLst>
            <a:ext uri="{909E8E84-426E-40DD-AFC4-6F175D3DCCD1}">
              <a14:hiddenFill xmlns:a14="http://schemas.microsoft.com/office/drawing/2010/main">
                <a:solidFill>
                  <a:srgbClr val="FFFFFF"/>
                </a:solidFill>
              </a14:hiddenFill>
            </a:ext>
          </a:extLst>
        </p:spPr>
      </p:pic>
      <p:cxnSp>
        <p:nvCxnSpPr>
          <p:cNvPr id="166" name="Straight Arrow Connector 165">
            <a:extLst>
              <a:ext uri="{FF2B5EF4-FFF2-40B4-BE49-F238E27FC236}">
                <a16:creationId xmlns:a16="http://schemas.microsoft.com/office/drawing/2014/main" id="{A810DD52-FCED-649D-A01A-9C41BBE00F62}"/>
              </a:ext>
            </a:extLst>
          </p:cNvPr>
          <p:cNvCxnSpPr>
            <a:cxnSpLocks/>
          </p:cNvCxnSpPr>
          <p:nvPr/>
        </p:nvCxnSpPr>
        <p:spPr>
          <a:xfrm>
            <a:off x="8008760" y="936566"/>
            <a:ext cx="9181" cy="6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Rectangle: Rounded Corners 168">
            <a:extLst>
              <a:ext uri="{FF2B5EF4-FFF2-40B4-BE49-F238E27FC236}">
                <a16:creationId xmlns:a16="http://schemas.microsoft.com/office/drawing/2014/main" id="{7282D1DE-CD96-44E2-ECBA-BC0138409571}"/>
              </a:ext>
            </a:extLst>
          </p:cNvPr>
          <p:cNvSpPr/>
          <p:nvPr/>
        </p:nvSpPr>
        <p:spPr>
          <a:xfrm>
            <a:off x="7751944" y="1632676"/>
            <a:ext cx="751060" cy="4254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NBA/</a:t>
            </a:r>
          </a:p>
          <a:p>
            <a:pPr algn="ctr"/>
            <a:r>
              <a:rPr lang="en-US" sz="1100" dirty="0"/>
              <a:t>Analytics</a:t>
            </a:r>
            <a:endParaRPr lang="en-IN" sz="1100" dirty="0"/>
          </a:p>
        </p:txBody>
      </p:sp>
      <p:cxnSp>
        <p:nvCxnSpPr>
          <p:cNvPr id="171" name="Straight Arrow Connector 170">
            <a:extLst>
              <a:ext uri="{FF2B5EF4-FFF2-40B4-BE49-F238E27FC236}">
                <a16:creationId xmlns:a16="http://schemas.microsoft.com/office/drawing/2014/main" id="{01711C0B-B320-DF42-82C1-216C5B528B17}"/>
              </a:ext>
            </a:extLst>
          </p:cNvPr>
          <p:cNvCxnSpPr>
            <a:cxnSpLocks/>
          </p:cNvCxnSpPr>
          <p:nvPr/>
        </p:nvCxnSpPr>
        <p:spPr>
          <a:xfrm flipV="1">
            <a:off x="8173155" y="911002"/>
            <a:ext cx="0" cy="73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8" name="Rectangle 1077">
            <a:extLst>
              <a:ext uri="{FF2B5EF4-FFF2-40B4-BE49-F238E27FC236}">
                <a16:creationId xmlns:a16="http://schemas.microsoft.com/office/drawing/2014/main" id="{0DB82ABE-AC82-513E-F3E4-419B3F06E79B}"/>
              </a:ext>
            </a:extLst>
          </p:cNvPr>
          <p:cNvSpPr/>
          <p:nvPr/>
        </p:nvSpPr>
        <p:spPr>
          <a:xfrm rot="5400000">
            <a:off x="6207944" y="743184"/>
            <a:ext cx="583128" cy="104633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1079" name="Group 1078">
            <a:extLst>
              <a:ext uri="{FF2B5EF4-FFF2-40B4-BE49-F238E27FC236}">
                <a16:creationId xmlns:a16="http://schemas.microsoft.com/office/drawing/2014/main" id="{DC419163-00F0-8C10-2281-DB79E69C8C98}"/>
              </a:ext>
            </a:extLst>
          </p:cNvPr>
          <p:cNvGrpSpPr/>
          <p:nvPr/>
        </p:nvGrpSpPr>
        <p:grpSpPr>
          <a:xfrm>
            <a:off x="2667811" y="5768168"/>
            <a:ext cx="917387" cy="475168"/>
            <a:chOff x="5910265" y="5168327"/>
            <a:chExt cx="1075411" cy="836580"/>
          </a:xfrm>
        </p:grpSpPr>
        <p:grpSp>
          <p:nvGrpSpPr>
            <p:cNvPr id="1080" name="Group 1079">
              <a:extLst>
                <a:ext uri="{FF2B5EF4-FFF2-40B4-BE49-F238E27FC236}">
                  <a16:creationId xmlns:a16="http://schemas.microsoft.com/office/drawing/2014/main" id="{CABCB831-8310-A73D-26D8-3D165C499E3D}"/>
                </a:ext>
              </a:extLst>
            </p:cNvPr>
            <p:cNvGrpSpPr/>
            <p:nvPr/>
          </p:nvGrpSpPr>
          <p:grpSpPr>
            <a:xfrm>
              <a:off x="5910265" y="5168327"/>
              <a:ext cx="1075411" cy="836580"/>
              <a:chOff x="2294583" y="5170713"/>
              <a:chExt cx="1075411" cy="836580"/>
            </a:xfrm>
          </p:grpSpPr>
          <p:grpSp>
            <p:nvGrpSpPr>
              <p:cNvPr id="1082" name="Group 1081">
                <a:extLst>
                  <a:ext uri="{FF2B5EF4-FFF2-40B4-BE49-F238E27FC236}">
                    <a16:creationId xmlns:a16="http://schemas.microsoft.com/office/drawing/2014/main" id="{552FFB60-92F4-ED33-A253-9AD4422CEE09}"/>
                  </a:ext>
                </a:extLst>
              </p:cNvPr>
              <p:cNvGrpSpPr/>
              <p:nvPr/>
            </p:nvGrpSpPr>
            <p:grpSpPr>
              <a:xfrm>
                <a:off x="2294583" y="5170713"/>
                <a:ext cx="1075411" cy="588713"/>
                <a:chOff x="746496" y="1014195"/>
                <a:chExt cx="1845984" cy="1010549"/>
              </a:xfrm>
            </p:grpSpPr>
            <p:sp>
              <p:nvSpPr>
                <p:cNvPr id="1084" name="Diamond 2">
                  <a:extLst>
                    <a:ext uri="{FF2B5EF4-FFF2-40B4-BE49-F238E27FC236}">
                      <a16:creationId xmlns:a16="http://schemas.microsoft.com/office/drawing/2014/main" id="{4C60E8A8-55DD-FD21-8018-20D71683FA6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5" name="Parallelogram 3">
                  <a:extLst>
                    <a:ext uri="{FF2B5EF4-FFF2-40B4-BE49-F238E27FC236}">
                      <a16:creationId xmlns:a16="http://schemas.microsoft.com/office/drawing/2014/main" id="{7075A19C-D801-26FC-3CE3-A2939EF23190}"/>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6" name="Parallelogram 1085">
                  <a:extLst>
                    <a:ext uri="{FF2B5EF4-FFF2-40B4-BE49-F238E27FC236}">
                      <a16:creationId xmlns:a16="http://schemas.microsoft.com/office/drawing/2014/main" id="{6893BFE6-D51F-29D7-D259-660671D9282A}"/>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7" name="Arrow: Pentagon 1086">
                  <a:extLst>
                    <a:ext uri="{FF2B5EF4-FFF2-40B4-BE49-F238E27FC236}">
                      <a16:creationId xmlns:a16="http://schemas.microsoft.com/office/drawing/2014/main" id="{64A31CAE-796C-24E2-684A-D9944AF5F42E}"/>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83" name="TextBox 1082">
                <a:extLst>
                  <a:ext uri="{FF2B5EF4-FFF2-40B4-BE49-F238E27FC236}">
                    <a16:creationId xmlns:a16="http://schemas.microsoft.com/office/drawing/2014/main" id="{E0C99692-1097-7930-6C5E-B7FD6AA31BCB}"/>
                  </a:ext>
                </a:extLst>
              </p:cNvPr>
              <p:cNvSpPr txBox="1"/>
              <p:nvPr/>
            </p:nvSpPr>
            <p:spPr>
              <a:xfrm>
                <a:off x="2526043" y="5859507"/>
                <a:ext cx="565924"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Security</a:t>
                </a:r>
              </a:p>
            </p:txBody>
          </p:sp>
        </p:grpSp>
        <p:pic>
          <p:nvPicPr>
            <p:cNvPr id="1081" name="Picture 42" descr="Security Shield Lock Comments - 100% Secure Checkout Icon Clipart - Large  Size Png Image - PikPng">
              <a:extLst>
                <a:ext uri="{FF2B5EF4-FFF2-40B4-BE49-F238E27FC236}">
                  <a16:creationId xmlns:a16="http://schemas.microsoft.com/office/drawing/2014/main" id="{CE97FE14-615C-FABE-3BA3-F1AB068CB848}"/>
                </a:ext>
              </a:extLst>
            </p:cNvPr>
            <p:cNvPicPr>
              <a:picLocks noChangeAspect="1" noChangeArrowheads="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4096" y="5294650"/>
              <a:ext cx="248645" cy="2787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88" name="Group 1087">
            <a:extLst>
              <a:ext uri="{FF2B5EF4-FFF2-40B4-BE49-F238E27FC236}">
                <a16:creationId xmlns:a16="http://schemas.microsoft.com/office/drawing/2014/main" id="{79C659E4-870A-F110-6A01-9CDA1A27AADB}"/>
              </a:ext>
            </a:extLst>
          </p:cNvPr>
          <p:cNvGrpSpPr/>
          <p:nvPr/>
        </p:nvGrpSpPr>
        <p:grpSpPr>
          <a:xfrm>
            <a:off x="3677458" y="5796175"/>
            <a:ext cx="1022835" cy="420427"/>
            <a:chOff x="2767221" y="5168327"/>
            <a:chExt cx="1127907" cy="833767"/>
          </a:xfrm>
        </p:grpSpPr>
        <p:grpSp>
          <p:nvGrpSpPr>
            <p:cNvPr id="1089" name="Group 1088">
              <a:extLst>
                <a:ext uri="{FF2B5EF4-FFF2-40B4-BE49-F238E27FC236}">
                  <a16:creationId xmlns:a16="http://schemas.microsoft.com/office/drawing/2014/main" id="{43EB0AAE-E79A-AC43-0639-34FE067E3C81}"/>
                </a:ext>
              </a:extLst>
            </p:cNvPr>
            <p:cNvGrpSpPr/>
            <p:nvPr/>
          </p:nvGrpSpPr>
          <p:grpSpPr>
            <a:xfrm>
              <a:off x="2767221" y="5168327"/>
              <a:ext cx="1127907" cy="833767"/>
              <a:chOff x="2242087" y="5170713"/>
              <a:chExt cx="1127907" cy="833767"/>
            </a:xfrm>
          </p:grpSpPr>
          <p:grpSp>
            <p:nvGrpSpPr>
              <p:cNvPr id="1091" name="Group 1090">
                <a:extLst>
                  <a:ext uri="{FF2B5EF4-FFF2-40B4-BE49-F238E27FC236}">
                    <a16:creationId xmlns:a16="http://schemas.microsoft.com/office/drawing/2014/main" id="{38C4F1F7-B5EA-3D59-6502-B22B96E26F13}"/>
                  </a:ext>
                </a:extLst>
              </p:cNvPr>
              <p:cNvGrpSpPr/>
              <p:nvPr/>
            </p:nvGrpSpPr>
            <p:grpSpPr>
              <a:xfrm>
                <a:off x="2294583" y="5170713"/>
                <a:ext cx="1075411" cy="588713"/>
                <a:chOff x="746496" y="1014195"/>
                <a:chExt cx="1845984" cy="1010549"/>
              </a:xfrm>
            </p:grpSpPr>
            <p:sp>
              <p:nvSpPr>
                <p:cNvPr id="1093" name="Diamond 2">
                  <a:extLst>
                    <a:ext uri="{FF2B5EF4-FFF2-40B4-BE49-F238E27FC236}">
                      <a16:creationId xmlns:a16="http://schemas.microsoft.com/office/drawing/2014/main" id="{D0265131-5ED7-83FE-EE15-F47BFE15BA46}"/>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4" name="Parallelogram 3">
                  <a:extLst>
                    <a:ext uri="{FF2B5EF4-FFF2-40B4-BE49-F238E27FC236}">
                      <a16:creationId xmlns:a16="http://schemas.microsoft.com/office/drawing/2014/main" id="{D7483E40-0F79-9B73-359F-8A1BF775EE9F}"/>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5" name="Parallelogram 1094">
                  <a:extLst>
                    <a:ext uri="{FF2B5EF4-FFF2-40B4-BE49-F238E27FC236}">
                      <a16:creationId xmlns:a16="http://schemas.microsoft.com/office/drawing/2014/main" id="{5E0C54FA-6DBA-B544-E3E9-7020F38119F4}"/>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6" name="Arrow: Pentagon 1095">
                  <a:extLst>
                    <a:ext uri="{FF2B5EF4-FFF2-40B4-BE49-F238E27FC236}">
                      <a16:creationId xmlns:a16="http://schemas.microsoft.com/office/drawing/2014/main" id="{CDA35981-C8BC-0752-6BAE-36E00C537F60}"/>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92" name="TextBox 1091">
                <a:extLst>
                  <a:ext uri="{FF2B5EF4-FFF2-40B4-BE49-F238E27FC236}">
                    <a16:creationId xmlns:a16="http://schemas.microsoft.com/office/drawing/2014/main" id="{4ED7699E-BA7E-7FB9-04E9-3C4FFE9653DD}"/>
                  </a:ext>
                </a:extLst>
              </p:cNvPr>
              <p:cNvSpPr txBox="1"/>
              <p:nvPr/>
            </p:nvSpPr>
            <p:spPr>
              <a:xfrm>
                <a:off x="2242087" y="5856694"/>
                <a:ext cx="112778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RPA</a:t>
                </a:r>
              </a:p>
            </p:txBody>
          </p:sp>
        </p:grpSp>
        <p:pic>
          <p:nvPicPr>
            <p:cNvPr id="1090" name="Picture 36" descr="Rpa - Free industry icons">
              <a:extLst>
                <a:ext uri="{FF2B5EF4-FFF2-40B4-BE49-F238E27FC236}">
                  <a16:creationId xmlns:a16="http://schemas.microsoft.com/office/drawing/2014/main" id="{0C756CEE-015B-63B9-3792-2E4C006FA740}"/>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3218325" y="5292800"/>
              <a:ext cx="260080" cy="26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7" name="Group 1096">
            <a:extLst>
              <a:ext uri="{FF2B5EF4-FFF2-40B4-BE49-F238E27FC236}">
                <a16:creationId xmlns:a16="http://schemas.microsoft.com/office/drawing/2014/main" id="{1A484D1D-7A88-D4F5-8A30-BEFCB2EDE522}"/>
              </a:ext>
            </a:extLst>
          </p:cNvPr>
          <p:cNvGrpSpPr/>
          <p:nvPr/>
        </p:nvGrpSpPr>
        <p:grpSpPr>
          <a:xfrm>
            <a:off x="4820858" y="5734311"/>
            <a:ext cx="979077" cy="503160"/>
            <a:chOff x="9000813" y="5168327"/>
            <a:chExt cx="1075411" cy="821418"/>
          </a:xfrm>
        </p:grpSpPr>
        <p:grpSp>
          <p:nvGrpSpPr>
            <p:cNvPr id="1098" name="Group 1097">
              <a:extLst>
                <a:ext uri="{FF2B5EF4-FFF2-40B4-BE49-F238E27FC236}">
                  <a16:creationId xmlns:a16="http://schemas.microsoft.com/office/drawing/2014/main" id="{D4D7B2B9-D7C2-0C4C-4E86-E601D2A4A645}"/>
                </a:ext>
              </a:extLst>
            </p:cNvPr>
            <p:cNvGrpSpPr/>
            <p:nvPr/>
          </p:nvGrpSpPr>
          <p:grpSpPr>
            <a:xfrm>
              <a:off x="9000813" y="5168327"/>
              <a:ext cx="1075411" cy="821418"/>
              <a:chOff x="2294583" y="5170713"/>
              <a:chExt cx="1075411" cy="821418"/>
            </a:xfrm>
          </p:grpSpPr>
          <p:grpSp>
            <p:nvGrpSpPr>
              <p:cNvPr id="1100" name="Group 1099">
                <a:extLst>
                  <a:ext uri="{FF2B5EF4-FFF2-40B4-BE49-F238E27FC236}">
                    <a16:creationId xmlns:a16="http://schemas.microsoft.com/office/drawing/2014/main" id="{35B95195-5C9F-44C1-1BF9-7000E306F048}"/>
                  </a:ext>
                </a:extLst>
              </p:cNvPr>
              <p:cNvGrpSpPr/>
              <p:nvPr/>
            </p:nvGrpSpPr>
            <p:grpSpPr>
              <a:xfrm>
                <a:off x="2294583" y="5170713"/>
                <a:ext cx="1075411" cy="588713"/>
                <a:chOff x="746496" y="1014195"/>
                <a:chExt cx="1845984" cy="1010549"/>
              </a:xfrm>
            </p:grpSpPr>
            <p:sp>
              <p:nvSpPr>
                <p:cNvPr id="1102" name="Diamond 2">
                  <a:extLst>
                    <a:ext uri="{FF2B5EF4-FFF2-40B4-BE49-F238E27FC236}">
                      <a16:creationId xmlns:a16="http://schemas.microsoft.com/office/drawing/2014/main" id="{36A377D4-4D30-1435-2A66-F03462F43FB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3" name="Parallelogram 3">
                  <a:extLst>
                    <a:ext uri="{FF2B5EF4-FFF2-40B4-BE49-F238E27FC236}">
                      <a16:creationId xmlns:a16="http://schemas.microsoft.com/office/drawing/2014/main" id="{967A3355-F11D-2E7A-9BC4-C68E0FC1DEDA}"/>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4" name="Parallelogram 1103">
                  <a:extLst>
                    <a:ext uri="{FF2B5EF4-FFF2-40B4-BE49-F238E27FC236}">
                      <a16:creationId xmlns:a16="http://schemas.microsoft.com/office/drawing/2014/main" id="{30DF37C7-5E0F-E189-C170-DEDA4415307B}"/>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5" name="Arrow: Pentagon 1104">
                  <a:extLst>
                    <a:ext uri="{FF2B5EF4-FFF2-40B4-BE49-F238E27FC236}">
                      <a16:creationId xmlns:a16="http://schemas.microsoft.com/office/drawing/2014/main" id="{632C7802-BC82-E9C8-A66B-9F32367098D1}"/>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01" name="TextBox 1100">
                <a:extLst>
                  <a:ext uri="{FF2B5EF4-FFF2-40B4-BE49-F238E27FC236}">
                    <a16:creationId xmlns:a16="http://schemas.microsoft.com/office/drawing/2014/main" id="{3AE222DC-F79B-4129-57DB-96C0A2662DBF}"/>
                  </a:ext>
                </a:extLst>
              </p:cNvPr>
              <p:cNvSpPr txBox="1"/>
              <p:nvPr/>
            </p:nvSpPr>
            <p:spPr>
              <a:xfrm>
                <a:off x="2369677" y="5844345"/>
                <a:ext cx="936628"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DevOps &amp; GitHub</a:t>
                </a:r>
              </a:p>
            </p:txBody>
          </p:sp>
        </p:grpSp>
        <p:pic>
          <p:nvPicPr>
            <p:cNvPr id="1099" name="Picture 48" descr="What is CI/CD?">
              <a:extLst>
                <a:ext uri="{FF2B5EF4-FFF2-40B4-BE49-F238E27FC236}">
                  <a16:creationId xmlns:a16="http://schemas.microsoft.com/office/drawing/2014/main" id="{8CC5438B-510A-DD45-57BE-97472DEB504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03032" y="5297783"/>
              <a:ext cx="461182" cy="2207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06" name="Group 1105">
            <a:extLst>
              <a:ext uri="{FF2B5EF4-FFF2-40B4-BE49-F238E27FC236}">
                <a16:creationId xmlns:a16="http://schemas.microsoft.com/office/drawing/2014/main" id="{0130E71B-AF66-28D7-F6D4-2EF31E3AB0F0}"/>
              </a:ext>
            </a:extLst>
          </p:cNvPr>
          <p:cNvGrpSpPr/>
          <p:nvPr/>
        </p:nvGrpSpPr>
        <p:grpSpPr>
          <a:xfrm>
            <a:off x="5908667" y="5734311"/>
            <a:ext cx="1018807" cy="503160"/>
            <a:chOff x="7455539" y="5168327"/>
            <a:chExt cx="1075411" cy="821418"/>
          </a:xfrm>
        </p:grpSpPr>
        <p:grpSp>
          <p:nvGrpSpPr>
            <p:cNvPr id="1107" name="Group 1106">
              <a:extLst>
                <a:ext uri="{FF2B5EF4-FFF2-40B4-BE49-F238E27FC236}">
                  <a16:creationId xmlns:a16="http://schemas.microsoft.com/office/drawing/2014/main" id="{8ECF3D16-8AA6-B8F0-B567-03F694E31813}"/>
                </a:ext>
              </a:extLst>
            </p:cNvPr>
            <p:cNvGrpSpPr/>
            <p:nvPr/>
          </p:nvGrpSpPr>
          <p:grpSpPr>
            <a:xfrm>
              <a:off x="7455539" y="5168327"/>
              <a:ext cx="1075411" cy="821418"/>
              <a:chOff x="2294583" y="5170713"/>
              <a:chExt cx="1075411" cy="821418"/>
            </a:xfrm>
          </p:grpSpPr>
          <p:grpSp>
            <p:nvGrpSpPr>
              <p:cNvPr id="1109" name="Group 1108">
                <a:extLst>
                  <a:ext uri="{FF2B5EF4-FFF2-40B4-BE49-F238E27FC236}">
                    <a16:creationId xmlns:a16="http://schemas.microsoft.com/office/drawing/2014/main" id="{24C5A5FA-ED0D-6405-EFFA-CBA0C5DD7F0D}"/>
                  </a:ext>
                </a:extLst>
              </p:cNvPr>
              <p:cNvGrpSpPr/>
              <p:nvPr/>
            </p:nvGrpSpPr>
            <p:grpSpPr>
              <a:xfrm>
                <a:off x="2294583" y="5170713"/>
                <a:ext cx="1075411" cy="588713"/>
                <a:chOff x="746496" y="1014195"/>
                <a:chExt cx="1845984" cy="1010549"/>
              </a:xfrm>
            </p:grpSpPr>
            <p:sp>
              <p:nvSpPr>
                <p:cNvPr id="1111" name="Diamond 2">
                  <a:extLst>
                    <a:ext uri="{FF2B5EF4-FFF2-40B4-BE49-F238E27FC236}">
                      <a16:creationId xmlns:a16="http://schemas.microsoft.com/office/drawing/2014/main" id="{21A117D5-09BF-04E6-C182-7FC4512AAA54}"/>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2" name="Parallelogram 3">
                  <a:extLst>
                    <a:ext uri="{FF2B5EF4-FFF2-40B4-BE49-F238E27FC236}">
                      <a16:creationId xmlns:a16="http://schemas.microsoft.com/office/drawing/2014/main" id="{D88A96B2-FB8B-CE87-19C1-20C5A33C7F0B}"/>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3" name="Parallelogram 1112">
                  <a:extLst>
                    <a:ext uri="{FF2B5EF4-FFF2-40B4-BE49-F238E27FC236}">
                      <a16:creationId xmlns:a16="http://schemas.microsoft.com/office/drawing/2014/main" id="{279B6615-1EC3-062B-5508-0267F9439363}"/>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4" name="Arrow: Pentagon 1113">
                  <a:extLst>
                    <a:ext uri="{FF2B5EF4-FFF2-40B4-BE49-F238E27FC236}">
                      <a16:creationId xmlns:a16="http://schemas.microsoft.com/office/drawing/2014/main" id="{5C2D5975-B4D4-3DD0-661A-E479A3F0923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0" name="TextBox 1109">
                <a:extLst>
                  <a:ext uri="{FF2B5EF4-FFF2-40B4-BE49-F238E27FC236}">
                    <a16:creationId xmlns:a16="http://schemas.microsoft.com/office/drawing/2014/main" id="{F5A090A7-C6A0-879F-CF09-8113B0832CCF}"/>
                  </a:ext>
                </a:extLst>
              </p:cNvPr>
              <p:cNvSpPr txBox="1"/>
              <p:nvPr/>
            </p:nvSpPr>
            <p:spPr>
              <a:xfrm>
                <a:off x="2450859" y="5844345"/>
                <a:ext cx="75991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Orchestration</a:t>
                </a:r>
              </a:p>
            </p:txBody>
          </p:sp>
        </p:grpSp>
        <p:pic>
          <p:nvPicPr>
            <p:cNvPr id="1108" name="Picture 46" descr="Setting - Free electronics icons">
              <a:extLst>
                <a:ext uri="{FF2B5EF4-FFF2-40B4-BE49-F238E27FC236}">
                  <a16:creationId xmlns:a16="http://schemas.microsoft.com/office/drawing/2014/main" id="{846F2991-8CA4-BFB1-3DC5-A52ECD6CE1BB}"/>
                </a:ext>
              </a:extLst>
            </p:cNvPr>
            <p:cNvPicPr>
              <a:picLocks noChangeAspect="1" noChangeArrowheads="1"/>
            </p:cNvPicPr>
            <p:nvPr/>
          </p:nvPicPr>
          <p:blipFill>
            <a:blip r:embed="rId14" cstate="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861163" y="5254919"/>
              <a:ext cx="297961" cy="297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15" name="Group 1114">
            <a:extLst>
              <a:ext uri="{FF2B5EF4-FFF2-40B4-BE49-F238E27FC236}">
                <a16:creationId xmlns:a16="http://schemas.microsoft.com/office/drawing/2014/main" id="{000F249C-9461-2060-5D4F-FF7CF4FFF73E}"/>
              </a:ext>
            </a:extLst>
          </p:cNvPr>
          <p:cNvGrpSpPr/>
          <p:nvPr/>
        </p:nvGrpSpPr>
        <p:grpSpPr>
          <a:xfrm>
            <a:off x="6988182" y="5746858"/>
            <a:ext cx="924345" cy="489228"/>
            <a:chOff x="5224429" y="5893730"/>
            <a:chExt cx="1075411" cy="829228"/>
          </a:xfrm>
        </p:grpSpPr>
        <p:grpSp>
          <p:nvGrpSpPr>
            <p:cNvPr id="1116" name="Group 1115">
              <a:extLst>
                <a:ext uri="{FF2B5EF4-FFF2-40B4-BE49-F238E27FC236}">
                  <a16:creationId xmlns:a16="http://schemas.microsoft.com/office/drawing/2014/main" id="{025E41F0-9550-D2C1-D20F-E4AD57833255}"/>
                </a:ext>
              </a:extLst>
            </p:cNvPr>
            <p:cNvGrpSpPr/>
            <p:nvPr/>
          </p:nvGrpSpPr>
          <p:grpSpPr>
            <a:xfrm>
              <a:off x="5224429" y="5893730"/>
              <a:ext cx="1075411" cy="829228"/>
              <a:chOff x="2294583" y="5170713"/>
              <a:chExt cx="1075411" cy="829228"/>
            </a:xfrm>
          </p:grpSpPr>
          <p:grpSp>
            <p:nvGrpSpPr>
              <p:cNvPr id="1118" name="Group 1117">
                <a:extLst>
                  <a:ext uri="{FF2B5EF4-FFF2-40B4-BE49-F238E27FC236}">
                    <a16:creationId xmlns:a16="http://schemas.microsoft.com/office/drawing/2014/main" id="{797A11F8-BB3C-28FA-0CDE-8FA5262F1A22}"/>
                  </a:ext>
                </a:extLst>
              </p:cNvPr>
              <p:cNvGrpSpPr/>
              <p:nvPr/>
            </p:nvGrpSpPr>
            <p:grpSpPr>
              <a:xfrm>
                <a:off x="2294583" y="5170713"/>
                <a:ext cx="1075411" cy="588713"/>
                <a:chOff x="746496" y="1014195"/>
                <a:chExt cx="1845984" cy="1010549"/>
              </a:xfrm>
            </p:grpSpPr>
            <p:sp>
              <p:nvSpPr>
                <p:cNvPr id="1120" name="Diamond 2">
                  <a:extLst>
                    <a:ext uri="{FF2B5EF4-FFF2-40B4-BE49-F238E27FC236}">
                      <a16:creationId xmlns:a16="http://schemas.microsoft.com/office/drawing/2014/main" id="{F9C0E237-B2C9-89F0-3EA6-3E592020CB12}"/>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1" name="Parallelogram 3">
                  <a:extLst>
                    <a:ext uri="{FF2B5EF4-FFF2-40B4-BE49-F238E27FC236}">
                      <a16:creationId xmlns:a16="http://schemas.microsoft.com/office/drawing/2014/main" id="{D4B74A56-4DF8-DC25-1245-38E61A5F9E64}"/>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2" name="Parallelogram 1121">
                  <a:extLst>
                    <a:ext uri="{FF2B5EF4-FFF2-40B4-BE49-F238E27FC236}">
                      <a16:creationId xmlns:a16="http://schemas.microsoft.com/office/drawing/2014/main" id="{28E75278-3D8A-E1F7-ECCC-696F9C413602}"/>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3" name="Arrow: Pentagon 1122">
                  <a:extLst>
                    <a:ext uri="{FF2B5EF4-FFF2-40B4-BE49-F238E27FC236}">
                      <a16:creationId xmlns:a16="http://schemas.microsoft.com/office/drawing/2014/main" id="{6013BD92-7E99-97CC-0889-A9999F937C5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9" name="TextBox 1118">
                <a:extLst>
                  <a:ext uri="{FF2B5EF4-FFF2-40B4-BE49-F238E27FC236}">
                    <a16:creationId xmlns:a16="http://schemas.microsoft.com/office/drawing/2014/main" id="{A2302041-A71E-8D9D-2527-890A9F5CB80D}"/>
                  </a:ext>
                </a:extLst>
              </p:cNvPr>
              <p:cNvSpPr txBox="1"/>
              <p:nvPr/>
            </p:nvSpPr>
            <p:spPr>
              <a:xfrm>
                <a:off x="2517203" y="5852156"/>
                <a:ext cx="565924"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Flexibility</a:t>
                </a:r>
              </a:p>
            </p:txBody>
          </p:sp>
        </p:grpSp>
        <p:pic>
          <p:nvPicPr>
            <p:cNvPr id="1117" name="Picture 56" descr="Flexibility Icons - Free SVG &amp; PNG Flexibility Images - Noun Project">
              <a:extLst>
                <a:ext uri="{FF2B5EF4-FFF2-40B4-BE49-F238E27FC236}">
                  <a16:creationId xmlns:a16="http://schemas.microsoft.com/office/drawing/2014/main" id="{83F0C70C-3E9E-8512-CE39-CFF01C207FA7}"/>
                </a:ext>
              </a:extLst>
            </p:cNvPr>
            <p:cNvPicPr>
              <a:picLocks noChangeAspect="1" noChangeArrowheads="1"/>
            </p:cNvPicPr>
            <p:nvPr/>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13629" y="6017026"/>
              <a:ext cx="274961" cy="274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24" name="Group 1123">
            <a:extLst>
              <a:ext uri="{FF2B5EF4-FFF2-40B4-BE49-F238E27FC236}">
                <a16:creationId xmlns:a16="http://schemas.microsoft.com/office/drawing/2014/main" id="{DCB1D5EE-0BDD-9595-4B54-FA501F764E67}"/>
              </a:ext>
            </a:extLst>
          </p:cNvPr>
          <p:cNvGrpSpPr/>
          <p:nvPr/>
        </p:nvGrpSpPr>
        <p:grpSpPr>
          <a:xfrm>
            <a:off x="8110189" y="5682145"/>
            <a:ext cx="978216" cy="556448"/>
            <a:chOff x="6799840" y="5893730"/>
            <a:chExt cx="1075411" cy="815112"/>
          </a:xfrm>
        </p:grpSpPr>
        <p:grpSp>
          <p:nvGrpSpPr>
            <p:cNvPr id="1125" name="Group 1124">
              <a:extLst>
                <a:ext uri="{FF2B5EF4-FFF2-40B4-BE49-F238E27FC236}">
                  <a16:creationId xmlns:a16="http://schemas.microsoft.com/office/drawing/2014/main" id="{7DDBBF29-51C5-9672-5FEF-1A9784930AEF}"/>
                </a:ext>
              </a:extLst>
            </p:cNvPr>
            <p:cNvGrpSpPr/>
            <p:nvPr/>
          </p:nvGrpSpPr>
          <p:grpSpPr>
            <a:xfrm>
              <a:off x="6799840" y="5893730"/>
              <a:ext cx="1075411" cy="815112"/>
              <a:chOff x="2294583" y="5170713"/>
              <a:chExt cx="1075411" cy="815112"/>
            </a:xfrm>
          </p:grpSpPr>
          <p:grpSp>
            <p:nvGrpSpPr>
              <p:cNvPr id="1127" name="Group 1126">
                <a:extLst>
                  <a:ext uri="{FF2B5EF4-FFF2-40B4-BE49-F238E27FC236}">
                    <a16:creationId xmlns:a16="http://schemas.microsoft.com/office/drawing/2014/main" id="{737150D6-86B5-F17E-3494-91CF4FA8E80C}"/>
                  </a:ext>
                </a:extLst>
              </p:cNvPr>
              <p:cNvGrpSpPr/>
              <p:nvPr/>
            </p:nvGrpSpPr>
            <p:grpSpPr>
              <a:xfrm>
                <a:off x="2294583" y="5170713"/>
                <a:ext cx="1075411" cy="588713"/>
                <a:chOff x="746496" y="1014195"/>
                <a:chExt cx="1845984" cy="1010549"/>
              </a:xfrm>
            </p:grpSpPr>
            <p:sp>
              <p:nvSpPr>
                <p:cNvPr id="1129" name="Diamond 2">
                  <a:extLst>
                    <a:ext uri="{FF2B5EF4-FFF2-40B4-BE49-F238E27FC236}">
                      <a16:creationId xmlns:a16="http://schemas.microsoft.com/office/drawing/2014/main" id="{64939C8C-C026-5D0A-4F79-9F472DE1B81D}"/>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0" name="Parallelogram 3">
                  <a:extLst>
                    <a:ext uri="{FF2B5EF4-FFF2-40B4-BE49-F238E27FC236}">
                      <a16:creationId xmlns:a16="http://schemas.microsoft.com/office/drawing/2014/main" id="{70F6361C-68B6-500F-1EC9-9196239BC169}"/>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1" name="Parallelogram 1130">
                  <a:extLst>
                    <a:ext uri="{FF2B5EF4-FFF2-40B4-BE49-F238E27FC236}">
                      <a16:creationId xmlns:a16="http://schemas.microsoft.com/office/drawing/2014/main" id="{FF8688F8-8279-76EF-6DAA-171235520F18}"/>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2" name="Arrow: Pentagon 1131">
                  <a:extLst>
                    <a:ext uri="{FF2B5EF4-FFF2-40B4-BE49-F238E27FC236}">
                      <a16:creationId xmlns:a16="http://schemas.microsoft.com/office/drawing/2014/main" id="{17E49C58-85EC-4033-1C81-A3D88E752308}"/>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28" name="TextBox 1127">
                <a:extLst>
                  <a:ext uri="{FF2B5EF4-FFF2-40B4-BE49-F238E27FC236}">
                    <a16:creationId xmlns:a16="http://schemas.microsoft.com/office/drawing/2014/main" id="{D6BAC4B8-0D34-8EE1-D1AF-AAF51B459C12}"/>
                  </a:ext>
                </a:extLst>
              </p:cNvPr>
              <p:cNvSpPr txBox="1"/>
              <p:nvPr/>
            </p:nvSpPr>
            <p:spPr>
              <a:xfrm>
                <a:off x="2410211" y="5838040"/>
                <a:ext cx="814893"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Auto Upgrades</a:t>
                </a:r>
              </a:p>
            </p:txBody>
          </p:sp>
        </p:grpSp>
        <p:pic>
          <p:nvPicPr>
            <p:cNvPr id="1126" name="Picture 62" descr="Upgrade icons for free download | Freepik">
              <a:extLst>
                <a:ext uri="{FF2B5EF4-FFF2-40B4-BE49-F238E27FC236}">
                  <a16:creationId xmlns:a16="http://schemas.microsoft.com/office/drawing/2014/main" id="{F2FDAA5F-4A62-A53B-67DE-4C6217EB90A2}"/>
                </a:ext>
              </a:extLst>
            </p:cNvPr>
            <p:cNvPicPr>
              <a:picLocks noChangeAspect="1" noChangeArrowheads="1"/>
            </p:cNvPicPr>
            <p:nvPr/>
          </p:nvPicPr>
          <p:blipFill>
            <a:blip r:embed="rId16" cstate="print">
              <a:duotone>
                <a:schemeClr val="accent1">
                  <a:shade val="45000"/>
                  <a:satMod val="135000"/>
                </a:schemeClr>
                <a:prstClr val="white"/>
              </a:duotone>
              <a:extLst>
                <a:ext uri="{BEBA8EAE-BF5A-486C-A8C5-ECC9F3942E4B}">
                  <a14:imgProps xmlns:a14="http://schemas.microsoft.com/office/drawing/2010/main">
                    <a14:imgLayer r:embed="rId17">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97229" y="6008311"/>
              <a:ext cx="273142" cy="273142"/>
            </a:xfrm>
            <a:prstGeom prst="rect">
              <a:avLst/>
            </a:prstGeom>
            <a:noFill/>
            <a:extLst>
              <a:ext uri="{909E8E84-426E-40DD-AFC4-6F175D3DCCD1}">
                <a14:hiddenFill xmlns:a14="http://schemas.microsoft.com/office/drawing/2010/main">
                  <a:solidFill>
                    <a:srgbClr val="FFFFFF"/>
                  </a:solidFill>
                </a14:hiddenFill>
              </a:ext>
            </a:extLst>
          </p:spPr>
        </p:pic>
      </p:grpSp>
      <p:sp>
        <p:nvSpPr>
          <p:cNvPr id="1133" name="TextBox 1132">
            <a:extLst>
              <a:ext uri="{FF2B5EF4-FFF2-40B4-BE49-F238E27FC236}">
                <a16:creationId xmlns:a16="http://schemas.microsoft.com/office/drawing/2014/main" id="{ABA4622E-30F7-A525-45D2-530031CB8AAA}"/>
              </a:ext>
            </a:extLst>
          </p:cNvPr>
          <p:cNvSpPr txBox="1"/>
          <p:nvPr/>
        </p:nvSpPr>
        <p:spPr>
          <a:xfrm>
            <a:off x="562843" y="5846294"/>
            <a:ext cx="1139303" cy="415498"/>
          </a:xfrm>
          <a:prstGeom prst="rect">
            <a:avLst/>
          </a:prstGeom>
          <a:solidFill>
            <a:schemeClr val="tx2"/>
          </a:solidFill>
        </p:spPr>
        <p:txBody>
          <a:bodyPr wrap="square">
            <a:spAutoFit/>
          </a:bodyPr>
          <a:lstStyle/>
          <a:p>
            <a:pPr algn="ctr"/>
            <a:r>
              <a:rPr lang="en-IN" sz="1050" b="1" dirty="0">
                <a:solidFill>
                  <a:schemeClr val="bg1"/>
                </a:solidFill>
              </a:rPr>
              <a:t>Foundation Enablers</a:t>
            </a:r>
            <a:endParaRPr lang="en-IN" sz="1050" dirty="0">
              <a:solidFill>
                <a:schemeClr val="bg1"/>
              </a:solidFill>
            </a:endParaRPr>
          </a:p>
        </p:txBody>
      </p:sp>
      <p:sp>
        <p:nvSpPr>
          <p:cNvPr id="1134" name="Rectangle: Rounded Corners 1133">
            <a:extLst>
              <a:ext uri="{FF2B5EF4-FFF2-40B4-BE49-F238E27FC236}">
                <a16:creationId xmlns:a16="http://schemas.microsoft.com/office/drawing/2014/main" id="{FF778EF2-7596-B07D-11D3-C1D4B2FD1C34}"/>
              </a:ext>
            </a:extLst>
          </p:cNvPr>
          <p:cNvSpPr/>
          <p:nvPr/>
        </p:nvSpPr>
        <p:spPr>
          <a:xfrm>
            <a:off x="2227581" y="572309"/>
            <a:ext cx="4619970" cy="17169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Processing</a:t>
            </a:r>
            <a:endParaRPr lang="en-IN" dirty="0"/>
          </a:p>
        </p:txBody>
      </p:sp>
      <p:sp>
        <p:nvSpPr>
          <p:cNvPr id="1136" name="TextBox 1135">
            <a:extLst>
              <a:ext uri="{FF2B5EF4-FFF2-40B4-BE49-F238E27FC236}">
                <a16:creationId xmlns:a16="http://schemas.microsoft.com/office/drawing/2014/main" id="{BC7C72D9-D5BE-4B0B-00FE-BEA05581DF6C}"/>
              </a:ext>
            </a:extLst>
          </p:cNvPr>
          <p:cNvSpPr txBox="1"/>
          <p:nvPr/>
        </p:nvSpPr>
        <p:spPr>
          <a:xfrm>
            <a:off x="567858" y="6248692"/>
            <a:ext cx="11168340" cy="307777"/>
          </a:xfrm>
          <a:prstGeom prst="rect">
            <a:avLst/>
          </a:prstGeom>
          <a:solidFill>
            <a:schemeClr val="tx2"/>
          </a:solidFill>
        </p:spPr>
        <p:txBody>
          <a:bodyPr wrap="square">
            <a:spAutoFit/>
          </a:bodyPr>
          <a:lstStyle/>
          <a:p>
            <a:pPr algn="ctr"/>
            <a:r>
              <a:rPr lang="en-IN" sz="1400" b="1" dirty="0">
                <a:solidFill>
                  <a:schemeClr val="bg1"/>
                </a:solidFill>
              </a:rPr>
              <a:t>Trinity Legacy Tools / Applications</a:t>
            </a:r>
            <a:endParaRPr lang="en-IN" sz="1400" dirty="0">
              <a:solidFill>
                <a:schemeClr val="bg1"/>
              </a:solidFill>
            </a:endParaRPr>
          </a:p>
        </p:txBody>
      </p:sp>
      <p:sp>
        <p:nvSpPr>
          <p:cNvPr id="1139" name="Rectangle: Rounded Corners 1138">
            <a:extLst>
              <a:ext uri="{FF2B5EF4-FFF2-40B4-BE49-F238E27FC236}">
                <a16:creationId xmlns:a16="http://schemas.microsoft.com/office/drawing/2014/main" id="{3462926A-C79A-1BD4-C8DD-4B54B4B878EF}"/>
              </a:ext>
            </a:extLst>
          </p:cNvPr>
          <p:cNvSpPr/>
          <p:nvPr/>
        </p:nvSpPr>
        <p:spPr>
          <a:xfrm>
            <a:off x="9191868" y="5829640"/>
            <a:ext cx="940120" cy="25518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Migrator</a:t>
            </a:r>
            <a:endParaRPr lang="en-IN" sz="1000" dirty="0"/>
          </a:p>
        </p:txBody>
      </p:sp>
      <p:sp>
        <p:nvSpPr>
          <p:cNvPr id="1141" name="Rectangle: Rounded Corners 1140">
            <a:extLst>
              <a:ext uri="{FF2B5EF4-FFF2-40B4-BE49-F238E27FC236}">
                <a16:creationId xmlns:a16="http://schemas.microsoft.com/office/drawing/2014/main" id="{E2461B58-D872-A67A-997B-CAB3427C8977}"/>
              </a:ext>
            </a:extLst>
          </p:cNvPr>
          <p:cNvSpPr/>
          <p:nvPr/>
        </p:nvSpPr>
        <p:spPr>
          <a:xfrm>
            <a:off x="10242674" y="5792693"/>
            <a:ext cx="1038052" cy="29024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Comparator</a:t>
            </a:r>
            <a:endParaRPr lang="en-IN" sz="1000" dirty="0"/>
          </a:p>
        </p:txBody>
      </p:sp>
      <p:sp>
        <p:nvSpPr>
          <p:cNvPr id="1142" name="Rectangle: Rounded Corners 1141">
            <a:extLst>
              <a:ext uri="{FF2B5EF4-FFF2-40B4-BE49-F238E27FC236}">
                <a16:creationId xmlns:a16="http://schemas.microsoft.com/office/drawing/2014/main" id="{5AFC7EF1-3EB2-7B33-51AD-DDEC8DB7348B}"/>
              </a:ext>
            </a:extLst>
          </p:cNvPr>
          <p:cNvSpPr/>
          <p:nvPr/>
        </p:nvSpPr>
        <p:spPr>
          <a:xfrm>
            <a:off x="9182409" y="6106430"/>
            <a:ext cx="2008545" cy="1261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Code/Script  Converter</a:t>
            </a:r>
            <a:endParaRPr lang="en-IN" sz="1000" dirty="0"/>
          </a:p>
        </p:txBody>
      </p:sp>
      <p:cxnSp>
        <p:nvCxnSpPr>
          <p:cNvPr id="5" name="Straight Arrow Connector 4">
            <a:extLst>
              <a:ext uri="{FF2B5EF4-FFF2-40B4-BE49-F238E27FC236}">
                <a16:creationId xmlns:a16="http://schemas.microsoft.com/office/drawing/2014/main" id="{2726C45E-B255-C9E4-36C0-D5F077F01A86}"/>
              </a:ext>
            </a:extLst>
          </p:cNvPr>
          <p:cNvCxnSpPr>
            <a:cxnSpLocks/>
          </p:cNvCxnSpPr>
          <p:nvPr/>
        </p:nvCxnSpPr>
        <p:spPr>
          <a:xfrm flipV="1">
            <a:off x="1447442" y="1714943"/>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0F9EAA-80DE-53A4-B29F-0ABFCEE1F6C0}"/>
              </a:ext>
            </a:extLst>
          </p:cNvPr>
          <p:cNvCxnSpPr>
            <a:cxnSpLocks/>
          </p:cNvCxnSpPr>
          <p:nvPr/>
        </p:nvCxnSpPr>
        <p:spPr>
          <a:xfrm flipV="1">
            <a:off x="1396644" y="2338398"/>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B36CCD9-BB75-7AC4-9A4D-92365903777B}"/>
              </a:ext>
            </a:extLst>
          </p:cNvPr>
          <p:cNvSpPr/>
          <p:nvPr/>
        </p:nvSpPr>
        <p:spPr>
          <a:xfrm>
            <a:off x="8972900" y="1052167"/>
            <a:ext cx="1881021" cy="23364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2</a:t>
            </a:r>
          </a:p>
        </p:txBody>
      </p:sp>
      <p:sp>
        <p:nvSpPr>
          <p:cNvPr id="14" name="Rectangle 13">
            <a:extLst>
              <a:ext uri="{FF2B5EF4-FFF2-40B4-BE49-F238E27FC236}">
                <a16:creationId xmlns:a16="http://schemas.microsoft.com/office/drawing/2014/main" id="{515A445F-E04B-921B-E642-E789193C6F04}"/>
              </a:ext>
            </a:extLst>
          </p:cNvPr>
          <p:cNvSpPr/>
          <p:nvPr/>
        </p:nvSpPr>
        <p:spPr>
          <a:xfrm>
            <a:off x="8972900" y="1435574"/>
            <a:ext cx="1263263" cy="52741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3</a:t>
            </a:r>
          </a:p>
        </p:txBody>
      </p:sp>
      <p:sp>
        <p:nvSpPr>
          <p:cNvPr id="15" name="Rectangle 14">
            <a:extLst>
              <a:ext uri="{FF2B5EF4-FFF2-40B4-BE49-F238E27FC236}">
                <a16:creationId xmlns:a16="http://schemas.microsoft.com/office/drawing/2014/main" id="{A64396BB-BCB9-1911-04DC-4A3134568A05}"/>
              </a:ext>
            </a:extLst>
          </p:cNvPr>
          <p:cNvSpPr/>
          <p:nvPr/>
        </p:nvSpPr>
        <p:spPr>
          <a:xfrm>
            <a:off x="9160712" y="3368329"/>
            <a:ext cx="2389079" cy="1716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t>
            </a:r>
            <a:r>
              <a:rPr lang="en-US" sz="1100" b="1" dirty="0">
                <a:solidFill>
                  <a:schemeClr val="tx1"/>
                </a:solidFill>
              </a:rPr>
              <a:t>Prebuilt Reports/KPIs/Dashboards</a:t>
            </a:r>
            <a:r>
              <a:rPr lang="en-US" sz="1100" dirty="0">
                <a:solidFill>
                  <a:schemeClr val="tx1"/>
                </a:solidFill>
              </a:rPr>
              <a:t>)</a:t>
            </a:r>
          </a:p>
        </p:txBody>
      </p:sp>
      <p:cxnSp>
        <p:nvCxnSpPr>
          <p:cNvPr id="16" name="Straight Arrow Connector 15">
            <a:extLst>
              <a:ext uri="{FF2B5EF4-FFF2-40B4-BE49-F238E27FC236}">
                <a16:creationId xmlns:a16="http://schemas.microsoft.com/office/drawing/2014/main" id="{916EA216-CDAC-B79E-834D-F02B73628A3B}"/>
              </a:ext>
            </a:extLst>
          </p:cNvPr>
          <p:cNvCxnSpPr>
            <a:cxnSpLocks/>
          </p:cNvCxnSpPr>
          <p:nvPr/>
        </p:nvCxnSpPr>
        <p:spPr>
          <a:xfrm>
            <a:off x="7618683" y="1185560"/>
            <a:ext cx="13439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867F028-259A-F59C-4AC8-AA80A9B91CB4}"/>
              </a:ext>
            </a:extLst>
          </p:cNvPr>
          <p:cNvCxnSpPr>
            <a:cxnSpLocks/>
          </p:cNvCxnSpPr>
          <p:nvPr/>
        </p:nvCxnSpPr>
        <p:spPr>
          <a:xfrm>
            <a:off x="7643648" y="1485741"/>
            <a:ext cx="13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36A419BB-F6C1-2BBF-0299-CCD9F8232ED0}"/>
              </a:ext>
            </a:extLst>
          </p:cNvPr>
          <p:cNvSpPr/>
          <p:nvPr/>
        </p:nvSpPr>
        <p:spPr>
          <a:xfrm>
            <a:off x="5541414" y="1964425"/>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34" name="Rectangle: Rounded Corners 33">
            <a:extLst>
              <a:ext uri="{FF2B5EF4-FFF2-40B4-BE49-F238E27FC236}">
                <a16:creationId xmlns:a16="http://schemas.microsoft.com/office/drawing/2014/main" id="{265BBE62-E81C-DBDE-3059-81676A298561}"/>
              </a:ext>
            </a:extLst>
          </p:cNvPr>
          <p:cNvSpPr/>
          <p:nvPr/>
        </p:nvSpPr>
        <p:spPr>
          <a:xfrm>
            <a:off x="6278510" y="1962176"/>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35" name="Rectangle: Rounded Corners 34">
            <a:extLst>
              <a:ext uri="{FF2B5EF4-FFF2-40B4-BE49-F238E27FC236}">
                <a16:creationId xmlns:a16="http://schemas.microsoft.com/office/drawing/2014/main" id="{73BF2673-9BF9-4ECF-DB82-AAF46B57E7E0}"/>
              </a:ext>
            </a:extLst>
          </p:cNvPr>
          <p:cNvSpPr/>
          <p:nvPr/>
        </p:nvSpPr>
        <p:spPr>
          <a:xfrm>
            <a:off x="6966282" y="1968057"/>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38" name="Flowchart: Connector 37">
            <a:extLst>
              <a:ext uri="{FF2B5EF4-FFF2-40B4-BE49-F238E27FC236}">
                <a16:creationId xmlns:a16="http://schemas.microsoft.com/office/drawing/2014/main" id="{A3649D3F-779E-87D2-417C-0A34888E20C8}"/>
              </a:ext>
            </a:extLst>
          </p:cNvPr>
          <p:cNvSpPr/>
          <p:nvPr/>
        </p:nvSpPr>
        <p:spPr>
          <a:xfrm>
            <a:off x="5520615" y="2266592"/>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39" name="Flowchart: Connector 38">
            <a:extLst>
              <a:ext uri="{FF2B5EF4-FFF2-40B4-BE49-F238E27FC236}">
                <a16:creationId xmlns:a16="http://schemas.microsoft.com/office/drawing/2014/main" id="{C4098E04-EF71-FD23-CF24-3F6D421F6BC9}"/>
              </a:ext>
            </a:extLst>
          </p:cNvPr>
          <p:cNvSpPr/>
          <p:nvPr/>
        </p:nvSpPr>
        <p:spPr>
          <a:xfrm>
            <a:off x="6262971" y="2264866"/>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40" name="Flowchart: Connector 39">
            <a:extLst>
              <a:ext uri="{FF2B5EF4-FFF2-40B4-BE49-F238E27FC236}">
                <a16:creationId xmlns:a16="http://schemas.microsoft.com/office/drawing/2014/main" id="{6EE9B24A-C014-254E-F91A-C9B789F7BD74}"/>
              </a:ext>
            </a:extLst>
          </p:cNvPr>
          <p:cNvSpPr/>
          <p:nvPr/>
        </p:nvSpPr>
        <p:spPr>
          <a:xfrm>
            <a:off x="6988023" y="224177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53" name="Flowchart: Connector 52">
            <a:extLst>
              <a:ext uri="{FF2B5EF4-FFF2-40B4-BE49-F238E27FC236}">
                <a16:creationId xmlns:a16="http://schemas.microsoft.com/office/drawing/2014/main" id="{2622C881-D039-40DD-F18D-D16EFD523052}"/>
              </a:ext>
            </a:extLst>
          </p:cNvPr>
          <p:cNvSpPr/>
          <p:nvPr/>
        </p:nvSpPr>
        <p:spPr>
          <a:xfrm>
            <a:off x="9123292" y="2473586"/>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54" name="Flowchart: Connector 53">
            <a:extLst>
              <a:ext uri="{FF2B5EF4-FFF2-40B4-BE49-F238E27FC236}">
                <a16:creationId xmlns:a16="http://schemas.microsoft.com/office/drawing/2014/main" id="{12314965-1920-241C-4573-88A68A4C4252}"/>
              </a:ext>
            </a:extLst>
          </p:cNvPr>
          <p:cNvSpPr/>
          <p:nvPr/>
        </p:nvSpPr>
        <p:spPr>
          <a:xfrm>
            <a:off x="10082629" y="2453614"/>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55" name="Flowchart: Connector 54">
            <a:extLst>
              <a:ext uri="{FF2B5EF4-FFF2-40B4-BE49-F238E27FC236}">
                <a16:creationId xmlns:a16="http://schemas.microsoft.com/office/drawing/2014/main" id="{AAD269A2-642B-0FFF-01B1-8CB9E76903E2}"/>
              </a:ext>
            </a:extLst>
          </p:cNvPr>
          <p:cNvSpPr/>
          <p:nvPr/>
        </p:nvSpPr>
        <p:spPr>
          <a:xfrm>
            <a:off x="10945468" y="239546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76" name="Rectangle: Rounded Corners 75">
            <a:extLst>
              <a:ext uri="{FF2B5EF4-FFF2-40B4-BE49-F238E27FC236}">
                <a16:creationId xmlns:a16="http://schemas.microsoft.com/office/drawing/2014/main" id="{84A31D3B-9AB1-D43F-CDAA-3167724A7F80}"/>
              </a:ext>
            </a:extLst>
          </p:cNvPr>
          <p:cNvSpPr/>
          <p:nvPr/>
        </p:nvSpPr>
        <p:spPr>
          <a:xfrm>
            <a:off x="9111281" y="2218421"/>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77" name="Rectangle: Rounded Corners 76">
            <a:extLst>
              <a:ext uri="{FF2B5EF4-FFF2-40B4-BE49-F238E27FC236}">
                <a16:creationId xmlns:a16="http://schemas.microsoft.com/office/drawing/2014/main" id="{4ED64CAE-EE7A-A6A0-D9FE-36BCA91A722C}"/>
              </a:ext>
            </a:extLst>
          </p:cNvPr>
          <p:cNvSpPr/>
          <p:nvPr/>
        </p:nvSpPr>
        <p:spPr>
          <a:xfrm>
            <a:off x="10124197" y="2169455"/>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78" name="Rectangle: Rounded Corners 77">
            <a:extLst>
              <a:ext uri="{FF2B5EF4-FFF2-40B4-BE49-F238E27FC236}">
                <a16:creationId xmlns:a16="http://schemas.microsoft.com/office/drawing/2014/main" id="{54F430C1-E3C3-85B4-A1F6-B8C6B2D12060}"/>
              </a:ext>
            </a:extLst>
          </p:cNvPr>
          <p:cNvSpPr/>
          <p:nvPr/>
        </p:nvSpPr>
        <p:spPr>
          <a:xfrm>
            <a:off x="10976806" y="2175802"/>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79" name="Cylinder 78">
            <a:extLst>
              <a:ext uri="{FF2B5EF4-FFF2-40B4-BE49-F238E27FC236}">
                <a16:creationId xmlns:a16="http://schemas.microsoft.com/office/drawing/2014/main" id="{598AF146-814D-5064-096A-14C97129A397}"/>
              </a:ext>
            </a:extLst>
          </p:cNvPr>
          <p:cNvSpPr/>
          <p:nvPr/>
        </p:nvSpPr>
        <p:spPr>
          <a:xfrm rot="16200000">
            <a:off x="1642387" y="3641247"/>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0" name="Rectangle 79">
            <a:extLst>
              <a:ext uri="{FF2B5EF4-FFF2-40B4-BE49-F238E27FC236}">
                <a16:creationId xmlns:a16="http://schemas.microsoft.com/office/drawing/2014/main" id="{CDE8EF5A-83BD-549F-A465-A787DE4097BA}"/>
              </a:ext>
            </a:extLst>
          </p:cNvPr>
          <p:cNvSpPr/>
          <p:nvPr/>
        </p:nvSpPr>
        <p:spPr>
          <a:xfrm>
            <a:off x="2339484" y="3611817"/>
            <a:ext cx="447082" cy="16577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p>
          <a:p>
            <a:pPr algn="ctr"/>
            <a:r>
              <a:rPr lang="en-US" sz="1400" dirty="0">
                <a:solidFill>
                  <a:schemeClr val="tx1"/>
                </a:solidFill>
              </a:rPr>
              <a:t>A</a:t>
            </a:r>
          </a:p>
          <a:p>
            <a:pPr algn="ctr"/>
            <a:r>
              <a:rPr lang="en-US" sz="1400" dirty="0">
                <a:solidFill>
                  <a:schemeClr val="tx1"/>
                </a:solidFill>
              </a:rPr>
              <a:t>w</a:t>
            </a:r>
          </a:p>
        </p:txBody>
      </p:sp>
      <p:sp>
        <p:nvSpPr>
          <p:cNvPr id="81" name="Rectangle 80">
            <a:extLst>
              <a:ext uri="{FF2B5EF4-FFF2-40B4-BE49-F238E27FC236}">
                <a16:creationId xmlns:a16="http://schemas.microsoft.com/office/drawing/2014/main" id="{85E732C0-6DE1-3393-4EB7-7B241D571A21}"/>
              </a:ext>
            </a:extLst>
          </p:cNvPr>
          <p:cNvSpPr/>
          <p:nvPr/>
        </p:nvSpPr>
        <p:spPr>
          <a:xfrm>
            <a:off x="3357197" y="3657966"/>
            <a:ext cx="856097" cy="6299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Cleansed</a:t>
            </a:r>
          </a:p>
        </p:txBody>
      </p:sp>
      <p:cxnSp>
        <p:nvCxnSpPr>
          <p:cNvPr id="82" name="Straight Arrow Connector 81">
            <a:extLst>
              <a:ext uri="{FF2B5EF4-FFF2-40B4-BE49-F238E27FC236}">
                <a16:creationId xmlns:a16="http://schemas.microsoft.com/office/drawing/2014/main" id="{B42C3E1D-9961-F496-FD99-D5D24F3AE5B7}"/>
              </a:ext>
            </a:extLst>
          </p:cNvPr>
          <p:cNvCxnSpPr>
            <a:cxnSpLocks/>
          </p:cNvCxnSpPr>
          <p:nvPr/>
        </p:nvCxnSpPr>
        <p:spPr>
          <a:xfrm flipV="1">
            <a:off x="1419732" y="3765421"/>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C4FF799-4945-3FF5-E9C4-9C07A7A9214D}"/>
              </a:ext>
            </a:extLst>
          </p:cNvPr>
          <p:cNvCxnSpPr>
            <a:cxnSpLocks/>
          </p:cNvCxnSpPr>
          <p:nvPr/>
        </p:nvCxnSpPr>
        <p:spPr>
          <a:xfrm>
            <a:off x="2786566" y="3935262"/>
            <a:ext cx="602208" cy="2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EEBD4D92-4E41-5172-1417-02B2911140DF}"/>
              </a:ext>
            </a:extLst>
          </p:cNvPr>
          <p:cNvCxnSpPr>
            <a:cxnSpLocks/>
          </p:cNvCxnSpPr>
          <p:nvPr/>
        </p:nvCxnSpPr>
        <p:spPr>
          <a:xfrm>
            <a:off x="4199236" y="3935262"/>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59ADD450-99DB-CF10-788E-78F3C4493F79}"/>
              </a:ext>
            </a:extLst>
          </p:cNvPr>
          <p:cNvSpPr/>
          <p:nvPr/>
        </p:nvSpPr>
        <p:spPr>
          <a:xfrm>
            <a:off x="4562932" y="3688955"/>
            <a:ext cx="856097" cy="80049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CDM</a:t>
            </a:r>
          </a:p>
        </p:txBody>
      </p:sp>
      <p:sp>
        <p:nvSpPr>
          <p:cNvPr id="86" name="Rectangle 85">
            <a:extLst>
              <a:ext uri="{FF2B5EF4-FFF2-40B4-BE49-F238E27FC236}">
                <a16:creationId xmlns:a16="http://schemas.microsoft.com/office/drawing/2014/main" id="{5E5C1C42-E9BE-5D82-B701-9AB402A8D977}"/>
              </a:ext>
            </a:extLst>
          </p:cNvPr>
          <p:cNvSpPr/>
          <p:nvPr/>
        </p:nvSpPr>
        <p:spPr>
          <a:xfrm>
            <a:off x="5768931" y="3488239"/>
            <a:ext cx="2002152" cy="55727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highlight>
                  <a:srgbClr val="FF00FF"/>
                </a:highlight>
              </a:rPr>
              <a:t>Semantic Layer</a:t>
            </a: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p:txBody>
      </p:sp>
      <p:cxnSp>
        <p:nvCxnSpPr>
          <p:cNvPr id="87" name="Straight Arrow Connector 86">
            <a:extLst>
              <a:ext uri="{FF2B5EF4-FFF2-40B4-BE49-F238E27FC236}">
                <a16:creationId xmlns:a16="http://schemas.microsoft.com/office/drawing/2014/main" id="{DC9124C5-AA1F-7575-58D7-5B3866C7E12B}"/>
              </a:ext>
            </a:extLst>
          </p:cNvPr>
          <p:cNvCxnSpPr>
            <a:cxnSpLocks/>
          </p:cNvCxnSpPr>
          <p:nvPr/>
        </p:nvCxnSpPr>
        <p:spPr>
          <a:xfrm>
            <a:off x="5399468" y="3949934"/>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C80D6728-A303-9015-1FC2-1B2EEA342CF1}"/>
              </a:ext>
            </a:extLst>
          </p:cNvPr>
          <p:cNvSpPr txBox="1"/>
          <p:nvPr/>
        </p:nvSpPr>
        <p:spPr>
          <a:xfrm>
            <a:off x="1423489" y="3320501"/>
            <a:ext cx="632338" cy="338554"/>
          </a:xfrm>
          <a:prstGeom prst="rect">
            <a:avLst/>
          </a:prstGeom>
          <a:noFill/>
        </p:spPr>
        <p:txBody>
          <a:bodyPr wrap="square">
            <a:spAutoFit/>
          </a:bodyPr>
          <a:lstStyle/>
          <a:p>
            <a:pPr algn="ctr"/>
            <a:r>
              <a:rPr lang="en-US" sz="800" dirty="0"/>
              <a:t>Data Ingestion </a:t>
            </a:r>
            <a:endParaRPr lang="en-IN" sz="800" dirty="0"/>
          </a:p>
        </p:txBody>
      </p:sp>
      <p:cxnSp>
        <p:nvCxnSpPr>
          <p:cNvPr id="89" name="Straight Arrow Connector 88">
            <a:extLst>
              <a:ext uri="{FF2B5EF4-FFF2-40B4-BE49-F238E27FC236}">
                <a16:creationId xmlns:a16="http://schemas.microsoft.com/office/drawing/2014/main" id="{245E07DC-BEEE-6889-9EE5-21A1D779A9F5}"/>
              </a:ext>
            </a:extLst>
          </p:cNvPr>
          <p:cNvCxnSpPr>
            <a:cxnSpLocks/>
          </p:cNvCxnSpPr>
          <p:nvPr/>
        </p:nvCxnSpPr>
        <p:spPr>
          <a:xfrm>
            <a:off x="3104354" y="3972390"/>
            <a:ext cx="0" cy="63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2E9D436-E177-CCEF-7EB5-E14EE01C9F93}"/>
              </a:ext>
            </a:extLst>
          </p:cNvPr>
          <p:cNvCxnSpPr>
            <a:cxnSpLocks/>
          </p:cNvCxnSpPr>
          <p:nvPr/>
        </p:nvCxnSpPr>
        <p:spPr>
          <a:xfrm flipV="1">
            <a:off x="3222992" y="3962716"/>
            <a:ext cx="0" cy="64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92276201-B9B6-4FF5-FDAD-2FB4F3A6E9C5}"/>
              </a:ext>
            </a:extLst>
          </p:cNvPr>
          <p:cNvSpPr/>
          <p:nvPr/>
        </p:nvSpPr>
        <p:spPr>
          <a:xfrm>
            <a:off x="3025889" y="4609226"/>
            <a:ext cx="630660" cy="67136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DQ Framework</a:t>
            </a:r>
            <a:endParaRPr lang="en-IN" sz="1100" dirty="0"/>
          </a:p>
        </p:txBody>
      </p:sp>
      <p:cxnSp>
        <p:nvCxnSpPr>
          <p:cNvPr id="92" name="Straight Arrow Connector 91">
            <a:extLst>
              <a:ext uri="{FF2B5EF4-FFF2-40B4-BE49-F238E27FC236}">
                <a16:creationId xmlns:a16="http://schemas.microsoft.com/office/drawing/2014/main" id="{D42306EA-AB2F-59F1-1D0B-CC57F79584FF}"/>
              </a:ext>
            </a:extLst>
          </p:cNvPr>
          <p:cNvCxnSpPr>
            <a:cxnSpLocks/>
          </p:cNvCxnSpPr>
          <p:nvPr/>
        </p:nvCxnSpPr>
        <p:spPr>
          <a:xfrm flipV="1">
            <a:off x="7771083" y="3697852"/>
            <a:ext cx="1367041" cy="14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AFF1768-5BF6-B827-C85A-02A0DBA6AD6E}"/>
              </a:ext>
            </a:extLst>
          </p:cNvPr>
          <p:cNvSpPr txBox="1"/>
          <p:nvPr/>
        </p:nvSpPr>
        <p:spPr>
          <a:xfrm>
            <a:off x="4915235" y="3076776"/>
            <a:ext cx="3825192" cy="307777"/>
          </a:xfrm>
          <a:prstGeom prst="rect">
            <a:avLst/>
          </a:prstGeom>
          <a:solidFill>
            <a:srgbClr val="FFC000"/>
          </a:solidFill>
        </p:spPr>
        <p:txBody>
          <a:bodyPr wrap="square">
            <a:spAutoFit/>
          </a:bodyPr>
          <a:lstStyle/>
          <a:p>
            <a:pPr algn="ctr"/>
            <a:r>
              <a:rPr lang="en-US" sz="1400" b="1" dirty="0"/>
              <a:t>MULTI TENANT (Server 1, Same Instance)</a:t>
            </a:r>
            <a:endParaRPr lang="en-IN" sz="1400" b="1" dirty="0"/>
          </a:p>
        </p:txBody>
      </p:sp>
      <p:sp>
        <p:nvSpPr>
          <p:cNvPr id="94" name="Rectangle 93">
            <a:extLst>
              <a:ext uri="{FF2B5EF4-FFF2-40B4-BE49-F238E27FC236}">
                <a16:creationId xmlns:a16="http://schemas.microsoft.com/office/drawing/2014/main" id="{02D83981-6776-677C-4B20-40E74035194C}"/>
              </a:ext>
            </a:extLst>
          </p:cNvPr>
          <p:cNvSpPr/>
          <p:nvPr/>
        </p:nvSpPr>
        <p:spPr>
          <a:xfrm>
            <a:off x="9148337" y="3622895"/>
            <a:ext cx="2568695" cy="31687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a:t>
            </a:r>
          </a:p>
        </p:txBody>
      </p:sp>
      <p:sp>
        <p:nvSpPr>
          <p:cNvPr id="95" name="Cylinder 94">
            <a:extLst>
              <a:ext uri="{FF2B5EF4-FFF2-40B4-BE49-F238E27FC236}">
                <a16:creationId xmlns:a16="http://schemas.microsoft.com/office/drawing/2014/main" id="{7C300958-AB79-6E49-D538-60800F2E6948}"/>
              </a:ext>
            </a:extLst>
          </p:cNvPr>
          <p:cNvSpPr/>
          <p:nvPr/>
        </p:nvSpPr>
        <p:spPr>
          <a:xfrm rot="16200000">
            <a:off x="1595487" y="4314763"/>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6" name="TextBox 95">
            <a:extLst>
              <a:ext uri="{FF2B5EF4-FFF2-40B4-BE49-F238E27FC236}">
                <a16:creationId xmlns:a16="http://schemas.microsoft.com/office/drawing/2014/main" id="{BA341F7F-B57D-D6A7-A012-3E16C6F1855C}"/>
              </a:ext>
            </a:extLst>
          </p:cNvPr>
          <p:cNvSpPr txBox="1"/>
          <p:nvPr/>
        </p:nvSpPr>
        <p:spPr>
          <a:xfrm>
            <a:off x="1376589" y="3994017"/>
            <a:ext cx="632338" cy="338554"/>
          </a:xfrm>
          <a:prstGeom prst="rect">
            <a:avLst/>
          </a:prstGeom>
          <a:noFill/>
        </p:spPr>
        <p:txBody>
          <a:bodyPr wrap="square">
            <a:spAutoFit/>
          </a:bodyPr>
          <a:lstStyle/>
          <a:p>
            <a:pPr algn="ctr"/>
            <a:r>
              <a:rPr lang="en-US" sz="800" dirty="0"/>
              <a:t>Data Ingestion </a:t>
            </a:r>
            <a:endParaRPr lang="en-IN" sz="800" dirty="0"/>
          </a:p>
        </p:txBody>
      </p:sp>
      <p:sp>
        <p:nvSpPr>
          <p:cNvPr id="97" name="Cylinder 96">
            <a:extLst>
              <a:ext uri="{FF2B5EF4-FFF2-40B4-BE49-F238E27FC236}">
                <a16:creationId xmlns:a16="http://schemas.microsoft.com/office/drawing/2014/main" id="{FEF6281D-4078-0CD4-D6CC-1FA9884EE093}"/>
              </a:ext>
            </a:extLst>
          </p:cNvPr>
          <p:cNvSpPr/>
          <p:nvPr/>
        </p:nvSpPr>
        <p:spPr>
          <a:xfrm rot="16200000">
            <a:off x="1601415" y="5001828"/>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8" name="TextBox 97">
            <a:extLst>
              <a:ext uri="{FF2B5EF4-FFF2-40B4-BE49-F238E27FC236}">
                <a16:creationId xmlns:a16="http://schemas.microsoft.com/office/drawing/2014/main" id="{D8F19C86-3F19-FD5F-6CA3-0682DE5FB934}"/>
              </a:ext>
            </a:extLst>
          </p:cNvPr>
          <p:cNvSpPr txBox="1"/>
          <p:nvPr/>
        </p:nvSpPr>
        <p:spPr>
          <a:xfrm>
            <a:off x="1382517" y="4745736"/>
            <a:ext cx="632338" cy="338554"/>
          </a:xfrm>
          <a:prstGeom prst="rect">
            <a:avLst/>
          </a:prstGeom>
          <a:noFill/>
        </p:spPr>
        <p:txBody>
          <a:bodyPr wrap="square">
            <a:spAutoFit/>
          </a:bodyPr>
          <a:lstStyle/>
          <a:p>
            <a:pPr algn="ctr"/>
            <a:r>
              <a:rPr lang="en-US" sz="800" dirty="0"/>
              <a:t>Data Ingestion </a:t>
            </a:r>
            <a:endParaRPr lang="en-IN" sz="800" dirty="0"/>
          </a:p>
        </p:txBody>
      </p:sp>
      <p:sp>
        <p:nvSpPr>
          <p:cNvPr id="103" name="Cylinder 102">
            <a:extLst>
              <a:ext uri="{FF2B5EF4-FFF2-40B4-BE49-F238E27FC236}">
                <a16:creationId xmlns:a16="http://schemas.microsoft.com/office/drawing/2014/main" id="{4E245260-49E3-9558-12F4-2A2EA2CD49A5}"/>
              </a:ext>
            </a:extLst>
          </p:cNvPr>
          <p:cNvSpPr/>
          <p:nvPr/>
        </p:nvSpPr>
        <p:spPr>
          <a:xfrm>
            <a:off x="6491990" y="3802864"/>
            <a:ext cx="503189" cy="226881"/>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7" name="TextBox 106">
            <a:extLst>
              <a:ext uri="{FF2B5EF4-FFF2-40B4-BE49-F238E27FC236}">
                <a16:creationId xmlns:a16="http://schemas.microsoft.com/office/drawing/2014/main" id="{EF403EA5-3170-6901-51AD-FEA3ADEC80EF}"/>
              </a:ext>
            </a:extLst>
          </p:cNvPr>
          <p:cNvSpPr txBox="1"/>
          <p:nvPr/>
        </p:nvSpPr>
        <p:spPr>
          <a:xfrm>
            <a:off x="6428497" y="3624494"/>
            <a:ext cx="632338" cy="261610"/>
          </a:xfrm>
          <a:prstGeom prst="rect">
            <a:avLst/>
          </a:prstGeom>
          <a:noFill/>
        </p:spPr>
        <p:txBody>
          <a:bodyPr wrap="square">
            <a:spAutoFit/>
          </a:bodyPr>
          <a:lstStyle/>
          <a:p>
            <a:pPr algn="ctr"/>
            <a:r>
              <a:rPr lang="en-US" sz="1100" b="1" dirty="0"/>
              <a:t>DB</a:t>
            </a:r>
            <a:endParaRPr lang="en-IN" sz="1100" b="1" dirty="0"/>
          </a:p>
        </p:txBody>
      </p:sp>
      <p:sp>
        <p:nvSpPr>
          <p:cNvPr id="110" name="TextBox 109">
            <a:extLst>
              <a:ext uri="{FF2B5EF4-FFF2-40B4-BE49-F238E27FC236}">
                <a16:creationId xmlns:a16="http://schemas.microsoft.com/office/drawing/2014/main" id="{2007CE16-BF57-BDC9-2B49-831C9605FB4B}"/>
              </a:ext>
            </a:extLst>
          </p:cNvPr>
          <p:cNvSpPr txBox="1"/>
          <p:nvPr/>
        </p:nvSpPr>
        <p:spPr>
          <a:xfrm>
            <a:off x="4638880" y="4114972"/>
            <a:ext cx="802085" cy="338554"/>
          </a:xfrm>
          <a:prstGeom prst="rect">
            <a:avLst/>
          </a:prstGeom>
          <a:noFill/>
        </p:spPr>
        <p:txBody>
          <a:bodyPr wrap="square">
            <a:spAutoFit/>
          </a:bodyPr>
          <a:lstStyle/>
          <a:p>
            <a:pPr algn="ctr"/>
            <a:r>
              <a:rPr lang="en-US" sz="800" dirty="0"/>
              <a:t>(Common Data Model)</a:t>
            </a:r>
            <a:endParaRPr lang="en-IN" sz="800" dirty="0"/>
          </a:p>
        </p:txBody>
      </p:sp>
      <p:cxnSp>
        <p:nvCxnSpPr>
          <p:cNvPr id="113" name="Straight Arrow Connector 112">
            <a:extLst>
              <a:ext uri="{FF2B5EF4-FFF2-40B4-BE49-F238E27FC236}">
                <a16:creationId xmlns:a16="http://schemas.microsoft.com/office/drawing/2014/main" id="{52E4564B-E402-C194-7BD4-DB6EAF32D2A1}"/>
              </a:ext>
            </a:extLst>
          </p:cNvPr>
          <p:cNvCxnSpPr>
            <a:cxnSpLocks/>
          </p:cNvCxnSpPr>
          <p:nvPr/>
        </p:nvCxnSpPr>
        <p:spPr>
          <a:xfrm>
            <a:off x="8161160" y="3712093"/>
            <a:ext cx="9181" cy="6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Rounded Corners 113">
            <a:extLst>
              <a:ext uri="{FF2B5EF4-FFF2-40B4-BE49-F238E27FC236}">
                <a16:creationId xmlns:a16="http://schemas.microsoft.com/office/drawing/2014/main" id="{F45DF758-090A-5F89-1015-77574AC555B5}"/>
              </a:ext>
            </a:extLst>
          </p:cNvPr>
          <p:cNvSpPr/>
          <p:nvPr/>
        </p:nvSpPr>
        <p:spPr>
          <a:xfrm>
            <a:off x="7904344" y="4408203"/>
            <a:ext cx="751060" cy="4254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NBA/</a:t>
            </a:r>
          </a:p>
          <a:p>
            <a:pPr algn="ctr"/>
            <a:r>
              <a:rPr lang="en-US" sz="1100" dirty="0"/>
              <a:t>Analytics</a:t>
            </a:r>
            <a:endParaRPr lang="en-IN" sz="1100" dirty="0"/>
          </a:p>
        </p:txBody>
      </p:sp>
      <p:cxnSp>
        <p:nvCxnSpPr>
          <p:cNvPr id="115" name="Straight Arrow Connector 114">
            <a:extLst>
              <a:ext uri="{FF2B5EF4-FFF2-40B4-BE49-F238E27FC236}">
                <a16:creationId xmlns:a16="http://schemas.microsoft.com/office/drawing/2014/main" id="{BFCF92EC-7F97-DC02-E5E3-637703D11188}"/>
              </a:ext>
            </a:extLst>
          </p:cNvPr>
          <p:cNvCxnSpPr>
            <a:cxnSpLocks/>
          </p:cNvCxnSpPr>
          <p:nvPr/>
        </p:nvCxnSpPr>
        <p:spPr>
          <a:xfrm flipV="1">
            <a:off x="8325555" y="3686529"/>
            <a:ext cx="0" cy="73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Rectangle: Rounded Corners 115">
            <a:extLst>
              <a:ext uri="{FF2B5EF4-FFF2-40B4-BE49-F238E27FC236}">
                <a16:creationId xmlns:a16="http://schemas.microsoft.com/office/drawing/2014/main" id="{B93DA299-FDB5-EE73-FC1D-471E270F6DCC}"/>
              </a:ext>
            </a:extLst>
          </p:cNvPr>
          <p:cNvSpPr/>
          <p:nvPr/>
        </p:nvSpPr>
        <p:spPr>
          <a:xfrm>
            <a:off x="2156666" y="3395440"/>
            <a:ext cx="4022804" cy="16801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Processing</a:t>
            </a:r>
            <a:endParaRPr lang="en-IN" dirty="0"/>
          </a:p>
        </p:txBody>
      </p:sp>
      <p:cxnSp>
        <p:nvCxnSpPr>
          <p:cNvPr id="117" name="Straight Arrow Connector 116">
            <a:extLst>
              <a:ext uri="{FF2B5EF4-FFF2-40B4-BE49-F238E27FC236}">
                <a16:creationId xmlns:a16="http://schemas.microsoft.com/office/drawing/2014/main" id="{3F7108E3-BB21-1E3E-AB40-6A3CEC98A7E9}"/>
              </a:ext>
            </a:extLst>
          </p:cNvPr>
          <p:cNvCxnSpPr>
            <a:cxnSpLocks/>
          </p:cNvCxnSpPr>
          <p:nvPr/>
        </p:nvCxnSpPr>
        <p:spPr>
          <a:xfrm flipV="1">
            <a:off x="1415116" y="4490470"/>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C01F06C5-2F90-53CE-DE05-0E9042AECF4D}"/>
              </a:ext>
            </a:extLst>
          </p:cNvPr>
          <p:cNvCxnSpPr>
            <a:cxnSpLocks/>
          </p:cNvCxnSpPr>
          <p:nvPr/>
        </p:nvCxnSpPr>
        <p:spPr>
          <a:xfrm flipV="1">
            <a:off x="1364318" y="5113925"/>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Rectangle: Rounded Corners 127">
            <a:extLst>
              <a:ext uri="{FF2B5EF4-FFF2-40B4-BE49-F238E27FC236}">
                <a16:creationId xmlns:a16="http://schemas.microsoft.com/office/drawing/2014/main" id="{99FDDD3B-5806-A6DD-F4F8-70A9FDEA1A75}"/>
              </a:ext>
            </a:extLst>
          </p:cNvPr>
          <p:cNvSpPr/>
          <p:nvPr/>
        </p:nvSpPr>
        <p:spPr>
          <a:xfrm>
            <a:off x="5730758" y="4222717"/>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130" name="Rectangle: Rounded Corners 129">
            <a:extLst>
              <a:ext uri="{FF2B5EF4-FFF2-40B4-BE49-F238E27FC236}">
                <a16:creationId xmlns:a16="http://schemas.microsoft.com/office/drawing/2014/main" id="{52917EB9-94D3-0890-BA11-B885D48D33DD}"/>
              </a:ext>
            </a:extLst>
          </p:cNvPr>
          <p:cNvSpPr/>
          <p:nvPr/>
        </p:nvSpPr>
        <p:spPr>
          <a:xfrm>
            <a:off x="6440146" y="4211231"/>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132" name="Rectangle: Rounded Corners 131">
            <a:extLst>
              <a:ext uri="{FF2B5EF4-FFF2-40B4-BE49-F238E27FC236}">
                <a16:creationId xmlns:a16="http://schemas.microsoft.com/office/drawing/2014/main" id="{3661D3E7-F55F-F62F-27C9-A0D57982E0DD}"/>
              </a:ext>
            </a:extLst>
          </p:cNvPr>
          <p:cNvSpPr/>
          <p:nvPr/>
        </p:nvSpPr>
        <p:spPr>
          <a:xfrm>
            <a:off x="7127918" y="4226350"/>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133" name="Flowchart: Connector 132">
            <a:extLst>
              <a:ext uri="{FF2B5EF4-FFF2-40B4-BE49-F238E27FC236}">
                <a16:creationId xmlns:a16="http://schemas.microsoft.com/office/drawing/2014/main" id="{04EF8AD7-45E3-5FB2-28B6-D57231321C3C}"/>
              </a:ext>
            </a:extLst>
          </p:cNvPr>
          <p:cNvSpPr/>
          <p:nvPr/>
        </p:nvSpPr>
        <p:spPr>
          <a:xfrm>
            <a:off x="5673015" y="5134481"/>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134" name="Flowchart: Connector 133">
            <a:extLst>
              <a:ext uri="{FF2B5EF4-FFF2-40B4-BE49-F238E27FC236}">
                <a16:creationId xmlns:a16="http://schemas.microsoft.com/office/drawing/2014/main" id="{674ABB8F-5BE8-F15A-1F05-69504B7EC163}"/>
              </a:ext>
            </a:extLst>
          </p:cNvPr>
          <p:cNvSpPr/>
          <p:nvPr/>
        </p:nvSpPr>
        <p:spPr>
          <a:xfrm>
            <a:off x="6415371" y="5132755"/>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137" name="Flowchart: Connector 136">
            <a:extLst>
              <a:ext uri="{FF2B5EF4-FFF2-40B4-BE49-F238E27FC236}">
                <a16:creationId xmlns:a16="http://schemas.microsoft.com/office/drawing/2014/main" id="{4842277C-A16E-F2BE-E9F0-9B679383AACF}"/>
              </a:ext>
            </a:extLst>
          </p:cNvPr>
          <p:cNvSpPr/>
          <p:nvPr/>
        </p:nvSpPr>
        <p:spPr>
          <a:xfrm>
            <a:off x="7140423" y="5109666"/>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156" name="Flowchart: Connector 155">
            <a:extLst>
              <a:ext uri="{FF2B5EF4-FFF2-40B4-BE49-F238E27FC236}">
                <a16:creationId xmlns:a16="http://schemas.microsoft.com/office/drawing/2014/main" id="{950D24BE-ADDD-3EAE-BA28-2BC6CD5991C4}"/>
              </a:ext>
            </a:extLst>
          </p:cNvPr>
          <p:cNvSpPr/>
          <p:nvPr/>
        </p:nvSpPr>
        <p:spPr>
          <a:xfrm>
            <a:off x="9225324" y="4868889"/>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157" name="Flowchart: Connector 156">
            <a:extLst>
              <a:ext uri="{FF2B5EF4-FFF2-40B4-BE49-F238E27FC236}">
                <a16:creationId xmlns:a16="http://schemas.microsoft.com/office/drawing/2014/main" id="{25D6C8D5-173E-1737-EBE8-0FC8A4A75022}"/>
              </a:ext>
            </a:extLst>
          </p:cNvPr>
          <p:cNvSpPr/>
          <p:nvPr/>
        </p:nvSpPr>
        <p:spPr>
          <a:xfrm>
            <a:off x="10184661" y="4848917"/>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158" name="Flowchart: Connector 157">
            <a:extLst>
              <a:ext uri="{FF2B5EF4-FFF2-40B4-BE49-F238E27FC236}">
                <a16:creationId xmlns:a16="http://schemas.microsoft.com/office/drawing/2014/main" id="{5C83BBBB-7B63-71FA-6240-FFCF66E0EEBC}"/>
              </a:ext>
            </a:extLst>
          </p:cNvPr>
          <p:cNvSpPr/>
          <p:nvPr/>
        </p:nvSpPr>
        <p:spPr>
          <a:xfrm>
            <a:off x="11047500" y="4790770"/>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175" name="Rectangle: Rounded Corners 174">
            <a:extLst>
              <a:ext uri="{FF2B5EF4-FFF2-40B4-BE49-F238E27FC236}">
                <a16:creationId xmlns:a16="http://schemas.microsoft.com/office/drawing/2014/main" id="{13EAC2B1-7ADF-4B38-DF17-F711C923D854}"/>
              </a:ext>
            </a:extLst>
          </p:cNvPr>
          <p:cNvSpPr/>
          <p:nvPr/>
        </p:nvSpPr>
        <p:spPr>
          <a:xfrm>
            <a:off x="9213313" y="4613724"/>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176" name="Rectangle: Rounded Corners 175">
            <a:extLst>
              <a:ext uri="{FF2B5EF4-FFF2-40B4-BE49-F238E27FC236}">
                <a16:creationId xmlns:a16="http://schemas.microsoft.com/office/drawing/2014/main" id="{604B5EFE-8730-35B5-5411-152D373B59A3}"/>
              </a:ext>
            </a:extLst>
          </p:cNvPr>
          <p:cNvSpPr/>
          <p:nvPr/>
        </p:nvSpPr>
        <p:spPr>
          <a:xfrm>
            <a:off x="10226229" y="4564758"/>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177" name="Rectangle: Rounded Corners 176">
            <a:extLst>
              <a:ext uri="{FF2B5EF4-FFF2-40B4-BE49-F238E27FC236}">
                <a16:creationId xmlns:a16="http://schemas.microsoft.com/office/drawing/2014/main" id="{463A74C5-785B-D01E-D1E8-B36EDAB051DA}"/>
              </a:ext>
            </a:extLst>
          </p:cNvPr>
          <p:cNvSpPr/>
          <p:nvPr/>
        </p:nvSpPr>
        <p:spPr>
          <a:xfrm>
            <a:off x="11078838" y="4571105"/>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1179" name="Rectangle: Rounded Corners 1178">
            <a:extLst>
              <a:ext uri="{FF2B5EF4-FFF2-40B4-BE49-F238E27FC236}">
                <a16:creationId xmlns:a16="http://schemas.microsoft.com/office/drawing/2014/main" id="{D7451A0D-239E-B814-5E68-0530FC48552A}"/>
              </a:ext>
            </a:extLst>
          </p:cNvPr>
          <p:cNvSpPr/>
          <p:nvPr/>
        </p:nvSpPr>
        <p:spPr>
          <a:xfrm>
            <a:off x="5814696" y="4625590"/>
            <a:ext cx="1756685" cy="20448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Load balancer</a:t>
            </a:r>
            <a:endParaRPr lang="en-IN" sz="1000" dirty="0"/>
          </a:p>
        </p:txBody>
      </p:sp>
      <p:cxnSp>
        <p:nvCxnSpPr>
          <p:cNvPr id="1185" name="Straight Arrow Connector 1184">
            <a:extLst>
              <a:ext uri="{FF2B5EF4-FFF2-40B4-BE49-F238E27FC236}">
                <a16:creationId xmlns:a16="http://schemas.microsoft.com/office/drawing/2014/main" id="{02DC2C4C-2438-83D1-CC96-0C022B8042FC}"/>
              </a:ext>
            </a:extLst>
          </p:cNvPr>
          <p:cNvCxnSpPr>
            <a:cxnSpLocks/>
            <a:stCxn id="159" idx="3"/>
          </p:cNvCxnSpPr>
          <p:nvPr/>
        </p:nvCxnSpPr>
        <p:spPr>
          <a:xfrm flipH="1">
            <a:off x="5934318" y="1613977"/>
            <a:ext cx="8214" cy="65088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6" name="Straight Arrow Connector 1185">
            <a:extLst>
              <a:ext uri="{FF2B5EF4-FFF2-40B4-BE49-F238E27FC236}">
                <a16:creationId xmlns:a16="http://schemas.microsoft.com/office/drawing/2014/main" id="{6EBCA957-629F-0D75-4C1A-C6F97E3F36A5}"/>
              </a:ext>
            </a:extLst>
          </p:cNvPr>
          <p:cNvCxnSpPr>
            <a:cxnSpLocks/>
          </p:cNvCxnSpPr>
          <p:nvPr/>
        </p:nvCxnSpPr>
        <p:spPr>
          <a:xfrm>
            <a:off x="6575219" y="1647327"/>
            <a:ext cx="0" cy="5944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7" name="Straight Arrow Connector 1186">
            <a:extLst>
              <a:ext uri="{FF2B5EF4-FFF2-40B4-BE49-F238E27FC236}">
                <a16:creationId xmlns:a16="http://schemas.microsoft.com/office/drawing/2014/main" id="{B40C0AA6-DF6D-E8A5-46F1-F930B1433B97}"/>
              </a:ext>
            </a:extLst>
          </p:cNvPr>
          <p:cNvCxnSpPr>
            <a:cxnSpLocks/>
          </p:cNvCxnSpPr>
          <p:nvPr/>
        </p:nvCxnSpPr>
        <p:spPr>
          <a:xfrm flipH="1">
            <a:off x="7230348" y="1651659"/>
            <a:ext cx="14120" cy="5801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3" name="Straight Arrow Connector 1192">
            <a:extLst>
              <a:ext uri="{FF2B5EF4-FFF2-40B4-BE49-F238E27FC236}">
                <a16:creationId xmlns:a16="http://schemas.microsoft.com/office/drawing/2014/main" id="{CC3D6E05-E9D1-934D-CE22-8D8F80187FC1}"/>
              </a:ext>
            </a:extLst>
          </p:cNvPr>
          <p:cNvCxnSpPr>
            <a:cxnSpLocks/>
          </p:cNvCxnSpPr>
          <p:nvPr/>
        </p:nvCxnSpPr>
        <p:spPr>
          <a:xfrm flipH="1">
            <a:off x="9450419" y="1936099"/>
            <a:ext cx="13318" cy="296143"/>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4" name="Straight Arrow Connector 1193">
            <a:extLst>
              <a:ext uri="{FF2B5EF4-FFF2-40B4-BE49-F238E27FC236}">
                <a16:creationId xmlns:a16="http://schemas.microsoft.com/office/drawing/2014/main" id="{729C88E2-CC23-14BD-561D-EB4B7A3196D0}"/>
              </a:ext>
            </a:extLst>
          </p:cNvPr>
          <p:cNvCxnSpPr>
            <a:cxnSpLocks/>
          </p:cNvCxnSpPr>
          <p:nvPr/>
        </p:nvCxnSpPr>
        <p:spPr>
          <a:xfrm>
            <a:off x="10432684" y="1261836"/>
            <a:ext cx="0" cy="927657"/>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5" name="Straight Arrow Connector 1194">
            <a:extLst>
              <a:ext uri="{FF2B5EF4-FFF2-40B4-BE49-F238E27FC236}">
                <a16:creationId xmlns:a16="http://schemas.microsoft.com/office/drawing/2014/main" id="{930145FC-63A6-67DC-CFC5-C3ACFB0A383E}"/>
              </a:ext>
            </a:extLst>
          </p:cNvPr>
          <p:cNvCxnSpPr>
            <a:cxnSpLocks/>
          </p:cNvCxnSpPr>
          <p:nvPr/>
        </p:nvCxnSpPr>
        <p:spPr>
          <a:xfrm flipH="1">
            <a:off x="11310780" y="975163"/>
            <a:ext cx="20554" cy="1184594"/>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0" name="Straight Arrow Connector 1199">
            <a:extLst>
              <a:ext uri="{FF2B5EF4-FFF2-40B4-BE49-F238E27FC236}">
                <a16:creationId xmlns:a16="http://schemas.microsoft.com/office/drawing/2014/main" id="{59E0CD3E-A02A-641D-D933-BC2A1FC4D9A4}"/>
              </a:ext>
            </a:extLst>
          </p:cNvPr>
          <p:cNvCxnSpPr>
            <a:cxnSpLocks/>
          </p:cNvCxnSpPr>
          <p:nvPr/>
        </p:nvCxnSpPr>
        <p:spPr>
          <a:xfrm>
            <a:off x="5975061" y="4833629"/>
            <a:ext cx="0" cy="31717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1" name="Straight Arrow Connector 1200">
            <a:extLst>
              <a:ext uri="{FF2B5EF4-FFF2-40B4-BE49-F238E27FC236}">
                <a16:creationId xmlns:a16="http://schemas.microsoft.com/office/drawing/2014/main" id="{460B128B-13FB-2C79-4DCD-87664A6E434C}"/>
              </a:ext>
            </a:extLst>
          </p:cNvPr>
          <p:cNvCxnSpPr>
            <a:cxnSpLocks/>
          </p:cNvCxnSpPr>
          <p:nvPr/>
        </p:nvCxnSpPr>
        <p:spPr>
          <a:xfrm>
            <a:off x="6717562" y="4833629"/>
            <a:ext cx="0" cy="29409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2" name="Straight Arrow Connector 1201">
            <a:extLst>
              <a:ext uri="{FF2B5EF4-FFF2-40B4-BE49-F238E27FC236}">
                <a16:creationId xmlns:a16="http://schemas.microsoft.com/office/drawing/2014/main" id="{663C0571-E8F0-E9B5-909F-8D10FBA67F88}"/>
              </a:ext>
            </a:extLst>
          </p:cNvPr>
          <p:cNvCxnSpPr>
            <a:cxnSpLocks/>
          </p:cNvCxnSpPr>
          <p:nvPr/>
        </p:nvCxnSpPr>
        <p:spPr>
          <a:xfrm>
            <a:off x="7465052" y="4833629"/>
            <a:ext cx="0" cy="28412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6" name="Straight Arrow Connector 1205">
            <a:extLst>
              <a:ext uri="{FF2B5EF4-FFF2-40B4-BE49-F238E27FC236}">
                <a16:creationId xmlns:a16="http://schemas.microsoft.com/office/drawing/2014/main" id="{7B4C24B2-5891-E07F-7020-DD5F9663CC1F}"/>
              </a:ext>
            </a:extLst>
          </p:cNvPr>
          <p:cNvCxnSpPr>
            <a:cxnSpLocks/>
          </p:cNvCxnSpPr>
          <p:nvPr/>
        </p:nvCxnSpPr>
        <p:spPr>
          <a:xfrm flipH="1">
            <a:off x="5978813" y="4378374"/>
            <a:ext cx="9532" cy="25395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0" name="Straight Arrow Connector 1209">
            <a:extLst>
              <a:ext uri="{FF2B5EF4-FFF2-40B4-BE49-F238E27FC236}">
                <a16:creationId xmlns:a16="http://schemas.microsoft.com/office/drawing/2014/main" id="{93B3162E-09A9-2C2E-E5CE-71D0E07CDD1C}"/>
              </a:ext>
            </a:extLst>
          </p:cNvPr>
          <p:cNvCxnSpPr>
            <a:cxnSpLocks/>
            <a:stCxn id="130" idx="2"/>
          </p:cNvCxnSpPr>
          <p:nvPr/>
        </p:nvCxnSpPr>
        <p:spPr>
          <a:xfrm flipH="1">
            <a:off x="6731575" y="4386461"/>
            <a:ext cx="17506" cy="232017"/>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1" name="Straight Arrow Connector 1210">
            <a:extLst>
              <a:ext uri="{FF2B5EF4-FFF2-40B4-BE49-F238E27FC236}">
                <a16:creationId xmlns:a16="http://schemas.microsoft.com/office/drawing/2014/main" id="{BA1C4498-108C-F39E-CDF0-8D26BBE04253}"/>
              </a:ext>
            </a:extLst>
          </p:cNvPr>
          <p:cNvCxnSpPr>
            <a:cxnSpLocks/>
          </p:cNvCxnSpPr>
          <p:nvPr/>
        </p:nvCxnSpPr>
        <p:spPr>
          <a:xfrm flipH="1">
            <a:off x="7456628" y="4387613"/>
            <a:ext cx="9532" cy="25395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4" name="Connector: Elbow 1213">
            <a:extLst>
              <a:ext uri="{FF2B5EF4-FFF2-40B4-BE49-F238E27FC236}">
                <a16:creationId xmlns:a16="http://schemas.microsoft.com/office/drawing/2014/main" id="{52C9EAAB-9E4C-4A15-473F-FE5C61352AF6}"/>
              </a:ext>
            </a:extLst>
          </p:cNvPr>
          <p:cNvCxnSpPr>
            <a:cxnSpLocks/>
          </p:cNvCxnSpPr>
          <p:nvPr/>
        </p:nvCxnSpPr>
        <p:spPr>
          <a:xfrm rot="5400000" flipH="1" flipV="1">
            <a:off x="6075875" y="3843363"/>
            <a:ext cx="306412" cy="452297"/>
          </a:xfrm>
          <a:prstGeom prst="bentConnector2">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5" name="Connector: Elbow 1214">
            <a:extLst>
              <a:ext uri="{FF2B5EF4-FFF2-40B4-BE49-F238E27FC236}">
                <a16:creationId xmlns:a16="http://schemas.microsoft.com/office/drawing/2014/main" id="{7A73BE93-64D9-48F3-EF52-2B2C35DADA16}"/>
              </a:ext>
            </a:extLst>
          </p:cNvPr>
          <p:cNvCxnSpPr>
            <a:cxnSpLocks/>
          </p:cNvCxnSpPr>
          <p:nvPr/>
        </p:nvCxnSpPr>
        <p:spPr>
          <a:xfrm rot="16200000" flipV="1">
            <a:off x="7070152" y="3887356"/>
            <a:ext cx="342586" cy="390817"/>
          </a:xfrm>
          <a:prstGeom prst="bentConnector2">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8" name="Straight Arrow Connector 1217">
            <a:extLst>
              <a:ext uri="{FF2B5EF4-FFF2-40B4-BE49-F238E27FC236}">
                <a16:creationId xmlns:a16="http://schemas.microsoft.com/office/drawing/2014/main" id="{390E1A50-107F-D8B6-E1D6-D74AE22E36A3}"/>
              </a:ext>
            </a:extLst>
          </p:cNvPr>
          <p:cNvCxnSpPr>
            <a:cxnSpLocks/>
            <a:endCxn id="175" idx="0"/>
          </p:cNvCxnSpPr>
          <p:nvPr/>
        </p:nvCxnSpPr>
        <p:spPr>
          <a:xfrm>
            <a:off x="9522248" y="3952376"/>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1" name="Straight Arrow Connector 1220">
            <a:extLst>
              <a:ext uri="{FF2B5EF4-FFF2-40B4-BE49-F238E27FC236}">
                <a16:creationId xmlns:a16="http://schemas.microsoft.com/office/drawing/2014/main" id="{DC3749EF-5546-2D54-064B-0477EB3EFFC3}"/>
              </a:ext>
            </a:extLst>
          </p:cNvPr>
          <p:cNvCxnSpPr>
            <a:cxnSpLocks/>
          </p:cNvCxnSpPr>
          <p:nvPr/>
        </p:nvCxnSpPr>
        <p:spPr>
          <a:xfrm>
            <a:off x="10515157" y="3923384"/>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2" name="Straight Arrow Connector 1221">
            <a:extLst>
              <a:ext uri="{FF2B5EF4-FFF2-40B4-BE49-F238E27FC236}">
                <a16:creationId xmlns:a16="http://schemas.microsoft.com/office/drawing/2014/main" id="{4FC6B952-E9CA-AFA7-EBCE-AB7F2DC02DB9}"/>
              </a:ext>
            </a:extLst>
          </p:cNvPr>
          <p:cNvCxnSpPr>
            <a:cxnSpLocks/>
          </p:cNvCxnSpPr>
          <p:nvPr/>
        </p:nvCxnSpPr>
        <p:spPr>
          <a:xfrm>
            <a:off x="11409604" y="3923384"/>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5" name="Rectangle 1224">
            <a:extLst>
              <a:ext uri="{FF2B5EF4-FFF2-40B4-BE49-F238E27FC236}">
                <a16:creationId xmlns:a16="http://schemas.microsoft.com/office/drawing/2014/main" id="{05167196-4F98-2C51-680F-9E20BAB5D3AF}"/>
              </a:ext>
            </a:extLst>
          </p:cNvPr>
          <p:cNvSpPr/>
          <p:nvPr/>
        </p:nvSpPr>
        <p:spPr>
          <a:xfrm>
            <a:off x="9164132" y="455538"/>
            <a:ext cx="2389079" cy="1716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t>
            </a:r>
            <a:r>
              <a:rPr lang="en-US" sz="1100" b="1" dirty="0">
                <a:solidFill>
                  <a:schemeClr val="tx1"/>
                </a:solidFill>
              </a:rPr>
              <a:t>Prebuilt Reports/KPIs/Dashboards</a:t>
            </a:r>
            <a:r>
              <a:rPr lang="en-US" sz="1100" dirty="0">
                <a:solidFill>
                  <a:schemeClr val="tx1"/>
                </a:solidFill>
              </a:rPr>
              <a:t>)</a:t>
            </a:r>
          </a:p>
        </p:txBody>
      </p:sp>
    </p:spTree>
    <p:extLst>
      <p:ext uri="{BB962C8B-B14F-4D97-AF65-F5344CB8AC3E}">
        <p14:creationId xmlns:p14="http://schemas.microsoft.com/office/powerpoint/2010/main" val="1928199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7D0DEF36-8651-E5CB-B39F-7EF98C73F89A}"/>
              </a:ext>
            </a:extLst>
          </p:cNvPr>
          <p:cNvSpPr/>
          <p:nvPr/>
        </p:nvSpPr>
        <p:spPr>
          <a:xfrm>
            <a:off x="1511154" y="3117159"/>
            <a:ext cx="10529967" cy="2548391"/>
          </a:xfrm>
          <a:prstGeom prst="rect">
            <a:avLst/>
          </a:prstGeom>
          <a:solidFill>
            <a:schemeClr val="tx2">
              <a:lumMod val="25000"/>
              <a:lumOff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78" name="Rectangle 177">
            <a:extLst>
              <a:ext uri="{FF2B5EF4-FFF2-40B4-BE49-F238E27FC236}">
                <a16:creationId xmlns:a16="http://schemas.microsoft.com/office/drawing/2014/main" id="{48B0A336-F138-520C-38F3-F3F05E47DB80}"/>
              </a:ext>
            </a:extLst>
          </p:cNvPr>
          <p:cNvSpPr/>
          <p:nvPr/>
        </p:nvSpPr>
        <p:spPr>
          <a:xfrm>
            <a:off x="2041253" y="384876"/>
            <a:ext cx="9847982" cy="2568415"/>
          </a:xfrm>
          <a:prstGeom prst="rect">
            <a:avLst/>
          </a:prstGeom>
          <a:solidFill>
            <a:schemeClr val="bg1">
              <a:lumMod val="95000"/>
            </a:schemeClr>
          </a:solidFill>
          <a:ln>
            <a:solidFill>
              <a:schemeClr val="tx1"/>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45922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11" name="Rectangle 10">
            <a:extLst>
              <a:ext uri="{FF2B5EF4-FFF2-40B4-BE49-F238E27FC236}">
                <a16:creationId xmlns:a16="http://schemas.microsoft.com/office/drawing/2014/main" id="{79AD4F97-B68A-C1BA-A128-F924D4875258}"/>
              </a:ext>
            </a:extLst>
          </p:cNvPr>
          <p:cNvSpPr/>
          <p:nvPr/>
        </p:nvSpPr>
        <p:spPr>
          <a:xfrm>
            <a:off x="150871" y="950254"/>
            <a:ext cx="1282280" cy="44043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1">
            <a:extLst>
              <a:ext uri="{FF2B5EF4-FFF2-40B4-BE49-F238E27FC236}">
                <a16:creationId xmlns:a16="http://schemas.microsoft.com/office/drawing/2014/main" id="{666D81C6-847D-B04C-7CF3-46F87498211B}"/>
              </a:ext>
            </a:extLst>
          </p:cNvPr>
          <p:cNvSpPr txBox="1"/>
          <p:nvPr/>
        </p:nvSpPr>
        <p:spPr>
          <a:xfrm>
            <a:off x="355092" y="720302"/>
            <a:ext cx="908033" cy="238333"/>
          </a:xfrm>
          <a:prstGeom prst="rect">
            <a:avLst/>
          </a:prstGeom>
          <a:solidFill>
            <a:schemeClr val="tx2"/>
          </a:solidFill>
        </p:spPr>
        <p:txBody>
          <a:bodyPr wrap="square">
            <a:spAutoFit/>
          </a:bodyPr>
          <a:lstStyle/>
          <a:p>
            <a:pPr algn="ctr"/>
            <a:r>
              <a:rPr lang="en-IN" sz="1050" b="1" dirty="0">
                <a:solidFill>
                  <a:schemeClr val="bg1"/>
                </a:solidFill>
              </a:rPr>
              <a:t>Data Sources</a:t>
            </a:r>
            <a:endParaRPr lang="en-IN" sz="1050" dirty="0">
              <a:solidFill>
                <a:schemeClr val="bg1"/>
              </a:solidFill>
            </a:endParaRPr>
          </a:p>
        </p:txBody>
      </p:sp>
      <p:grpSp>
        <p:nvGrpSpPr>
          <p:cNvPr id="19" name="Group 18">
            <a:extLst>
              <a:ext uri="{FF2B5EF4-FFF2-40B4-BE49-F238E27FC236}">
                <a16:creationId xmlns:a16="http://schemas.microsoft.com/office/drawing/2014/main" id="{7E76B120-5F3C-C9B8-CFBE-7235C498C592}"/>
              </a:ext>
            </a:extLst>
          </p:cNvPr>
          <p:cNvGrpSpPr/>
          <p:nvPr/>
        </p:nvGrpSpPr>
        <p:grpSpPr>
          <a:xfrm>
            <a:off x="210634" y="1077251"/>
            <a:ext cx="1096404" cy="622407"/>
            <a:chOff x="796510" y="1834635"/>
            <a:chExt cx="1444093" cy="979714"/>
          </a:xfrm>
        </p:grpSpPr>
        <p:grpSp>
          <p:nvGrpSpPr>
            <p:cNvPr id="20" name="Group 19">
              <a:extLst>
                <a:ext uri="{FF2B5EF4-FFF2-40B4-BE49-F238E27FC236}">
                  <a16:creationId xmlns:a16="http://schemas.microsoft.com/office/drawing/2014/main" id="{AB233336-7737-D4BF-0E35-6A8710804651}"/>
                </a:ext>
              </a:extLst>
            </p:cNvPr>
            <p:cNvGrpSpPr/>
            <p:nvPr/>
          </p:nvGrpSpPr>
          <p:grpSpPr>
            <a:xfrm>
              <a:off x="796510" y="1834635"/>
              <a:ext cx="1444093" cy="979714"/>
              <a:chOff x="796510" y="1066800"/>
              <a:chExt cx="1444093" cy="979714"/>
            </a:xfrm>
          </p:grpSpPr>
          <p:sp>
            <p:nvSpPr>
              <p:cNvPr id="22" name="Rectangle 21">
                <a:extLst>
                  <a:ext uri="{FF2B5EF4-FFF2-40B4-BE49-F238E27FC236}">
                    <a16:creationId xmlns:a16="http://schemas.microsoft.com/office/drawing/2014/main" id="{C2F124C2-5589-02FD-94A1-663698F2F80E}"/>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TextBox 22">
                <a:extLst>
                  <a:ext uri="{FF2B5EF4-FFF2-40B4-BE49-F238E27FC236}">
                    <a16:creationId xmlns:a16="http://schemas.microsoft.com/office/drawing/2014/main" id="{08EF7BD5-007B-6083-0118-CADA36B65843}"/>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Unstructured Data</a:t>
                </a:r>
              </a:p>
              <a:p>
                <a:pPr algn="ctr"/>
                <a:r>
                  <a:rPr lang="en-IN" sz="800" dirty="0"/>
                  <a:t>Videos, Images, Audio </a:t>
                </a:r>
              </a:p>
            </p:txBody>
          </p:sp>
        </p:grpSp>
        <p:pic>
          <p:nvPicPr>
            <p:cNvPr id="21" name="Picture 6" descr="Unstructured data - Free seo and web icons">
              <a:extLst>
                <a:ext uri="{FF2B5EF4-FFF2-40B4-BE49-F238E27FC236}">
                  <a16:creationId xmlns:a16="http://schemas.microsoft.com/office/drawing/2014/main" id="{FD59FD0E-A7AA-344B-91D7-8F5017FEF6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17170" y="1909581"/>
              <a:ext cx="402772" cy="402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A9A6D771-9315-FBDA-680D-DF1EB0851A36}"/>
              </a:ext>
            </a:extLst>
          </p:cNvPr>
          <p:cNvGrpSpPr/>
          <p:nvPr/>
        </p:nvGrpSpPr>
        <p:grpSpPr>
          <a:xfrm>
            <a:off x="166651" y="1786077"/>
            <a:ext cx="1096405" cy="591348"/>
            <a:chOff x="813390" y="1066800"/>
            <a:chExt cx="1444093" cy="1032019"/>
          </a:xfrm>
        </p:grpSpPr>
        <p:sp>
          <p:nvSpPr>
            <p:cNvPr id="25" name="Rectangle 24">
              <a:extLst>
                <a:ext uri="{FF2B5EF4-FFF2-40B4-BE49-F238E27FC236}">
                  <a16:creationId xmlns:a16="http://schemas.microsoft.com/office/drawing/2014/main" id="{0D6C73D1-FCD4-B28A-1D1A-818D8B642576}"/>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6" name="TextBox 25">
              <a:extLst>
                <a:ext uri="{FF2B5EF4-FFF2-40B4-BE49-F238E27FC236}">
                  <a16:creationId xmlns:a16="http://schemas.microsoft.com/office/drawing/2014/main" id="{E8B15965-1417-74DA-1618-18F873487E05}"/>
                </a:ext>
              </a:extLst>
            </p:cNvPr>
            <p:cNvSpPr txBox="1"/>
            <p:nvPr/>
          </p:nvSpPr>
          <p:spPr>
            <a:xfrm>
              <a:off x="813390" y="1698710"/>
              <a:ext cx="1444093" cy="400109"/>
            </a:xfrm>
            <a:prstGeom prst="rect">
              <a:avLst/>
            </a:prstGeom>
            <a:noFill/>
          </p:spPr>
          <p:txBody>
            <a:bodyPr wrap="square">
              <a:spAutoFit/>
            </a:bodyPr>
            <a:lstStyle/>
            <a:p>
              <a:pPr algn="ctr"/>
              <a:r>
                <a:rPr lang="en-IN" sz="800" b="1" dirty="0">
                  <a:solidFill>
                    <a:schemeClr val="tx1"/>
                  </a:solidFill>
                </a:rPr>
                <a:t>Semi-structured Data</a:t>
              </a:r>
            </a:p>
            <a:p>
              <a:pPr algn="ctr"/>
              <a:r>
                <a:rPr lang="en-IN" sz="800" dirty="0"/>
                <a:t>Csv, Logs, Json, Xml</a:t>
              </a:r>
            </a:p>
          </p:txBody>
        </p:sp>
      </p:grpSp>
      <p:grpSp>
        <p:nvGrpSpPr>
          <p:cNvPr id="27" name="Group 26">
            <a:extLst>
              <a:ext uri="{FF2B5EF4-FFF2-40B4-BE49-F238E27FC236}">
                <a16:creationId xmlns:a16="http://schemas.microsoft.com/office/drawing/2014/main" id="{C190575E-0E52-AFE7-E433-6D32C36EF74E}"/>
              </a:ext>
            </a:extLst>
          </p:cNvPr>
          <p:cNvGrpSpPr/>
          <p:nvPr/>
        </p:nvGrpSpPr>
        <p:grpSpPr>
          <a:xfrm>
            <a:off x="258813" y="2520025"/>
            <a:ext cx="1000044" cy="643117"/>
            <a:chOff x="796508" y="4495800"/>
            <a:chExt cx="1444093" cy="979714"/>
          </a:xfrm>
        </p:grpSpPr>
        <p:grpSp>
          <p:nvGrpSpPr>
            <p:cNvPr id="28" name="Group 27">
              <a:extLst>
                <a:ext uri="{FF2B5EF4-FFF2-40B4-BE49-F238E27FC236}">
                  <a16:creationId xmlns:a16="http://schemas.microsoft.com/office/drawing/2014/main" id="{6923CBF6-F4D9-DFF2-F2D3-4160196E7595}"/>
                </a:ext>
              </a:extLst>
            </p:cNvPr>
            <p:cNvGrpSpPr/>
            <p:nvPr/>
          </p:nvGrpSpPr>
          <p:grpSpPr>
            <a:xfrm>
              <a:off x="796508" y="4495800"/>
              <a:ext cx="1444093" cy="979714"/>
              <a:chOff x="796510" y="1066800"/>
              <a:chExt cx="1444093" cy="979714"/>
            </a:xfrm>
          </p:grpSpPr>
          <p:sp>
            <p:nvSpPr>
              <p:cNvPr id="30" name="Rectangle 29">
                <a:extLst>
                  <a:ext uri="{FF2B5EF4-FFF2-40B4-BE49-F238E27FC236}">
                    <a16:creationId xmlns:a16="http://schemas.microsoft.com/office/drawing/2014/main" id="{0ED75ECB-2492-FE58-1CC4-AD99A2FA2ED8}"/>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1" name="TextBox 30">
                <a:extLst>
                  <a:ext uri="{FF2B5EF4-FFF2-40B4-BE49-F238E27FC236}">
                    <a16:creationId xmlns:a16="http://schemas.microsoft.com/office/drawing/2014/main" id="{2C293F68-5C8A-A9C9-63A3-FF87DB671FB7}"/>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Relational Database</a:t>
                </a:r>
              </a:p>
              <a:p>
                <a:pPr algn="ctr"/>
                <a:r>
                  <a:rPr lang="en-IN" sz="800" dirty="0"/>
                  <a:t>Structured</a:t>
                </a:r>
              </a:p>
            </p:txBody>
          </p:sp>
        </p:grpSp>
        <p:pic>
          <p:nvPicPr>
            <p:cNvPr id="29" name="Picture 12" descr="Relational Database Icon - Free Download Network &amp; Communication Icons |  IconScout">
              <a:extLst>
                <a:ext uri="{FF2B5EF4-FFF2-40B4-BE49-F238E27FC236}">
                  <a16:creationId xmlns:a16="http://schemas.microsoft.com/office/drawing/2014/main" id="{521EFA3B-796B-4FEC-F875-0A4C57FD61A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00841" y="4550229"/>
              <a:ext cx="478971" cy="478971"/>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24" descr="Semi-Structured Data Processing | Forms Recognition | ESILAB">
            <a:extLst>
              <a:ext uri="{FF2B5EF4-FFF2-40B4-BE49-F238E27FC236}">
                <a16:creationId xmlns:a16="http://schemas.microsoft.com/office/drawing/2014/main" id="{133C68DB-F3D9-8DE5-45FA-B74909FCADF4}"/>
              </a:ext>
            </a:extLst>
          </p:cNvPr>
          <p:cNvPicPr>
            <a:picLocks noChangeAspect="1" noChangeArrowheads="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8027" y="1890071"/>
            <a:ext cx="303777" cy="288062"/>
          </a:xfrm>
          <a:prstGeom prst="rect">
            <a:avLst/>
          </a:prstGeom>
          <a:noFill/>
          <a:extLst>
            <a:ext uri="{909E8E84-426E-40DD-AFC4-6F175D3DCCD1}">
              <a14:hiddenFill xmlns:a14="http://schemas.microsoft.com/office/drawing/2010/main">
                <a:solidFill>
                  <a:srgbClr val="FFFFFF"/>
                </a:solidFill>
              </a14:hiddenFill>
            </a:ext>
          </a:extLst>
        </p:spPr>
      </p:pic>
      <p:sp>
        <p:nvSpPr>
          <p:cNvPr id="100" name="Cylinder 99">
            <a:extLst>
              <a:ext uri="{FF2B5EF4-FFF2-40B4-BE49-F238E27FC236}">
                <a16:creationId xmlns:a16="http://schemas.microsoft.com/office/drawing/2014/main" id="{2463266A-882E-CEBE-9181-11EA74D29692}"/>
              </a:ext>
            </a:extLst>
          </p:cNvPr>
          <p:cNvSpPr/>
          <p:nvPr/>
        </p:nvSpPr>
        <p:spPr>
          <a:xfrm rot="16200000">
            <a:off x="1674713" y="865720"/>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01" name="Rectangle 100">
            <a:extLst>
              <a:ext uri="{FF2B5EF4-FFF2-40B4-BE49-F238E27FC236}">
                <a16:creationId xmlns:a16="http://schemas.microsoft.com/office/drawing/2014/main" id="{8A59FB5F-0789-9A19-9300-EC36AED6F357}"/>
              </a:ext>
            </a:extLst>
          </p:cNvPr>
          <p:cNvSpPr/>
          <p:nvPr/>
        </p:nvSpPr>
        <p:spPr>
          <a:xfrm>
            <a:off x="2354884" y="836290"/>
            <a:ext cx="389132" cy="16577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p>
          <a:p>
            <a:pPr algn="ctr"/>
            <a:r>
              <a:rPr lang="en-US" sz="1400" dirty="0">
                <a:solidFill>
                  <a:schemeClr val="tx1"/>
                </a:solidFill>
              </a:rPr>
              <a:t>A</a:t>
            </a:r>
          </a:p>
          <a:p>
            <a:pPr algn="ctr"/>
            <a:r>
              <a:rPr lang="en-US" sz="1400" dirty="0">
                <a:solidFill>
                  <a:schemeClr val="tx1"/>
                </a:solidFill>
              </a:rPr>
              <a:t>w</a:t>
            </a:r>
          </a:p>
        </p:txBody>
      </p:sp>
      <p:sp>
        <p:nvSpPr>
          <p:cNvPr id="102" name="Rectangle 101">
            <a:extLst>
              <a:ext uri="{FF2B5EF4-FFF2-40B4-BE49-F238E27FC236}">
                <a16:creationId xmlns:a16="http://schemas.microsoft.com/office/drawing/2014/main" id="{D5BB4ADC-4659-CD7F-B84C-C181562F3EDF}"/>
              </a:ext>
            </a:extLst>
          </p:cNvPr>
          <p:cNvSpPr/>
          <p:nvPr/>
        </p:nvSpPr>
        <p:spPr>
          <a:xfrm>
            <a:off x="3204797" y="882439"/>
            <a:ext cx="856097" cy="6299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Cleansed</a:t>
            </a:r>
          </a:p>
        </p:txBody>
      </p:sp>
      <p:cxnSp>
        <p:nvCxnSpPr>
          <p:cNvPr id="104" name="Straight Arrow Connector 103">
            <a:extLst>
              <a:ext uri="{FF2B5EF4-FFF2-40B4-BE49-F238E27FC236}">
                <a16:creationId xmlns:a16="http://schemas.microsoft.com/office/drawing/2014/main" id="{EA33EAD0-E2B5-808D-B258-BCAEEAA30A29}"/>
              </a:ext>
            </a:extLst>
          </p:cNvPr>
          <p:cNvCxnSpPr>
            <a:cxnSpLocks/>
          </p:cNvCxnSpPr>
          <p:nvPr/>
        </p:nvCxnSpPr>
        <p:spPr>
          <a:xfrm flipV="1">
            <a:off x="1452058" y="989894"/>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D1A5BBD-C6C2-EC3A-0755-AE218523141B}"/>
              </a:ext>
            </a:extLst>
          </p:cNvPr>
          <p:cNvCxnSpPr>
            <a:cxnSpLocks/>
          </p:cNvCxnSpPr>
          <p:nvPr/>
        </p:nvCxnSpPr>
        <p:spPr>
          <a:xfrm>
            <a:off x="2744016" y="1161844"/>
            <a:ext cx="492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3945087-EA54-1CA9-D2AA-2EB598163C4C}"/>
              </a:ext>
            </a:extLst>
          </p:cNvPr>
          <p:cNvCxnSpPr>
            <a:cxnSpLocks/>
          </p:cNvCxnSpPr>
          <p:nvPr/>
        </p:nvCxnSpPr>
        <p:spPr>
          <a:xfrm>
            <a:off x="4046836" y="1159735"/>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850D3832-A568-0B77-0C1B-821B1693EF27}"/>
              </a:ext>
            </a:extLst>
          </p:cNvPr>
          <p:cNvSpPr/>
          <p:nvPr/>
        </p:nvSpPr>
        <p:spPr>
          <a:xfrm>
            <a:off x="4410532" y="913428"/>
            <a:ext cx="856097" cy="80049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CDM</a:t>
            </a:r>
          </a:p>
        </p:txBody>
      </p:sp>
      <p:sp>
        <p:nvSpPr>
          <p:cNvPr id="119" name="Rectangle 118">
            <a:extLst>
              <a:ext uri="{FF2B5EF4-FFF2-40B4-BE49-F238E27FC236}">
                <a16:creationId xmlns:a16="http://schemas.microsoft.com/office/drawing/2014/main" id="{50D2B81C-9C7E-0157-A3A0-AD3E3ED7F0D7}"/>
              </a:ext>
            </a:extLst>
          </p:cNvPr>
          <p:cNvSpPr/>
          <p:nvPr/>
        </p:nvSpPr>
        <p:spPr>
          <a:xfrm>
            <a:off x="5616531" y="893344"/>
            <a:ext cx="2002152" cy="9257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highlight>
                  <a:srgbClr val="FF00FF"/>
                </a:highlight>
              </a:rPr>
              <a:t>Semantic Layer</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p:txBody>
      </p:sp>
      <p:cxnSp>
        <p:nvCxnSpPr>
          <p:cNvPr id="120" name="Straight Arrow Connector 119">
            <a:extLst>
              <a:ext uri="{FF2B5EF4-FFF2-40B4-BE49-F238E27FC236}">
                <a16:creationId xmlns:a16="http://schemas.microsoft.com/office/drawing/2014/main" id="{BB031DC1-1120-C545-BA5A-1F75ED19A1E6}"/>
              </a:ext>
            </a:extLst>
          </p:cNvPr>
          <p:cNvCxnSpPr>
            <a:cxnSpLocks/>
          </p:cNvCxnSpPr>
          <p:nvPr/>
        </p:nvCxnSpPr>
        <p:spPr>
          <a:xfrm>
            <a:off x="5247068" y="1174407"/>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509FB43D-6D7C-4FD8-9147-12351BEF5C70}"/>
              </a:ext>
            </a:extLst>
          </p:cNvPr>
          <p:cNvSpPr txBox="1"/>
          <p:nvPr/>
        </p:nvSpPr>
        <p:spPr>
          <a:xfrm>
            <a:off x="1455815" y="544974"/>
            <a:ext cx="632338" cy="338554"/>
          </a:xfrm>
          <a:prstGeom prst="rect">
            <a:avLst/>
          </a:prstGeom>
          <a:noFill/>
        </p:spPr>
        <p:txBody>
          <a:bodyPr wrap="square">
            <a:spAutoFit/>
          </a:bodyPr>
          <a:lstStyle/>
          <a:p>
            <a:pPr algn="ctr"/>
            <a:r>
              <a:rPr lang="en-US" sz="800" dirty="0"/>
              <a:t>Data Ingestion </a:t>
            </a:r>
            <a:endParaRPr lang="en-IN" sz="800" dirty="0"/>
          </a:p>
        </p:txBody>
      </p:sp>
      <p:cxnSp>
        <p:nvCxnSpPr>
          <p:cNvPr id="129" name="Straight Arrow Connector 128">
            <a:extLst>
              <a:ext uri="{FF2B5EF4-FFF2-40B4-BE49-F238E27FC236}">
                <a16:creationId xmlns:a16="http://schemas.microsoft.com/office/drawing/2014/main" id="{EE377EC9-C928-0D03-9C8C-E1451513AF44}"/>
              </a:ext>
            </a:extLst>
          </p:cNvPr>
          <p:cNvCxnSpPr>
            <a:cxnSpLocks/>
          </p:cNvCxnSpPr>
          <p:nvPr/>
        </p:nvCxnSpPr>
        <p:spPr>
          <a:xfrm>
            <a:off x="2951954" y="1196863"/>
            <a:ext cx="0" cy="63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3E7B9F-C803-DF02-AEB3-F28255148C7A}"/>
              </a:ext>
            </a:extLst>
          </p:cNvPr>
          <p:cNvCxnSpPr>
            <a:cxnSpLocks/>
          </p:cNvCxnSpPr>
          <p:nvPr/>
        </p:nvCxnSpPr>
        <p:spPr>
          <a:xfrm flipV="1">
            <a:off x="3070592" y="1187189"/>
            <a:ext cx="0" cy="64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134">
            <a:extLst>
              <a:ext uri="{FF2B5EF4-FFF2-40B4-BE49-F238E27FC236}">
                <a16:creationId xmlns:a16="http://schemas.microsoft.com/office/drawing/2014/main" id="{3DAF1252-2BCD-6DE1-4F92-E767A0EE1556}"/>
              </a:ext>
            </a:extLst>
          </p:cNvPr>
          <p:cNvSpPr/>
          <p:nvPr/>
        </p:nvSpPr>
        <p:spPr>
          <a:xfrm>
            <a:off x="2873489" y="1833699"/>
            <a:ext cx="630660" cy="67136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DQ Framework</a:t>
            </a:r>
            <a:endParaRPr lang="en-IN" sz="1100" dirty="0"/>
          </a:p>
        </p:txBody>
      </p:sp>
      <p:cxnSp>
        <p:nvCxnSpPr>
          <p:cNvPr id="136" name="Straight Arrow Connector 135">
            <a:extLst>
              <a:ext uri="{FF2B5EF4-FFF2-40B4-BE49-F238E27FC236}">
                <a16:creationId xmlns:a16="http://schemas.microsoft.com/office/drawing/2014/main" id="{D2C59B5A-5790-1797-C4FD-2C2CE95B99B5}"/>
              </a:ext>
            </a:extLst>
          </p:cNvPr>
          <p:cNvCxnSpPr>
            <a:cxnSpLocks/>
          </p:cNvCxnSpPr>
          <p:nvPr/>
        </p:nvCxnSpPr>
        <p:spPr>
          <a:xfrm flipV="1">
            <a:off x="7618683" y="922325"/>
            <a:ext cx="1367041" cy="14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DE51068E-D608-C78E-0B87-0EAC8F95FC3E}"/>
              </a:ext>
            </a:extLst>
          </p:cNvPr>
          <p:cNvSpPr txBox="1"/>
          <p:nvPr/>
        </p:nvSpPr>
        <p:spPr>
          <a:xfrm>
            <a:off x="4288912" y="126895"/>
            <a:ext cx="3825192" cy="307777"/>
          </a:xfrm>
          <a:prstGeom prst="rect">
            <a:avLst/>
          </a:prstGeom>
          <a:solidFill>
            <a:srgbClr val="FFFF00"/>
          </a:solidFill>
        </p:spPr>
        <p:txBody>
          <a:bodyPr wrap="square">
            <a:spAutoFit/>
          </a:bodyPr>
          <a:lstStyle/>
          <a:p>
            <a:pPr algn="ctr"/>
            <a:r>
              <a:rPr lang="en-US" sz="1400" b="1" dirty="0"/>
              <a:t>SINGLE TENANT (Server 1, Different Instance)</a:t>
            </a:r>
            <a:endParaRPr lang="en-IN" sz="1400" b="1" dirty="0"/>
          </a:p>
        </p:txBody>
      </p:sp>
      <p:sp>
        <p:nvSpPr>
          <p:cNvPr id="140" name="Rectangle 139">
            <a:extLst>
              <a:ext uri="{FF2B5EF4-FFF2-40B4-BE49-F238E27FC236}">
                <a16:creationId xmlns:a16="http://schemas.microsoft.com/office/drawing/2014/main" id="{D068E701-0FA8-F256-561E-516F036847EE}"/>
              </a:ext>
            </a:extLst>
          </p:cNvPr>
          <p:cNvSpPr/>
          <p:nvPr/>
        </p:nvSpPr>
        <p:spPr>
          <a:xfrm>
            <a:off x="8972899" y="673019"/>
            <a:ext cx="2568695" cy="31687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1</a:t>
            </a:r>
          </a:p>
        </p:txBody>
      </p:sp>
      <p:sp>
        <p:nvSpPr>
          <p:cNvPr id="147" name="Cylinder 146">
            <a:extLst>
              <a:ext uri="{FF2B5EF4-FFF2-40B4-BE49-F238E27FC236}">
                <a16:creationId xmlns:a16="http://schemas.microsoft.com/office/drawing/2014/main" id="{C2799010-F5E7-B5CF-43BC-FEB43C7BB12A}"/>
              </a:ext>
            </a:extLst>
          </p:cNvPr>
          <p:cNvSpPr/>
          <p:nvPr/>
        </p:nvSpPr>
        <p:spPr>
          <a:xfrm rot="16200000">
            <a:off x="1627813" y="153923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9" name="TextBox 148">
            <a:extLst>
              <a:ext uri="{FF2B5EF4-FFF2-40B4-BE49-F238E27FC236}">
                <a16:creationId xmlns:a16="http://schemas.microsoft.com/office/drawing/2014/main" id="{C2C1D545-8E2C-E2E8-7D7B-B98AB9FF5D54}"/>
              </a:ext>
            </a:extLst>
          </p:cNvPr>
          <p:cNvSpPr txBox="1"/>
          <p:nvPr/>
        </p:nvSpPr>
        <p:spPr>
          <a:xfrm>
            <a:off x="1408915" y="1218490"/>
            <a:ext cx="632338" cy="338554"/>
          </a:xfrm>
          <a:prstGeom prst="rect">
            <a:avLst/>
          </a:prstGeom>
          <a:noFill/>
        </p:spPr>
        <p:txBody>
          <a:bodyPr wrap="square">
            <a:spAutoFit/>
          </a:bodyPr>
          <a:lstStyle/>
          <a:p>
            <a:pPr algn="ctr"/>
            <a:r>
              <a:rPr lang="en-US" sz="800" dirty="0"/>
              <a:t>Data Ingestion </a:t>
            </a:r>
            <a:endParaRPr lang="en-IN" sz="800" dirty="0"/>
          </a:p>
        </p:txBody>
      </p:sp>
      <p:sp>
        <p:nvSpPr>
          <p:cNvPr id="151" name="Cylinder 150">
            <a:extLst>
              <a:ext uri="{FF2B5EF4-FFF2-40B4-BE49-F238E27FC236}">
                <a16:creationId xmlns:a16="http://schemas.microsoft.com/office/drawing/2014/main" id="{63709F95-F1CE-CE08-961D-3C454DE6DA5E}"/>
              </a:ext>
            </a:extLst>
          </p:cNvPr>
          <p:cNvSpPr/>
          <p:nvPr/>
        </p:nvSpPr>
        <p:spPr>
          <a:xfrm rot="16200000">
            <a:off x="1633741" y="222630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53" name="TextBox 152">
            <a:extLst>
              <a:ext uri="{FF2B5EF4-FFF2-40B4-BE49-F238E27FC236}">
                <a16:creationId xmlns:a16="http://schemas.microsoft.com/office/drawing/2014/main" id="{F192DB71-90EC-3F41-6001-872C33F060CD}"/>
              </a:ext>
            </a:extLst>
          </p:cNvPr>
          <p:cNvSpPr txBox="1"/>
          <p:nvPr/>
        </p:nvSpPr>
        <p:spPr>
          <a:xfrm>
            <a:off x="1414843" y="1970209"/>
            <a:ext cx="632338" cy="338554"/>
          </a:xfrm>
          <a:prstGeom prst="rect">
            <a:avLst/>
          </a:prstGeom>
          <a:noFill/>
        </p:spPr>
        <p:txBody>
          <a:bodyPr wrap="square">
            <a:spAutoFit/>
          </a:bodyPr>
          <a:lstStyle/>
          <a:p>
            <a:pPr algn="ctr"/>
            <a:r>
              <a:rPr lang="en-US" sz="800" dirty="0"/>
              <a:t>Data Ingestion </a:t>
            </a:r>
            <a:endParaRPr lang="en-IN" sz="800" dirty="0"/>
          </a:p>
        </p:txBody>
      </p:sp>
      <p:sp>
        <p:nvSpPr>
          <p:cNvPr id="159" name="Cylinder 158">
            <a:extLst>
              <a:ext uri="{FF2B5EF4-FFF2-40B4-BE49-F238E27FC236}">
                <a16:creationId xmlns:a16="http://schemas.microsoft.com/office/drawing/2014/main" id="{332A8359-0476-F8CC-480B-94CD3A8F540B}"/>
              </a:ext>
            </a:extLst>
          </p:cNvPr>
          <p:cNvSpPr/>
          <p:nvPr/>
        </p:nvSpPr>
        <p:spPr>
          <a:xfrm rot="152875">
            <a:off x="5831143" y="1264202"/>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0" name="Cylinder 159">
            <a:extLst>
              <a:ext uri="{FF2B5EF4-FFF2-40B4-BE49-F238E27FC236}">
                <a16:creationId xmlns:a16="http://schemas.microsoft.com/office/drawing/2014/main" id="{3846FFB6-182E-E17D-E923-E7BA6FA55231}"/>
              </a:ext>
            </a:extLst>
          </p:cNvPr>
          <p:cNvSpPr/>
          <p:nvPr/>
        </p:nvSpPr>
        <p:spPr>
          <a:xfrm rot="152875">
            <a:off x="6447234" y="126696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1" name="Cylinder 160">
            <a:extLst>
              <a:ext uri="{FF2B5EF4-FFF2-40B4-BE49-F238E27FC236}">
                <a16:creationId xmlns:a16="http://schemas.microsoft.com/office/drawing/2014/main" id="{BB206BDE-44AA-BA9F-10B9-EA9243BF6A54}"/>
              </a:ext>
            </a:extLst>
          </p:cNvPr>
          <p:cNvSpPr/>
          <p:nvPr/>
        </p:nvSpPr>
        <p:spPr>
          <a:xfrm rot="152875">
            <a:off x="7128533" y="127111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2" name="TextBox 161">
            <a:extLst>
              <a:ext uri="{FF2B5EF4-FFF2-40B4-BE49-F238E27FC236}">
                <a16:creationId xmlns:a16="http://schemas.microsoft.com/office/drawing/2014/main" id="{622DB3A7-5AC2-28FF-B5AD-A524163EF7FE}"/>
              </a:ext>
            </a:extLst>
          </p:cNvPr>
          <p:cNvSpPr txBox="1"/>
          <p:nvPr/>
        </p:nvSpPr>
        <p:spPr>
          <a:xfrm>
            <a:off x="5710724" y="1012856"/>
            <a:ext cx="632338" cy="215444"/>
          </a:xfrm>
          <a:prstGeom prst="rect">
            <a:avLst/>
          </a:prstGeom>
          <a:noFill/>
        </p:spPr>
        <p:txBody>
          <a:bodyPr wrap="square">
            <a:spAutoFit/>
          </a:bodyPr>
          <a:lstStyle/>
          <a:p>
            <a:pPr algn="ctr"/>
            <a:r>
              <a:rPr lang="en-US" sz="800" dirty="0"/>
              <a:t>DB 1</a:t>
            </a:r>
            <a:endParaRPr lang="en-IN" sz="800" dirty="0"/>
          </a:p>
        </p:txBody>
      </p:sp>
      <p:sp>
        <p:nvSpPr>
          <p:cNvPr id="163" name="TextBox 162">
            <a:extLst>
              <a:ext uri="{FF2B5EF4-FFF2-40B4-BE49-F238E27FC236}">
                <a16:creationId xmlns:a16="http://schemas.microsoft.com/office/drawing/2014/main" id="{725ACE0D-3001-3294-876B-5B7E3AE9EBCE}"/>
              </a:ext>
            </a:extLst>
          </p:cNvPr>
          <p:cNvSpPr txBox="1"/>
          <p:nvPr/>
        </p:nvSpPr>
        <p:spPr>
          <a:xfrm>
            <a:off x="6276097" y="1042928"/>
            <a:ext cx="632338" cy="215444"/>
          </a:xfrm>
          <a:prstGeom prst="rect">
            <a:avLst/>
          </a:prstGeom>
          <a:noFill/>
        </p:spPr>
        <p:txBody>
          <a:bodyPr wrap="square">
            <a:spAutoFit/>
          </a:bodyPr>
          <a:lstStyle/>
          <a:p>
            <a:pPr algn="ctr"/>
            <a:r>
              <a:rPr lang="en-US" sz="800" dirty="0"/>
              <a:t>DB 2</a:t>
            </a:r>
            <a:endParaRPr lang="en-IN" sz="800" dirty="0"/>
          </a:p>
        </p:txBody>
      </p:sp>
      <p:sp>
        <p:nvSpPr>
          <p:cNvPr id="164" name="TextBox 163">
            <a:extLst>
              <a:ext uri="{FF2B5EF4-FFF2-40B4-BE49-F238E27FC236}">
                <a16:creationId xmlns:a16="http://schemas.microsoft.com/office/drawing/2014/main" id="{1504B931-F9C2-FCD3-9F3B-D3DD4DF83345}"/>
              </a:ext>
            </a:extLst>
          </p:cNvPr>
          <p:cNvSpPr txBox="1"/>
          <p:nvPr/>
        </p:nvSpPr>
        <p:spPr>
          <a:xfrm>
            <a:off x="6807335" y="1055481"/>
            <a:ext cx="632338" cy="215444"/>
          </a:xfrm>
          <a:prstGeom prst="rect">
            <a:avLst/>
          </a:prstGeom>
          <a:noFill/>
        </p:spPr>
        <p:txBody>
          <a:bodyPr wrap="square">
            <a:spAutoFit/>
          </a:bodyPr>
          <a:lstStyle/>
          <a:p>
            <a:pPr algn="ctr"/>
            <a:r>
              <a:rPr lang="en-US" sz="800" dirty="0"/>
              <a:t>DB 3</a:t>
            </a:r>
            <a:endParaRPr lang="en-IN" sz="800" dirty="0"/>
          </a:p>
        </p:txBody>
      </p:sp>
      <p:sp>
        <p:nvSpPr>
          <p:cNvPr id="165" name="TextBox 164">
            <a:extLst>
              <a:ext uri="{FF2B5EF4-FFF2-40B4-BE49-F238E27FC236}">
                <a16:creationId xmlns:a16="http://schemas.microsoft.com/office/drawing/2014/main" id="{75C45BF7-7420-E9E3-9D7C-4D609288804E}"/>
              </a:ext>
            </a:extLst>
          </p:cNvPr>
          <p:cNvSpPr txBox="1"/>
          <p:nvPr/>
        </p:nvSpPr>
        <p:spPr>
          <a:xfrm>
            <a:off x="4486480" y="1339445"/>
            <a:ext cx="802085" cy="338554"/>
          </a:xfrm>
          <a:prstGeom prst="rect">
            <a:avLst/>
          </a:prstGeom>
          <a:noFill/>
        </p:spPr>
        <p:txBody>
          <a:bodyPr wrap="square">
            <a:spAutoFit/>
          </a:bodyPr>
          <a:lstStyle/>
          <a:p>
            <a:pPr algn="ctr"/>
            <a:r>
              <a:rPr lang="en-US" sz="800" dirty="0"/>
              <a:t>(Common Data Model)</a:t>
            </a:r>
            <a:endParaRPr lang="en-IN" sz="800" dirty="0"/>
          </a:p>
        </p:txBody>
      </p:sp>
      <p:pic>
        <p:nvPicPr>
          <p:cNvPr id="1028" name="Picture 4" descr="Symphony | Your Portal For Data-Driven ...">
            <a:extLst>
              <a:ext uri="{FF2B5EF4-FFF2-40B4-BE49-F238E27FC236}">
                <a16:creationId xmlns:a16="http://schemas.microsoft.com/office/drawing/2014/main" id="{5EAF119A-DB6E-D107-4A82-74448619ABA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5473" y="4230450"/>
            <a:ext cx="855456" cy="3425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vailable IQVIA Data - IQVIA">
            <a:extLst>
              <a:ext uri="{FF2B5EF4-FFF2-40B4-BE49-F238E27FC236}">
                <a16:creationId xmlns:a16="http://schemas.microsoft.com/office/drawing/2014/main" id="{AA4915D0-CA67-56C7-6675-D9B7BE7E338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6995" y="4848336"/>
            <a:ext cx="1123070" cy="196589"/>
          </a:xfrm>
          <a:prstGeom prst="rect">
            <a:avLst/>
          </a:prstGeom>
          <a:noFill/>
          <a:extLst>
            <a:ext uri="{909E8E84-426E-40DD-AFC4-6F175D3DCCD1}">
              <a14:hiddenFill xmlns:a14="http://schemas.microsoft.com/office/drawing/2010/main">
                <a:solidFill>
                  <a:srgbClr val="FFFFFF"/>
                </a:solidFill>
              </a14:hiddenFill>
            </a:ext>
          </a:extLst>
        </p:spPr>
      </p:pic>
      <p:cxnSp>
        <p:nvCxnSpPr>
          <p:cNvPr id="166" name="Straight Arrow Connector 165">
            <a:extLst>
              <a:ext uri="{FF2B5EF4-FFF2-40B4-BE49-F238E27FC236}">
                <a16:creationId xmlns:a16="http://schemas.microsoft.com/office/drawing/2014/main" id="{A810DD52-FCED-649D-A01A-9C41BBE00F62}"/>
              </a:ext>
            </a:extLst>
          </p:cNvPr>
          <p:cNvCxnSpPr>
            <a:cxnSpLocks/>
          </p:cNvCxnSpPr>
          <p:nvPr/>
        </p:nvCxnSpPr>
        <p:spPr>
          <a:xfrm>
            <a:off x="8008760" y="936566"/>
            <a:ext cx="9181" cy="6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Rectangle: Rounded Corners 168">
            <a:extLst>
              <a:ext uri="{FF2B5EF4-FFF2-40B4-BE49-F238E27FC236}">
                <a16:creationId xmlns:a16="http://schemas.microsoft.com/office/drawing/2014/main" id="{7282D1DE-CD96-44E2-ECBA-BC0138409571}"/>
              </a:ext>
            </a:extLst>
          </p:cNvPr>
          <p:cNvSpPr/>
          <p:nvPr/>
        </p:nvSpPr>
        <p:spPr>
          <a:xfrm>
            <a:off x="7751944" y="1632676"/>
            <a:ext cx="751060" cy="4254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NBA/</a:t>
            </a:r>
          </a:p>
          <a:p>
            <a:pPr algn="ctr"/>
            <a:r>
              <a:rPr lang="en-US" sz="1100" dirty="0"/>
              <a:t>Analytics</a:t>
            </a:r>
            <a:endParaRPr lang="en-IN" sz="1100" dirty="0"/>
          </a:p>
        </p:txBody>
      </p:sp>
      <p:cxnSp>
        <p:nvCxnSpPr>
          <p:cNvPr id="171" name="Straight Arrow Connector 170">
            <a:extLst>
              <a:ext uri="{FF2B5EF4-FFF2-40B4-BE49-F238E27FC236}">
                <a16:creationId xmlns:a16="http://schemas.microsoft.com/office/drawing/2014/main" id="{01711C0B-B320-DF42-82C1-216C5B528B17}"/>
              </a:ext>
            </a:extLst>
          </p:cNvPr>
          <p:cNvCxnSpPr>
            <a:cxnSpLocks/>
          </p:cNvCxnSpPr>
          <p:nvPr/>
        </p:nvCxnSpPr>
        <p:spPr>
          <a:xfrm flipV="1">
            <a:off x="8173155" y="911002"/>
            <a:ext cx="0" cy="73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8" name="Rectangle 1077">
            <a:extLst>
              <a:ext uri="{FF2B5EF4-FFF2-40B4-BE49-F238E27FC236}">
                <a16:creationId xmlns:a16="http://schemas.microsoft.com/office/drawing/2014/main" id="{0DB82ABE-AC82-513E-F3E4-419B3F06E79B}"/>
              </a:ext>
            </a:extLst>
          </p:cNvPr>
          <p:cNvSpPr/>
          <p:nvPr/>
        </p:nvSpPr>
        <p:spPr>
          <a:xfrm rot="5400000">
            <a:off x="6207944" y="743184"/>
            <a:ext cx="583128" cy="104633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1079" name="Group 1078">
            <a:extLst>
              <a:ext uri="{FF2B5EF4-FFF2-40B4-BE49-F238E27FC236}">
                <a16:creationId xmlns:a16="http://schemas.microsoft.com/office/drawing/2014/main" id="{DC419163-00F0-8C10-2281-DB79E69C8C98}"/>
              </a:ext>
            </a:extLst>
          </p:cNvPr>
          <p:cNvGrpSpPr/>
          <p:nvPr/>
        </p:nvGrpSpPr>
        <p:grpSpPr>
          <a:xfrm>
            <a:off x="2667811" y="5768168"/>
            <a:ext cx="917387" cy="475168"/>
            <a:chOff x="5910265" y="5168327"/>
            <a:chExt cx="1075411" cy="836580"/>
          </a:xfrm>
        </p:grpSpPr>
        <p:grpSp>
          <p:nvGrpSpPr>
            <p:cNvPr id="1080" name="Group 1079">
              <a:extLst>
                <a:ext uri="{FF2B5EF4-FFF2-40B4-BE49-F238E27FC236}">
                  <a16:creationId xmlns:a16="http://schemas.microsoft.com/office/drawing/2014/main" id="{CABCB831-8310-A73D-26D8-3D165C499E3D}"/>
                </a:ext>
              </a:extLst>
            </p:cNvPr>
            <p:cNvGrpSpPr/>
            <p:nvPr/>
          </p:nvGrpSpPr>
          <p:grpSpPr>
            <a:xfrm>
              <a:off x="5910265" y="5168327"/>
              <a:ext cx="1075411" cy="836580"/>
              <a:chOff x="2294583" y="5170713"/>
              <a:chExt cx="1075411" cy="836580"/>
            </a:xfrm>
          </p:grpSpPr>
          <p:grpSp>
            <p:nvGrpSpPr>
              <p:cNvPr id="1082" name="Group 1081">
                <a:extLst>
                  <a:ext uri="{FF2B5EF4-FFF2-40B4-BE49-F238E27FC236}">
                    <a16:creationId xmlns:a16="http://schemas.microsoft.com/office/drawing/2014/main" id="{552FFB60-92F4-ED33-A253-9AD4422CEE09}"/>
                  </a:ext>
                </a:extLst>
              </p:cNvPr>
              <p:cNvGrpSpPr/>
              <p:nvPr/>
            </p:nvGrpSpPr>
            <p:grpSpPr>
              <a:xfrm>
                <a:off x="2294583" y="5170713"/>
                <a:ext cx="1075411" cy="588713"/>
                <a:chOff x="746496" y="1014195"/>
                <a:chExt cx="1845984" cy="1010549"/>
              </a:xfrm>
            </p:grpSpPr>
            <p:sp>
              <p:nvSpPr>
                <p:cNvPr id="1084" name="Diamond 2">
                  <a:extLst>
                    <a:ext uri="{FF2B5EF4-FFF2-40B4-BE49-F238E27FC236}">
                      <a16:creationId xmlns:a16="http://schemas.microsoft.com/office/drawing/2014/main" id="{4C60E8A8-55DD-FD21-8018-20D71683FA6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5" name="Parallelogram 3">
                  <a:extLst>
                    <a:ext uri="{FF2B5EF4-FFF2-40B4-BE49-F238E27FC236}">
                      <a16:creationId xmlns:a16="http://schemas.microsoft.com/office/drawing/2014/main" id="{7075A19C-D801-26FC-3CE3-A2939EF23190}"/>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6" name="Parallelogram 1085">
                  <a:extLst>
                    <a:ext uri="{FF2B5EF4-FFF2-40B4-BE49-F238E27FC236}">
                      <a16:creationId xmlns:a16="http://schemas.microsoft.com/office/drawing/2014/main" id="{6893BFE6-D51F-29D7-D259-660671D9282A}"/>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7" name="Arrow: Pentagon 1086">
                  <a:extLst>
                    <a:ext uri="{FF2B5EF4-FFF2-40B4-BE49-F238E27FC236}">
                      <a16:creationId xmlns:a16="http://schemas.microsoft.com/office/drawing/2014/main" id="{64A31CAE-796C-24E2-684A-D9944AF5F42E}"/>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83" name="TextBox 1082">
                <a:extLst>
                  <a:ext uri="{FF2B5EF4-FFF2-40B4-BE49-F238E27FC236}">
                    <a16:creationId xmlns:a16="http://schemas.microsoft.com/office/drawing/2014/main" id="{E0C99692-1097-7930-6C5E-B7FD6AA31BCB}"/>
                  </a:ext>
                </a:extLst>
              </p:cNvPr>
              <p:cNvSpPr txBox="1"/>
              <p:nvPr/>
            </p:nvSpPr>
            <p:spPr>
              <a:xfrm>
                <a:off x="2526043" y="5859507"/>
                <a:ext cx="565924"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Security</a:t>
                </a:r>
              </a:p>
            </p:txBody>
          </p:sp>
        </p:grpSp>
        <p:pic>
          <p:nvPicPr>
            <p:cNvPr id="1081" name="Picture 42" descr="Security Shield Lock Comments - 100% Secure Checkout Icon Clipart - Large  Size Png Image - PikPng">
              <a:extLst>
                <a:ext uri="{FF2B5EF4-FFF2-40B4-BE49-F238E27FC236}">
                  <a16:creationId xmlns:a16="http://schemas.microsoft.com/office/drawing/2014/main" id="{CE97FE14-615C-FABE-3BA3-F1AB068CB848}"/>
                </a:ext>
              </a:extLst>
            </p:cNvPr>
            <p:cNvPicPr>
              <a:picLocks noChangeAspect="1" noChangeArrowheads="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4096" y="5294650"/>
              <a:ext cx="248645" cy="2787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88" name="Group 1087">
            <a:extLst>
              <a:ext uri="{FF2B5EF4-FFF2-40B4-BE49-F238E27FC236}">
                <a16:creationId xmlns:a16="http://schemas.microsoft.com/office/drawing/2014/main" id="{79C659E4-870A-F110-6A01-9CDA1A27AADB}"/>
              </a:ext>
            </a:extLst>
          </p:cNvPr>
          <p:cNvGrpSpPr/>
          <p:nvPr/>
        </p:nvGrpSpPr>
        <p:grpSpPr>
          <a:xfrm>
            <a:off x="3677458" y="5796175"/>
            <a:ext cx="1022835" cy="420427"/>
            <a:chOff x="2767221" y="5168327"/>
            <a:chExt cx="1127907" cy="833767"/>
          </a:xfrm>
        </p:grpSpPr>
        <p:grpSp>
          <p:nvGrpSpPr>
            <p:cNvPr id="1089" name="Group 1088">
              <a:extLst>
                <a:ext uri="{FF2B5EF4-FFF2-40B4-BE49-F238E27FC236}">
                  <a16:creationId xmlns:a16="http://schemas.microsoft.com/office/drawing/2014/main" id="{43EB0AAE-E79A-AC43-0639-34FE067E3C81}"/>
                </a:ext>
              </a:extLst>
            </p:cNvPr>
            <p:cNvGrpSpPr/>
            <p:nvPr/>
          </p:nvGrpSpPr>
          <p:grpSpPr>
            <a:xfrm>
              <a:off x="2767221" y="5168327"/>
              <a:ext cx="1127907" cy="833767"/>
              <a:chOff x="2242087" y="5170713"/>
              <a:chExt cx="1127907" cy="833767"/>
            </a:xfrm>
          </p:grpSpPr>
          <p:grpSp>
            <p:nvGrpSpPr>
              <p:cNvPr id="1091" name="Group 1090">
                <a:extLst>
                  <a:ext uri="{FF2B5EF4-FFF2-40B4-BE49-F238E27FC236}">
                    <a16:creationId xmlns:a16="http://schemas.microsoft.com/office/drawing/2014/main" id="{38C4F1F7-B5EA-3D59-6502-B22B96E26F13}"/>
                  </a:ext>
                </a:extLst>
              </p:cNvPr>
              <p:cNvGrpSpPr/>
              <p:nvPr/>
            </p:nvGrpSpPr>
            <p:grpSpPr>
              <a:xfrm>
                <a:off x="2294583" y="5170713"/>
                <a:ext cx="1075411" cy="588713"/>
                <a:chOff x="746496" y="1014195"/>
                <a:chExt cx="1845984" cy="1010549"/>
              </a:xfrm>
            </p:grpSpPr>
            <p:sp>
              <p:nvSpPr>
                <p:cNvPr id="1093" name="Diamond 2">
                  <a:extLst>
                    <a:ext uri="{FF2B5EF4-FFF2-40B4-BE49-F238E27FC236}">
                      <a16:creationId xmlns:a16="http://schemas.microsoft.com/office/drawing/2014/main" id="{D0265131-5ED7-83FE-EE15-F47BFE15BA46}"/>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4" name="Parallelogram 3">
                  <a:extLst>
                    <a:ext uri="{FF2B5EF4-FFF2-40B4-BE49-F238E27FC236}">
                      <a16:creationId xmlns:a16="http://schemas.microsoft.com/office/drawing/2014/main" id="{D7483E40-0F79-9B73-359F-8A1BF775EE9F}"/>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5" name="Parallelogram 1094">
                  <a:extLst>
                    <a:ext uri="{FF2B5EF4-FFF2-40B4-BE49-F238E27FC236}">
                      <a16:creationId xmlns:a16="http://schemas.microsoft.com/office/drawing/2014/main" id="{5E0C54FA-6DBA-B544-E3E9-7020F38119F4}"/>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6" name="Arrow: Pentagon 1095">
                  <a:extLst>
                    <a:ext uri="{FF2B5EF4-FFF2-40B4-BE49-F238E27FC236}">
                      <a16:creationId xmlns:a16="http://schemas.microsoft.com/office/drawing/2014/main" id="{CDA35981-C8BC-0752-6BAE-36E00C537F60}"/>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92" name="TextBox 1091">
                <a:extLst>
                  <a:ext uri="{FF2B5EF4-FFF2-40B4-BE49-F238E27FC236}">
                    <a16:creationId xmlns:a16="http://schemas.microsoft.com/office/drawing/2014/main" id="{4ED7699E-BA7E-7FB9-04E9-3C4FFE9653DD}"/>
                  </a:ext>
                </a:extLst>
              </p:cNvPr>
              <p:cNvSpPr txBox="1"/>
              <p:nvPr/>
            </p:nvSpPr>
            <p:spPr>
              <a:xfrm>
                <a:off x="2242087" y="5856694"/>
                <a:ext cx="112778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RPA</a:t>
                </a:r>
              </a:p>
            </p:txBody>
          </p:sp>
        </p:grpSp>
        <p:pic>
          <p:nvPicPr>
            <p:cNvPr id="1090" name="Picture 36" descr="Rpa - Free industry icons">
              <a:extLst>
                <a:ext uri="{FF2B5EF4-FFF2-40B4-BE49-F238E27FC236}">
                  <a16:creationId xmlns:a16="http://schemas.microsoft.com/office/drawing/2014/main" id="{0C756CEE-015B-63B9-3792-2E4C006FA740}"/>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3218325" y="5292800"/>
              <a:ext cx="260080" cy="26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7" name="Group 1096">
            <a:extLst>
              <a:ext uri="{FF2B5EF4-FFF2-40B4-BE49-F238E27FC236}">
                <a16:creationId xmlns:a16="http://schemas.microsoft.com/office/drawing/2014/main" id="{1A484D1D-7A88-D4F5-8A30-BEFCB2EDE522}"/>
              </a:ext>
            </a:extLst>
          </p:cNvPr>
          <p:cNvGrpSpPr/>
          <p:nvPr/>
        </p:nvGrpSpPr>
        <p:grpSpPr>
          <a:xfrm>
            <a:off x="4820858" y="5734311"/>
            <a:ext cx="979077" cy="503160"/>
            <a:chOff x="9000813" y="5168327"/>
            <a:chExt cx="1075411" cy="821418"/>
          </a:xfrm>
        </p:grpSpPr>
        <p:grpSp>
          <p:nvGrpSpPr>
            <p:cNvPr id="1098" name="Group 1097">
              <a:extLst>
                <a:ext uri="{FF2B5EF4-FFF2-40B4-BE49-F238E27FC236}">
                  <a16:creationId xmlns:a16="http://schemas.microsoft.com/office/drawing/2014/main" id="{D4D7B2B9-D7C2-0C4C-4E86-E601D2A4A645}"/>
                </a:ext>
              </a:extLst>
            </p:cNvPr>
            <p:cNvGrpSpPr/>
            <p:nvPr/>
          </p:nvGrpSpPr>
          <p:grpSpPr>
            <a:xfrm>
              <a:off x="9000813" y="5168327"/>
              <a:ext cx="1075411" cy="821418"/>
              <a:chOff x="2294583" y="5170713"/>
              <a:chExt cx="1075411" cy="821418"/>
            </a:xfrm>
          </p:grpSpPr>
          <p:grpSp>
            <p:nvGrpSpPr>
              <p:cNvPr id="1100" name="Group 1099">
                <a:extLst>
                  <a:ext uri="{FF2B5EF4-FFF2-40B4-BE49-F238E27FC236}">
                    <a16:creationId xmlns:a16="http://schemas.microsoft.com/office/drawing/2014/main" id="{35B95195-5C9F-44C1-1BF9-7000E306F048}"/>
                  </a:ext>
                </a:extLst>
              </p:cNvPr>
              <p:cNvGrpSpPr/>
              <p:nvPr/>
            </p:nvGrpSpPr>
            <p:grpSpPr>
              <a:xfrm>
                <a:off x="2294583" y="5170713"/>
                <a:ext cx="1075411" cy="588713"/>
                <a:chOff x="746496" y="1014195"/>
                <a:chExt cx="1845984" cy="1010549"/>
              </a:xfrm>
            </p:grpSpPr>
            <p:sp>
              <p:nvSpPr>
                <p:cNvPr id="1102" name="Diamond 2">
                  <a:extLst>
                    <a:ext uri="{FF2B5EF4-FFF2-40B4-BE49-F238E27FC236}">
                      <a16:creationId xmlns:a16="http://schemas.microsoft.com/office/drawing/2014/main" id="{36A377D4-4D30-1435-2A66-F03462F43FB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3" name="Parallelogram 3">
                  <a:extLst>
                    <a:ext uri="{FF2B5EF4-FFF2-40B4-BE49-F238E27FC236}">
                      <a16:creationId xmlns:a16="http://schemas.microsoft.com/office/drawing/2014/main" id="{967A3355-F11D-2E7A-9BC4-C68E0FC1DEDA}"/>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4" name="Parallelogram 1103">
                  <a:extLst>
                    <a:ext uri="{FF2B5EF4-FFF2-40B4-BE49-F238E27FC236}">
                      <a16:creationId xmlns:a16="http://schemas.microsoft.com/office/drawing/2014/main" id="{30DF37C7-5E0F-E189-C170-DEDA4415307B}"/>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5" name="Arrow: Pentagon 1104">
                  <a:extLst>
                    <a:ext uri="{FF2B5EF4-FFF2-40B4-BE49-F238E27FC236}">
                      <a16:creationId xmlns:a16="http://schemas.microsoft.com/office/drawing/2014/main" id="{632C7802-BC82-E9C8-A66B-9F32367098D1}"/>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01" name="TextBox 1100">
                <a:extLst>
                  <a:ext uri="{FF2B5EF4-FFF2-40B4-BE49-F238E27FC236}">
                    <a16:creationId xmlns:a16="http://schemas.microsoft.com/office/drawing/2014/main" id="{3AE222DC-F79B-4129-57DB-96C0A2662DBF}"/>
                  </a:ext>
                </a:extLst>
              </p:cNvPr>
              <p:cNvSpPr txBox="1"/>
              <p:nvPr/>
            </p:nvSpPr>
            <p:spPr>
              <a:xfrm>
                <a:off x="2369677" y="5844345"/>
                <a:ext cx="936628"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DevOps &amp; GitHub</a:t>
                </a:r>
              </a:p>
            </p:txBody>
          </p:sp>
        </p:grpSp>
        <p:pic>
          <p:nvPicPr>
            <p:cNvPr id="1099" name="Picture 48" descr="What is CI/CD?">
              <a:extLst>
                <a:ext uri="{FF2B5EF4-FFF2-40B4-BE49-F238E27FC236}">
                  <a16:creationId xmlns:a16="http://schemas.microsoft.com/office/drawing/2014/main" id="{8CC5438B-510A-DD45-57BE-97472DEB504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03032" y="5297783"/>
              <a:ext cx="461182" cy="2207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06" name="Group 1105">
            <a:extLst>
              <a:ext uri="{FF2B5EF4-FFF2-40B4-BE49-F238E27FC236}">
                <a16:creationId xmlns:a16="http://schemas.microsoft.com/office/drawing/2014/main" id="{0130E71B-AF66-28D7-F6D4-2EF31E3AB0F0}"/>
              </a:ext>
            </a:extLst>
          </p:cNvPr>
          <p:cNvGrpSpPr/>
          <p:nvPr/>
        </p:nvGrpSpPr>
        <p:grpSpPr>
          <a:xfrm>
            <a:off x="5908667" y="5734311"/>
            <a:ext cx="1018807" cy="503160"/>
            <a:chOff x="7455539" y="5168327"/>
            <a:chExt cx="1075411" cy="821418"/>
          </a:xfrm>
        </p:grpSpPr>
        <p:grpSp>
          <p:nvGrpSpPr>
            <p:cNvPr id="1107" name="Group 1106">
              <a:extLst>
                <a:ext uri="{FF2B5EF4-FFF2-40B4-BE49-F238E27FC236}">
                  <a16:creationId xmlns:a16="http://schemas.microsoft.com/office/drawing/2014/main" id="{8ECF3D16-8AA6-B8F0-B567-03F694E31813}"/>
                </a:ext>
              </a:extLst>
            </p:cNvPr>
            <p:cNvGrpSpPr/>
            <p:nvPr/>
          </p:nvGrpSpPr>
          <p:grpSpPr>
            <a:xfrm>
              <a:off x="7455539" y="5168327"/>
              <a:ext cx="1075411" cy="821418"/>
              <a:chOff x="2294583" y="5170713"/>
              <a:chExt cx="1075411" cy="821418"/>
            </a:xfrm>
          </p:grpSpPr>
          <p:grpSp>
            <p:nvGrpSpPr>
              <p:cNvPr id="1109" name="Group 1108">
                <a:extLst>
                  <a:ext uri="{FF2B5EF4-FFF2-40B4-BE49-F238E27FC236}">
                    <a16:creationId xmlns:a16="http://schemas.microsoft.com/office/drawing/2014/main" id="{24C5A5FA-ED0D-6405-EFFA-CBA0C5DD7F0D}"/>
                  </a:ext>
                </a:extLst>
              </p:cNvPr>
              <p:cNvGrpSpPr/>
              <p:nvPr/>
            </p:nvGrpSpPr>
            <p:grpSpPr>
              <a:xfrm>
                <a:off x="2294583" y="5170713"/>
                <a:ext cx="1075411" cy="588713"/>
                <a:chOff x="746496" y="1014195"/>
                <a:chExt cx="1845984" cy="1010549"/>
              </a:xfrm>
            </p:grpSpPr>
            <p:sp>
              <p:nvSpPr>
                <p:cNvPr id="1111" name="Diamond 2">
                  <a:extLst>
                    <a:ext uri="{FF2B5EF4-FFF2-40B4-BE49-F238E27FC236}">
                      <a16:creationId xmlns:a16="http://schemas.microsoft.com/office/drawing/2014/main" id="{21A117D5-09BF-04E6-C182-7FC4512AAA54}"/>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2" name="Parallelogram 3">
                  <a:extLst>
                    <a:ext uri="{FF2B5EF4-FFF2-40B4-BE49-F238E27FC236}">
                      <a16:creationId xmlns:a16="http://schemas.microsoft.com/office/drawing/2014/main" id="{D88A96B2-FB8B-CE87-19C1-20C5A33C7F0B}"/>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3" name="Parallelogram 1112">
                  <a:extLst>
                    <a:ext uri="{FF2B5EF4-FFF2-40B4-BE49-F238E27FC236}">
                      <a16:creationId xmlns:a16="http://schemas.microsoft.com/office/drawing/2014/main" id="{279B6615-1EC3-062B-5508-0267F9439363}"/>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4" name="Arrow: Pentagon 1113">
                  <a:extLst>
                    <a:ext uri="{FF2B5EF4-FFF2-40B4-BE49-F238E27FC236}">
                      <a16:creationId xmlns:a16="http://schemas.microsoft.com/office/drawing/2014/main" id="{5C2D5975-B4D4-3DD0-661A-E479A3F0923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0" name="TextBox 1109">
                <a:extLst>
                  <a:ext uri="{FF2B5EF4-FFF2-40B4-BE49-F238E27FC236}">
                    <a16:creationId xmlns:a16="http://schemas.microsoft.com/office/drawing/2014/main" id="{F5A090A7-C6A0-879F-CF09-8113B0832CCF}"/>
                  </a:ext>
                </a:extLst>
              </p:cNvPr>
              <p:cNvSpPr txBox="1"/>
              <p:nvPr/>
            </p:nvSpPr>
            <p:spPr>
              <a:xfrm>
                <a:off x="2450859" y="5844345"/>
                <a:ext cx="75991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Orchestration</a:t>
                </a:r>
              </a:p>
            </p:txBody>
          </p:sp>
        </p:grpSp>
        <p:pic>
          <p:nvPicPr>
            <p:cNvPr id="1108" name="Picture 46" descr="Setting - Free electronics icons">
              <a:extLst>
                <a:ext uri="{FF2B5EF4-FFF2-40B4-BE49-F238E27FC236}">
                  <a16:creationId xmlns:a16="http://schemas.microsoft.com/office/drawing/2014/main" id="{846F2991-8CA4-BFB1-3DC5-A52ECD6CE1BB}"/>
                </a:ext>
              </a:extLst>
            </p:cNvPr>
            <p:cNvPicPr>
              <a:picLocks noChangeAspect="1" noChangeArrowheads="1"/>
            </p:cNvPicPr>
            <p:nvPr/>
          </p:nvPicPr>
          <p:blipFill>
            <a:blip r:embed="rId14" cstate="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861163" y="5254919"/>
              <a:ext cx="297961" cy="297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15" name="Group 1114">
            <a:extLst>
              <a:ext uri="{FF2B5EF4-FFF2-40B4-BE49-F238E27FC236}">
                <a16:creationId xmlns:a16="http://schemas.microsoft.com/office/drawing/2014/main" id="{000F249C-9461-2060-5D4F-FF7CF4FFF73E}"/>
              </a:ext>
            </a:extLst>
          </p:cNvPr>
          <p:cNvGrpSpPr/>
          <p:nvPr/>
        </p:nvGrpSpPr>
        <p:grpSpPr>
          <a:xfrm>
            <a:off x="6988182" y="5746858"/>
            <a:ext cx="924345" cy="489228"/>
            <a:chOff x="5224429" y="5893730"/>
            <a:chExt cx="1075411" cy="829228"/>
          </a:xfrm>
        </p:grpSpPr>
        <p:grpSp>
          <p:nvGrpSpPr>
            <p:cNvPr id="1116" name="Group 1115">
              <a:extLst>
                <a:ext uri="{FF2B5EF4-FFF2-40B4-BE49-F238E27FC236}">
                  <a16:creationId xmlns:a16="http://schemas.microsoft.com/office/drawing/2014/main" id="{025E41F0-9550-D2C1-D20F-E4AD57833255}"/>
                </a:ext>
              </a:extLst>
            </p:cNvPr>
            <p:cNvGrpSpPr/>
            <p:nvPr/>
          </p:nvGrpSpPr>
          <p:grpSpPr>
            <a:xfrm>
              <a:off x="5224429" y="5893730"/>
              <a:ext cx="1075411" cy="829228"/>
              <a:chOff x="2294583" y="5170713"/>
              <a:chExt cx="1075411" cy="829228"/>
            </a:xfrm>
          </p:grpSpPr>
          <p:grpSp>
            <p:nvGrpSpPr>
              <p:cNvPr id="1118" name="Group 1117">
                <a:extLst>
                  <a:ext uri="{FF2B5EF4-FFF2-40B4-BE49-F238E27FC236}">
                    <a16:creationId xmlns:a16="http://schemas.microsoft.com/office/drawing/2014/main" id="{797A11F8-BB3C-28FA-0CDE-8FA5262F1A22}"/>
                  </a:ext>
                </a:extLst>
              </p:cNvPr>
              <p:cNvGrpSpPr/>
              <p:nvPr/>
            </p:nvGrpSpPr>
            <p:grpSpPr>
              <a:xfrm>
                <a:off x="2294583" y="5170713"/>
                <a:ext cx="1075411" cy="588713"/>
                <a:chOff x="746496" y="1014195"/>
                <a:chExt cx="1845984" cy="1010549"/>
              </a:xfrm>
            </p:grpSpPr>
            <p:sp>
              <p:nvSpPr>
                <p:cNvPr id="1120" name="Diamond 2">
                  <a:extLst>
                    <a:ext uri="{FF2B5EF4-FFF2-40B4-BE49-F238E27FC236}">
                      <a16:creationId xmlns:a16="http://schemas.microsoft.com/office/drawing/2014/main" id="{F9C0E237-B2C9-89F0-3EA6-3E592020CB12}"/>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1" name="Parallelogram 3">
                  <a:extLst>
                    <a:ext uri="{FF2B5EF4-FFF2-40B4-BE49-F238E27FC236}">
                      <a16:creationId xmlns:a16="http://schemas.microsoft.com/office/drawing/2014/main" id="{D4B74A56-4DF8-DC25-1245-38E61A5F9E64}"/>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2" name="Parallelogram 1121">
                  <a:extLst>
                    <a:ext uri="{FF2B5EF4-FFF2-40B4-BE49-F238E27FC236}">
                      <a16:creationId xmlns:a16="http://schemas.microsoft.com/office/drawing/2014/main" id="{28E75278-3D8A-E1F7-ECCC-696F9C413602}"/>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3" name="Arrow: Pentagon 1122">
                  <a:extLst>
                    <a:ext uri="{FF2B5EF4-FFF2-40B4-BE49-F238E27FC236}">
                      <a16:creationId xmlns:a16="http://schemas.microsoft.com/office/drawing/2014/main" id="{6013BD92-7E99-97CC-0889-A9999F937C5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9" name="TextBox 1118">
                <a:extLst>
                  <a:ext uri="{FF2B5EF4-FFF2-40B4-BE49-F238E27FC236}">
                    <a16:creationId xmlns:a16="http://schemas.microsoft.com/office/drawing/2014/main" id="{A2302041-A71E-8D9D-2527-890A9F5CB80D}"/>
                  </a:ext>
                </a:extLst>
              </p:cNvPr>
              <p:cNvSpPr txBox="1"/>
              <p:nvPr/>
            </p:nvSpPr>
            <p:spPr>
              <a:xfrm>
                <a:off x="2517203" y="5852156"/>
                <a:ext cx="565924"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Flexibility</a:t>
                </a:r>
              </a:p>
            </p:txBody>
          </p:sp>
        </p:grpSp>
        <p:pic>
          <p:nvPicPr>
            <p:cNvPr id="1117" name="Picture 56" descr="Flexibility Icons - Free SVG &amp; PNG Flexibility Images - Noun Project">
              <a:extLst>
                <a:ext uri="{FF2B5EF4-FFF2-40B4-BE49-F238E27FC236}">
                  <a16:creationId xmlns:a16="http://schemas.microsoft.com/office/drawing/2014/main" id="{83F0C70C-3E9E-8512-CE39-CFF01C207FA7}"/>
                </a:ext>
              </a:extLst>
            </p:cNvPr>
            <p:cNvPicPr>
              <a:picLocks noChangeAspect="1" noChangeArrowheads="1"/>
            </p:cNvPicPr>
            <p:nvPr/>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13629" y="6017026"/>
              <a:ext cx="274961" cy="274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24" name="Group 1123">
            <a:extLst>
              <a:ext uri="{FF2B5EF4-FFF2-40B4-BE49-F238E27FC236}">
                <a16:creationId xmlns:a16="http://schemas.microsoft.com/office/drawing/2014/main" id="{DCB1D5EE-0BDD-9595-4B54-FA501F764E67}"/>
              </a:ext>
            </a:extLst>
          </p:cNvPr>
          <p:cNvGrpSpPr/>
          <p:nvPr/>
        </p:nvGrpSpPr>
        <p:grpSpPr>
          <a:xfrm>
            <a:off x="8110189" y="5682145"/>
            <a:ext cx="978216" cy="556448"/>
            <a:chOff x="6799840" y="5893730"/>
            <a:chExt cx="1075411" cy="815112"/>
          </a:xfrm>
        </p:grpSpPr>
        <p:grpSp>
          <p:nvGrpSpPr>
            <p:cNvPr id="1125" name="Group 1124">
              <a:extLst>
                <a:ext uri="{FF2B5EF4-FFF2-40B4-BE49-F238E27FC236}">
                  <a16:creationId xmlns:a16="http://schemas.microsoft.com/office/drawing/2014/main" id="{7DDBBF29-51C5-9672-5FEF-1A9784930AEF}"/>
                </a:ext>
              </a:extLst>
            </p:cNvPr>
            <p:cNvGrpSpPr/>
            <p:nvPr/>
          </p:nvGrpSpPr>
          <p:grpSpPr>
            <a:xfrm>
              <a:off x="6799840" y="5893730"/>
              <a:ext cx="1075411" cy="815112"/>
              <a:chOff x="2294583" y="5170713"/>
              <a:chExt cx="1075411" cy="815112"/>
            </a:xfrm>
          </p:grpSpPr>
          <p:grpSp>
            <p:nvGrpSpPr>
              <p:cNvPr id="1127" name="Group 1126">
                <a:extLst>
                  <a:ext uri="{FF2B5EF4-FFF2-40B4-BE49-F238E27FC236}">
                    <a16:creationId xmlns:a16="http://schemas.microsoft.com/office/drawing/2014/main" id="{737150D6-86B5-F17E-3494-91CF4FA8E80C}"/>
                  </a:ext>
                </a:extLst>
              </p:cNvPr>
              <p:cNvGrpSpPr/>
              <p:nvPr/>
            </p:nvGrpSpPr>
            <p:grpSpPr>
              <a:xfrm>
                <a:off x="2294583" y="5170713"/>
                <a:ext cx="1075411" cy="588713"/>
                <a:chOff x="746496" y="1014195"/>
                <a:chExt cx="1845984" cy="1010549"/>
              </a:xfrm>
            </p:grpSpPr>
            <p:sp>
              <p:nvSpPr>
                <p:cNvPr id="1129" name="Diamond 2">
                  <a:extLst>
                    <a:ext uri="{FF2B5EF4-FFF2-40B4-BE49-F238E27FC236}">
                      <a16:creationId xmlns:a16="http://schemas.microsoft.com/office/drawing/2014/main" id="{64939C8C-C026-5D0A-4F79-9F472DE1B81D}"/>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0" name="Parallelogram 3">
                  <a:extLst>
                    <a:ext uri="{FF2B5EF4-FFF2-40B4-BE49-F238E27FC236}">
                      <a16:creationId xmlns:a16="http://schemas.microsoft.com/office/drawing/2014/main" id="{70F6361C-68B6-500F-1EC9-9196239BC169}"/>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1" name="Parallelogram 1130">
                  <a:extLst>
                    <a:ext uri="{FF2B5EF4-FFF2-40B4-BE49-F238E27FC236}">
                      <a16:creationId xmlns:a16="http://schemas.microsoft.com/office/drawing/2014/main" id="{FF8688F8-8279-76EF-6DAA-171235520F18}"/>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2" name="Arrow: Pentagon 1131">
                  <a:extLst>
                    <a:ext uri="{FF2B5EF4-FFF2-40B4-BE49-F238E27FC236}">
                      <a16:creationId xmlns:a16="http://schemas.microsoft.com/office/drawing/2014/main" id="{17E49C58-85EC-4033-1C81-A3D88E752308}"/>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28" name="TextBox 1127">
                <a:extLst>
                  <a:ext uri="{FF2B5EF4-FFF2-40B4-BE49-F238E27FC236}">
                    <a16:creationId xmlns:a16="http://schemas.microsoft.com/office/drawing/2014/main" id="{D6BAC4B8-0D34-8EE1-D1AF-AAF51B459C12}"/>
                  </a:ext>
                </a:extLst>
              </p:cNvPr>
              <p:cNvSpPr txBox="1"/>
              <p:nvPr/>
            </p:nvSpPr>
            <p:spPr>
              <a:xfrm>
                <a:off x="2410211" y="5838040"/>
                <a:ext cx="814893"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Auto Upgrades</a:t>
                </a:r>
              </a:p>
            </p:txBody>
          </p:sp>
        </p:grpSp>
        <p:pic>
          <p:nvPicPr>
            <p:cNvPr id="1126" name="Picture 62" descr="Upgrade icons for free download | Freepik">
              <a:extLst>
                <a:ext uri="{FF2B5EF4-FFF2-40B4-BE49-F238E27FC236}">
                  <a16:creationId xmlns:a16="http://schemas.microsoft.com/office/drawing/2014/main" id="{F2FDAA5F-4A62-A53B-67DE-4C6217EB90A2}"/>
                </a:ext>
              </a:extLst>
            </p:cNvPr>
            <p:cNvPicPr>
              <a:picLocks noChangeAspect="1" noChangeArrowheads="1"/>
            </p:cNvPicPr>
            <p:nvPr/>
          </p:nvPicPr>
          <p:blipFill>
            <a:blip r:embed="rId16" cstate="print">
              <a:duotone>
                <a:schemeClr val="accent1">
                  <a:shade val="45000"/>
                  <a:satMod val="135000"/>
                </a:schemeClr>
                <a:prstClr val="white"/>
              </a:duotone>
              <a:extLst>
                <a:ext uri="{BEBA8EAE-BF5A-486C-A8C5-ECC9F3942E4B}">
                  <a14:imgProps xmlns:a14="http://schemas.microsoft.com/office/drawing/2010/main">
                    <a14:imgLayer r:embed="rId17">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97229" y="6008311"/>
              <a:ext cx="273142" cy="273142"/>
            </a:xfrm>
            <a:prstGeom prst="rect">
              <a:avLst/>
            </a:prstGeom>
            <a:noFill/>
            <a:extLst>
              <a:ext uri="{909E8E84-426E-40DD-AFC4-6F175D3DCCD1}">
                <a14:hiddenFill xmlns:a14="http://schemas.microsoft.com/office/drawing/2010/main">
                  <a:solidFill>
                    <a:srgbClr val="FFFFFF"/>
                  </a:solidFill>
                </a14:hiddenFill>
              </a:ext>
            </a:extLst>
          </p:spPr>
        </p:pic>
      </p:grpSp>
      <p:sp>
        <p:nvSpPr>
          <p:cNvPr id="1133" name="TextBox 1132">
            <a:extLst>
              <a:ext uri="{FF2B5EF4-FFF2-40B4-BE49-F238E27FC236}">
                <a16:creationId xmlns:a16="http://schemas.microsoft.com/office/drawing/2014/main" id="{ABA4622E-30F7-A525-45D2-530031CB8AAA}"/>
              </a:ext>
            </a:extLst>
          </p:cNvPr>
          <p:cNvSpPr txBox="1"/>
          <p:nvPr/>
        </p:nvSpPr>
        <p:spPr>
          <a:xfrm>
            <a:off x="562843" y="5846294"/>
            <a:ext cx="1139303" cy="415498"/>
          </a:xfrm>
          <a:prstGeom prst="rect">
            <a:avLst/>
          </a:prstGeom>
          <a:solidFill>
            <a:schemeClr val="tx2"/>
          </a:solidFill>
        </p:spPr>
        <p:txBody>
          <a:bodyPr wrap="square">
            <a:spAutoFit/>
          </a:bodyPr>
          <a:lstStyle/>
          <a:p>
            <a:pPr algn="ctr"/>
            <a:r>
              <a:rPr lang="en-IN" sz="1050" b="1" dirty="0">
                <a:solidFill>
                  <a:schemeClr val="bg1"/>
                </a:solidFill>
              </a:rPr>
              <a:t>Foundation Enablers</a:t>
            </a:r>
            <a:endParaRPr lang="en-IN" sz="1050" dirty="0">
              <a:solidFill>
                <a:schemeClr val="bg1"/>
              </a:solidFill>
            </a:endParaRPr>
          </a:p>
        </p:txBody>
      </p:sp>
      <p:sp>
        <p:nvSpPr>
          <p:cNvPr id="1134" name="Rectangle: Rounded Corners 1133">
            <a:extLst>
              <a:ext uri="{FF2B5EF4-FFF2-40B4-BE49-F238E27FC236}">
                <a16:creationId xmlns:a16="http://schemas.microsoft.com/office/drawing/2014/main" id="{FF778EF2-7596-B07D-11D3-C1D4B2FD1C34}"/>
              </a:ext>
            </a:extLst>
          </p:cNvPr>
          <p:cNvSpPr/>
          <p:nvPr/>
        </p:nvSpPr>
        <p:spPr>
          <a:xfrm>
            <a:off x="2227581" y="572309"/>
            <a:ext cx="4619970" cy="17169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Processing</a:t>
            </a:r>
            <a:endParaRPr lang="en-IN" dirty="0"/>
          </a:p>
        </p:txBody>
      </p:sp>
      <p:sp>
        <p:nvSpPr>
          <p:cNvPr id="1136" name="TextBox 1135">
            <a:extLst>
              <a:ext uri="{FF2B5EF4-FFF2-40B4-BE49-F238E27FC236}">
                <a16:creationId xmlns:a16="http://schemas.microsoft.com/office/drawing/2014/main" id="{BC7C72D9-D5BE-4B0B-00FE-BEA05581DF6C}"/>
              </a:ext>
            </a:extLst>
          </p:cNvPr>
          <p:cNvSpPr txBox="1"/>
          <p:nvPr/>
        </p:nvSpPr>
        <p:spPr>
          <a:xfrm>
            <a:off x="567858" y="6248692"/>
            <a:ext cx="11168340" cy="307777"/>
          </a:xfrm>
          <a:prstGeom prst="rect">
            <a:avLst/>
          </a:prstGeom>
          <a:solidFill>
            <a:schemeClr val="tx2"/>
          </a:solidFill>
        </p:spPr>
        <p:txBody>
          <a:bodyPr wrap="square">
            <a:spAutoFit/>
          </a:bodyPr>
          <a:lstStyle/>
          <a:p>
            <a:pPr algn="ctr"/>
            <a:r>
              <a:rPr lang="en-IN" sz="1400" b="1" dirty="0">
                <a:solidFill>
                  <a:schemeClr val="bg1"/>
                </a:solidFill>
              </a:rPr>
              <a:t>Trinity Legacy Tools / Applications</a:t>
            </a:r>
            <a:endParaRPr lang="en-IN" sz="1400" dirty="0">
              <a:solidFill>
                <a:schemeClr val="bg1"/>
              </a:solidFill>
            </a:endParaRPr>
          </a:p>
        </p:txBody>
      </p:sp>
      <p:sp>
        <p:nvSpPr>
          <p:cNvPr id="1139" name="Rectangle: Rounded Corners 1138">
            <a:extLst>
              <a:ext uri="{FF2B5EF4-FFF2-40B4-BE49-F238E27FC236}">
                <a16:creationId xmlns:a16="http://schemas.microsoft.com/office/drawing/2014/main" id="{3462926A-C79A-1BD4-C8DD-4B54B4B878EF}"/>
              </a:ext>
            </a:extLst>
          </p:cNvPr>
          <p:cNvSpPr/>
          <p:nvPr/>
        </p:nvSpPr>
        <p:spPr>
          <a:xfrm>
            <a:off x="9191868" y="5829640"/>
            <a:ext cx="940120" cy="25518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Migrator</a:t>
            </a:r>
            <a:endParaRPr lang="en-IN" sz="1000" dirty="0"/>
          </a:p>
        </p:txBody>
      </p:sp>
      <p:sp>
        <p:nvSpPr>
          <p:cNvPr id="1141" name="Rectangle: Rounded Corners 1140">
            <a:extLst>
              <a:ext uri="{FF2B5EF4-FFF2-40B4-BE49-F238E27FC236}">
                <a16:creationId xmlns:a16="http://schemas.microsoft.com/office/drawing/2014/main" id="{E2461B58-D872-A67A-997B-CAB3427C8977}"/>
              </a:ext>
            </a:extLst>
          </p:cNvPr>
          <p:cNvSpPr/>
          <p:nvPr/>
        </p:nvSpPr>
        <p:spPr>
          <a:xfrm>
            <a:off x="10242674" y="5792693"/>
            <a:ext cx="1038052" cy="29024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Comparator</a:t>
            </a:r>
            <a:endParaRPr lang="en-IN" sz="1000" dirty="0"/>
          </a:p>
        </p:txBody>
      </p:sp>
      <p:sp>
        <p:nvSpPr>
          <p:cNvPr id="1142" name="Rectangle: Rounded Corners 1141">
            <a:extLst>
              <a:ext uri="{FF2B5EF4-FFF2-40B4-BE49-F238E27FC236}">
                <a16:creationId xmlns:a16="http://schemas.microsoft.com/office/drawing/2014/main" id="{5AFC7EF1-3EB2-7B33-51AD-DDEC8DB7348B}"/>
              </a:ext>
            </a:extLst>
          </p:cNvPr>
          <p:cNvSpPr/>
          <p:nvPr/>
        </p:nvSpPr>
        <p:spPr>
          <a:xfrm>
            <a:off x="9182409" y="6106430"/>
            <a:ext cx="2008545" cy="1261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Code/Script  Converter</a:t>
            </a:r>
            <a:endParaRPr lang="en-IN" sz="1000" dirty="0"/>
          </a:p>
        </p:txBody>
      </p:sp>
      <p:cxnSp>
        <p:nvCxnSpPr>
          <p:cNvPr id="5" name="Straight Arrow Connector 4">
            <a:extLst>
              <a:ext uri="{FF2B5EF4-FFF2-40B4-BE49-F238E27FC236}">
                <a16:creationId xmlns:a16="http://schemas.microsoft.com/office/drawing/2014/main" id="{2726C45E-B255-C9E4-36C0-D5F077F01A86}"/>
              </a:ext>
            </a:extLst>
          </p:cNvPr>
          <p:cNvCxnSpPr>
            <a:cxnSpLocks/>
          </p:cNvCxnSpPr>
          <p:nvPr/>
        </p:nvCxnSpPr>
        <p:spPr>
          <a:xfrm flipV="1">
            <a:off x="1447442" y="1714943"/>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0F9EAA-80DE-53A4-B29F-0ABFCEE1F6C0}"/>
              </a:ext>
            </a:extLst>
          </p:cNvPr>
          <p:cNvCxnSpPr>
            <a:cxnSpLocks/>
          </p:cNvCxnSpPr>
          <p:nvPr/>
        </p:nvCxnSpPr>
        <p:spPr>
          <a:xfrm flipV="1">
            <a:off x="1396644" y="2338398"/>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B36CCD9-BB75-7AC4-9A4D-92365903777B}"/>
              </a:ext>
            </a:extLst>
          </p:cNvPr>
          <p:cNvSpPr/>
          <p:nvPr/>
        </p:nvSpPr>
        <p:spPr>
          <a:xfrm>
            <a:off x="8972900" y="1052167"/>
            <a:ext cx="1881021" cy="23364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2</a:t>
            </a:r>
          </a:p>
        </p:txBody>
      </p:sp>
      <p:sp>
        <p:nvSpPr>
          <p:cNvPr id="14" name="Rectangle 13">
            <a:extLst>
              <a:ext uri="{FF2B5EF4-FFF2-40B4-BE49-F238E27FC236}">
                <a16:creationId xmlns:a16="http://schemas.microsoft.com/office/drawing/2014/main" id="{515A445F-E04B-921B-E642-E789193C6F04}"/>
              </a:ext>
            </a:extLst>
          </p:cNvPr>
          <p:cNvSpPr/>
          <p:nvPr/>
        </p:nvSpPr>
        <p:spPr>
          <a:xfrm>
            <a:off x="8972900" y="1435574"/>
            <a:ext cx="1263263" cy="52741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3</a:t>
            </a:r>
          </a:p>
        </p:txBody>
      </p:sp>
      <p:cxnSp>
        <p:nvCxnSpPr>
          <p:cNvPr id="16" name="Straight Arrow Connector 15">
            <a:extLst>
              <a:ext uri="{FF2B5EF4-FFF2-40B4-BE49-F238E27FC236}">
                <a16:creationId xmlns:a16="http://schemas.microsoft.com/office/drawing/2014/main" id="{916EA216-CDAC-B79E-834D-F02B73628A3B}"/>
              </a:ext>
            </a:extLst>
          </p:cNvPr>
          <p:cNvCxnSpPr>
            <a:cxnSpLocks/>
          </p:cNvCxnSpPr>
          <p:nvPr/>
        </p:nvCxnSpPr>
        <p:spPr>
          <a:xfrm>
            <a:off x="7618683" y="1185560"/>
            <a:ext cx="13439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867F028-259A-F59C-4AC8-AA80A9B91CB4}"/>
              </a:ext>
            </a:extLst>
          </p:cNvPr>
          <p:cNvCxnSpPr>
            <a:cxnSpLocks/>
          </p:cNvCxnSpPr>
          <p:nvPr/>
        </p:nvCxnSpPr>
        <p:spPr>
          <a:xfrm>
            <a:off x="7643648" y="1485741"/>
            <a:ext cx="13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36A419BB-F6C1-2BBF-0299-CCD9F8232ED0}"/>
              </a:ext>
            </a:extLst>
          </p:cNvPr>
          <p:cNvSpPr/>
          <p:nvPr/>
        </p:nvSpPr>
        <p:spPr>
          <a:xfrm>
            <a:off x="5541414" y="1964425"/>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34" name="Rectangle: Rounded Corners 33">
            <a:extLst>
              <a:ext uri="{FF2B5EF4-FFF2-40B4-BE49-F238E27FC236}">
                <a16:creationId xmlns:a16="http://schemas.microsoft.com/office/drawing/2014/main" id="{265BBE62-E81C-DBDE-3059-81676A298561}"/>
              </a:ext>
            </a:extLst>
          </p:cNvPr>
          <p:cNvSpPr/>
          <p:nvPr/>
        </p:nvSpPr>
        <p:spPr>
          <a:xfrm>
            <a:off x="6278510" y="1962176"/>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35" name="Rectangle: Rounded Corners 34">
            <a:extLst>
              <a:ext uri="{FF2B5EF4-FFF2-40B4-BE49-F238E27FC236}">
                <a16:creationId xmlns:a16="http://schemas.microsoft.com/office/drawing/2014/main" id="{73BF2673-9BF9-4ECF-DB82-AAF46B57E7E0}"/>
              </a:ext>
            </a:extLst>
          </p:cNvPr>
          <p:cNvSpPr/>
          <p:nvPr/>
        </p:nvSpPr>
        <p:spPr>
          <a:xfrm>
            <a:off x="6966282" y="1968057"/>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38" name="Flowchart: Connector 37">
            <a:extLst>
              <a:ext uri="{FF2B5EF4-FFF2-40B4-BE49-F238E27FC236}">
                <a16:creationId xmlns:a16="http://schemas.microsoft.com/office/drawing/2014/main" id="{A3649D3F-779E-87D2-417C-0A34888E20C8}"/>
              </a:ext>
            </a:extLst>
          </p:cNvPr>
          <p:cNvSpPr/>
          <p:nvPr/>
        </p:nvSpPr>
        <p:spPr>
          <a:xfrm>
            <a:off x="5520615" y="2266592"/>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39" name="Flowchart: Connector 38">
            <a:extLst>
              <a:ext uri="{FF2B5EF4-FFF2-40B4-BE49-F238E27FC236}">
                <a16:creationId xmlns:a16="http://schemas.microsoft.com/office/drawing/2014/main" id="{C4098E04-EF71-FD23-CF24-3F6D421F6BC9}"/>
              </a:ext>
            </a:extLst>
          </p:cNvPr>
          <p:cNvSpPr/>
          <p:nvPr/>
        </p:nvSpPr>
        <p:spPr>
          <a:xfrm>
            <a:off x="6262971" y="2264866"/>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40" name="Flowchart: Connector 39">
            <a:extLst>
              <a:ext uri="{FF2B5EF4-FFF2-40B4-BE49-F238E27FC236}">
                <a16:creationId xmlns:a16="http://schemas.microsoft.com/office/drawing/2014/main" id="{6EE9B24A-C014-254E-F91A-C9B789F7BD74}"/>
              </a:ext>
            </a:extLst>
          </p:cNvPr>
          <p:cNvSpPr/>
          <p:nvPr/>
        </p:nvSpPr>
        <p:spPr>
          <a:xfrm>
            <a:off x="6988023" y="224177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53" name="Flowchart: Connector 52">
            <a:extLst>
              <a:ext uri="{FF2B5EF4-FFF2-40B4-BE49-F238E27FC236}">
                <a16:creationId xmlns:a16="http://schemas.microsoft.com/office/drawing/2014/main" id="{2622C881-D039-40DD-F18D-D16EFD523052}"/>
              </a:ext>
            </a:extLst>
          </p:cNvPr>
          <p:cNvSpPr/>
          <p:nvPr/>
        </p:nvSpPr>
        <p:spPr>
          <a:xfrm>
            <a:off x="9123292" y="2473586"/>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54" name="Flowchart: Connector 53">
            <a:extLst>
              <a:ext uri="{FF2B5EF4-FFF2-40B4-BE49-F238E27FC236}">
                <a16:creationId xmlns:a16="http://schemas.microsoft.com/office/drawing/2014/main" id="{12314965-1920-241C-4573-88A68A4C4252}"/>
              </a:ext>
            </a:extLst>
          </p:cNvPr>
          <p:cNvSpPr/>
          <p:nvPr/>
        </p:nvSpPr>
        <p:spPr>
          <a:xfrm>
            <a:off x="10082629" y="2453614"/>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55" name="Flowchart: Connector 54">
            <a:extLst>
              <a:ext uri="{FF2B5EF4-FFF2-40B4-BE49-F238E27FC236}">
                <a16:creationId xmlns:a16="http://schemas.microsoft.com/office/drawing/2014/main" id="{AAD269A2-642B-0FFF-01B1-8CB9E76903E2}"/>
              </a:ext>
            </a:extLst>
          </p:cNvPr>
          <p:cNvSpPr/>
          <p:nvPr/>
        </p:nvSpPr>
        <p:spPr>
          <a:xfrm>
            <a:off x="10945468" y="239546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76" name="Rectangle: Rounded Corners 75">
            <a:extLst>
              <a:ext uri="{FF2B5EF4-FFF2-40B4-BE49-F238E27FC236}">
                <a16:creationId xmlns:a16="http://schemas.microsoft.com/office/drawing/2014/main" id="{84A31D3B-9AB1-D43F-CDAA-3167724A7F80}"/>
              </a:ext>
            </a:extLst>
          </p:cNvPr>
          <p:cNvSpPr/>
          <p:nvPr/>
        </p:nvSpPr>
        <p:spPr>
          <a:xfrm>
            <a:off x="9111281" y="2218421"/>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77" name="Rectangle: Rounded Corners 76">
            <a:extLst>
              <a:ext uri="{FF2B5EF4-FFF2-40B4-BE49-F238E27FC236}">
                <a16:creationId xmlns:a16="http://schemas.microsoft.com/office/drawing/2014/main" id="{4ED64CAE-EE7A-A6A0-D9FE-36BCA91A722C}"/>
              </a:ext>
            </a:extLst>
          </p:cNvPr>
          <p:cNvSpPr/>
          <p:nvPr/>
        </p:nvSpPr>
        <p:spPr>
          <a:xfrm>
            <a:off x="10124197" y="2169455"/>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78" name="Rectangle: Rounded Corners 77">
            <a:extLst>
              <a:ext uri="{FF2B5EF4-FFF2-40B4-BE49-F238E27FC236}">
                <a16:creationId xmlns:a16="http://schemas.microsoft.com/office/drawing/2014/main" id="{54F430C1-E3C3-85B4-A1F6-B8C6B2D12060}"/>
              </a:ext>
            </a:extLst>
          </p:cNvPr>
          <p:cNvSpPr/>
          <p:nvPr/>
        </p:nvSpPr>
        <p:spPr>
          <a:xfrm>
            <a:off x="10976806" y="2175802"/>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cxnSp>
        <p:nvCxnSpPr>
          <p:cNvPr id="1185" name="Straight Arrow Connector 1184">
            <a:extLst>
              <a:ext uri="{FF2B5EF4-FFF2-40B4-BE49-F238E27FC236}">
                <a16:creationId xmlns:a16="http://schemas.microsoft.com/office/drawing/2014/main" id="{02DC2C4C-2438-83D1-CC96-0C022B8042FC}"/>
              </a:ext>
            </a:extLst>
          </p:cNvPr>
          <p:cNvCxnSpPr>
            <a:cxnSpLocks/>
            <a:stCxn id="159" idx="3"/>
          </p:cNvCxnSpPr>
          <p:nvPr/>
        </p:nvCxnSpPr>
        <p:spPr>
          <a:xfrm flipH="1">
            <a:off x="5934318" y="1613977"/>
            <a:ext cx="8214" cy="65088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6" name="Straight Arrow Connector 1185">
            <a:extLst>
              <a:ext uri="{FF2B5EF4-FFF2-40B4-BE49-F238E27FC236}">
                <a16:creationId xmlns:a16="http://schemas.microsoft.com/office/drawing/2014/main" id="{6EBCA957-629F-0D75-4C1A-C6F97E3F36A5}"/>
              </a:ext>
            </a:extLst>
          </p:cNvPr>
          <p:cNvCxnSpPr>
            <a:cxnSpLocks/>
          </p:cNvCxnSpPr>
          <p:nvPr/>
        </p:nvCxnSpPr>
        <p:spPr>
          <a:xfrm>
            <a:off x="6575219" y="1647327"/>
            <a:ext cx="0" cy="5944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7" name="Straight Arrow Connector 1186">
            <a:extLst>
              <a:ext uri="{FF2B5EF4-FFF2-40B4-BE49-F238E27FC236}">
                <a16:creationId xmlns:a16="http://schemas.microsoft.com/office/drawing/2014/main" id="{B40C0AA6-DF6D-E8A5-46F1-F930B1433B97}"/>
              </a:ext>
            </a:extLst>
          </p:cNvPr>
          <p:cNvCxnSpPr>
            <a:cxnSpLocks/>
          </p:cNvCxnSpPr>
          <p:nvPr/>
        </p:nvCxnSpPr>
        <p:spPr>
          <a:xfrm flipH="1">
            <a:off x="7230348" y="1651659"/>
            <a:ext cx="14120" cy="5801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3" name="Straight Arrow Connector 1192">
            <a:extLst>
              <a:ext uri="{FF2B5EF4-FFF2-40B4-BE49-F238E27FC236}">
                <a16:creationId xmlns:a16="http://schemas.microsoft.com/office/drawing/2014/main" id="{CC3D6E05-E9D1-934D-CE22-8D8F80187FC1}"/>
              </a:ext>
            </a:extLst>
          </p:cNvPr>
          <p:cNvCxnSpPr>
            <a:cxnSpLocks/>
          </p:cNvCxnSpPr>
          <p:nvPr/>
        </p:nvCxnSpPr>
        <p:spPr>
          <a:xfrm flipH="1">
            <a:off x="9450419" y="1936099"/>
            <a:ext cx="13318" cy="296143"/>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4" name="Straight Arrow Connector 1193">
            <a:extLst>
              <a:ext uri="{FF2B5EF4-FFF2-40B4-BE49-F238E27FC236}">
                <a16:creationId xmlns:a16="http://schemas.microsoft.com/office/drawing/2014/main" id="{729C88E2-CC23-14BD-561D-EB4B7A3196D0}"/>
              </a:ext>
            </a:extLst>
          </p:cNvPr>
          <p:cNvCxnSpPr>
            <a:cxnSpLocks/>
          </p:cNvCxnSpPr>
          <p:nvPr/>
        </p:nvCxnSpPr>
        <p:spPr>
          <a:xfrm>
            <a:off x="10432684" y="1261836"/>
            <a:ext cx="0" cy="927657"/>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5" name="Straight Arrow Connector 1194">
            <a:extLst>
              <a:ext uri="{FF2B5EF4-FFF2-40B4-BE49-F238E27FC236}">
                <a16:creationId xmlns:a16="http://schemas.microsoft.com/office/drawing/2014/main" id="{930145FC-63A6-67DC-CFC5-C3ACFB0A383E}"/>
              </a:ext>
            </a:extLst>
          </p:cNvPr>
          <p:cNvCxnSpPr>
            <a:cxnSpLocks/>
          </p:cNvCxnSpPr>
          <p:nvPr/>
        </p:nvCxnSpPr>
        <p:spPr>
          <a:xfrm flipH="1">
            <a:off x="11310780" y="975163"/>
            <a:ext cx="20554" cy="1184594"/>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5" name="Rectangle 1224">
            <a:extLst>
              <a:ext uri="{FF2B5EF4-FFF2-40B4-BE49-F238E27FC236}">
                <a16:creationId xmlns:a16="http://schemas.microsoft.com/office/drawing/2014/main" id="{05167196-4F98-2C51-680F-9E20BAB5D3AF}"/>
              </a:ext>
            </a:extLst>
          </p:cNvPr>
          <p:cNvSpPr/>
          <p:nvPr/>
        </p:nvSpPr>
        <p:spPr>
          <a:xfrm>
            <a:off x="9164132" y="455538"/>
            <a:ext cx="2389079" cy="1716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t>
            </a:r>
            <a:r>
              <a:rPr lang="en-US" sz="1100" b="1" dirty="0">
                <a:solidFill>
                  <a:schemeClr val="tx1"/>
                </a:solidFill>
              </a:rPr>
              <a:t>Prebuilt Reports/KPIs/Dashboards</a:t>
            </a:r>
            <a:r>
              <a:rPr lang="en-US" sz="1100" dirty="0">
                <a:solidFill>
                  <a:schemeClr val="tx1"/>
                </a:solidFill>
              </a:rPr>
              <a:t>)</a:t>
            </a:r>
          </a:p>
        </p:txBody>
      </p:sp>
      <p:sp>
        <p:nvSpPr>
          <p:cNvPr id="2" name="Rectangle: Rounded Corners 1">
            <a:extLst>
              <a:ext uri="{FF2B5EF4-FFF2-40B4-BE49-F238E27FC236}">
                <a16:creationId xmlns:a16="http://schemas.microsoft.com/office/drawing/2014/main" id="{E4C3E025-5B22-A14E-13E9-AA4AFF9C0B44}"/>
              </a:ext>
            </a:extLst>
          </p:cNvPr>
          <p:cNvSpPr/>
          <p:nvPr/>
        </p:nvSpPr>
        <p:spPr>
          <a:xfrm>
            <a:off x="1572005" y="3451708"/>
            <a:ext cx="1097859" cy="38113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TERRA - EXTRACTOR</a:t>
            </a:r>
            <a:endParaRPr lang="en-IN" sz="1300" dirty="0"/>
          </a:p>
        </p:txBody>
      </p:sp>
      <p:sp>
        <p:nvSpPr>
          <p:cNvPr id="4" name="Rectangle: Rounded Corners 3">
            <a:extLst>
              <a:ext uri="{FF2B5EF4-FFF2-40B4-BE49-F238E27FC236}">
                <a16:creationId xmlns:a16="http://schemas.microsoft.com/office/drawing/2014/main" id="{E1418CD4-05CE-0AC8-50E0-6BAF774F421F}"/>
              </a:ext>
            </a:extLst>
          </p:cNvPr>
          <p:cNvSpPr/>
          <p:nvPr/>
        </p:nvSpPr>
        <p:spPr>
          <a:xfrm>
            <a:off x="4483095" y="3441006"/>
            <a:ext cx="2361336" cy="28705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IRIS </a:t>
            </a:r>
            <a:endParaRPr lang="en-IN" sz="1300" dirty="0"/>
          </a:p>
        </p:txBody>
      </p:sp>
      <p:sp>
        <p:nvSpPr>
          <p:cNvPr id="7" name="Rectangle: Rounded Corners 6">
            <a:extLst>
              <a:ext uri="{FF2B5EF4-FFF2-40B4-BE49-F238E27FC236}">
                <a16:creationId xmlns:a16="http://schemas.microsoft.com/office/drawing/2014/main" id="{059116AC-54E8-5C49-57F3-FC27C42A200F}"/>
              </a:ext>
            </a:extLst>
          </p:cNvPr>
          <p:cNvSpPr/>
          <p:nvPr/>
        </p:nvSpPr>
        <p:spPr>
          <a:xfrm>
            <a:off x="4568935" y="3029141"/>
            <a:ext cx="2779417" cy="210231"/>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Trinity Product/Tools</a:t>
            </a:r>
            <a:endParaRPr lang="en-IN" dirty="0"/>
          </a:p>
        </p:txBody>
      </p:sp>
      <p:cxnSp>
        <p:nvCxnSpPr>
          <p:cNvPr id="15" name="Straight Arrow Connector 14">
            <a:extLst>
              <a:ext uri="{FF2B5EF4-FFF2-40B4-BE49-F238E27FC236}">
                <a16:creationId xmlns:a16="http://schemas.microsoft.com/office/drawing/2014/main" id="{7ECF76B5-B813-E53F-6E05-FE3736B25FB3}"/>
              </a:ext>
            </a:extLst>
          </p:cNvPr>
          <p:cNvCxnSpPr>
            <a:cxnSpLocks/>
          </p:cNvCxnSpPr>
          <p:nvPr/>
        </p:nvCxnSpPr>
        <p:spPr>
          <a:xfrm>
            <a:off x="2836572" y="3320459"/>
            <a:ext cx="4789560" cy="417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EBC161-5EBD-49C1-3132-AEACCB610D92}"/>
              </a:ext>
            </a:extLst>
          </p:cNvPr>
          <p:cNvCxnSpPr>
            <a:cxnSpLocks/>
          </p:cNvCxnSpPr>
          <p:nvPr/>
        </p:nvCxnSpPr>
        <p:spPr>
          <a:xfrm flipV="1">
            <a:off x="1511154" y="3327450"/>
            <a:ext cx="1232862" cy="143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76197B5-61A9-589B-38FD-C4C1C8FF4539}"/>
              </a:ext>
            </a:extLst>
          </p:cNvPr>
          <p:cNvCxnSpPr>
            <a:cxnSpLocks/>
          </p:cNvCxnSpPr>
          <p:nvPr/>
        </p:nvCxnSpPr>
        <p:spPr>
          <a:xfrm flipV="1">
            <a:off x="7710661" y="3341281"/>
            <a:ext cx="1376031" cy="34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22243314-D63A-0850-563E-267D8EE9C63D}"/>
              </a:ext>
            </a:extLst>
          </p:cNvPr>
          <p:cNvSpPr/>
          <p:nvPr/>
        </p:nvSpPr>
        <p:spPr>
          <a:xfrm>
            <a:off x="7959961" y="3455048"/>
            <a:ext cx="1005965" cy="26622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NBA </a:t>
            </a:r>
            <a:endParaRPr lang="en-IN" sz="1300" dirty="0"/>
          </a:p>
        </p:txBody>
      </p:sp>
      <p:cxnSp>
        <p:nvCxnSpPr>
          <p:cNvPr id="48" name="Straight Connector 47">
            <a:extLst>
              <a:ext uri="{FF2B5EF4-FFF2-40B4-BE49-F238E27FC236}">
                <a16:creationId xmlns:a16="http://schemas.microsoft.com/office/drawing/2014/main" id="{02FF7D90-3161-171E-7127-5CDAA120EB9D}"/>
              </a:ext>
            </a:extLst>
          </p:cNvPr>
          <p:cNvCxnSpPr/>
          <p:nvPr/>
        </p:nvCxnSpPr>
        <p:spPr>
          <a:xfrm>
            <a:off x="2803009" y="3100225"/>
            <a:ext cx="0" cy="5059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6519016-DC69-1BFE-B933-D0F685E79E73}"/>
              </a:ext>
            </a:extLst>
          </p:cNvPr>
          <p:cNvCxnSpPr>
            <a:cxnSpLocks/>
          </p:cNvCxnSpPr>
          <p:nvPr/>
        </p:nvCxnSpPr>
        <p:spPr>
          <a:xfrm flipV="1">
            <a:off x="1618905" y="4215994"/>
            <a:ext cx="5998775" cy="2242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5C4F9771-E2A6-FE51-3375-55C536352AE6}"/>
              </a:ext>
            </a:extLst>
          </p:cNvPr>
          <p:cNvSpPr/>
          <p:nvPr/>
        </p:nvSpPr>
        <p:spPr>
          <a:xfrm>
            <a:off x="4848725" y="4267440"/>
            <a:ext cx="1700736" cy="25296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TERRA - Data Lineage</a:t>
            </a:r>
          </a:p>
        </p:txBody>
      </p:sp>
      <p:sp>
        <p:nvSpPr>
          <p:cNvPr id="57" name="Rectangle: Rounded Corners 56">
            <a:extLst>
              <a:ext uri="{FF2B5EF4-FFF2-40B4-BE49-F238E27FC236}">
                <a16:creationId xmlns:a16="http://schemas.microsoft.com/office/drawing/2014/main" id="{8F72973A-DC53-DB9C-F961-DC47859478A7}"/>
              </a:ext>
            </a:extLst>
          </p:cNvPr>
          <p:cNvSpPr/>
          <p:nvPr/>
        </p:nvSpPr>
        <p:spPr>
          <a:xfrm>
            <a:off x="2854444" y="5033841"/>
            <a:ext cx="949437" cy="448576"/>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TERRA - DQM</a:t>
            </a:r>
            <a:endParaRPr lang="en-IN" sz="1300" dirty="0"/>
          </a:p>
        </p:txBody>
      </p:sp>
      <p:cxnSp>
        <p:nvCxnSpPr>
          <p:cNvPr id="60" name="Straight Arrow Connector 59">
            <a:extLst>
              <a:ext uri="{FF2B5EF4-FFF2-40B4-BE49-F238E27FC236}">
                <a16:creationId xmlns:a16="http://schemas.microsoft.com/office/drawing/2014/main" id="{D8EA63BB-98CD-B2E4-DF44-6F1A53A334BF}"/>
              </a:ext>
            </a:extLst>
          </p:cNvPr>
          <p:cNvCxnSpPr>
            <a:cxnSpLocks/>
          </p:cNvCxnSpPr>
          <p:nvPr/>
        </p:nvCxnSpPr>
        <p:spPr>
          <a:xfrm flipV="1">
            <a:off x="2801220" y="4846536"/>
            <a:ext cx="1216883" cy="1295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C3D3336-744F-A97F-627A-0E4B3B2A46C0}"/>
              </a:ext>
            </a:extLst>
          </p:cNvPr>
          <p:cNvCxnSpPr>
            <a:cxnSpLocks/>
          </p:cNvCxnSpPr>
          <p:nvPr/>
        </p:nvCxnSpPr>
        <p:spPr>
          <a:xfrm flipH="1">
            <a:off x="2791388" y="736177"/>
            <a:ext cx="8452" cy="489770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881AB67-7AF1-518C-56BC-E5EEE2312C17}"/>
              </a:ext>
            </a:extLst>
          </p:cNvPr>
          <p:cNvCxnSpPr>
            <a:cxnSpLocks/>
          </p:cNvCxnSpPr>
          <p:nvPr/>
        </p:nvCxnSpPr>
        <p:spPr>
          <a:xfrm flipH="1">
            <a:off x="4035170" y="800089"/>
            <a:ext cx="8452" cy="489770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CC6A0CA-4BB0-105A-4763-2D52ADBE61D4}"/>
              </a:ext>
            </a:extLst>
          </p:cNvPr>
          <p:cNvCxnSpPr>
            <a:cxnSpLocks/>
          </p:cNvCxnSpPr>
          <p:nvPr/>
        </p:nvCxnSpPr>
        <p:spPr>
          <a:xfrm flipH="1">
            <a:off x="7666840" y="839468"/>
            <a:ext cx="3396" cy="478235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078F31-96EF-3E75-5BC1-C7E8299A650A}"/>
              </a:ext>
            </a:extLst>
          </p:cNvPr>
          <p:cNvCxnSpPr>
            <a:cxnSpLocks/>
          </p:cNvCxnSpPr>
          <p:nvPr/>
        </p:nvCxnSpPr>
        <p:spPr>
          <a:xfrm flipH="1">
            <a:off x="8979444" y="685403"/>
            <a:ext cx="8452" cy="489770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8C5A5F2-6377-C50D-B5E0-0BFCC61DD8F3}"/>
              </a:ext>
            </a:extLst>
          </p:cNvPr>
          <p:cNvCxnSpPr>
            <a:cxnSpLocks/>
          </p:cNvCxnSpPr>
          <p:nvPr/>
        </p:nvCxnSpPr>
        <p:spPr>
          <a:xfrm flipH="1">
            <a:off x="5351336" y="844385"/>
            <a:ext cx="3396" cy="478235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EB78CB8E-F945-80BD-94CE-F7DB540E43AB}"/>
              </a:ext>
            </a:extLst>
          </p:cNvPr>
          <p:cNvSpPr/>
          <p:nvPr/>
        </p:nvSpPr>
        <p:spPr>
          <a:xfrm>
            <a:off x="5669939" y="5030759"/>
            <a:ext cx="1669039" cy="27108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00" dirty="0"/>
              <a:t>TERRA - Data Catalog </a:t>
            </a:r>
            <a:endParaRPr lang="en-IN" sz="1300" dirty="0"/>
          </a:p>
        </p:txBody>
      </p:sp>
      <p:cxnSp>
        <p:nvCxnSpPr>
          <p:cNvPr id="79" name="Straight Arrow Connector 78">
            <a:extLst>
              <a:ext uri="{FF2B5EF4-FFF2-40B4-BE49-F238E27FC236}">
                <a16:creationId xmlns:a16="http://schemas.microsoft.com/office/drawing/2014/main" id="{F9F5EE15-23F6-B8D1-7487-4EACD22C3AE8}"/>
              </a:ext>
            </a:extLst>
          </p:cNvPr>
          <p:cNvCxnSpPr>
            <a:cxnSpLocks/>
          </p:cNvCxnSpPr>
          <p:nvPr/>
        </p:nvCxnSpPr>
        <p:spPr>
          <a:xfrm flipV="1">
            <a:off x="5351336" y="4907169"/>
            <a:ext cx="2306975" cy="647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231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3991-AA92-058A-874A-269DE8734A5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AF40BBE-106E-6C0D-7D96-1C550C959A30}"/>
              </a:ext>
            </a:extLst>
          </p:cNvPr>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2655703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91133C5-F4A3-4CD6-D5EC-9A546CAA6269}"/>
              </a:ext>
            </a:extLst>
          </p:cNvPr>
          <p:cNvSpPr/>
          <p:nvPr/>
        </p:nvSpPr>
        <p:spPr>
          <a:xfrm>
            <a:off x="2695789" y="1278673"/>
            <a:ext cx="1480763" cy="3924951"/>
          </a:xfrm>
          <a:prstGeom prst="round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a:extLst>
              <a:ext uri="{FF2B5EF4-FFF2-40B4-BE49-F238E27FC236}">
                <a16:creationId xmlns:a16="http://schemas.microsoft.com/office/drawing/2014/main" id="{9D2C8890-64B3-A473-09E7-BBCA8C2CCEEC}"/>
              </a:ext>
            </a:extLst>
          </p:cNvPr>
          <p:cNvSpPr>
            <a:spLocks noGrp="1"/>
          </p:cNvSpPr>
          <p:nvPr>
            <p:ph type="body" sz="quarter" idx="14"/>
          </p:nvPr>
        </p:nvSpPr>
        <p:spPr/>
        <p:txBody>
          <a:bodyPr/>
          <a:lstStyle/>
          <a:p>
            <a:endParaRPr lang="en-IN" dirty="0"/>
          </a:p>
        </p:txBody>
      </p:sp>
      <p:sp>
        <p:nvSpPr>
          <p:cNvPr id="4" name="Rectangle: Rounded Corners 3">
            <a:extLst>
              <a:ext uri="{FF2B5EF4-FFF2-40B4-BE49-F238E27FC236}">
                <a16:creationId xmlns:a16="http://schemas.microsoft.com/office/drawing/2014/main" id="{6A2B799F-225F-41A2-E5A8-4C447E3B1C9E}"/>
              </a:ext>
            </a:extLst>
          </p:cNvPr>
          <p:cNvSpPr/>
          <p:nvPr/>
        </p:nvSpPr>
        <p:spPr>
          <a:xfrm>
            <a:off x="4964873" y="310967"/>
            <a:ext cx="4439275" cy="2215516"/>
          </a:xfrm>
          <a:prstGeom prst="roundRect">
            <a:avLst>
              <a:gd name="adj" fmla="val 418"/>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5" name="Group 4">
            <a:extLst>
              <a:ext uri="{FF2B5EF4-FFF2-40B4-BE49-F238E27FC236}">
                <a16:creationId xmlns:a16="http://schemas.microsoft.com/office/drawing/2014/main" id="{6C8CEB81-16B8-DC41-56C5-A5B2912AA7CE}"/>
              </a:ext>
            </a:extLst>
          </p:cNvPr>
          <p:cNvGrpSpPr/>
          <p:nvPr/>
        </p:nvGrpSpPr>
        <p:grpSpPr>
          <a:xfrm>
            <a:off x="114193" y="2118228"/>
            <a:ext cx="1077275" cy="2544219"/>
            <a:chOff x="3119514" y="680356"/>
            <a:chExt cx="1320988" cy="3040289"/>
          </a:xfrm>
        </p:grpSpPr>
        <p:sp>
          <p:nvSpPr>
            <p:cNvPr id="6" name="Rectangle 5">
              <a:extLst>
                <a:ext uri="{FF2B5EF4-FFF2-40B4-BE49-F238E27FC236}">
                  <a16:creationId xmlns:a16="http://schemas.microsoft.com/office/drawing/2014/main" id="{909FCDCB-1F6C-22DB-C708-57E5056BBC02}"/>
                </a:ext>
              </a:extLst>
            </p:cNvPr>
            <p:cNvSpPr/>
            <p:nvPr/>
          </p:nvSpPr>
          <p:spPr>
            <a:xfrm>
              <a:off x="3123329" y="680356"/>
              <a:ext cx="1317173" cy="30402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 name="TextBox 6">
              <a:extLst>
                <a:ext uri="{FF2B5EF4-FFF2-40B4-BE49-F238E27FC236}">
                  <a16:creationId xmlns:a16="http://schemas.microsoft.com/office/drawing/2014/main" id="{E53E0CEF-C2BA-B736-2008-0D440FD1110A}"/>
                </a:ext>
              </a:extLst>
            </p:cNvPr>
            <p:cNvSpPr txBox="1"/>
            <p:nvPr/>
          </p:nvSpPr>
          <p:spPr>
            <a:xfrm>
              <a:off x="3119514" y="682386"/>
              <a:ext cx="1317174" cy="312619"/>
            </a:xfrm>
            <a:prstGeom prst="rect">
              <a:avLst/>
            </a:prstGeom>
            <a:solidFill>
              <a:schemeClr val="tx2"/>
            </a:solidFill>
          </p:spPr>
          <p:txBody>
            <a:bodyPr wrap="square">
              <a:spAutoFit/>
            </a:bodyPr>
            <a:lstStyle>
              <a:defPPr>
                <a:defRPr lang="en-US"/>
              </a:defPPr>
              <a:lvl1pPr algn="ctr">
                <a:defRPr sz="1200" b="1">
                  <a:solidFill>
                    <a:schemeClr val="bg1"/>
                  </a:solidFill>
                </a:defRPr>
              </a:lvl1pPr>
            </a:lstStyle>
            <a:p>
              <a:r>
                <a:rPr lang="en-IN" sz="1100"/>
                <a:t>Data Sources</a:t>
              </a:r>
            </a:p>
          </p:txBody>
        </p:sp>
      </p:grpSp>
      <p:pic>
        <p:nvPicPr>
          <p:cNvPr id="8" name="Picture 18" descr="Symphony Health - Precisely Case Study">
            <a:extLst>
              <a:ext uri="{FF2B5EF4-FFF2-40B4-BE49-F238E27FC236}">
                <a16:creationId xmlns:a16="http://schemas.microsoft.com/office/drawing/2014/main" id="{316C4C26-14EE-CEE5-D228-27C73E637A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711" y="4142279"/>
            <a:ext cx="736056" cy="346259"/>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FCA2E0F-585E-375B-E490-36F5BB21FC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785" y="2848891"/>
            <a:ext cx="678896" cy="2004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2" descr="Pharmaceutical, Healthcare and Payer Business Solutions | MMIT">
            <a:extLst>
              <a:ext uri="{FF2B5EF4-FFF2-40B4-BE49-F238E27FC236}">
                <a16:creationId xmlns:a16="http://schemas.microsoft.com/office/drawing/2014/main" id="{0922E668-DD8D-BE9E-E2AB-D044AAB37B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9359" y="3317638"/>
            <a:ext cx="305750" cy="47658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2BD135F9-682B-8084-1466-F6630CF8DCAD}"/>
              </a:ext>
            </a:extLst>
          </p:cNvPr>
          <p:cNvGrpSpPr/>
          <p:nvPr/>
        </p:nvGrpSpPr>
        <p:grpSpPr>
          <a:xfrm>
            <a:off x="1912968" y="2033562"/>
            <a:ext cx="597831" cy="2544218"/>
            <a:chOff x="1957617" y="1681298"/>
            <a:chExt cx="1291877" cy="2834619"/>
          </a:xfrm>
        </p:grpSpPr>
        <p:grpSp>
          <p:nvGrpSpPr>
            <p:cNvPr id="12" name="Group 11">
              <a:extLst>
                <a:ext uri="{FF2B5EF4-FFF2-40B4-BE49-F238E27FC236}">
                  <a16:creationId xmlns:a16="http://schemas.microsoft.com/office/drawing/2014/main" id="{A61B3FAF-2C34-ABB8-BF4F-683DA61293BC}"/>
                </a:ext>
              </a:extLst>
            </p:cNvPr>
            <p:cNvGrpSpPr/>
            <p:nvPr/>
          </p:nvGrpSpPr>
          <p:grpSpPr>
            <a:xfrm>
              <a:off x="1957618" y="1681298"/>
              <a:ext cx="1291876" cy="2834619"/>
              <a:chOff x="3123329" y="679174"/>
              <a:chExt cx="1317174" cy="3040288"/>
            </a:xfrm>
          </p:grpSpPr>
          <p:sp>
            <p:nvSpPr>
              <p:cNvPr id="14" name="Rectangle 13">
                <a:extLst>
                  <a:ext uri="{FF2B5EF4-FFF2-40B4-BE49-F238E27FC236}">
                    <a16:creationId xmlns:a16="http://schemas.microsoft.com/office/drawing/2014/main" id="{D0C8AD21-ABE2-7981-8F00-7F568986D13B}"/>
                  </a:ext>
                </a:extLst>
              </p:cNvPr>
              <p:cNvSpPr/>
              <p:nvPr/>
            </p:nvSpPr>
            <p:spPr>
              <a:xfrm>
                <a:off x="3123329" y="680356"/>
                <a:ext cx="1317173" cy="3039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extBox 14">
                <a:extLst>
                  <a:ext uri="{FF2B5EF4-FFF2-40B4-BE49-F238E27FC236}">
                    <a16:creationId xmlns:a16="http://schemas.microsoft.com/office/drawing/2014/main" id="{EDAC4B70-E655-8A7E-99EA-C030A6A757FB}"/>
                  </a:ext>
                </a:extLst>
              </p:cNvPr>
              <p:cNvSpPr txBox="1"/>
              <p:nvPr/>
            </p:nvSpPr>
            <p:spPr>
              <a:xfrm>
                <a:off x="3123329" y="679174"/>
                <a:ext cx="1317174" cy="312619"/>
              </a:xfrm>
              <a:prstGeom prst="rect">
                <a:avLst/>
              </a:prstGeom>
              <a:solidFill>
                <a:schemeClr val="tx2"/>
              </a:solidFill>
            </p:spPr>
            <p:txBody>
              <a:bodyPr wrap="square">
                <a:spAutoFit/>
              </a:bodyPr>
              <a:lstStyle>
                <a:defPPr>
                  <a:defRPr lang="en-US"/>
                </a:defPPr>
                <a:lvl1pPr algn="ctr">
                  <a:defRPr sz="1200" b="1">
                    <a:solidFill>
                      <a:schemeClr val="bg1"/>
                    </a:solidFill>
                  </a:defRPr>
                </a:lvl1pPr>
              </a:lstStyle>
              <a:p>
                <a:r>
                  <a:rPr lang="en-IN" sz="1100" dirty="0"/>
                  <a:t>Landing Zone</a:t>
                </a:r>
              </a:p>
            </p:txBody>
          </p:sp>
        </p:grpSp>
        <p:pic>
          <p:nvPicPr>
            <p:cNvPr id="13" name="Picture 4" descr="Microsoft Azure — Implement Blob Storage part one | by Mustafa Saeed |  Medium">
              <a:extLst>
                <a:ext uri="{FF2B5EF4-FFF2-40B4-BE49-F238E27FC236}">
                  <a16:creationId xmlns:a16="http://schemas.microsoft.com/office/drawing/2014/main" id="{1B515F22-5824-27AD-F461-D89668B3F18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57617" y="2819417"/>
              <a:ext cx="1291876" cy="5536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5A957FAC-9A50-71C5-D7EB-EDAFEE4DD6B9}"/>
              </a:ext>
            </a:extLst>
          </p:cNvPr>
          <p:cNvGrpSpPr/>
          <p:nvPr/>
        </p:nvGrpSpPr>
        <p:grpSpPr>
          <a:xfrm>
            <a:off x="2878857" y="1653062"/>
            <a:ext cx="1130607" cy="3377810"/>
            <a:chOff x="3123329" y="679174"/>
            <a:chExt cx="1317174" cy="3041473"/>
          </a:xfrm>
        </p:grpSpPr>
        <p:sp>
          <p:nvSpPr>
            <p:cNvPr id="17" name="Rectangle 16">
              <a:extLst>
                <a:ext uri="{FF2B5EF4-FFF2-40B4-BE49-F238E27FC236}">
                  <a16:creationId xmlns:a16="http://schemas.microsoft.com/office/drawing/2014/main" id="{0C09E3B9-14FA-1F32-613F-EECAA8F4B62A}"/>
                </a:ext>
              </a:extLst>
            </p:cNvPr>
            <p:cNvSpPr/>
            <p:nvPr/>
          </p:nvSpPr>
          <p:spPr>
            <a:xfrm>
              <a:off x="3123329" y="680357"/>
              <a:ext cx="1317173" cy="30402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TextBox 17">
              <a:extLst>
                <a:ext uri="{FF2B5EF4-FFF2-40B4-BE49-F238E27FC236}">
                  <a16:creationId xmlns:a16="http://schemas.microsoft.com/office/drawing/2014/main" id="{48699913-E484-71A6-6170-0DAF7E24EC6B}"/>
                </a:ext>
              </a:extLst>
            </p:cNvPr>
            <p:cNvSpPr txBox="1"/>
            <p:nvPr/>
          </p:nvSpPr>
          <p:spPr>
            <a:xfrm>
              <a:off x="3123329" y="679174"/>
              <a:ext cx="1317174" cy="387983"/>
            </a:xfrm>
            <a:prstGeom prst="rect">
              <a:avLst/>
            </a:prstGeom>
            <a:solidFill>
              <a:schemeClr val="tx2"/>
            </a:solidFill>
          </p:spPr>
          <p:txBody>
            <a:bodyPr wrap="square">
              <a:spAutoFit/>
            </a:bodyPr>
            <a:lstStyle>
              <a:defPPr>
                <a:defRPr lang="en-US"/>
              </a:defPPr>
              <a:lvl1pPr algn="ctr">
                <a:defRPr sz="1200" b="1">
                  <a:solidFill>
                    <a:schemeClr val="bg1"/>
                  </a:solidFill>
                </a:defRPr>
              </a:lvl1pPr>
            </a:lstStyle>
            <a:p>
              <a:r>
                <a:rPr lang="en-IN" sz="1100" dirty="0"/>
                <a:t>Ingestion/</a:t>
              </a:r>
            </a:p>
            <a:p>
              <a:r>
                <a:rPr lang="en-IN" sz="1100" dirty="0"/>
                <a:t>Transformation</a:t>
              </a:r>
            </a:p>
          </p:txBody>
        </p:sp>
      </p:grpSp>
      <p:grpSp>
        <p:nvGrpSpPr>
          <p:cNvPr id="19" name="Group 18">
            <a:extLst>
              <a:ext uri="{FF2B5EF4-FFF2-40B4-BE49-F238E27FC236}">
                <a16:creationId xmlns:a16="http://schemas.microsoft.com/office/drawing/2014/main" id="{AE48F3E2-EA21-774A-A721-891E01D318FA}"/>
              </a:ext>
            </a:extLst>
          </p:cNvPr>
          <p:cNvGrpSpPr/>
          <p:nvPr/>
        </p:nvGrpSpPr>
        <p:grpSpPr>
          <a:xfrm>
            <a:off x="3063960" y="2063046"/>
            <a:ext cx="653056" cy="463437"/>
            <a:chOff x="5172058" y="2161970"/>
            <a:chExt cx="785417" cy="516333"/>
          </a:xfrm>
        </p:grpSpPr>
        <p:sp>
          <p:nvSpPr>
            <p:cNvPr id="20" name="Cylinder 19">
              <a:extLst>
                <a:ext uri="{FF2B5EF4-FFF2-40B4-BE49-F238E27FC236}">
                  <a16:creationId xmlns:a16="http://schemas.microsoft.com/office/drawing/2014/main" id="{19D80344-5AA4-7130-0F82-87C6188643DC}"/>
                </a:ext>
              </a:extLst>
            </p:cNvPr>
            <p:cNvSpPr/>
            <p:nvPr/>
          </p:nvSpPr>
          <p:spPr>
            <a:xfrm rot="5400000">
              <a:off x="5351630" y="2018180"/>
              <a:ext cx="462056" cy="749635"/>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1" name="TextBox 20">
              <a:extLst>
                <a:ext uri="{FF2B5EF4-FFF2-40B4-BE49-F238E27FC236}">
                  <a16:creationId xmlns:a16="http://schemas.microsoft.com/office/drawing/2014/main" id="{5F9911A3-1F70-1CD9-3A3A-7277ABB7EB7D}"/>
                </a:ext>
              </a:extLst>
            </p:cNvPr>
            <p:cNvSpPr txBox="1"/>
            <p:nvPr/>
          </p:nvSpPr>
          <p:spPr>
            <a:xfrm>
              <a:off x="5172058" y="2301107"/>
              <a:ext cx="771172" cy="377196"/>
            </a:xfrm>
            <a:prstGeom prst="rect">
              <a:avLst/>
            </a:prstGeom>
            <a:noFill/>
          </p:spPr>
          <p:txBody>
            <a:bodyPr wrap="square" rtlCol="0">
              <a:spAutoFit/>
            </a:bodyPr>
            <a:lstStyle/>
            <a:p>
              <a:pPr algn="ctr"/>
              <a:r>
                <a:rPr lang="en-US" sz="800" b="1"/>
                <a:t>TERRA</a:t>
              </a:r>
            </a:p>
            <a:p>
              <a:pPr algn="ctr"/>
              <a:r>
                <a:rPr lang="en-US" sz="800" b="1"/>
                <a:t>Extractors</a:t>
              </a:r>
            </a:p>
          </p:txBody>
        </p:sp>
      </p:grpSp>
      <p:pic>
        <p:nvPicPr>
          <p:cNvPr id="22" name="Picture 6" descr="Azure Data Factory. Most analytics systems need to be able ...">
            <a:extLst>
              <a:ext uri="{FF2B5EF4-FFF2-40B4-BE49-F238E27FC236}">
                <a16:creationId xmlns:a16="http://schemas.microsoft.com/office/drawing/2014/main" id="{624742C5-3687-DF50-162E-604799EBBA5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17631" y="2526862"/>
            <a:ext cx="897761" cy="531366"/>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3A5C8DD6-474C-5853-F409-F848FEB68E51}"/>
              </a:ext>
            </a:extLst>
          </p:cNvPr>
          <p:cNvSpPr txBox="1"/>
          <p:nvPr/>
        </p:nvSpPr>
        <p:spPr>
          <a:xfrm>
            <a:off x="2878750" y="3569786"/>
            <a:ext cx="1159294" cy="200055"/>
          </a:xfrm>
          <a:prstGeom prst="rect">
            <a:avLst/>
          </a:prstGeom>
          <a:noFill/>
        </p:spPr>
        <p:txBody>
          <a:bodyPr wrap="square" rtlCol="0">
            <a:spAutoFit/>
          </a:bodyPr>
          <a:lstStyle/>
          <a:p>
            <a:pPr algn="ctr"/>
            <a:r>
              <a:rPr lang="en-US" sz="700" b="1"/>
              <a:t>Snowpipe</a:t>
            </a:r>
          </a:p>
        </p:txBody>
      </p:sp>
      <p:grpSp>
        <p:nvGrpSpPr>
          <p:cNvPr id="65" name="Group 64">
            <a:extLst>
              <a:ext uri="{FF2B5EF4-FFF2-40B4-BE49-F238E27FC236}">
                <a16:creationId xmlns:a16="http://schemas.microsoft.com/office/drawing/2014/main" id="{6C2D0B91-00BB-75F7-A2D8-7CEEE9ADFC62}"/>
              </a:ext>
            </a:extLst>
          </p:cNvPr>
          <p:cNvGrpSpPr/>
          <p:nvPr/>
        </p:nvGrpSpPr>
        <p:grpSpPr>
          <a:xfrm>
            <a:off x="10168714" y="2090005"/>
            <a:ext cx="820165" cy="1603479"/>
            <a:chOff x="3123329" y="679174"/>
            <a:chExt cx="1317174" cy="3040288"/>
          </a:xfrm>
        </p:grpSpPr>
        <p:sp>
          <p:nvSpPr>
            <p:cNvPr id="66" name="Rectangle 65">
              <a:extLst>
                <a:ext uri="{FF2B5EF4-FFF2-40B4-BE49-F238E27FC236}">
                  <a16:creationId xmlns:a16="http://schemas.microsoft.com/office/drawing/2014/main" id="{3E2144EB-6323-B3E1-409D-49C9819F4D45}"/>
                </a:ext>
              </a:extLst>
            </p:cNvPr>
            <p:cNvSpPr/>
            <p:nvPr/>
          </p:nvSpPr>
          <p:spPr>
            <a:xfrm>
              <a:off x="3123329" y="680356"/>
              <a:ext cx="1317173" cy="3039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7" name="TextBox 66">
              <a:extLst>
                <a:ext uri="{FF2B5EF4-FFF2-40B4-BE49-F238E27FC236}">
                  <a16:creationId xmlns:a16="http://schemas.microsoft.com/office/drawing/2014/main" id="{82BF15B1-B3DD-D57B-4C50-781D9E4D6EC7}"/>
                </a:ext>
              </a:extLst>
            </p:cNvPr>
            <p:cNvSpPr txBox="1"/>
            <p:nvPr/>
          </p:nvSpPr>
          <p:spPr>
            <a:xfrm>
              <a:off x="3123329" y="679174"/>
              <a:ext cx="1317174" cy="312619"/>
            </a:xfrm>
            <a:prstGeom prst="rect">
              <a:avLst/>
            </a:prstGeom>
            <a:solidFill>
              <a:schemeClr val="tx2"/>
            </a:solidFill>
          </p:spPr>
          <p:txBody>
            <a:bodyPr wrap="square">
              <a:spAutoFit/>
            </a:bodyPr>
            <a:lstStyle>
              <a:defPPr>
                <a:defRPr lang="en-US"/>
              </a:defPPr>
              <a:lvl1pPr algn="ctr">
                <a:defRPr sz="1200" b="1">
                  <a:solidFill>
                    <a:schemeClr val="bg1"/>
                  </a:solidFill>
                </a:defRPr>
              </a:lvl1pPr>
            </a:lstStyle>
            <a:p>
              <a:r>
                <a:rPr lang="en-IN" sz="1100"/>
                <a:t>Analytics Layer</a:t>
              </a:r>
            </a:p>
          </p:txBody>
        </p:sp>
      </p:grpSp>
      <p:pic>
        <p:nvPicPr>
          <p:cNvPr id="68" name="Picture 28" descr="Power BI Logo, symbol, meaning, history, PNG, brand">
            <a:extLst>
              <a:ext uri="{FF2B5EF4-FFF2-40B4-BE49-F238E27FC236}">
                <a16:creationId xmlns:a16="http://schemas.microsoft.com/office/drawing/2014/main" id="{594C2421-CD9D-6982-3166-86C9EB6AF5D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70970" y="2847349"/>
            <a:ext cx="768615" cy="432346"/>
          </a:xfrm>
          <a:prstGeom prst="rect">
            <a:avLst/>
          </a:prstGeom>
          <a:noFill/>
          <a:extLst>
            <a:ext uri="{909E8E84-426E-40DD-AFC4-6F175D3DCCD1}">
              <a14:hiddenFill xmlns:a14="http://schemas.microsoft.com/office/drawing/2010/main">
                <a:solidFill>
                  <a:srgbClr val="FFFFFF"/>
                </a:solidFill>
              </a14:hiddenFill>
            </a:ext>
          </a:extLst>
        </p:spPr>
      </p:pic>
      <p:sp>
        <p:nvSpPr>
          <p:cNvPr id="69" name="Arrow: Right 68">
            <a:extLst>
              <a:ext uri="{FF2B5EF4-FFF2-40B4-BE49-F238E27FC236}">
                <a16:creationId xmlns:a16="http://schemas.microsoft.com/office/drawing/2014/main" id="{4803277F-326D-A13B-15FD-09488F481205}"/>
              </a:ext>
            </a:extLst>
          </p:cNvPr>
          <p:cNvSpPr/>
          <p:nvPr/>
        </p:nvSpPr>
        <p:spPr>
          <a:xfrm>
            <a:off x="1196011" y="3346488"/>
            <a:ext cx="703243" cy="1112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0" name="Arrow: Right 69">
            <a:extLst>
              <a:ext uri="{FF2B5EF4-FFF2-40B4-BE49-F238E27FC236}">
                <a16:creationId xmlns:a16="http://schemas.microsoft.com/office/drawing/2014/main" id="{7A5EAB75-859E-383C-D2D6-D19BE7296441}"/>
              </a:ext>
            </a:extLst>
          </p:cNvPr>
          <p:cNvSpPr/>
          <p:nvPr/>
        </p:nvSpPr>
        <p:spPr>
          <a:xfrm>
            <a:off x="2600044" y="3341967"/>
            <a:ext cx="244812" cy="833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2" name="Arrow: Right 71">
            <a:extLst>
              <a:ext uri="{FF2B5EF4-FFF2-40B4-BE49-F238E27FC236}">
                <a16:creationId xmlns:a16="http://schemas.microsoft.com/office/drawing/2014/main" id="{138C5AB5-3E5D-3A89-A3F9-12D582BDE3F8}"/>
              </a:ext>
            </a:extLst>
          </p:cNvPr>
          <p:cNvSpPr/>
          <p:nvPr/>
        </p:nvSpPr>
        <p:spPr>
          <a:xfrm>
            <a:off x="9704968" y="3374229"/>
            <a:ext cx="244812" cy="833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73" name="Graphic 72" descr="Users with solid fill">
            <a:extLst>
              <a:ext uri="{FF2B5EF4-FFF2-40B4-BE49-F238E27FC236}">
                <a16:creationId xmlns:a16="http://schemas.microsoft.com/office/drawing/2014/main" id="{4F06ED95-8096-2FF2-A7A1-EDF4044719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347268" y="3041865"/>
            <a:ext cx="766816" cy="766816"/>
          </a:xfrm>
          <a:prstGeom prst="rect">
            <a:avLst/>
          </a:prstGeom>
        </p:spPr>
      </p:pic>
      <p:sp>
        <p:nvSpPr>
          <p:cNvPr id="74" name="Arrow: Right 73">
            <a:extLst>
              <a:ext uri="{FF2B5EF4-FFF2-40B4-BE49-F238E27FC236}">
                <a16:creationId xmlns:a16="http://schemas.microsoft.com/office/drawing/2014/main" id="{B2CEA958-B5E1-11E8-D28D-43BF4A1CA02B}"/>
              </a:ext>
            </a:extLst>
          </p:cNvPr>
          <p:cNvSpPr/>
          <p:nvPr/>
        </p:nvSpPr>
        <p:spPr>
          <a:xfrm>
            <a:off x="11098001" y="3374412"/>
            <a:ext cx="244812" cy="833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5" name="Rectangle: Rounded Corners 74">
            <a:extLst>
              <a:ext uri="{FF2B5EF4-FFF2-40B4-BE49-F238E27FC236}">
                <a16:creationId xmlns:a16="http://schemas.microsoft.com/office/drawing/2014/main" id="{28162511-21E5-39BC-69D3-2E98D64A56EC}"/>
              </a:ext>
            </a:extLst>
          </p:cNvPr>
          <p:cNvSpPr/>
          <p:nvPr/>
        </p:nvSpPr>
        <p:spPr>
          <a:xfrm>
            <a:off x="5258452" y="901405"/>
            <a:ext cx="1193022" cy="1393767"/>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2">
            <a:extLst>
              <a:ext uri="{FF2B5EF4-FFF2-40B4-BE49-F238E27FC236}">
                <a16:creationId xmlns:a16="http://schemas.microsoft.com/office/drawing/2014/main" id="{9F42E87E-09D8-84D1-3418-AC478473331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29044" y="1059971"/>
            <a:ext cx="1017650" cy="317541"/>
          </a:xfrm>
          <a:prstGeom prst="rect">
            <a:avLst/>
          </a:prstGeom>
          <a:noFill/>
          <a:extLst>
            <a:ext uri="{909E8E84-426E-40DD-AFC4-6F175D3DCCD1}">
              <a14:hiddenFill xmlns:a14="http://schemas.microsoft.com/office/drawing/2010/main">
                <a:solidFill>
                  <a:srgbClr val="FFFFFF"/>
                </a:solidFill>
              </a14:hiddenFill>
            </a:ext>
          </a:extLst>
        </p:spPr>
      </p:pic>
      <p:cxnSp>
        <p:nvCxnSpPr>
          <p:cNvPr id="77" name="Connector: Elbow 76">
            <a:extLst>
              <a:ext uri="{FF2B5EF4-FFF2-40B4-BE49-F238E27FC236}">
                <a16:creationId xmlns:a16="http://schemas.microsoft.com/office/drawing/2014/main" id="{664E037C-3949-737F-422F-3340092CE9CF}"/>
              </a:ext>
            </a:extLst>
          </p:cNvPr>
          <p:cNvCxnSpPr>
            <a:cxnSpLocks/>
          </p:cNvCxnSpPr>
          <p:nvPr/>
        </p:nvCxnSpPr>
        <p:spPr>
          <a:xfrm rot="16200000" flipV="1">
            <a:off x="8925157" y="2365921"/>
            <a:ext cx="1559854" cy="2676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4748E793-5D10-F874-B427-19562F554E4D}"/>
              </a:ext>
            </a:extLst>
          </p:cNvPr>
          <p:cNvCxnSpPr>
            <a:cxnSpLocks/>
            <a:endCxn id="80" idx="1"/>
          </p:cNvCxnSpPr>
          <p:nvPr/>
        </p:nvCxnSpPr>
        <p:spPr>
          <a:xfrm rot="5400000" flipH="1" flipV="1">
            <a:off x="9233588" y="2409004"/>
            <a:ext cx="1445564" cy="2323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830918AE-46D5-762E-4BE5-89753916B7C3}"/>
              </a:ext>
            </a:extLst>
          </p:cNvPr>
          <p:cNvSpPr txBox="1"/>
          <p:nvPr/>
        </p:nvSpPr>
        <p:spPr>
          <a:xfrm>
            <a:off x="10072548" y="1510012"/>
            <a:ext cx="1113815" cy="584775"/>
          </a:xfrm>
          <a:prstGeom prst="rect">
            <a:avLst/>
          </a:prstGeom>
          <a:solidFill>
            <a:schemeClr val="bg1"/>
          </a:solidFill>
        </p:spPr>
        <p:txBody>
          <a:bodyPr wrap="square" rtlCol="0">
            <a:spAutoFit/>
          </a:bodyPr>
          <a:lstStyle/>
          <a:p>
            <a:pPr algn="just"/>
            <a:r>
              <a:rPr lang="en-US" sz="800" b="1"/>
              <a:t>Snowflake (</a:t>
            </a:r>
            <a:r>
              <a:rPr lang="en-US" sz="800" b="1">
                <a:solidFill>
                  <a:schemeClr val="accent1"/>
                </a:solidFill>
              </a:rPr>
              <a:t>RBAC</a:t>
            </a:r>
            <a:r>
              <a:rPr lang="en-US" sz="800" b="1"/>
              <a:t>) Role based Access Control and </a:t>
            </a:r>
            <a:r>
              <a:rPr lang="en-US" sz="800" b="1">
                <a:solidFill>
                  <a:schemeClr val="accent1"/>
                </a:solidFill>
              </a:rPr>
              <a:t>Data Encryption.</a:t>
            </a:r>
          </a:p>
        </p:txBody>
      </p:sp>
      <p:sp>
        <p:nvSpPr>
          <p:cNvPr id="84" name="Arrow: Right 83">
            <a:extLst>
              <a:ext uri="{FF2B5EF4-FFF2-40B4-BE49-F238E27FC236}">
                <a16:creationId xmlns:a16="http://schemas.microsoft.com/office/drawing/2014/main" id="{81A3AB2A-A238-9DDE-B18C-A083F5582C3D}"/>
              </a:ext>
            </a:extLst>
          </p:cNvPr>
          <p:cNvSpPr/>
          <p:nvPr/>
        </p:nvSpPr>
        <p:spPr>
          <a:xfrm>
            <a:off x="4236047" y="1759391"/>
            <a:ext cx="1021144" cy="1439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85" name="Picture 84" descr="A logo of a data storage system&#10;&#10;Description automatically generated">
            <a:extLst>
              <a:ext uri="{FF2B5EF4-FFF2-40B4-BE49-F238E27FC236}">
                <a16:creationId xmlns:a16="http://schemas.microsoft.com/office/drawing/2014/main" id="{3788147C-8233-D561-C261-178D36B83491}"/>
              </a:ext>
            </a:extLst>
          </p:cNvPr>
          <p:cNvPicPr>
            <a:picLocks noChangeAspect="1"/>
          </p:cNvPicPr>
          <p:nvPr/>
        </p:nvPicPr>
        <p:blipFill>
          <a:blip r:embed="rId11"/>
          <a:stretch>
            <a:fillRect/>
          </a:stretch>
        </p:blipFill>
        <p:spPr>
          <a:xfrm>
            <a:off x="1861284" y="3573129"/>
            <a:ext cx="627475" cy="491772"/>
          </a:xfrm>
          <a:prstGeom prst="rect">
            <a:avLst/>
          </a:prstGeom>
        </p:spPr>
      </p:pic>
      <p:pic>
        <p:nvPicPr>
          <p:cNvPr id="86" name="Picture 85" descr="A blue and white logo&#10;&#10;Description automatically generated">
            <a:extLst>
              <a:ext uri="{FF2B5EF4-FFF2-40B4-BE49-F238E27FC236}">
                <a16:creationId xmlns:a16="http://schemas.microsoft.com/office/drawing/2014/main" id="{3D23D905-0782-2B39-4570-DE57DB1CB287}"/>
              </a:ext>
            </a:extLst>
          </p:cNvPr>
          <p:cNvPicPr>
            <a:picLocks noChangeAspect="1"/>
          </p:cNvPicPr>
          <p:nvPr/>
        </p:nvPicPr>
        <p:blipFill>
          <a:blip r:embed="rId12"/>
          <a:stretch>
            <a:fillRect/>
          </a:stretch>
        </p:blipFill>
        <p:spPr>
          <a:xfrm>
            <a:off x="3107852" y="3035707"/>
            <a:ext cx="671690" cy="421689"/>
          </a:xfrm>
          <a:prstGeom prst="rect">
            <a:avLst/>
          </a:prstGeom>
        </p:spPr>
      </p:pic>
      <p:pic>
        <p:nvPicPr>
          <p:cNvPr id="87" name="Picture 86" descr="A diagram of data storage&#10;&#10;Description automatically generated">
            <a:extLst>
              <a:ext uri="{FF2B5EF4-FFF2-40B4-BE49-F238E27FC236}">
                <a16:creationId xmlns:a16="http://schemas.microsoft.com/office/drawing/2014/main" id="{4B9ECACE-2AC2-08AB-EEC7-935797B09804}"/>
              </a:ext>
            </a:extLst>
          </p:cNvPr>
          <p:cNvPicPr>
            <a:picLocks noChangeAspect="1"/>
          </p:cNvPicPr>
          <p:nvPr/>
        </p:nvPicPr>
        <p:blipFill>
          <a:blip r:embed="rId13"/>
          <a:stretch>
            <a:fillRect/>
          </a:stretch>
        </p:blipFill>
        <p:spPr>
          <a:xfrm>
            <a:off x="2945833" y="3605386"/>
            <a:ext cx="968755" cy="642458"/>
          </a:xfrm>
          <a:prstGeom prst="rect">
            <a:avLst/>
          </a:prstGeom>
        </p:spPr>
      </p:pic>
      <p:sp>
        <p:nvSpPr>
          <p:cNvPr id="88" name="TextBox 87">
            <a:extLst>
              <a:ext uri="{FF2B5EF4-FFF2-40B4-BE49-F238E27FC236}">
                <a16:creationId xmlns:a16="http://schemas.microsoft.com/office/drawing/2014/main" id="{C04DBE3C-BE99-3F3C-C4A7-7E996F90204D}"/>
              </a:ext>
            </a:extLst>
          </p:cNvPr>
          <p:cNvSpPr txBox="1"/>
          <p:nvPr/>
        </p:nvSpPr>
        <p:spPr>
          <a:xfrm>
            <a:off x="3106493" y="4306186"/>
            <a:ext cx="828886"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ea typeface="Calibri"/>
                <a:cs typeface="Calibri"/>
              </a:rPr>
              <a:t>Bulk copy</a:t>
            </a:r>
          </a:p>
        </p:txBody>
      </p:sp>
      <p:sp>
        <p:nvSpPr>
          <p:cNvPr id="89" name="Rectangle 88">
            <a:extLst>
              <a:ext uri="{FF2B5EF4-FFF2-40B4-BE49-F238E27FC236}">
                <a16:creationId xmlns:a16="http://schemas.microsoft.com/office/drawing/2014/main" id="{5569F294-20CA-D9AA-114A-A13378CF0312}"/>
              </a:ext>
            </a:extLst>
          </p:cNvPr>
          <p:cNvSpPr/>
          <p:nvPr/>
        </p:nvSpPr>
        <p:spPr>
          <a:xfrm>
            <a:off x="10308101" y="2560409"/>
            <a:ext cx="497816" cy="166776"/>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700" b="1"/>
              <a:t>Gold</a:t>
            </a:r>
          </a:p>
        </p:txBody>
      </p:sp>
      <p:sp>
        <p:nvSpPr>
          <p:cNvPr id="90" name="Rectangle 89">
            <a:extLst>
              <a:ext uri="{FF2B5EF4-FFF2-40B4-BE49-F238E27FC236}">
                <a16:creationId xmlns:a16="http://schemas.microsoft.com/office/drawing/2014/main" id="{4C9DDE01-214F-9A37-CCA3-9A9D36265840}"/>
              </a:ext>
            </a:extLst>
          </p:cNvPr>
          <p:cNvSpPr/>
          <p:nvPr/>
        </p:nvSpPr>
        <p:spPr>
          <a:xfrm>
            <a:off x="10170595" y="3908139"/>
            <a:ext cx="933053" cy="173456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900">
                <a:solidFill>
                  <a:schemeClr val="tx1"/>
                </a:solidFill>
                <a:ea typeface="Calibri"/>
                <a:cs typeface="Calibri"/>
              </a:rPr>
              <a:t>Data push/sharing to client snowflake  account</a:t>
            </a:r>
            <a:r>
              <a:rPr lang="en-US" sz="900">
                <a:ea typeface="Calibri"/>
                <a:cs typeface="Calibri"/>
              </a:rPr>
              <a:t> </a:t>
            </a:r>
          </a:p>
        </p:txBody>
      </p:sp>
      <p:sp>
        <p:nvSpPr>
          <p:cNvPr id="91" name="Rectangle 90">
            <a:extLst>
              <a:ext uri="{FF2B5EF4-FFF2-40B4-BE49-F238E27FC236}">
                <a16:creationId xmlns:a16="http://schemas.microsoft.com/office/drawing/2014/main" id="{993B0AE0-2207-7BAB-A71E-26AD99D40C07}"/>
              </a:ext>
            </a:extLst>
          </p:cNvPr>
          <p:cNvSpPr/>
          <p:nvPr/>
        </p:nvSpPr>
        <p:spPr>
          <a:xfrm>
            <a:off x="10326916" y="4206705"/>
            <a:ext cx="497816" cy="166776"/>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700" b="1"/>
              <a:t>Gold</a:t>
            </a:r>
          </a:p>
        </p:txBody>
      </p:sp>
      <p:pic>
        <p:nvPicPr>
          <p:cNvPr id="92" name="Picture 10" descr="Snowflake - Free weather icons">
            <a:extLst>
              <a:ext uri="{FF2B5EF4-FFF2-40B4-BE49-F238E27FC236}">
                <a16:creationId xmlns:a16="http://schemas.microsoft.com/office/drawing/2014/main" id="{2F454735-EF18-24BC-6609-853D95105378}"/>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197499" y="3931951"/>
            <a:ext cx="222630" cy="240322"/>
          </a:xfrm>
          <a:prstGeom prst="rect">
            <a:avLst/>
          </a:prstGeom>
          <a:noFill/>
          <a:extLst>
            <a:ext uri="{909E8E84-426E-40DD-AFC4-6F175D3DCCD1}">
              <a14:hiddenFill xmlns:a14="http://schemas.microsoft.com/office/drawing/2010/main">
                <a:solidFill>
                  <a:srgbClr val="FFFFFF"/>
                </a:solidFill>
              </a14:hiddenFill>
            </a:ext>
          </a:extLst>
        </p:spPr>
      </p:pic>
      <p:sp>
        <p:nvSpPr>
          <p:cNvPr id="93" name="TextBox 92">
            <a:extLst>
              <a:ext uri="{FF2B5EF4-FFF2-40B4-BE49-F238E27FC236}">
                <a16:creationId xmlns:a16="http://schemas.microsoft.com/office/drawing/2014/main" id="{A1059B4A-5E2B-14C5-0F2F-8DEF7621A330}"/>
              </a:ext>
            </a:extLst>
          </p:cNvPr>
          <p:cNvSpPr txBox="1"/>
          <p:nvPr/>
        </p:nvSpPr>
        <p:spPr>
          <a:xfrm>
            <a:off x="10170773" y="3909096"/>
            <a:ext cx="949580" cy="276999"/>
          </a:xfrm>
          <a:prstGeom prst="rect">
            <a:avLst/>
          </a:prstGeom>
          <a:solidFill>
            <a:schemeClr val="tx2"/>
          </a:solidFill>
        </p:spPr>
        <p:txBody>
          <a:bodyPr wrap="square" lIns="91440" tIns="45720" rIns="91440" bIns="45720" anchor="t">
            <a:spAutoFit/>
          </a:bodyPr>
          <a:lstStyle>
            <a:defPPr>
              <a:defRPr lang="en-US"/>
            </a:defPPr>
            <a:lvl1pPr algn="ctr">
              <a:defRPr sz="1200" b="1">
                <a:solidFill>
                  <a:schemeClr val="bg1"/>
                </a:solidFill>
              </a:defRPr>
            </a:lvl1pPr>
          </a:lstStyle>
          <a:p>
            <a:pPr algn="l"/>
            <a:r>
              <a:rPr lang="en-IN"/>
              <a:t>   </a:t>
            </a:r>
            <a:r>
              <a:rPr lang="en-IN" sz="1000"/>
              <a:t>Snowflake </a:t>
            </a:r>
            <a:r>
              <a:rPr lang="en-IN" sz="1100"/>
              <a:t> </a:t>
            </a:r>
            <a:endParaRPr lang="en-IN"/>
          </a:p>
        </p:txBody>
      </p:sp>
      <p:sp>
        <p:nvSpPr>
          <p:cNvPr id="97" name="TextBox 96">
            <a:extLst>
              <a:ext uri="{FF2B5EF4-FFF2-40B4-BE49-F238E27FC236}">
                <a16:creationId xmlns:a16="http://schemas.microsoft.com/office/drawing/2014/main" id="{67880E66-0E9C-C03A-37D2-84DB9BF8D61E}"/>
              </a:ext>
            </a:extLst>
          </p:cNvPr>
          <p:cNvSpPr txBox="1"/>
          <p:nvPr/>
        </p:nvSpPr>
        <p:spPr>
          <a:xfrm>
            <a:off x="1228601" y="2967728"/>
            <a:ext cx="709268" cy="307777"/>
          </a:xfrm>
          <a:prstGeom prst="rect">
            <a:avLst/>
          </a:prstGeom>
          <a:noFill/>
        </p:spPr>
        <p:txBody>
          <a:bodyPr wrap="square" rtlCol="0">
            <a:spAutoFit/>
          </a:bodyPr>
          <a:lstStyle/>
          <a:p>
            <a:pPr algn="ctr"/>
            <a:r>
              <a:rPr lang="en-US" sz="700" b="1" dirty="0"/>
              <a:t>API/Batch/</a:t>
            </a:r>
          </a:p>
          <a:p>
            <a:pPr algn="ctr"/>
            <a:r>
              <a:rPr lang="en-US" sz="700" b="1" dirty="0"/>
              <a:t>SFTP</a:t>
            </a:r>
          </a:p>
        </p:txBody>
      </p:sp>
      <p:sp>
        <p:nvSpPr>
          <p:cNvPr id="102" name="Rectangle: Rounded Corners 101">
            <a:extLst>
              <a:ext uri="{FF2B5EF4-FFF2-40B4-BE49-F238E27FC236}">
                <a16:creationId xmlns:a16="http://schemas.microsoft.com/office/drawing/2014/main" id="{40AEB297-4C95-7951-B22B-C4BA4E5DF1EC}"/>
              </a:ext>
            </a:extLst>
          </p:cNvPr>
          <p:cNvSpPr/>
          <p:nvPr/>
        </p:nvSpPr>
        <p:spPr>
          <a:xfrm>
            <a:off x="4780330" y="5078474"/>
            <a:ext cx="3833793" cy="53737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a:extLst>
              <a:ext uri="{FF2B5EF4-FFF2-40B4-BE49-F238E27FC236}">
                <a16:creationId xmlns:a16="http://schemas.microsoft.com/office/drawing/2014/main" id="{77630A37-3274-287A-2473-FB4A8B8280AF}"/>
              </a:ext>
            </a:extLst>
          </p:cNvPr>
          <p:cNvCxnSpPr/>
          <p:nvPr/>
        </p:nvCxnSpPr>
        <p:spPr>
          <a:xfrm>
            <a:off x="5862354" y="5134519"/>
            <a:ext cx="0" cy="439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62BE58E-EEA4-42E2-C926-2B7541D5BED5}"/>
              </a:ext>
            </a:extLst>
          </p:cNvPr>
          <p:cNvCxnSpPr/>
          <p:nvPr/>
        </p:nvCxnSpPr>
        <p:spPr>
          <a:xfrm>
            <a:off x="7349182" y="5111251"/>
            <a:ext cx="0" cy="43901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22971C87-0333-89E5-53CE-D5BDA8F94972}"/>
              </a:ext>
            </a:extLst>
          </p:cNvPr>
          <p:cNvSpPr txBox="1"/>
          <p:nvPr/>
        </p:nvSpPr>
        <p:spPr>
          <a:xfrm>
            <a:off x="5102405" y="5100049"/>
            <a:ext cx="609709" cy="184666"/>
          </a:xfrm>
          <a:prstGeom prst="rect">
            <a:avLst/>
          </a:prstGeom>
          <a:noFill/>
        </p:spPr>
        <p:txBody>
          <a:bodyPr wrap="square" rtlCol="0">
            <a:spAutoFit/>
          </a:bodyPr>
          <a:lstStyle/>
          <a:p>
            <a:pPr algn="ctr"/>
            <a:r>
              <a:rPr lang="en-US" sz="600" b="1" dirty="0"/>
              <a:t>Data Quality</a:t>
            </a:r>
          </a:p>
        </p:txBody>
      </p:sp>
      <p:sp>
        <p:nvSpPr>
          <p:cNvPr id="109" name="TextBox 108">
            <a:extLst>
              <a:ext uri="{FF2B5EF4-FFF2-40B4-BE49-F238E27FC236}">
                <a16:creationId xmlns:a16="http://schemas.microsoft.com/office/drawing/2014/main" id="{E5BAB81C-3164-02A9-5FB0-A101303D6E08}"/>
              </a:ext>
            </a:extLst>
          </p:cNvPr>
          <p:cNvSpPr txBox="1"/>
          <p:nvPr/>
        </p:nvSpPr>
        <p:spPr>
          <a:xfrm>
            <a:off x="6012796" y="5072068"/>
            <a:ext cx="1141317" cy="184666"/>
          </a:xfrm>
          <a:prstGeom prst="rect">
            <a:avLst/>
          </a:prstGeom>
          <a:noFill/>
        </p:spPr>
        <p:txBody>
          <a:bodyPr wrap="square" rtlCol="0">
            <a:spAutoFit/>
          </a:bodyPr>
          <a:lstStyle/>
          <a:p>
            <a:pPr algn="ctr"/>
            <a:r>
              <a:rPr lang="en-US" sz="600" b="1" dirty="0"/>
              <a:t>Data </a:t>
            </a:r>
            <a:r>
              <a:rPr lang="en-US" sz="600" b="1" dirty="0" err="1"/>
              <a:t>Goveranance</a:t>
            </a:r>
            <a:r>
              <a:rPr lang="en-US" sz="600" b="1" dirty="0"/>
              <a:t> &amp; Security</a:t>
            </a:r>
          </a:p>
        </p:txBody>
      </p:sp>
      <p:sp>
        <p:nvSpPr>
          <p:cNvPr id="111" name="TextBox 110">
            <a:extLst>
              <a:ext uri="{FF2B5EF4-FFF2-40B4-BE49-F238E27FC236}">
                <a16:creationId xmlns:a16="http://schemas.microsoft.com/office/drawing/2014/main" id="{2D9EF2F1-A5E8-7692-596E-DA45AB12087F}"/>
              </a:ext>
            </a:extLst>
          </p:cNvPr>
          <p:cNvSpPr txBox="1"/>
          <p:nvPr/>
        </p:nvSpPr>
        <p:spPr>
          <a:xfrm>
            <a:off x="7354655" y="5060914"/>
            <a:ext cx="655690" cy="184666"/>
          </a:xfrm>
          <a:prstGeom prst="rect">
            <a:avLst/>
          </a:prstGeom>
          <a:noFill/>
        </p:spPr>
        <p:txBody>
          <a:bodyPr wrap="square" rtlCol="0">
            <a:spAutoFit/>
          </a:bodyPr>
          <a:lstStyle/>
          <a:p>
            <a:pPr algn="ctr"/>
            <a:r>
              <a:rPr lang="en-US" sz="600" b="1" dirty="0"/>
              <a:t>Data Isolation</a:t>
            </a:r>
          </a:p>
        </p:txBody>
      </p:sp>
      <p:sp>
        <p:nvSpPr>
          <p:cNvPr id="112" name="TextBox 111">
            <a:extLst>
              <a:ext uri="{FF2B5EF4-FFF2-40B4-BE49-F238E27FC236}">
                <a16:creationId xmlns:a16="http://schemas.microsoft.com/office/drawing/2014/main" id="{6BB4384A-494E-AC63-89B7-8EEBAF505A48}"/>
              </a:ext>
            </a:extLst>
          </p:cNvPr>
          <p:cNvSpPr txBox="1"/>
          <p:nvPr/>
        </p:nvSpPr>
        <p:spPr>
          <a:xfrm>
            <a:off x="4794748" y="5289176"/>
            <a:ext cx="1017879" cy="246221"/>
          </a:xfrm>
          <a:prstGeom prst="rect">
            <a:avLst/>
          </a:prstGeom>
          <a:noFill/>
        </p:spPr>
        <p:txBody>
          <a:bodyPr wrap="square" rtlCol="0">
            <a:spAutoFit/>
          </a:bodyPr>
          <a:lstStyle/>
          <a:p>
            <a:pPr marL="171450" indent="-171450">
              <a:buFont typeface="Arial" panose="020B0604020202020204" pitchFamily="34" charset="0"/>
              <a:buChar char="•"/>
            </a:pPr>
            <a:r>
              <a:rPr lang="en-US" sz="500" i="1" dirty="0"/>
              <a:t>DQ Checks</a:t>
            </a:r>
          </a:p>
          <a:p>
            <a:pPr marL="171450" indent="-171450">
              <a:buFont typeface="Arial" panose="020B0604020202020204" pitchFamily="34" charset="0"/>
              <a:buChar char="•"/>
            </a:pPr>
            <a:r>
              <a:rPr lang="en-US" sz="500" i="1" dirty="0"/>
              <a:t>DQ Monitoring -</a:t>
            </a:r>
            <a:r>
              <a:rPr lang="en-US" sz="500" i="1" dirty="0" err="1"/>
              <a:t>DataDog</a:t>
            </a:r>
            <a:endParaRPr lang="en-US" sz="500" i="1" dirty="0"/>
          </a:p>
        </p:txBody>
      </p:sp>
      <p:sp>
        <p:nvSpPr>
          <p:cNvPr id="113" name="TextBox 112">
            <a:extLst>
              <a:ext uri="{FF2B5EF4-FFF2-40B4-BE49-F238E27FC236}">
                <a16:creationId xmlns:a16="http://schemas.microsoft.com/office/drawing/2014/main" id="{33185D09-7E91-33AF-0E60-1FB6560497AB}"/>
              </a:ext>
            </a:extLst>
          </p:cNvPr>
          <p:cNvSpPr txBox="1"/>
          <p:nvPr/>
        </p:nvSpPr>
        <p:spPr>
          <a:xfrm>
            <a:off x="5897205" y="5263212"/>
            <a:ext cx="1047173" cy="323165"/>
          </a:xfrm>
          <a:prstGeom prst="rect">
            <a:avLst/>
          </a:prstGeom>
          <a:noFill/>
        </p:spPr>
        <p:txBody>
          <a:bodyPr wrap="square" rtlCol="0">
            <a:spAutoFit/>
          </a:bodyPr>
          <a:lstStyle/>
          <a:p>
            <a:pPr marL="171450" indent="-171450">
              <a:buFont typeface="Arial" panose="020B0604020202020204" pitchFamily="34" charset="0"/>
              <a:buChar char="•"/>
            </a:pPr>
            <a:r>
              <a:rPr lang="en-US" sz="500" i="1" dirty="0"/>
              <a:t>Access Controls (RBAC)</a:t>
            </a:r>
          </a:p>
          <a:p>
            <a:pPr marL="171450" indent="-171450">
              <a:buFont typeface="Arial" panose="020B0604020202020204" pitchFamily="34" charset="0"/>
              <a:buChar char="•"/>
            </a:pPr>
            <a:r>
              <a:rPr lang="en-US" sz="500" i="1" dirty="0"/>
              <a:t>Data Encryption</a:t>
            </a:r>
          </a:p>
          <a:p>
            <a:pPr marL="171450" indent="-171450">
              <a:buFont typeface="Arial" panose="020B0604020202020204" pitchFamily="34" charset="0"/>
              <a:buChar char="•"/>
            </a:pPr>
            <a:r>
              <a:rPr lang="en-US" sz="500" i="1" dirty="0"/>
              <a:t>Data Masking</a:t>
            </a:r>
          </a:p>
        </p:txBody>
      </p:sp>
      <p:sp>
        <p:nvSpPr>
          <p:cNvPr id="117" name="TextBox 116">
            <a:extLst>
              <a:ext uri="{FF2B5EF4-FFF2-40B4-BE49-F238E27FC236}">
                <a16:creationId xmlns:a16="http://schemas.microsoft.com/office/drawing/2014/main" id="{B4CD5016-EAA1-C337-19C5-C5006A9CA556}"/>
              </a:ext>
            </a:extLst>
          </p:cNvPr>
          <p:cNvSpPr txBox="1"/>
          <p:nvPr/>
        </p:nvSpPr>
        <p:spPr>
          <a:xfrm>
            <a:off x="3124819" y="3393778"/>
            <a:ext cx="828886"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err="1">
                <a:ea typeface="Calibri"/>
                <a:cs typeface="Calibri"/>
              </a:rPr>
              <a:t>Snowpipe</a:t>
            </a:r>
            <a:endParaRPr lang="en-US" sz="900" dirty="0">
              <a:ea typeface="Calibri"/>
              <a:cs typeface="Calibri"/>
            </a:endParaRPr>
          </a:p>
        </p:txBody>
      </p:sp>
      <p:sp>
        <p:nvSpPr>
          <p:cNvPr id="29" name="TextBox 28">
            <a:extLst>
              <a:ext uri="{FF2B5EF4-FFF2-40B4-BE49-F238E27FC236}">
                <a16:creationId xmlns:a16="http://schemas.microsoft.com/office/drawing/2014/main" id="{A7567D82-C532-15B9-0E92-30F3C87B3C76}"/>
              </a:ext>
            </a:extLst>
          </p:cNvPr>
          <p:cNvSpPr txBox="1"/>
          <p:nvPr/>
        </p:nvSpPr>
        <p:spPr>
          <a:xfrm>
            <a:off x="3082495" y="1164926"/>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VM1</a:t>
            </a:r>
          </a:p>
        </p:txBody>
      </p:sp>
      <p:sp>
        <p:nvSpPr>
          <p:cNvPr id="98" name="TextBox 97">
            <a:extLst>
              <a:ext uri="{FF2B5EF4-FFF2-40B4-BE49-F238E27FC236}">
                <a16:creationId xmlns:a16="http://schemas.microsoft.com/office/drawing/2014/main" id="{7DC7B725-E7C9-6AAE-0127-9EFB2D5829CF}"/>
              </a:ext>
            </a:extLst>
          </p:cNvPr>
          <p:cNvSpPr txBox="1"/>
          <p:nvPr/>
        </p:nvSpPr>
        <p:spPr>
          <a:xfrm>
            <a:off x="5390206" y="1053269"/>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VM3</a:t>
            </a:r>
          </a:p>
        </p:txBody>
      </p:sp>
      <p:sp>
        <p:nvSpPr>
          <p:cNvPr id="103" name="Oval 102">
            <a:extLst>
              <a:ext uri="{FF2B5EF4-FFF2-40B4-BE49-F238E27FC236}">
                <a16:creationId xmlns:a16="http://schemas.microsoft.com/office/drawing/2014/main" id="{2A84872E-D074-C178-FBE7-13FB1C6E79DE}"/>
              </a:ext>
            </a:extLst>
          </p:cNvPr>
          <p:cNvSpPr/>
          <p:nvPr/>
        </p:nvSpPr>
        <p:spPr>
          <a:xfrm>
            <a:off x="5359038" y="666714"/>
            <a:ext cx="991849" cy="330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 A</a:t>
            </a:r>
            <a:endParaRPr lang="en-IN" sz="1200" dirty="0"/>
          </a:p>
        </p:txBody>
      </p:sp>
      <p:pic>
        <p:nvPicPr>
          <p:cNvPr id="107" name="Graphic 106" descr="Database with solid fill">
            <a:extLst>
              <a:ext uri="{FF2B5EF4-FFF2-40B4-BE49-F238E27FC236}">
                <a16:creationId xmlns:a16="http://schemas.microsoft.com/office/drawing/2014/main" id="{AE96A4E1-9891-9E96-790A-C2CBE6248A5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60401" y="1912106"/>
            <a:ext cx="313178" cy="313178"/>
          </a:xfrm>
          <a:prstGeom prst="rect">
            <a:avLst/>
          </a:prstGeom>
        </p:spPr>
      </p:pic>
      <p:pic>
        <p:nvPicPr>
          <p:cNvPr id="110" name="Graphic 109" descr="Database with solid fill">
            <a:extLst>
              <a:ext uri="{FF2B5EF4-FFF2-40B4-BE49-F238E27FC236}">
                <a16:creationId xmlns:a16="http://schemas.microsoft.com/office/drawing/2014/main" id="{61520C14-BCAF-9569-3BEC-1F97CE1D2C9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60719" y="1929272"/>
            <a:ext cx="313178" cy="313178"/>
          </a:xfrm>
          <a:prstGeom prst="rect">
            <a:avLst/>
          </a:prstGeom>
        </p:spPr>
      </p:pic>
      <p:pic>
        <p:nvPicPr>
          <p:cNvPr id="114" name="Graphic 113" descr="Database with solid fill">
            <a:extLst>
              <a:ext uri="{FF2B5EF4-FFF2-40B4-BE49-F238E27FC236}">
                <a16:creationId xmlns:a16="http://schemas.microsoft.com/office/drawing/2014/main" id="{FE772D18-064D-5C4A-DE3E-C67EF3EA130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38295" y="1934775"/>
            <a:ext cx="313178" cy="313178"/>
          </a:xfrm>
          <a:prstGeom prst="rect">
            <a:avLst/>
          </a:prstGeom>
        </p:spPr>
      </p:pic>
      <p:sp>
        <p:nvSpPr>
          <p:cNvPr id="115" name="Rectangle: Rounded Corners 114">
            <a:extLst>
              <a:ext uri="{FF2B5EF4-FFF2-40B4-BE49-F238E27FC236}">
                <a16:creationId xmlns:a16="http://schemas.microsoft.com/office/drawing/2014/main" id="{3A387DF9-FD11-368F-AC6C-2CCABCF7CB96}"/>
              </a:ext>
            </a:extLst>
          </p:cNvPr>
          <p:cNvSpPr/>
          <p:nvPr/>
        </p:nvSpPr>
        <p:spPr>
          <a:xfrm>
            <a:off x="6607123" y="898771"/>
            <a:ext cx="1193022" cy="1393767"/>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5E32C822-DB91-4CB7-3730-2B157ED7F796}"/>
              </a:ext>
            </a:extLst>
          </p:cNvPr>
          <p:cNvSpPr txBox="1"/>
          <p:nvPr/>
        </p:nvSpPr>
        <p:spPr>
          <a:xfrm>
            <a:off x="6738877" y="1050635"/>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VM4</a:t>
            </a:r>
          </a:p>
        </p:txBody>
      </p:sp>
      <p:sp>
        <p:nvSpPr>
          <p:cNvPr id="118" name="Oval 117">
            <a:extLst>
              <a:ext uri="{FF2B5EF4-FFF2-40B4-BE49-F238E27FC236}">
                <a16:creationId xmlns:a16="http://schemas.microsoft.com/office/drawing/2014/main" id="{16DB902B-6E10-7BD8-9A06-31424E1882AC}"/>
              </a:ext>
            </a:extLst>
          </p:cNvPr>
          <p:cNvSpPr/>
          <p:nvPr/>
        </p:nvSpPr>
        <p:spPr>
          <a:xfrm>
            <a:off x="6697226" y="643708"/>
            <a:ext cx="991849" cy="330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 B</a:t>
            </a:r>
            <a:endParaRPr lang="en-IN" sz="1200" dirty="0"/>
          </a:p>
        </p:txBody>
      </p:sp>
      <p:pic>
        <p:nvPicPr>
          <p:cNvPr id="119" name="Graphic 118" descr="Database with solid fill">
            <a:extLst>
              <a:ext uri="{FF2B5EF4-FFF2-40B4-BE49-F238E27FC236}">
                <a16:creationId xmlns:a16="http://schemas.microsoft.com/office/drawing/2014/main" id="{ECA60BF0-7D5E-DDE7-BBB0-55ECBFB3F24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709072" y="1909472"/>
            <a:ext cx="313178" cy="313178"/>
          </a:xfrm>
          <a:prstGeom prst="rect">
            <a:avLst/>
          </a:prstGeom>
        </p:spPr>
      </p:pic>
      <p:pic>
        <p:nvPicPr>
          <p:cNvPr id="120" name="Graphic 119" descr="Database with solid fill">
            <a:extLst>
              <a:ext uri="{FF2B5EF4-FFF2-40B4-BE49-F238E27FC236}">
                <a16:creationId xmlns:a16="http://schemas.microsoft.com/office/drawing/2014/main" id="{4E27F272-0CE8-4496-5D55-D707024415A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09390" y="1926638"/>
            <a:ext cx="313178" cy="313178"/>
          </a:xfrm>
          <a:prstGeom prst="rect">
            <a:avLst/>
          </a:prstGeom>
        </p:spPr>
      </p:pic>
      <p:pic>
        <p:nvPicPr>
          <p:cNvPr id="121" name="Graphic 120" descr="Database with solid fill">
            <a:extLst>
              <a:ext uri="{FF2B5EF4-FFF2-40B4-BE49-F238E27FC236}">
                <a16:creationId xmlns:a16="http://schemas.microsoft.com/office/drawing/2014/main" id="{8AB0489D-FB9E-75E5-5B43-151DE54C184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86966" y="1932141"/>
            <a:ext cx="313178" cy="313178"/>
          </a:xfrm>
          <a:prstGeom prst="rect">
            <a:avLst/>
          </a:prstGeom>
        </p:spPr>
      </p:pic>
      <p:sp>
        <p:nvSpPr>
          <p:cNvPr id="122" name="Rectangle: Rounded Corners 121">
            <a:extLst>
              <a:ext uri="{FF2B5EF4-FFF2-40B4-BE49-F238E27FC236}">
                <a16:creationId xmlns:a16="http://schemas.microsoft.com/office/drawing/2014/main" id="{84C685E0-842F-F8ED-6544-57C202B203F7}"/>
              </a:ext>
            </a:extLst>
          </p:cNvPr>
          <p:cNvSpPr/>
          <p:nvPr/>
        </p:nvSpPr>
        <p:spPr>
          <a:xfrm>
            <a:off x="7902336" y="902337"/>
            <a:ext cx="1193022" cy="1390201"/>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a:extLst>
              <a:ext uri="{FF2B5EF4-FFF2-40B4-BE49-F238E27FC236}">
                <a16:creationId xmlns:a16="http://schemas.microsoft.com/office/drawing/2014/main" id="{926E9F6D-3768-DB6D-15AF-36101751EF5A}"/>
              </a:ext>
            </a:extLst>
          </p:cNvPr>
          <p:cNvSpPr txBox="1"/>
          <p:nvPr/>
        </p:nvSpPr>
        <p:spPr>
          <a:xfrm>
            <a:off x="8034090" y="1054201"/>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V5</a:t>
            </a:r>
          </a:p>
        </p:txBody>
      </p:sp>
      <p:sp>
        <p:nvSpPr>
          <p:cNvPr id="124" name="Oval 123">
            <a:extLst>
              <a:ext uri="{FF2B5EF4-FFF2-40B4-BE49-F238E27FC236}">
                <a16:creationId xmlns:a16="http://schemas.microsoft.com/office/drawing/2014/main" id="{60C9EC1B-FE97-FE7D-11C7-8DC2D5BF160B}"/>
              </a:ext>
            </a:extLst>
          </p:cNvPr>
          <p:cNvSpPr/>
          <p:nvPr/>
        </p:nvSpPr>
        <p:spPr>
          <a:xfrm>
            <a:off x="8031145" y="631971"/>
            <a:ext cx="991849" cy="330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 C</a:t>
            </a:r>
            <a:endParaRPr lang="en-IN" sz="1200" dirty="0"/>
          </a:p>
        </p:txBody>
      </p:sp>
      <p:pic>
        <p:nvPicPr>
          <p:cNvPr id="125" name="Graphic 124" descr="Database with solid fill">
            <a:extLst>
              <a:ext uri="{FF2B5EF4-FFF2-40B4-BE49-F238E27FC236}">
                <a16:creationId xmlns:a16="http://schemas.microsoft.com/office/drawing/2014/main" id="{799A5161-5C82-D8A8-2729-10CDB5D5DC5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04285" y="1913038"/>
            <a:ext cx="313178" cy="313178"/>
          </a:xfrm>
          <a:prstGeom prst="rect">
            <a:avLst/>
          </a:prstGeom>
        </p:spPr>
      </p:pic>
      <p:pic>
        <p:nvPicPr>
          <p:cNvPr id="126" name="Graphic 125" descr="Database with solid fill">
            <a:extLst>
              <a:ext uri="{FF2B5EF4-FFF2-40B4-BE49-F238E27FC236}">
                <a16:creationId xmlns:a16="http://schemas.microsoft.com/office/drawing/2014/main" id="{E893FCA6-30D9-9909-1207-6DFB673F80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04603" y="1930204"/>
            <a:ext cx="313178" cy="313178"/>
          </a:xfrm>
          <a:prstGeom prst="rect">
            <a:avLst/>
          </a:prstGeom>
        </p:spPr>
      </p:pic>
      <p:pic>
        <p:nvPicPr>
          <p:cNvPr id="127" name="Graphic 126" descr="Database with solid fill">
            <a:extLst>
              <a:ext uri="{FF2B5EF4-FFF2-40B4-BE49-F238E27FC236}">
                <a16:creationId xmlns:a16="http://schemas.microsoft.com/office/drawing/2014/main" id="{D567CB45-42B1-60D1-89A1-676B9BE329A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82179" y="1935707"/>
            <a:ext cx="313178" cy="313178"/>
          </a:xfrm>
          <a:prstGeom prst="rect">
            <a:avLst/>
          </a:prstGeom>
        </p:spPr>
      </p:pic>
      <p:sp>
        <p:nvSpPr>
          <p:cNvPr id="128" name="TextBox 127">
            <a:extLst>
              <a:ext uri="{FF2B5EF4-FFF2-40B4-BE49-F238E27FC236}">
                <a16:creationId xmlns:a16="http://schemas.microsoft.com/office/drawing/2014/main" id="{02905C91-D2F3-5408-2D9B-067E63EA799F}"/>
              </a:ext>
            </a:extLst>
          </p:cNvPr>
          <p:cNvSpPr txBox="1"/>
          <p:nvPr/>
        </p:nvSpPr>
        <p:spPr>
          <a:xfrm>
            <a:off x="5281970" y="1762679"/>
            <a:ext cx="452039" cy="200055"/>
          </a:xfrm>
          <a:prstGeom prst="rect">
            <a:avLst/>
          </a:prstGeom>
          <a:noFill/>
        </p:spPr>
        <p:txBody>
          <a:bodyPr wrap="square" rtlCol="0">
            <a:spAutoFit/>
          </a:bodyPr>
          <a:lstStyle/>
          <a:p>
            <a:pPr algn="ctr"/>
            <a:r>
              <a:rPr lang="en-US" sz="700" b="1" dirty="0"/>
              <a:t>Raw</a:t>
            </a:r>
          </a:p>
        </p:txBody>
      </p:sp>
      <p:sp>
        <p:nvSpPr>
          <p:cNvPr id="129" name="TextBox 128">
            <a:extLst>
              <a:ext uri="{FF2B5EF4-FFF2-40B4-BE49-F238E27FC236}">
                <a16:creationId xmlns:a16="http://schemas.microsoft.com/office/drawing/2014/main" id="{F3F794D5-1764-BDEF-E278-E1ED77588DC1}"/>
              </a:ext>
            </a:extLst>
          </p:cNvPr>
          <p:cNvSpPr txBox="1"/>
          <p:nvPr/>
        </p:nvSpPr>
        <p:spPr>
          <a:xfrm>
            <a:off x="5627234" y="1677057"/>
            <a:ext cx="593243" cy="307777"/>
          </a:xfrm>
          <a:prstGeom prst="rect">
            <a:avLst/>
          </a:prstGeom>
          <a:noFill/>
        </p:spPr>
        <p:txBody>
          <a:bodyPr wrap="square" rtlCol="0">
            <a:spAutoFit/>
          </a:bodyPr>
          <a:lstStyle/>
          <a:p>
            <a:pPr algn="ctr"/>
            <a:r>
              <a:rPr lang="en-US" sz="700" b="1" dirty="0"/>
              <a:t>Semi</a:t>
            </a:r>
          </a:p>
          <a:p>
            <a:pPr algn="ctr"/>
            <a:r>
              <a:rPr lang="en-US" sz="700" b="1" dirty="0"/>
              <a:t>prep</a:t>
            </a:r>
          </a:p>
        </p:txBody>
      </p:sp>
      <p:sp>
        <p:nvSpPr>
          <p:cNvPr id="130" name="TextBox 129">
            <a:extLst>
              <a:ext uri="{FF2B5EF4-FFF2-40B4-BE49-F238E27FC236}">
                <a16:creationId xmlns:a16="http://schemas.microsoft.com/office/drawing/2014/main" id="{E9DE4C1D-FFB2-28F8-5882-24CD170C82E9}"/>
              </a:ext>
            </a:extLst>
          </p:cNvPr>
          <p:cNvSpPr txBox="1"/>
          <p:nvPr/>
        </p:nvSpPr>
        <p:spPr>
          <a:xfrm>
            <a:off x="5995076" y="1683015"/>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31" name="TextBox 130">
            <a:extLst>
              <a:ext uri="{FF2B5EF4-FFF2-40B4-BE49-F238E27FC236}">
                <a16:creationId xmlns:a16="http://schemas.microsoft.com/office/drawing/2014/main" id="{3CB67E2B-91A5-6849-CB7D-908C7C65B73A}"/>
              </a:ext>
            </a:extLst>
          </p:cNvPr>
          <p:cNvSpPr txBox="1"/>
          <p:nvPr/>
        </p:nvSpPr>
        <p:spPr>
          <a:xfrm>
            <a:off x="6633538" y="1765287"/>
            <a:ext cx="452039" cy="200055"/>
          </a:xfrm>
          <a:prstGeom prst="rect">
            <a:avLst/>
          </a:prstGeom>
          <a:noFill/>
        </p:spPr>
        <p:txBody>
          <a:bodyPr wrap="square" rtlCol="0">
            <a:spAutoFit/>
          </a:bodyPr>
          <a:lstStyle/>
          <a:p>
            <a:pPr algn="ctr"/>
            <a:r>
              <a:rPr lang="en-US" sz="700" b="1" dirty="0"/>
              <a:t>Raw</a:t>
            </a:r>
          </a:p>
        </p:txBody>
      </p:sp>
      <p:sp>
        <p:nvSpPr>
          <p:cNvPr id="132" name="TextBox 131">
            <a:extLst>
              <a:ext uri="{FF2B5EF4-FFF2-40B4-BE49-F238E27FC236}">
                <a16:creationId xmlns:a16="http://schemas.microsoft.com/office/drawing/2014/main" id="{039E069F-504A-F439-4488-0235FB2A131D}"/>
              </a:ext>
            </a:extLst>
          </p:cNvPr>
          <p:cNvSpPr txBox="1"/>
          <p:nvPr/>
        </p:nvSpPr>
        <p:spPr>
          <a:xfrm>
            <a:off x="6978802" y="1679665"/>
            <a:ext cx="593243" cy="307777"/>
          </a:xfrm>
          <a:prstGeom prst="rect">
            <a:avLst/>
          </a:prstGeom>
          <a:noFill/>
        </p:spPr>
        <p:txBody>
          <a:bodyPr wrap="square" rtlCol="0">
            <a:spAutoFit/>
          </a:bodyPr>
          <a:lstStyle/>
          <a:p>
            <a:pPr algn="ctr"/>
            <a:r>
              <a:rPr lang="en-US" sz="700" b="1" dirty="0"/>
              <a:t>Semi</a:t>
            </a:r>
          </a:p>
          <a:p>
            <a:pPr algn="ctr"/>
            <a:r>
              <a:rPr lang="en-US" sz="700" b="1" dirty="0"/>
              <a:t>prep</a:t>
            </a:r>
          </a:p>
        </p:txBody>
      </p:sp>
      <p:sp>
        <p:nvSpPr>
          <p:cNvPr id="133" name="TextBox 132">
            <a:extLst>
              <a:ext uri="{FF2B5EF4-FFF2-40B4-BE49-F238E27FC236}">
                <a16:creationId xmlns:a16="http://schemas.microsoft.com/office/drawing/2014/main" id="{3D48CC40-EBDA-AD4D-9867-AFF9ED78A5FF}"/>
              </a:ext>
            </a:extLst>
          </p:cNvPr>
          <p:cNvSpPr txBox="1"/>
          <p:nvPr/>
        </p:nvSpPr>
        <p:spPr>
          <a:xfrm>
            <a:off x="7346644" y="1685623"/>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34" name="TextBox 133">
            <a:extLst>
              <a:ext uri="{FF2B5EF4-FFF2-40B4-BE49-F238E27FC236}">
                <a16:creationId xmlns:a16="http://schemas.microsoft.com/office/drawing/2014/main" id="{BCC8390E-5B98-2E6C-0A03-62488129AB18}"/>
              </a:ext>
            </a:extLst>
          </p:cNvPr>
          <p:cNvSpPr txBox="1"/>
          <p:nvPr/>
        </p:nvSpPr>
        <p:spPr>
          <a:xfrm>
            <a:off x="7907349" y="1702705"/>
            <a:ext cx="452039" cy="200055"/>
          </a:xfrm>
          <a:prstGeom prst="rect">
            <a:avLst/>
          </a:prstGeom>
          <a:noFill/>
        </p:spPr>
        <p:txBody>
          <a:bodyPr wrap="square" rtlCol="0">
            <a:spAutoFit/>
          </a:bodyPr>
          <a:lstStyle/>
          <a:p>
            <a:pPr algn="ctr"/>
            <a:r>
              <a:rPr lang="en-US" sz="700" b="1" dirty="0"/>
              <a:t>Raw</a:t>
            </a:r>
          </a:p>
        </p:txBody>
      </p:sp>
      <p:sp>
        <p:nvSpPr>
          <p:cNvPr id="135" name="TextBox 134">
            <a:extLst>
              <a:ext uri="{FF2B5EF4-FFF2-40B4-BE49-F238E27FC236}">
                <a16:creationId xmlns:a16="http://schemas.microsoft.com/office/drawing/2014/main" id="{F95B4239-BA1C-C2D7-3460-9584F76EAEA2}"/>
              </a:ext>
            </a:extLst>
          </p:cNvPr>
          <p:cNvSpPr txBox="1"/>
          <p:nvPr/>
        </p:nvSpPr>
        <p:spPr>
          <a:xfrm>
            <a:off x="8252613" y="1617083"/>
            <a:ext cx="593243" cy="307777"/>
          </a:xfrm>
          <a:prstGeom prst="rect">
            <a:avLst/>
          </a:prstGeom>
          <a:noFill/>
        </p:spPr>
        <p:txBody>
          <a:bodyPr wrap="square" rtlCol="0">
            <a:spAutoFit/>
          </a:bodyPr>
          <a:lstStyle/>
          <a:p>
            <a:pPr algn="ctr"/>
            <a:r>
              <a:rPr lang="en-US" sz="700" b="1" dirty="0"/>
              <a:t>Semi</a:t>
            </a:r>
          </a:p>
          <a:p>
            <a:pPr algn="ctr"/>
            <a:r>
              <a:rPr lang="en-US" sz="700" b="1" dirty="0"/>
              <a:t>prep</a:t>
            </a:r>
          </a:p>
        </p:txBody>
      </p:sp>
      <p:sp>
        <p:nvSpPr>
          <p:cNvPr id="136" name="TextBox 135">
            <a:extLst>
              <a:ext uri="{FF2B5EF4-FFF2-40B4-BE49-F238E27FC236}">
                <a16:creationId xmlns:a16="http://schemas.microsoft.com/office/drawing/2014/main" id="{8E7099BD-F979-BC2F-C88A-70F3234BA114}"/>
              </a:ext>
            </a:extLst>
          </p:cNvPr>
          <p:cNvSpPr txBox="1"/>
          <p:nvPr/>
        </p:nvSpPr>
        <p:spPr>
          <a:xfrm>
            <a:off x="8620455" y="1623041"/>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37" name="TextBox 136">
            <a:extLst>
              <a:ext uri="{FF2B5EF4-FFF2-40B4-BE49-F238E27FC236}">
                <a16:creationId xmlns:a16="http://schemas.microsoft.com/office/drawing/2014/main" id="{07CC77BD-F96A-422E-27E9-7BF208A46FA3}"/>
              </a:ext>
            </a:extLst>
          </p:cNvPr>
          <p:cNvSpPr txBox="1"/>
          <p:nvPr/>
        </p:nvSpPr>
        <p:spPr>
          <a:xfrm>
            <a:off x="5350916" y="1328224"/>
            <a:ext cx="630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Azure Services</a:t>
            </a:r>
          </a:p>
        </p:txBody>
      </p:sp>
      <p:sp>
        <p:nvSpPr>
          <p:cNvPr id="138" name="TextBox 137">
            <a:extLst>
              <a:ext uri="{FF2B5EF4-FFF2-40B4-BE49-F238E27FC236}">
                <a16:creationId xmlns:a16="http://schemas.microsoft.com/office/drawing/2014/main" id="{9EB5635D-07B0-D534-750F-E092A79C4F7F}"/>
              </a:ext>
            </a:extLst>
          </p:cNvPr>
          <p:cNvSpPr txBox="1"/>
          <p:nvPr/>
        </p:nvSpPr>
        <p:spPr>
          <a:xfrm>
            <a:off x="6891311" y="1333163"/>
            <a:ext cx="630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Azure Services</a:t>
            </a:r>
          </a:p>
        </p:txBody>
      </p:sp>
      <p:sp>
        <p:nvSpPr>
          <p:cNvPr id="139" name="TextBox 138">
            <a:extLst>
              <a:ext uri="{FF2B5EF4-FFF2-40B4-BE49-F238E27FC236}">
                <a16:creationId xmlns:a16="http://schemas.microsoft.com/office/drawing/2014/main" id="{6D2BB924-39EA-6E8E-4D91-AFA714BADEF2}"/>
              </a:ext>
            </a:extLst>
          </p:cNvPr>
          <p:cNvSpPr txBox="1"/>
          <p:nvPr/>
        </p:nvSpPr>
        <p:spPr>
          <a:xfrm>
            <a:off x="8209952" y="1262715"/>
            <a:ext cx="630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Azure Services</a:t>
            </a:r>
          </a:p>
        </p:txBody>
      </p:sp>
      <p:sp>
        <p:nvSpPr>
          <p:cNvPr id="140" name="Rectangle 139">
            <a:extLst>
              <a:ext uri="{FF2B5EF4-FFF2-40B4-BE49-F238E27FC236}">
                <a16:creationId xmlns:a16="http://schemas.microsoft.com/office/drawing/2014/main" id="{6BFB98E9-2588-FD6E-A760-761B6EBB5354}"/>
              </a:ext>
            </a:extLst>
          </p:cNvPr>
          <p:cNvSpPr/>
          <p:nvPr/>
        </p:nvSpPr>
        <p:spPr>
          <a:xfrm>
            <a:off x="6138295" y="223024"/>
            <a:ext cx="2016964" cy="203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Non Symphony Customers</a:t>
            </a:r>
            <a:endParaRPr lang="en-IN" sz="1200" dirty="0"/>
          </a:p>
        </p:txBody>
      </p:sp>
      <p:sp>
        <p:nvSpPr>
          <p:cNvPr id="141" name="Rectangle: Rounded Corners 140">
            <a:extLst>
              <a:ext uri="{FF2B5EF4-FFF2-40B4-BE49-F238E27FC236}">
                <a16:creationId xmlns:a16="http://schemas.microsoft.com/office/drawing/2014/main" id="{F25BFCE5-C761-A38C-0C95-610DDE8B2F0D}"/>
              </a:ext>
            </a:extLst>
          </p:cNvPr>
          <p:cNvSpPr/>
          <p:nvPr/>
        </p:nvSpPr>
        <p:spPr>
          <a:xfrm>
            <a:off x="7022249" y="2819731"/>
            <a:ext cx="2768649" cy="2068121"/>
          </a:xfrm>
          <a:prstGeom prst="roundRect">
            <a:avLst>
              <a:gd name="adj" fmla="val 418"/>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2" name="Rectangle 141">
            <a:extLst>
              <a:ext uri="{FF2B5EF4-FFF2-40B4-BE49-F238E27FC236}">
                <a16:creationId xmlns:a16="http://schemas.microsoft.com/office/drawing/2014/main" id="{FF1A2DA7-96C5-AA5A-0EA3-83BC82827339}"/>
              </a:ext>
            </a:extLst>
          </p:cNvPr>
          <p:cNvSpPr/>
          <p:nvPr/>
        </p:nvSpPr>
        <p:spPr>
          <a:xfrm>
            <a:off x="7448940" y="2732868"/>
            <a:ext cx="2016964" cy="203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Symphony Customers</a:t>
            </a:r>
            <a:endParaRPr lang="en-IN" sz="1200" dirty="0"/>
          </a:p>
        </p:txBody>
      </p:sp>
      <p:sp>
        <p:nvSpPr>
          <p:cNvPr id="162" name="Rectangle: Rounded Corners 161">
            <a:extLst>
              <a:ext uri="{FF2B5EF4-FFF2-40B4-BE49-F238E27FC236}">
                <a16:creationId xmlns:a16="http://schemas.microsoft.com/office/drawing/2014/main" id="{C5B33396-38C4-E417-3910-F6EEFA6D46A8}"/>
              </a:ext>
            </a:extLst>
          </p:cNvPr>
          <p:cNvSpPr/>
          <p:nvPr/>
        </p:nvSpPr>
        <p:spPr>
          <a:xfrm>
            <a:off x="7120701" y="3336084"/>
            <a:ext cx="1193022" cy="1393767"/>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TextBox 162">
            <a:extLst>
              <a:ext uri="{FF2B5EF4-FFF2-40B4-BE49-F238E27FC236}">
                <a16:creationId xmlns:a16="http://schemas.microsoft.com/office/drawing/2014/main" id="{2F94BD25-9155-C8FA-EC87-2ED71D25866C}"/>
              </a:ext>
            </a:extLst>
          </p:cNvPr>
          <p:cNvSpPr txBox="1"/>
          <p:nvPr/>
        </p:nvSpPr>
        <p:spPr>
          <a:xfrm>
            <a:off x="7252455" y="3487948"/>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VM6</a:t>
            </a:r>
          </a:p>
        </p:txBody>
      </p:sp>
      <p:sp>
        <p:nvSpPr>
          <p:cNvPr id="164" name="Oval 163">
            <a:extLst>
              <a:ext uri="{FF2B5EF4-FFF2-40B4-BE49-F238E27FC236}">
                <a16:creationId xmlns:a16="http://schemas.microsoft.com/office/drawing/2014/main" id="{AAF41C9E-B6F6-F7AE-8072-A4A930DFC18B}"/>
              </a:ext>
            </a:extLst>
          </p:cNvPr>
          <p:cNvSpPr/>
          <p:nvPr/>
        </p:nvSpPr>
        <p:spPr>
          <a:xfrm>
            <a:off x="7221287" y="3101393"/>
            <a:ext cx="991849" cy="330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 D</a:t>
            </a:r>
            <a:endParaRPr lang="en-IN" sz="1200" dirty="0"/>
          </a:p>
        </p:txBody>
      </p:sp>
      <p:pic>
        <p:nvPicPr>
          <p:cNvPr id="166" name="Graphic 165" descr="Database with solid fill">
            <a:extLst>
              <a:ext uri="{FF2B5EF4-FFF2-40B4-BE49-F238E27FC236}">
                <a16:creationId xmlns:a16="http://schemas.microsoft.com/office/drawing/2014/main" id="{6EA4163F-C5A6-3BD8-9A65-172181C0FFE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41195" y="4311913"/>
            <a:ext cx="313178" cy="313178"/>
          </a:xfrm>
          <a:prstGeom prst="rect">
            <a:avLst/>
          </a:prstGeom>
        </p:spPr>
      </p:pic>
      <p:pic>
        <p:nvPicPr>
          <p:cNvPr id="167" name="Graphic 166" descr="Database with solid fill">
            <a:extLst>
              <a:ext uri="{FF2B5EF4-FFF2-40B4-BE49-F238E27FC236}">
                <a16:creationId xmlns:a16="http://schemas.microsoft.com/office/drawing/2014/main" id="{8AC24D44-8D1E-5689-C6AE-B86AAB36177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918771" y="4317416"/>
            <a:ext cx="313178" cy="313178"/>
          </a:xfrm>
          <a:prstGeom prst="rect">
            <a:avLst/>
          </a:prstGeom>
        </p:spPr>
      </p:pic>
      <p:sp>
        <p:nvSpPr>
          <p:cNvPr id="168" name="Rectangle: Rounded Corners 167">
            <a:extLst>
              <a:ext uri="{FF2B5EF4-FFF2-40B4-BE49-F238E27FC236}">
                <a16:creationId xmlns:a16="http://schemas.microsoft.com/office/drawing/2014/main" id="{2A270F6E-B391-02D3-1BF8-F0E1846A4207}"/>
              </a:ext>
            </a:extLst>
          </p:cNvPr>
          <p:cNvSpPr/>
          <p:nvPr/>
        </p:nvSpPr>
        <p:spPr>
          <a:xfrm>
            <a:off x="8469372" y="3333450"/>
            <a:ext cx="1193022" cy="1393767"/>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TextBox 168">
            <a:extLst>
              <a:ext uri="{FF2B5EF4-FFF2-40B4-BE49-F238E27FC236}">
                <a16:creationId xmlns:a16="http://schemas.microsoft.com/office/drawing/2014/main" id="{544F713E-BEA4-3721-561D-8C6FD223C562}"/>
              </a:ext>
            </a:extLst>
          </p:cNvPr>
          <p:cNvSpPr txBox="1"/>
          <p:nvPr/>
        </p:nvSpPr>
        <p:spPr>
          <a:xfrm>
            <a:off x="8601126" y="3485314"/>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VM7</a:t>
            </a:r>
          </a:p>
        </p:txBody>
      </p:sp>
      <p:sp>
        <p:nvSpPr>
          <p:cNvPr id="170" name="Oval 169">
            <a:extLst>
              <a:ext uri="{FF2B5EF4-FFF2-40B4-BE49-F238E27FC236}">
                <a16:creationId xmlns:a16="http://schemas.microsoft.com/office/drawing/2014/main" id="{BAEFF33B-1CD3-06D5-76FB-12E14ECBCC09}"/>
              </a:ext>
            </a:extLst>
          </p:cNvPr>
          <p:cNvSpPr/>
          <p:nvPr/>
        </p:nvSpPr>
        <p:spPr>
          <a:xfrm>
            <a:off x="8559475" y="3078387"/>
            <a:ext cx="991849" cy="330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 E</a:t>
            </a:r>
            <a:endParaRPr lang="en-IN" sz="1200" dirty="0"/>
          </a:p>
        </p:txBody>
      </p:sp>
      <p:pic>
        <p:nvPicPr>
          <p:cNvPr id="173" name="Graphic 172" descr="Database with solid fill">
            <a:extLst>
              <a:ext uri="{FF2B5EF4-FFF2-40B4-BE49-F238E27FC236}">
                <a16:creationId xmlns:a16="http://schemas.microsoft.com/office/drawing/2014/main" id="{AB3FE272-2D08-8504-D8FE-A5D57C3CD3B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95357" y="4112962"/>
            <a:ext cx="567036" cy="567036"/>
          </a:xfrm>
          <a:prstGeom prst="rect">
            <a:avLst/>
          </a:prstGeom>
        </p:spPr>
      </p:pic>
      <p:sp>
        <p:nvSpPr>
          <p:cNvPr id="175" name="TextBox 174">
            <a:extLst>
              <a:ext uri="{FF2B5EF4-FFF2-40B4-BE49-F238E27FC236}">
                <a16:creationId xmlns:a16="http://schemas.microsoft.com/office/drawing/2014/main" id="{20C6454E-1667-333F-F831-91498B9C53F2}"/>
              </a:ext>
            </a:extLst>
          </p:cNvPr>
          <p:cNvSpPr txBox="1"/>
          <p:nvPr/>
        </p:nvSpPr>
        <p:spPr>
          <a:xfrm>
            <a:off x="7407710" y="4059698"/>
            <a:ext cx="593243" cy="307777"/>
          </a:xfrm>
          <a:prstGeom prst="rect">
            <a:avLst/>
          </a:prstGeom>
          <a:noFill/>
        </p:spPr>
        <p:txBody>
          <a:bodyPr wrap="square" rtlCol="0">
            <a:spAutoFit/>
          </a:bodyPr>
          <a:lstStyle/>
          <a:p>
            <a:pPr algn="ctr"/>
            <a:r>
              <a:rPr lang="en-US" sz="700" b="1" dirty="0"/>
              <a:t>Semi</a:t>
            </a:r>
          </a:p>
          <a:p>
            <a:pPr algn="ctr"/>
            <a:r>
              <a:rPr lang="en-US" sz="700" b="1" dirty="0"/>
              <a:t>prep</a:t>
            </a:r>
          </a:p>
        </p:txBody>
      </p:sp>
      <p:sp>
        <p:nvSpPr>
          <p:cNvPr id="176" name="TextBox 175">
            <a:extLst>
              <a:ext uri="{FF2B5EF4-FFF2-40B4-BE49-F238E27FC236}">
                <a16:creationId xmlns:a16="http://schemas.microsoft.com/office/drawing/2014/main" id="{25536B9A-0B3A-9184-A065-8893C6BB08FB}"/>
              </a:ext>
            </a:extLst>
          </p:cNvPr>
          <p:cNvSpPr txBox="1"/>
          <p:nvPr/>
        </p:nvSpPr>
        <p:spPr>
          <a:xfrm>
            <a:off x="7797853" y="4050788"/>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79" name="TextBox 178">
            <a:extLst>
              <a:ext uri="{FF2B5EF4-FFF2-40B4-BE49-F238E27FC236}">
                <a16:creationId xmlns:a16="http://schemas.microsoft.com/office/drawing/2014/main" id="{61DAB209-6BB8-9D86-3AF3-93E84711296A}"/>
              </a:ext>
            </a:extLst>
          </p:cNvPr>
          <p:cNvSpPr txBox="1"/>
          <p:nvPr/>
        </p:nvSpPr>
        <p:spPr>
          <a:xfrm>
            <a:off x="8642146" y="4225400"/>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80" name="TextBox 179">
            <a:extLst>
              <a:ext uri="{FF2B5EF4-FFF2-40B4-BE49-F238E27FC236}">
                <a16:creationId xmlns:a16="http://schemas.microsoft.com/office/drawing/2014/main" id="{55C8BB08-0425-2B8A-E861-615FC4B418BE}"/>
              </a:ext>
            </a:extLst>
          </p:cNvPr>
          <p:cNvSpPr txBox="1"/>
          <p:nvPr/>
        </p:nvSpPr>
        <p:spPr>
          <a:xfrm>
            <a:off x="7213165" y="3762903"/>
            <a:ext cx="630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Azure Services</a:t>
            </a:r>
          </a:p>
        </p:txBody>
      </p:sp>
      <p:sp>
        <p:nvSpPr>
          <p:cNvPr id="181" name="TextBox 180">
            <a:extLst>
              <a:ext uri="{FF2B5EF4-FFF2-40B4-BE49-F238E27FC236}">
                <a16:creationId xmlns:a16="http://schemas.microsoft.com/office/drawing/2014/main" id="{CD290435-2106-B1FC-F08D-4B7E4CADF814}"/>
              </a:ext>
            </a:extLst>
          </p:cNvPr>
          <p:cNvSpPr txBox="1"/>
          <p:nvPr/>
        </p:nvSpPr>
        <p:spPr>
          <a:xfrm>
            <a:off x="8753560" y="3767842"/>
            <a:ext cx="630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Azure Services</a:t>
            </a:r>
          </a:p>
        </p:txBody>
      </p:sp>
      <p:pic>
        <p:nvPicPr>
          <p:cNvPr id="182" name="Graphic 181" descr="Database with solid fill">
            <a:extLst>
              <a:ext uri="{FF2B5EF4-FFF2-40B4-BE49-F238E27FC236}">
                <a16:creationId xmlns:a16="http://schemas.microsoft.com/office/drawing/2014/main" id="{CBCA7A4D-242C-2D70-3B9E-1CBCF336075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71567" y="3953155"/>
            <a:ext cx="313178" cy="313178"/>
          </a:xfrm>
          <a:prstGeom prst="rect">
            <a:avLst/>
          </a:prstGeom>
        </p:spPr>
      </p:pic>
      <p:pic>
        <p:nvPicPr>
          <p:cNvPr id="183" name="Graphic 182" descr="Database with solid fill">
            <a:extLst>
              <a:ext uri="{FF2B5EF4-FFF2-40B4-BE49-F238E27FC236}">
                <a16:creationId xmlns:a16="http://schemas.microsoft.com/office/drawing/2014/main" id="{92C5FA5D-BCBD-FA49-5E4C-B57704F293F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71885" y="3970321"/>
            <a:ext cx="313178" cy="313178"/>
          </a:xfrm>
          <a:prstGeom prst="rect">
            <a:avLst/>
          </a:prstGeom>
        </p:spPr>
      </p:pic>
      <p:pic>
        <p:nvPicPr>
          <p:cNvPr id="184" name="Graphic 183" descr="Database with solid fill">
            <a:extLst>
              <a:ext uri="{FF2B5EF4-FFF2-40B4-BE49-F238E27FC236}">
                <a16:creationId xmlns:a16="http://schemas.microsoft.com/office/drawing/2014/main" id="{552FB5EA-CEFF-E59E-A23F-0D600194C36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49461" y="3975824"/>
            <a:ext cx="313178" cy="313178"/>
          </a:xfrm>
          <a:prstGeom prst="rect">
            <a:avLst/>
          </a:prstGeom>
        </p:spPr>
      </p:pic>
      <p:sp>
        <p:nvSpPr>
          <p:cNvPr id="185" name="TextBox 184">
            <a:extLst>
              <a:ext uri="{FF2B5EF4-FFF2-40B4-BE49-F238E27FC236}">
                <a16:creationId xmlns:a16="http://schemas.microsoft.com/office/drawing/2014/main" id="{EA88E574-66DA-70DE-B69E-33E5D773A988}"/>
              </a:ext>
            </a:extLst>
          </p:cNvPr>
          <p:cNvSpPr txBox="1"/>
          <p:nvPr/>
        </p:nvSpPr>
        <p:spPr>
          <a:xfrm>
            <a:off x="5293136" y="3803728"/>
            <a:ext cx="452039" cy="200055"/>
          </a:xfrm>
          <a:prstGeom prst="rect">
            <a:avLst/>
          </a:prstGeom>
          <a:noFill/>
        </p:spPr>
        <p:txBody>
          <a:bodyPr wrap="square" rtlCol="0">
            <a:spAutoFit/>
          </a:bodyPr>
          <a:lstStyle/>
          <a:p>
            <a:pPr algn="ctr"/>
            <a:r>
              <a:rPr lang="en-US" sz="700" b="1" dirty="0"/>
              <a:t>Raw</a:t>
            </a:r>
          </a:p>
        </p:txBody>
      </p:sp>
      <p:sp>
        <p:nvSpPr>
          <p:cNvPr id="186" name="TextBox 185">
            <a:extLst>
              <a:ext uri="{FF2B5EF4-FFF2-40B4-BE49-F238E27FC236}">
                <a16:creationId xmlns:a16="http://schemas.microsoft.com/office/drawing/2014/main" id="{9CAA973B-37A3-47DC-CE79-1802255C011F}"/>
              </a:ext>
            </a:extLst>
          </p:cNvPr>
          <p:cNvSpPr txBox="1"/>
          <p:nvPr/>
        </p:nvSpPr>
        <p:spPr>
          <a:xfrm>
            <a:off x="5638400" y="3718106"/>
            <a:ext cx="593243" cy="307777"/>
          </a:xfrm>
          <a:prstGeom prst="rect">
            <a:avLst/>
          </a:prstGeom>
          <a:noFill/>
        </p:spPr>
        <p:txBody>
          <a:bodyPr wrap="square" rtlCol="0">
            <a:spAutoFit/>
          </a:bodyPr>
          <a:lstStyle/>
          <a:p>
            <a:pPr algn="ctr"/>
            <a:r>
              <a:rPr lang="en-US" sz="700" b="1" dirty="0"/>
              <a:t>Semi</a:t>
            </a:r>
          </a:p>
          <a:p>
            <a:pPr algn="ctr"/>
            <a:r>
              <a:rPr lang="en-US" sz="700" b="1" dirty="0"/>
              <a:t>prep</a:t>
            </a:r>
          </a:p>
        </p:txBody>
      </p:sp>
      <p:sp>
        <p:nvSpPr>
          <p:cNvPr id="187" name="TextBox 186">
            <a:extLst>
              <a:ext uri="{FF2B5EF4-FFF2-40B4-BE49-F238E27FC236}">
                <a16:creationId xmlns:a16="http://schemas.microsoft.com/office/drawing/2014/main" id="{50A9D148-5D10-8EE2-163C-30BD8322CF13}"/>
              </a:ext>
            </a:extLst>
          </p:cNvPr>
          <p:cNvSpPr txBox="1"/>
          <p:nvPr/>
        </p:nvSpPr>
        <p:spPr>
          <a:xfrm>
            <a:off x="6006242" y="3724064"/>
            <a:ext cx="593243" cy="307777"/>
          </a:xfrm>
          <a:prstGeom prst="rect">
            <a:avLst/>
          </a:prstGeom>
          <a:noFill/>
        </p:spPr>
        <p:txBody>
          <a:bodyPr wrap="square" rtlCol="0">
            <a:spAutoFit/>
          </a:bodyPr>
          <a:lstStyle/>
          <a:p>
            <a:pPr algn="ctr"/>
            <a:r>
              <a:rPr lang="en-US" sz="700" b="1" dirty="0"/>
              <a:t>Full</a:t>
            </a:r>
          </a:p>
          <a:p>
            <a:pPr algn="ctr"/>
            <a:r>
              <a:rPr lang="en-US" sz="700" b="1" dirty="0"/>
              <a:t>Prep</a:t>
            </a:r>
          </a:p>
        </p:txBody>
      </p:sp>
      <p:sp>
        <p:nvSpPr>
          <p:cNvPr id="188" name="Arrow: Right 187">
            <a:extLst>
              <a:ext uri="{FF2B5EF4-FFF2-40B4-BE49-F238E27FC236}">
                <a16:creationId xmlns:a16="http://schemas.microsoft.com/office/drawing/2014/main" id="{C54B3818-B191-6F82-CB99-B4ABCA6330B6}"/>
              </a:ext>
            </a:extLst>
          </p:cNvPr>
          <p:cNvSpPr/>
          <p:nvPr/>
        </p:nvSpPr>
        <p:spPr>
          <a:xfrm>
            <a:off x="1007900" y="4197805"/>
            <a:ext cx="859608" cy="1463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9" name="Arrow: Right 188">
            <a:extLst>
              <a:ext uri="{FF2B5EF4-FFF2-40B4-BE49-F238E27FC236}">
                <a16:creationId xmlns:a16="http://schemas.microsoft.com/office/drawing/2014/main" id="{58E3A0B7-20D7-017D-6C9C-9EAEE03AC56A}"/>
              </a:ext>
            </a:extLst>
          </p:cNvPr>
          <p:cNvSpPr/>
          <p:nvPr/>
        </p:nvSpPr>
        <p:spPr>
          <a:xfrm>
            <a:off x="4203278" y="3837719"/>
            <a:ext cx="780256" cy="1154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0" name="Rectangle: Rounded Corners 189">
            <a:extLst>
              <a:ext uri="{FF2B5EF4-FFF2-40B4-BE49-F238E27FC236}">
                <a16:creationId xmlns:a16="http://schemas.microsoft.com/office/drawing/2014/main" id="{354E6337-6340-156A-D164-3078332848EC}"/>
              </a:ext>
            </a:extLst>
          </p:cNvPr>
          <p:cNvSpPr/>
          <p:nvPr/>
        </p:nvSpPr>
        <p:spPr>
          <a:xfrm>
            <a:off x="5026108" y="3032002"/>
            <a:ext cx="1637310" cy="1310095"/>
          </a:xfrm>
          <a:prstGeom prst="roundRect">
            <a:avLst>
              <a:gd name="adj" fmla="val 1876"/>
            </a:avLst>
          </a:prstGeom>
          <a:noFill/>
          <a:ln w="19050">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5A764FE8-7C5E-4C74-2DBD-1D1C43BFB7FE}"/>
              </a:ext>
            </a:extLst>
          </p:cNvPr>
          <p:cNvSpPr/>
          <p:nvPr/>
        </p:nvSpPr>
        <p:spPr>
          <a:xfrm>
            <a:off x="5022492" y="2869738"/>
            <a:ext cx="1627738" cy="1795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Centralized Data Repository</a:t>
            </a:r>
            <a:endParaRPr lang="en-IN" sz="1000" dirty="0"/>
          </a:p>
        </p:txBody>
      </p:sp>
      <p:sp>
        <p:nvSpPr>
          <p:cNvPr id="203" name="TextBox 202">
            <a:extLst>
              <a:ext uri="{FF2B5EF4-FFF2-40B4-BE49-F238E27FC236}">
                <a16:creationId xmlns:a16="http://schemas.microsoft.com/office/drawing/2014/main" id="{CD1B2674-BBB7-C724-F707-0D1847C0E1BD}"/>
              </a:ext>
            </a:extLst>
          </p:cNvPr>
          <p:cNvSpPr txBox="1"/>
          <p:nvPr/>
        </p:nvSpPr>
        <p:spPr>
          <a:xfrm>
            <a:off x="5403903" y="3070088"/>
            <a:ext cx="828886" cy="230832"/>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ea typeface="Calibri"/>
                <a:cs typeface="Calibri"/>
              </a:rPr>
              <a:t>Azure VM2</a:t>
            </a:r>
          </a:p>
        </p:txBody>
      </p:sp>
      <p:cxnSp>
        <p:nvCxnSpPr>
          <p:cNvPr id="205" name="Connector: Elbow 204">
            <a:extLst>
              <a:ext uri="{FF2B5EF4-FFF2-40B4-BE49-F238E27FC236}">
                <a16:creationId xmlns:a16="http://schemas.microsoft.com/office/drawing/2014/main" id="{42DEE365-C4F9-D2DD-A249-FFB3DF8EE376}"/>
              </a:ext>
            </a:extLst>
          </p:cNvPr>
          <p:cNvCxnSpPr>
            <a:cxnSpLocks/>
          </p:cNvCxnSpPr>
          <p:nvPr/>
        </p:nvCxnSpPr>
        <p:spPr>
          <a:xfrm>
            <a:off x="5923855" y="4283499"/>
            <a:ext cx="1668738" cy="161752"/>
          </a:xfrm>
          <a:prstGeom prst="bentConnector3">
            <a:avLst>
              <a:gd name="adj1" fmla="val 10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 name="Connector: Elbow 206">
            <a:extLst>
              <a:ext uri="{FF2B5EF4-FFF2-40B4-BE49-F238E27FC236}">
                <a16:creationId xmlns:a16="http://schemas.microsoft.com/office/drawing/2014/main" id="{6B7123A8-3BA8-207E-746C-639B512454D9}"/>
              </a:ext>
            </a:extLst>
          </p:cNvPr>
          <p:cNvCxnSpPr>
            <a:cxnSpLocks/>
          </p:cNvCxnSpPr>
          <p:nvPr/>
        </p:nvCxnSpPr>
        <p:spPr>
          <a:xfrm>
            <a:off x="6306050" y="4228881"/>
            <a:ext cx="3123962" cy="419707"/>
          </a:xfrm>
          <a:prstGeom prst="bentConnector3">
            <a:avLst>
              <a:gd name="adj1" fmla="val 74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1C6699B6-DB59-2260-9688-E3F34F80DB62}"/>
              </a:ext>
            </a:extLst>
          </p:cNvPr>
          <p:cNvCxnSpPr>
            <a:cxnSpLocks/>
          </p:cNvCxnSpPr>
          <p:nvPr/>
        </p:nvCxnSpPr>
        <p:spPr>
          <a:xfrm>
            <a:off x="5617839" y="4109744"/>
            <a:ext cx="239110" cy="3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BD6AA8D1-0F79-E795-430E-D263DE9BED4D}"/>
              </a:ext>
            </a:extLst>
          </p:cNvPr>
          <p:cNvCxnSpPr>
            <a:cxnSpLocks/>
          </p:cNvCxnSpPr>
          <p:nvPr/>
        </p:nvCxnSpPr>
        <p:spPr>
          <a:xfrm>
            <a:off x="6008127" y="4128331"/>
            <a:ext cx="239110" cy="3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0BA5AEC6-F034-20E5-3A89-BE867E7C9D83}"/>
              </a:ext>
            </a:extLst>
          </p:cNvPr>
          <p:cNvCxnSpPr>
            <a:cxnSpLocks/>
          </p:cNvCxnSpPr>
          <p:nvPr/>
        </p:nvCxnSpPr>
        <p:spPr>
          <a:xfrm>
            <a:off x="7766297" y="4466583"/>
            <a:ext cx="239110" cy="3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FCCA60EA-0F81-5A9F-A84B-5B1009B74383}"/>
              </a:ext>
            </a:extLst>
          </p:cNvPr>
          <p:cNvSpPr txBox="1"/>
          <p:nvPr/>
        </p:nvSpPr>
        <p:spPr>
          <a:xfrm>
            <a:off x="5490931" y="3268730"/>
            <a:ext cx="1108554" cy="48347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DB/Schema </a:t>
            </a:r>
            <a:r>
              <a:rPr lang="en-US" sz="900" dirty="0">
                <a:solidFill>
                  <a:srgbClr val="00B0F0"/>
                </a:solidFill>
                <a:cs typeface="Tahoma" pitchFamily="34" charset="0"/>
              </a:rPr>
              <a:t>(Data Isolated by Tenant)</a:t>
            </a:r>
            <a:endParaRPr lang="en-IN" sz="900" dirty="0">
              <a:solidFill>
                <a:srgbClr val="00B0F0"/>
              </a:solidFill>
              <a:cs typeface="Tahoma" pitchFamily="34" charset="0"/>
            </a:endParaRPr>
          </a:p>
        </p:txBody>
      </p:sp>
    </p:spTree>
    <p:extLst>
      <p:ext uri="{BB962C8B-B14F-4D97-AF65-F5344CB8AC3E}">
        <p14:creationId xmlns:p14="http://schemas.microsoft.com/office/powerpoint/2010/main" val="55828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D79626-A4E3-B241-A51C-FDA1C09B28DC}"/>
              </a:ext>
            </a:extLst>
          </p:cNvPr>
          <p:cNvSpPr>
            <a:spLocks noGrp="1"/>
          </p:cNvSpPr>
          <p:nvPr>
            <p:ph type="body" sz="quarter" idx="10"/>
          </p:nvPr>
        </p:nvSpPr>
        <p:spPr/>
        <p:txBody>
          <a:bodyPr/>
          <a:lstStyle/>
          <a:p>
            <a:pPr marL="190500" indent="-187325"/>
            <a:r>
              <a:rPr lang="en-US" b="1" dirty="0"/>
              <a:t>Cost Efficient</a:t>
            </a:r>
          </a:p>
          <a:p>
            <a:pPr marL="190500" indent="-187325"/>
            <a:r>
              <a:rPr lang="en-US" b="1" dirty="0"/>
              <a:t>Scalability</a:t>
            </a:r>
          </a:p>
          <a:p>
            <a:pPr marL="190500" indent="-187325"/>
            <a:r>
              <a:rPr lang="en-US" b="1" dirty="0"/>
              <a:t>Streamlined Updates and Maintenance</a:t>
            </a:r>
          </a:p>
          <a:p>
            <a:pPr marL="190500" indent="-187325"/>
            <a:r>
              <a:rPr lang="en-US" b="1" dirty="0"/>
              <a:t>Resource Optimization</a:t>
            </a:r>
          </a:p>
          <a:p>
            <a:pPr marL="190500" indent="-187325"/>
            <a:r>
              <a:rPr lang="en-US" b="1" dirty="0"/>
              <a:t>Customizations &amp; Flexibility</a:t>
            </a:r>
          </a:p>
          <a:p>
            <a:pPr marL="190500" indent="-187325"/>
            <a:r>
              <a:rPr lang="en-US" b="1" dirty="0"/>
              <a:t>Data Security Enhancement </a:t>
            </a:r>
          </a:p>
          <a:p>
            <a:pPr marL="190500" indent="-187325"/>
            <a:r>
              <a:rPr lang="en-US" b="1" dirty="0"/>
              <a:t>Faster Go-To Market</a:t>
            </a:r>
          </a:p>
          <a:p>
            <a:pPr marL="3175" indent="0">
              <a:buNone/>
            </a:pPr>
            <a:endParaRPr lang="en-US" dirty="0"/>
          </a:p>
        </p:txBody>
      </p:sp>
      <p:sp>
        <p:nvSpPr>
          <p:cNvPr id="8" name="Text Placeholder 25">
            <a:extLst>
              <a:ext uri="{FF2B5EF4-FFF2-40B4-BE49-F238E27FC236}">
                <a16:creationId xmlns:a16="http://schemas.microsoft.com/office/drawing/2014/main" id="{5D850EDB-7D16-4FA6-B82B-6229C6DF6E21}"/>
              </a:ext>
            </a:extLst>
          </p:cNvPr>
          <p:cNvSpPr>
            <a:spLocks noGrp="1"/>
          </p:cNvSpPr>
          <p:nvPr>
            <p:ph type="body" sz="quarter" idx="12" hasCustomPrompt="1"/>
          </p:nvPr>
        </p:nvSpPr>
        <p:spPr>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altLang="zh-CN" dirty="0"/>
              <a:t>Key Benefits</a:t>
            </a:r>
            <a:endParaRPr lang="en-US" dirty="0"/>
          </a:p>
        </p:txBody>
      </p:sp>
    </p:spTree>
    <p:extLst>
      <p:ext uri="{BB962C8B-B14F-4D97-AF65-F5344CB8AC3E}">
        <p14:creationId xmlns:p14="http://schemas.microsoft.com/office/powerpoint/2010/main" val="241222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D79626-A4E3-B241-A51C-FDA1C09B28DC}"/>
              </a:ext>
            </a:extLst>
          </p:cNvPr>
          <p:cNvSpPr>
            <a:spLocks noGrp="1"/>
          </p:cNvSpPr>
          <p:nvPr>
            <p:ph type="body" sz="quarter" idx="10"/>
          </p:nvPr>
        </p:nvSpPr>
        <p:spPr/>
        <p:txBody>
          <a:bodyPr/>
          <a:lstStyle/>
          <a:p>
            <a:pPr marL="190500" indent="-187325"/>
            <a:r>
              <a:rPr lang="en-US" b="1" dirty="0"/>
              <a:t>Tenant Isolation</a:t>
            </a:r>
          </a:p>
          <a:p>
            <a:pPr marL="190500" indent="-187325"/>
            <a:r>
              <a:rPr lang="en-US" b="1" dirty="0"/>
              <a:t>Onboarding Process</a:t>
            </a:r>
          </a:p>
          <a:p>
            <a:pPr marL="190500" indent="-187325"/>
            <a:r>
              <a:rPr lang="en-US" b="1" dirty="0"/>
              <a:t>Tenant Configuration</a:t>
            </a:r>
            <a:endParaRPr lang="en-US" dirty="0"/>
          </a:p>
        </p:txBody>
      </p:sp>
      <p:sp>
        <p:nvSpPr>
          <p:cNvPr id="8" name="Text Placeholder 25">
            <a:extLst>
              <a:ext uri="{FF2B5EF4-FFF2-40B4-BE49-F238E27FC236}">
                <a16:creationId xmlns:a16="http://schemas.microsoft.com/office/drawing/2014/main" id="{5D850EDB-7D16-4FA6-B82B-6229C6DF6E21}"/>
              </a:ext>
            </a:extLst>
          </p:cNvPr>
          <p:cNvSpPr>
            <a:spLocks noGrp="1"/>
          </p:cNvSpPr>
          <p:nvPr>
            <p:ph type="body" sz="quarter" idx="12" hasCustomPrompt="1"/>
          </p:nvPr>
        </p:nvSpPr>
        <p:spPr>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altLang="zh-CN" dirty="0"/>
              <a:t>Key Aspects</a:t>
            </a:r>
            <a:endParaRPr lang="en-US" dirty="0"/>
          </a:p>
        </p:txBody>
      </p:sp>
    </p:spTree>
    <p:extLst>
      <p:ext uri="{BB962C8B-B14F-4D97-AF65-F5344CB8AC3E}">
        <p14:creationId xmlns:p14="http://schemas.microsoft.com/office/powerpoint/2010/main" val="268931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a:t>
            </a:r>
            <a:endParaRPr lang="en-US" sz="1600" dirty="0">
              <a:solidFill>
                <a:schemeClr val="accent1"/>
              </a:solidFill>
            </a:endParaRPr>
          </a:p>
        </p:txBody>
      </p:sp>
      <p:sp>
        <p:nvSpPr>
          <p:cNvPr id="3" name="Text Placeholder 2">
            <a:extLst>
              <a:ext uri="{FF2B5EF4-FFF2-40B4-BE49-F238E27FC236}">
                <a16:creationId xmlns:a16="http://schemas.microsoft.com/office/drawing/2014/main" id="{9E874020-07D6-45A8-8ECF-8D10E54BE566}"/>
              </a:ext>
            </a:extLst>
          </p:cNvPr>
          <p:cNvSpPr>
            <a:spLocks noGrp="1"/>
          </p:cNvSpPr>
          <p:nvPr>
            <p:ph type="body" sz="quarter" idx="14"/>
          </p:nvPr>
        </p:nvSpPr>
        <p:spPr/>
        <p:txBody>
          <a:bodyPr/>
          <a:lstStyle/>
          <a:p>
            <a:endParaRPr lang="en-US"/>
          </a:p>
        </p:txBody>
      </p:sp>
      <p:sp>
        <p:nvSpPr>
          <p:cNvPr id="4" name="Text Placeholder 3"/>
          <p:cNvSpPr>
            <a:spLocks noGrp="1"/>
          </p:cNvSpPr>
          <p:nvPr>
            <p:ph type="body" sz="quarter" idx="15"/>
          </p:nvPr>
        </p:nvSpPr>
        <p:spPr/>
        <p:txBody>
          <a:bodyPr/>
          <a:lstStyle/>
          <a:p>
            <a:r>
              <a:rPr lang="en-US" dirty="0">
                <a:solidFill>
                  <a:schemeClr val="accent6"/>
                </a:solidFill>
              </a:rPr>
              <a:t>Scalability</a:t>
            </a:r>
          </a:p>
          <a:p>
            <a:r>
              <a:rPr lang="en-US" dirty="0">
                <a:solidFill>
                  <a:schemeClr val="accent6"/>
                </a:solidFill>
              </a:rPr>
              <a:t>Isolated Data &amp; Security</a:t>
            </a:r>
          </a:p>
          <a:p>
            <a:r>
              <a:rPr lang="en-US" dirty="0">
                <a:solidFill>
                  <a:schemeClr val="accent6"/>
                </a:solidFill>
              </a:rPr>
              <a:t>Monitor Performance &amp; Resource Utilization</a:t>
            </a:r>
          </a:p>
          <a:p>
            <a:r>
              <a:rPr lang="en-US" dirty="0">
                <a:solidFill>
                  <a:schemeClr val="accent6"/>
                </a:solidFill>
              </a:rPr>
              <a:t>Automation &amp; Orchestration</a:t>
            </a:r>
          </a:p>
          <a:p>
            <a:endParaRPr lang="en-US" dirty="0">
              <a:solidFill>
                <a:schemeClr val="accent6"/>
              </a:solidFill>
            </a:endParaRPr>
          </a:p>
          <a:p>
            <a:endParaRPr lang="en-US" dirty="0">
              <a:solidFill>
                <a:schemeClr val="accent6"/>
              </a:solidFill>
            </a:endParaRPr>
          </a:p>
        </p:txBody>
      </p:sp>
    </p:spTree>
    <p:extLst>
      <p:ext uri="{BB962C8B-B14F-4D97-AF65-F5344CB8AC3E}">
        <p14:creationId xmlns:p14="http://schemas.microsoft.com/office/powerpoint/2010/main" val="2099490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Object 34" hidden="1">
            <a:extLst>
              <a:ext uri="{FF2B5EF4-FFF2-40B4-BE49-F238E27FC236}">
                <a16:creationId xmlns:a16="http://schemas.microsoft.com/office/drawing/2014/main" id="{A905EB70-1E07-4984-82FE-6BF4FCF602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35" name="Object 34" hidden="1">
                        <a:extLst>
                          <a:ext uri="{FF2B5EF4-FFF2-40B4-BE49-F238E27FC236}">
                            <a16:creationId xmlns:a16="http://schemas.microsoft.com/office/drawing/2014/main" id="{A905EB70-1E07-4984-82FE-6BF4FCF602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6" name="Title 35">
            <a:extLst>
              <a:ext uri="{FF2B5EF4-FFF2-40B4-BE49-F238E27FC236}">
                <a16:creationId xmlns:a16="http://schemas.microsoft.com/office/drawing/2014/main" id="{CAEEB663-79A6-40BD-A30F-74A2E796DA7C}"/>
              </a:ext>
            </a:extLst>
          </p:cNvPr>
          <p:cNvSpPr>
            <a:spLocks noGrp="1"/>
          </p:cNvSpPr>
          <p:nvPr>
            <p:ph type="ctrTitle"/>
          </p:nvPr>
        </p:nvSpPr>
        <p:spPr/>
        <p:txBody>
          <a:bodyPr/>
          <a:lstStyle/>
          <a:p>
            <a:endParaRPr lang="en-US"/>
          </a:p>
        </p:txBody>
      </p:sp>
      <p:sp>
        <p:nvSpPr>
          <p:cNvPr id="37" name="Text Placeholder 36">
            <a:extLst>
              <a:ext uri="{FF2B5EF4-FFF2-40B4-BE49-F238E27FC236}">
                <a16:creationId xmlns:a16="http://schemas.microsoft.com/office/drawing/2014/main" id="{D31A43BE-C58C-4822-A78A-13925960BB6F}"/>
              </a:ext>
            </a:extLst>
          </p:cNvPr>
          <p:cNvSpPr>
            <a:spLocks noGrp="1"/>
          </p:cNvSpPr>
          <p:nvPr>
            <p:ph type="body" sz="quarter" idx="10"/>
          </p:nvPr>
        </p:nvSpPr>
        <p:spPr/>
        <p:txBody>
          <a:bodyPr/>
          <a:lstStyle/>
          <a:p>
            <a:endParaRPr lang="en-US"/>
          </a:p>
        </p:txBody>
      </p:sp>
      <p:sp>
        <p:nvSpPr>
          <p:cNvPr id="38" name="Text Placeholder 37">
            <a:extLst>
              <a:ext uri="{FF2B5EF4-FFF2-40B4-BE49-F238E27FC236}">
                <a16:creationId xmlns:a16="http://schemas.microsoft.com/office/drawing/2014/main" id="{EC4A45C3-44F1-4E69-B6C4-6470A7BBC05F}"/>
              </a:ext>
            </a:extLst>
          </p:cNvPr>
          <p:cNvSpPr>
            <a:spLocks noGrp="1"/>
          </p:cNvSpPr>
          <p:nvPr>
            <p:ph type="body" sz="quarter" idx="11"/>
          </p:nvPr>
        </p:nvSpPr>
        <p:spPr/>
        <p:txBody>
          <a:bodyPr/>
          <a:lstStyle/>
          <a:p>
            <a:endParaRPr lang="en-US"/>
          </a:p>
        </p:txBody>
      </p:sp>
      <p:sp>
        <p:nvSpPr>
          <p:cNvPr id="39" name="Text Placeholder 38">
            <a:extLst>
              <a:ext uri="{FF2B5EF4-FFF2-40B4-BE49-F238E27FC236}">
                <a16:creationId xmlns:a16="http://schemas.microsoft.com/office/drawing/2014/main" id="{DCC39D0E-3099-4138-A492-1BE7347D6BED}"/>
              </a:ext>
            </a:extLst>
          </p:cNvPr>
          <p:cNvSpPr>
            <a:spLocks noGrp="1"/>
          </p:cNvSpPr>
          <p:nvPr>
            <p:ph type="body" sz="quarter" idx="12"/>
          </p:nvPr>
        </p:nvSpPr>
        <p:spPr/>
        <p:txBody>
          <a:bodyPr/>
          <a:lstStyle/>
          <a:p>
            <a:endParaRPr lang="en-US"/>
          </a:p>
        </p:txBody>
      </p:sp>
      <p:sp>
        <p:nvSpPr>
          <p:cNvPr id="42" name="Text Placeholder 41">
            <a:extLst>
              <a:ext uri="{FF2B5EF4-FFF2-40B4-BE49-F238E27FC236}">
                <a16:creationId xmlns:a16="http://schemas.microsoft.com/office/drawing/2014/main" id="{F2F1D971-71E6-44BA-8B51-7DC086AEB3C2}"/>
              </a:ext>
            </a:extLst>
          </p:cNvPr>
          <p:cNvSpPr>
            <a:spLocks noGrp="1"/>
          </p:cNvSpPr>
          <p:nvPr>
            <p:ph type="body" sz="quarter" idx="26"/>
          </p:nvPr>
        </p:nvSpPr>
        <p:spPr/>
        <p:txBody>
          <a:bodyPr/>
          <a:lstStyle/>
          <a:p>
            <a:endParaRPr lang="en-US"/>
          </a:p>
        </p:txBody>
      </p:sp>
      <p:sp>
        <p:nvSpPr>
          <p:cNvPr id="40" name="Text Placeholder 39">
            <a:extLst>
              <a:ext uri="{FF2B5EF4-FFF2-40B4-BE49-F238E27FC236}">
                <a16:creationId xmlns:a16="http://schemas.microsoft.com/office/drawing/2014/main" id="{AA50EE52-69AF-49AC-AE8E-636C41D29B17}"/>
              </a:ext>
            </a:extLst>
          </p:cNvPr>
          <p:cNvSpPr>
            <a:spLocks noGrp="1"/>
          </p:cNvSpPr>
          <p:nvPr>
            <p:ph type="body" sz="quarter" idx="15"/>
          </p:nvPr>
        </p:nvSpPr>
        <p:spPr/>
        <p:txBody>
          <a:bodyPr/>
          <a:lstStyle/>
          <a:p>
            <a:endParaRPr lang="en-US"/>
          </a:p>
        </p:txBody>
      </p:sp>
      <p:sp>
        <p:nvSpPr>
          <p:cNvPr id="41" name="Text Placeholder 40">
            <a:extLst>
              <a:ext uri="{FF2B5EF4-FFF2-40B4-BE49-F238E27FC236}">
                <a16:creationId xmlns:a16="http://schemas.microsoft.com/office/drawing/2014/main" id="{71BC9728-701E-4278-AC26-BAD5BD728BF4}"/>
              </a:ext>
            </a:extLst>
          </p:cNvPr>
          <p:cNvSpPr>
            <a:spLocks noGrp="1"/>
          </p:cNvSpPr>
          <p:nvPr>
            <p:ph type="body" sz="quarter" idx="16"/>
          </p:nvPr>
        </p:nvSpPr>
        <p:spPr/>
        <p:txBody>
          <a:bodyPr/>
          <a:lstStyle/>
          <a:p>
            <a:endParaRPr lang="en-US"/>
          </a:p>
        </p:txBody>
      </p:sp>
      <p:sp>
        <p:nvSpPr>
          <p:cNvPr id="43" name="Text Placeholder 42">
            <a:extLst>
              <a:ext uri="{FF2B5EF4-FFF2-40B4-BE49-F238E27FC236}">
                <a16:creationId xmlns:a16="http://schemas.microsoft.com/office/drawing/2014/main" id="{0FABB63E-5C6A-49E7-9B3F-7B03FE6A758F}"/>
              </a:ext>
            </a:extLst>
          </p:cNvPr>
          <p:cNvSpPr>
            <a:spLocks noGrp="1"/>
          </p:cNvSpPr>
          <p:nvPr>
            <p:ph type="body" sz="quarter" idx="27"/>
          </p:nvPr>
        </p:nvSpPr>
        <p:spPr/>
        <p:txBody>
          <a:bodyPr/>
          <a:lstStyle/>
          <a:p>
            <a:endParaRPr lang="en-US"/>
          </a:p>
        </p:txBody>
      </p:sp>
      <p:sp>
        <p:nvSpPr>
          <p:cNvPr id="44" name="Text Placeholder 43">
            <a:extLst>
              <a:ext uri="{FF2B5EF4-FFF2-40B4-BE49-F238E27FC236}">
                <a16:creationId xmlns:a16="http://schemas.microsoft.com/office/drawing/2014/main" id="{83B1E5D2-06F2-42E7-8726-E91B0C500CF6}"/>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EC0392BF-3060-4E6D-AE7A-C116ADC7F87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E29B86CF-A331-437B-85A9-CE7021C90326}"/>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B1844787-C15C-4AF9-AE28-8ED28F6F8EFB}"/>
              </a:ext>
            </a:extLst>
          </p:cNvPr>
          <p:cNvSpPr>
            <a:spLocks noGrp="1"/>
          </p:cNvSpPr>
          <p:nvPr>
            <p:ph type="body" sz="quarter" idx="31"/>
          </p:nvPr>
        </p:nvSpPr>
        <p:spPr/>
        <p:txBody>
          <a:bodyPr/>
          <a:lstStyle/>
          <a:p>
            <a:endParaRPr lang="en-US"/>
          </a:p>
        </p:txBody>
      </p:sp>
      <p:sp>
        <p:nvSpPr>
          <p:cNvPr id="48" name="Text Placeholder 47">
            <a:extLst>
              <a:ext uri="{FF2B5EF4-FFF2-40B4-BE49-F238E27FC236}">
                <a16:creationId xmlns:a16="http://schemas.microsoft.com/office/drawing/2014/main" id="{DFD19922-5AAB-4262-A20E-72CFEB66D783}"/>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F88F4050-44EB-4EF8-8712-8ACBDEC5B460}"/>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7F21E908-3993-4142-AFBB-F6B3CCC14980}"/>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172006B8-F7D8-43FA-A3A6-6FC57B355D45}"/>
              </a:ext>
            </a:extLst>
          </p:cNvPr>
          <p:cNvSpPr>
            <a:spLocks noGrp="1"/>
          </p:cNvSpPr>
          <p:nvPr>
            <p:ph type="body" sz="quarter" idx="35"/>
          </p:nvPr>
        </p:nvSpPr>
        <p:spPr/>
        <p:txBody>
          <a:bodyPr/>
          <a:lstStyle/>
          <a:p>
            <a:endParaRPr lang="en-US"/>
          </a:p>
        </p:txBody>
      </p:sp>
      <p:sp>
        <p:nvSpPr>
          <p:cNvPr id="21" name="Speech Bubble: Rectangle 20"/>
          <p:cNvSpPr/>
          <p:nvPr/>
        </p:nvSpPr>
        <p:spPr>
          <a:xfrm>
            <a:off x="9364785" y="1444986"/>
            <a:ext cx="1727783" cy="467945"/>
          </a:xfrm>
          <a:prstGeom prst="wedgeRectCallout">
            <a:avLst>
              <a:gd name="adj1" fmla="val -35505"/>
              <a:gd name="adj2" fmla="val 79913"/>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Fill in left to right, top to bottom</a:t>
            </a:r>
          </a:p>
        </p:txBody>
      </p:sp>
    </p:spTree>
    <p:extLst>
      <p:ext uri="{BB962C8B-B14F-4D97-AF65-F5344CB8AC3E}">
        <p14:creationId xmlns:p14="http://schemas.microsoft.com/office/powerpoint/2010/main" val="1715629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9E75DC82-28E6-EFD8-9BD0-D6E87462296D}"/>
              </a:ext>
            </a:extLst>
          </p:cNvPr>
          <p:cNvGraphicFramePr>
            <a:graphicFrameLocks noChangeAspect="1"/>
          </p:cNvGraphicFramePr>
          <p:nvPr>
            <p:custDataLst>
              <p:tags r:id="rId1"/>
            </p:custDataLst>
            <p:extLst>
              <p:ext uri="{D42A27DB-BD31-4B8C-83A1-F6EECF244321}">
                <p14:modId xmlns:p14="http://schemas.microsoft.com/office/powerpoint/2010/main" val="22146886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12" name="Object 11" hidden="1">
                        <a:extLst>
                          <a:ext uri="{FF2B5EF4-FFF2-40B4-BE49-F238E27FC236}">
                            <a16:creationId xmlns:a16="http://schemas.microsoft.com/office/drawing/2014/main" id="{9E75DC82-28E6-EFD8-9BD0-D6E8746229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7FC88D0-F96D-4607-BE71-72E28825081B}"/>
              </a:ext>
            </a:extLst>
          </p:cNvPr>
          <p:cNvSpPr>
            <a:spLocks noGrp="1"/>
          </p:cNvSpPr>
          <p:nvPr>
            <p:ph type="title"/>
          </p:nvPr>
        </p:nvSpPr>
        <p:spPr/>
        <p:txBody>
          <a:bodyPr vert="horz"/>
          <a:lstStyle/>
          <a:p>
            <a:r>
              <a:rPr lang="en-US"/>
              <a:t>Guidance for Proposal Terms</a:t>
            </a:r>
            <a:br>
              <a:rPr lang="en-US"/>
            </a:br>
            <a:r>
              <a:rPr lang="en-US" sz="1600">
                <a:solidFill>
                  <a:schemeClr val="accent1"/>
                </a:solidFill>
              </a:rPr>
              <a:t>These terms should be included in all proposals going forward</a:t>
            </a:r>
          </a:p>
        </p:txBody>
      </p:sp>
      <p:sp>
        <p:nvSpPr>
          <p:cNvPr id="19" name="Text Placeholder 18">
            <a:extLst>
              <a:ext uri="{FF2B5EF4-FFF2-40B4-BE49-F238E27FC236}">
                <a16:creationId xmlns:a16="http://schemas.microsoft.com/office/drawing/2014/main" id="{3F1B4E56-740A-EF1D-6800-5D30715814BA}"/>
              </a:ext>
            </a:extLst>
          </p:cNvPr>
          <p:cNvSpPr>
            <a:spLocks noGrp="1"/>
          </p:cNvSpPr>
          <p:nvPr>
            <p:ph type="body" sz="quarter" idx="14"/>
          </p:nvPr>
        </p:nvSpPr>
        <p:spPr/>
        <p:txBody>
          <a:bodyPr/>
          <a:lstStyle/>
          <a:p>
            <a:endParaRPr lang="en-IN"/>
          </a:p>
        </p:txBody>
      </p:sp>
      <p:sp>
        <p:nvSpPr>
          <p:cNvPr id="15" name="Text Placeholder 14">
            <a:extLst>
              <a:ext uri="{FF2B5EF4-FFF2-40B4-BE49-F238E27FC236}">
                <a16:creationId xmlns:a16="http://schemas.microsoft.com/office/drawing/2014/main" id="{96261E27-8E52-DFCE-27DB-C403F0D13471}"/>
              </a:ext>
            </a:extLst>
          </p:cNvPr>
          <p:cNvSpPr>
            <a:spLocks noGrp="1"/>
          </p:cNvSpPr>
          <p:nvPr>
            <p:ph type="body" sz="quarter" idx="15"/>
          </p:nvPr>
        </p:nvSpPr>
        <p:spPr/>
        <p:txBody>
          <a:bodyPr/>
          <a:lstStyle/>
          <a:p>
            <a:r>
              <a:rPr lang="en-US" sz="1200"/>
              <a:t>The professional fees are based on the scope, deliverables, and other elements outlined in this proposal. If there are material changes in any aspect of the project, a change order or statement of work modification will be executed.  </a:t>
            </a:r>
          </a:p>
          <a:p>
            <a:r>
              <a:rPr lang="en-US" sz="1200"/>
              <a:t>Trinity will invoice each project using the following: </a:t>
            </a:r>
            <a:r>
              <a:rPr lang="en-US" sz="1200">
                <a:solidFill>
                  <a:srgbClr val="FF0000"/>
                </a:solidFill>
              </a:rPr>
              <a:t>(default to 1/3, 1/3, 1/3 but modify for client needs; always 100% OOPs upfront)</a:t>
            </a:r>
          </a:p>
          <a:p>
            <a:pPr lvl="1"/>
            <a:r>
              <a:rPr lang="en-US" sz="1100"/>
              <a:t>At the beginning of each project, Trinity will bill 33% of project fees and 100% of any Out of Pocket Fees to ensure timely recruitment and remuneration of all respondents</a:t>
            </a:r>
          </a:p>
          <a:p>
            <a:pPr lvl="1"/>
            <a:r>
              <a:rPr lang="en-US" sz="1100"/>
              <a:t>At the midpoint of the project, Trinity will bill 33% of project fees</a:t>
            </a:r>
          </a:p>
          <a:p>
            <a:pPr lvl="1"/>
            <a:r>
              <a:rPr lang="en-US" sz="1100"/>
              <a:t>At the end of each project, Trinity will bill remaining 34% of project fees</a:t>
            </a:r>
          </a:p>
          <a:p>
            <a:r>
              <a:rPr lang="en-US" sz="1200"/>
              <a:t>This proposal allows for the following:</a:t>
            </a:r>
          </a:p>
          <a:p>
            <a:pPr lvl="1"/>
            <a:r>
              <a:rPr lang="en-US" sz="1100"/>
              <a:t>Ten (10) business days aggregate of interruption or delay due to circumstances such as: Client non-responsiveness or unavailability for meetings (requiring meeting reschedules, duplicate web based meetings, etc.), delays in decision making, providing required information (e.g. data), and/or  reviewing and comments on milestones / deliverables. Delays beyond 10 business days will impact timelines and project budget (may require a Change Order). </a:t>
            </a:r>
          </a:p>
          <a:p>
            <a:pPr lvl="1"/>
            <a:r>
              <a:rPr lang="en-US" sz="1100"/>
              <a:t>In the event Client puts engagement “on hold”, Trinity will invoice for Services through the start of the “hold” period and will redeploy the engagement team. Restarting the engagement is subject to team availability and will impact timelines and project budget (may require a Change Order). </a:t>
            </a:r>
          </a:p>
          <a:p>
            <a:pPr lvl="1"/>
            <a:r>
              <a:rPr lang="en-US" sz="1100"/>
              <a:t>Maximum of three (3) iterations of any document or deliverable (e.g. discussion documents, surveys, interim or final PowerPoint presentations, models, etc.) for editing or reformatting (explicitly excludes additional analysis and content out of scope of the engagement). Additional iterations or additional content will impact project budget (may require a Change Order). </a:t>
            </a:r>
          </a:p>
          <a:p>
            <a:pPr lvl="1"/>
            <a:r>
              <a:rPr lang="en-US" sz="1100"/>
              <a:t>Trinity will provide all the deliverables outlined in this proposal within the timelines and participate in all specified meetings; incremental requests for additional documents, analyses, or meetings will impact timelines and project budgets (may require a Change Order). </a:t>
            </a:r>
          </a:p>
          <a:p>
            <a:r>
              <a:rPr lang="en-US" sz="1200"/>
              <a:t>This proposal submission is reflective of the information provided to TRINITY and is valid for 30 days. The contents and pricing contained in the proposal will be subject to change as a result of new information provided by client: expanded / contracted Scope, or information discovered by Trinity during any information gathering effort. In no event shall either party be liable to the other for special, indirect, incidental, punitive, exemplary or consequential damages (including, but not limited to, loss of profits, loss of data or loss of use damages) even if such party has been advised of the possibility of such damages or losses. The entire liability of either party to the other in connection with this proposal or any agreement between the parties relating thereto (whether based on breach of contract, breach of warranty, negligence or any other legal theory) shall not exceed, in the aggregate, the total amount of fees paid or becoming due for the services provided for under this proposal. </a:t>
            </a:r>
          </a:p>
        </p:txBody>
      </p:sp>
      <p:sp>
        <p:nvSpPr>
          <p:cNvPr id="7" name="Speech Bubble: Rectangle 6">
            <a:extLst>
              <a:ext uri="{FF2B5EF4-FFF2-40B4-BE49-F238E27FC236}">
                <a16:creationId xmlns:a16="http://schemas.microsoft.com/office/drawing/2014/main" id="{77C34961-4ECC-439A-B695-6079C3AFADCA}"/>
              </a:ext>
            </a:extLst>
          </p:cNvPr>
          <p:cNvSpPr/>
          <p:nvPr/>
        </p:nvSpPr>
        <p:spPr>
          <a:xfrm>
            <a:off x="6894304" y="2273659"/>
            <a:ext cx="4087759" cy="710801"/>
          </a:xfrm>
          <a:prstGeom prst="wedgeRectCallout">
            <a:avLst>
              <a:gd name="adj1" fmla="val -123698"/>
              <a:gd name="adj2" fmla="val 4559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i="1">
                <a:solidFill>
                  <a:schemeClr val="tx1"/>
                </a:solidFill>
              </a:rPr>
              <a:t>This means that clearly defining the following </a:t>
            </a:r>
            <a:r>
              <a:rPr lang="en-US" sz="1000" i="1" u="sng">
                <a:solidFill>
                  <a:schemeClr val="tx1"/>
                </a:solidFill>
              </a:rPr>
              <a:t>in the body of the proposal</a:t>
            </a:r>
            <a:r>
              <a:rPr lang="en-US" sz="1000" i="1">
                <a:solidFill>
                  <a:schemeClr val="tx1"/>
                </a:solidFill>
              </a:rPr>
              <a:t> will be critical: 1) Specific # and type of meetings, 2) Specific deliverables, including content and format (e.g. Summary of </a:t>
            </a:r>
            <a:r>
              <a:rPr lang="en-US" sz="1000" i="1" err="1">
                <a:solidFill>
                  <a:schemeClr val="tx1"/>
                </a:solidFill>
              </a:rPr>
              <a:t>Qual</a:t>
            </a:r>
            <a:r>
              <a:rPr lang="en-US" sz="1000" i="1">
                <a:solidFill>
                  <a:schemeClr val="tx1"/>
                </a:solidFill>
              </a:rPr>
              <a:t> Findings at Executive Summary level – PPT)</a:t>
            </a:r>
          </a:p>
        </p:txBody>
      </p:sp>
    </p:spTree>
    <p:extLst>
      <p:ext uri="{BB962C8B-B14F-4D97-AF65-F5344CB8AC3E}">
        <p14:creationId xmlns:p14="http://schemas.microsoft.com/office/powerpoint/2010/main" val="1259690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p:custDataLst>
              <p:tags r:id="rId1"/>
            </p:custDataLst>
            <p:extLst>
              <p:ext uri="{D42A27DB-BD31-4B8C-83A1-F6EECF244321}">
                <p14:modId xmlns:p14="http://schemas.microsoft.com/office/powerpoint/2010/main" val="4000258378"/>
              </p:ext>
            </p:ext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9" name="Object 28" hidden="1"/>
                      <p:cNvPicPr/>
                      <p:nvPr/>
                    </p:nvPicPr>
                    <p:blipFill>
                      <a:blip r:embed="rId4"/>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CCA8752-D866-75B8-BC10-2BF230E6AC7E}"/>
              </a:ext>
            </a:extLst>
          </p:cNvPr>
          <p:cNvSpPr>
            <a:spLocks noGrp="1"/>
          </p:cNvSpPr>
          <p:nvPr>
            <p:ph type="title"/>
          </p:nvPr>
        </p:nvSpPr>
        <p:spPr/>
        <p:txBody>
          <a:bodyPr/>
          <a:lstStyle/>
          <a:p>
            <a:r>
              <a:rPr lang="en-US"/>
              <a:t>Trinity PowerPoint Resources</a:t>
            </a:r>
            <a:endParaRPr lang="en-IN"/>
          </a:p>
        </p:txBody>
      </p:sp>
      <p:sp>
        <p:nvSpPr>
          <p:cNvPr id="32" name="Text Placeholder 5"/>
          <p:cNvSpPr>
            <a:spLocks noGrp="1"/>
          </p:cNvSpPr>
          <p:nvPr>
            <p:ph type="body" sz="quarter" idx="14"/>
          </p:nvPr>
        </p:nvSpPr>
        <p:spPr/>
        <p:txBody>
          <a:bodyPr/>
          <a:lstStyle/>
          <a:p>
            <a:r>
              <a:rPr lang="en-US"/>
              <a:t>Open hyperlinks directly in read or presentation mode OR right-click and select “Open Link” OR Hold Ctrl + left-click</a:t>
            </a:r>
          </a:p>
        </p:txBody>
      </p:sp>
      <p:sp>
        <p:nvSpPr>
          <p:cNvPr id="2" name="Oval 1">
            <a:hlinkClick r:id="rId5"/>
            <a:extLst>
              <a:ext uri="{FF2B5EF4-FFF2-40B4-BE49-F238E27FC236}">
                <a16:creationId xmlns:a16="http://schemas.microsoft.com/office/drawing/2014/main" id="{E476C834-3681-02AA-4A46-4A9AF1D936CF}"/>
              </a:ext>
            </a:extLst>
          </p:cNvPr>
          <p:cNvSpPr/>
          <p:nvPr/>
        </p:nvSpPr>
        <p:spPr>
          <a:xfrm>
            <a:off x="6389795"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Q&amp;D</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Design Studio</a:t>
            </a:r>
          </a:p>
        </p:txBody>
      </p:sp>
      <p:sp>
        <p:nvSpPr>
          <p:cNvPr id="8" name="Oval 7">
            <a:hlinkClick r:id="rId6"/>
            <a:extLst>
              <a:ext uri="{FF2B5EF4-FFF2-40B4-BE49-F238E27FC236}">
                <a16:creationId xmlns:a16="http://schemas.microsoft.com/office/drawing/2014/main" id="{FD6FBF4B-CFFC-5E87-C745-C12BE06095DC}"/>
              </a:ext>
            </a:extLst>
          </p:cNvPr>
          <p:cNvSpPr/>
          <p:nvPr/>
        </p:nvSpPr>
        <p:spPr>
          <a:xfrm>
            <a:off x="3716194"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PowerPoint</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Resource</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Hub 2.0</a:t>
            </a:r>
          </a:p>
        </p:txBody>
      </p:sp>
    </p:spTree>
    <p:extLst>
      <p:ext uri="{BB962C8B-B14F-4D97-AF65-F5344CB8AC3E}">
        <p14:creationId xmlns:p14="http://schemas.microsoft.com/office/powerpoint/2010/main" val="10411593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FA821CE-AEF2-44CE-A85D-AE5B456D39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1952</TotalTime>
  <Words>1218</Words>
  <Application>Microsoft Office PowerPoint</Application>
  <PresentationFormat>Widescreen</PresentationFormat>
  <Paragraphs>260</Paragraphs>
  <Slides>11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7" baseType="lpstr">
      <vt:lpstr>Arial</vt:lpstr>
      <vt:lpstr>Calibri</vt:lpstr>
      <vt:lpstr>Courier New</vt:lpstr>
      <vt:lpstr>Tahoma</vt:lpstr>
      <vt:lpstr>Trinity Template 3.0</vt:lpstr>
      <vt:lpstr>think-cell Slide</vt:lpstr>
      <vt:lpstr>28 Point Title 1.2 Character Spacing</vt:lpstr>
      <vt:lpstr>PowerPoint Presentation</vt:lpstr>
      <vt:lpstr>PowerPoint Presentation</vt:lpstr>
      <vt:lpstr>PowerPoint Presentation</vt:lpstr>
      <vt:lpstr>PowerPoint Presentation</vt:lpstr>
      <vt:lpstr>Key Benefits</vt:lpstr>
      <vt:lpstr>Key Aspects</vt:lpstr>
      <vt:lpstr>Best Practices</vt:lpstr>
      <vt:lpstr>PowerPoint Presentation</vt:lpstr>
      <vt:lpstr>Guidance for Proposal Terms These terms should be included in all proposals going forward</vt:lpstr>
      <vt:lpstr>Trinity PowerPoint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Point Title 1.2 Character Spacing</dc:title>
  <dc:creator>Jayaprakash Loganathan</dc:creator>
  <cp:lastModifiedBy>Jayaprakash</cp:lastModifiedBy>
  <cp:revision>11</cp:revision>
  <dcterms:created xsi:type="dcterms:W3CDTF">2024-05-16T09:03:35Z</dcterms:created>
  <dcterms:modified xsi:type="dcterms:W3CDTF">2024-05-29T19:12:16Z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