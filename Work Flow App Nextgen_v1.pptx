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notesSlides/notesSlide4.xml" ContentType="application/vnd.openxmlformats-officedocument.presentationml.notesSlide+xml"/>
  <Override PartName="/ppt/tags/tag17.xml" ContentType="application/vnd.openxmlformats-officedocument.presentationml.tags+xml"/>
  <Override PartName="/ppt/notesSlides/notesSlide5.xml" ContentType="application/vnd.openxmlformats-officedocument.presentationml.notesSlide+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notesSlides/notesSlide7.xml" ContentType="application/vnd.openxmlformats-officedocument.presentationml.notesSlide+xml"/>
  <Override PartName="/ppt/tags/tag20.xml" ContentType="application/vnd.openxmlformats-officedocument.presentationml.tags+xml"/>
  <Override PartName="/ppt/notesSlides/notesSlide8.xml" ContentType="application/vnd.openxmlformats-officedocument.presentationml.notesSlide+xml"/>
  <Override PartName="/ppt/tags/tag21.xml" ContentType="application/vnd.openxmlformats-officedocument.presentationml.tags+xml"/>
  <Override PartName="/ppt/notesSlides/notesSlide9.xml" ContentType="application/vnd.openxmlformats-officedocument.presentationml.notesSlide+xml"/>
  <Override PartName="/ppt/tags/tag22.xml" ContentType="application/vnd.openxmlformats-officedocument.presentationml.tags+xml"/>
  <Override PartName="/ppt/notesSlides/notesSlide10.xml" ContentType="application/vnd.openxmlformats-officedocument.presentationml.notesSlide+xml"/>
  <Override PartName="/ppt/tags/tag23.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6" r:id="rId4"/>
  </p:sldMasterIdLst>
  <p:notesMasterIdLst>
    <p:notesMasterId r:id="rId18"/>
  </p:notesMasterIdLst>
  <p:handoutMasterIdLst>
    <p:handoutMasterId r:id="rId19"/>
  </p:handoutMasterIdLst>
  <p:sldIdLst>
    <p:sldId id="256" r:id="rId5"/>
    <p:sldId id="337" r:id="rId6"/>
    <p:sldId id="333" r:id="rId7"/>
    <p:sldId id="334" r:id="rId8"/>
    <p:sldId id="336" r:id="rId9"/>
    <p:sldId id="338" r:id="rId10"/>
    <p:sldId id="339" r:id="rId11"/>
    <p:sldId id="335" r:id="rId12"/>
    <p:sldId id="340" r:id="rId13"/>
    <p:sldId id="341" r:id="rId14"/>
    <p:sldId id="342" r:id="rId15"/>
    <p:sldId id="343" r:id="rId16"/>
    <p:sldId id="344" r:id="rId17"/>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32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teve Hollingshead" initials="SH" lastIdx="1" clrIdx="6"/>
  <p:cmAuthor id="6"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580"/>
    <a:srgbClr val="7FAFDE"/>
    <a:srgbClr val="7993BA"/>
    <a:srgbClr val="8FACCC"/>
    <a:srgbClr val="394F73"/>
    <a:srgbClr val="88ABCC"/>
    <a:srgbClr val="6287B3"/>
    <a:srgbClr val="789ABD"/>
    <a:srgbClr val="84A0BD"/>
    <a:srgbClr val="8FAD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0" d="100"/>
          <a:sy n="70" d="100"/>
        </p:scale>
        <p:origin x="536" y="52"/>
      </p:cViewPr>
      <p:guideLst>
        <p:guide orient="horz" pos="2160"/>
        <p:guide pos="732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CCC7E7-F3BB-4C01-9E07-CC12EE5FACB1}" type="datetimeFigureOut">
              <a:rPr lang="en-US" smtClean="0"/>
              <a:t>6/6/2024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10A22-69EE-4BE4-B8C6-7DE3C43AEEB0}"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10ADA1-87DF-4773-876C-7B0D0EF4AF4C}" type="datetimeFigureOut">
              <a:rPr lang="en-US" smtClean="0"/>
              <a:pPr/>
              <a:t>6/6/2024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E8DD3-7F5E-4F38-8DF1-E0849E959DF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0311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3</a:t>
            </a:fld>
            <a:endParaRPr lang="en-US"/>
          </a:p>
        </p:txBody>
      </p:sp>
    </p:spTree>
    <p:extLst>
      <p:ext uri="{BB962C8B-B14F-4D97-AF65-F5344CB8AC3E}">
        <p14:creationId xmlns:p14="http://schemas.microsoft.com/office/powerpoint/2010/main" val="4186660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4</a:t>
            </a:fld>
            <a:endParaRPr lang="en-US"/>
          </a:p>
        </p:txBody>
      </p:sp>
    </p:spTree>
    <p:extLst>
      <p:ext uri="{BB962C8B-B14F-4D97-AF65-F5344CB8AC3E}">
        <p14:creationId xmlns:p14="http://schemas.microsoft.com/office/powerpoint/2010/main" val="2748371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5</a:t>
            </a:fld>
            <a:endParaRPr lang="en-US"/>
          </a:p>
        </p:txBody>
      </p:sp>
    </p:spTree>
    <p:extLst>
      <p:ext uri="{BB962C8B-B14F-4D97-AF65-F5344CB8AC3E}">
        <p14:creationId xmlns:p14="http://schemas.microsoft.com/office/powerpoint/2010/main" val="2398344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6</a:t>
            </a:fld>
            <a:endParaRPr lang="en-US"/>
          </a:p>
        </p:txBody>
      </p:sp>
    </p:spTree>
    <p:extLst>
      <p:ext uri="{BB962C8B-B14F-4D97-AF65-F5344CB8AC3E}">
        <p14:creationId xmlns:p14="http://schemas.microsoft.com/office/powerpoint/2010/main" val="1323879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7</a:t>
            </a:fld>
            <a:endParaRPr lang="en-US"/>
          </a:p>
        </p:txBody>
      </p:sp>
    </p:spTree>
    <p:extLst>
      <p:ext uri="{BB962C8B-B14F-4D97-AF65-F5344CB8AC3E}">
        <p14:creationId xmlns:p14="http://schemas.microsoft.com/office/powerpoint/2010/main" val="3842211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9</a:t>
            </a:fld>
            <a:endParaRPr lang="en-US"/>
          </a:p>
        </p:txBody>
      </p:sp>
    </p:spTree>
    <p:extLst>
      <p:ext uri="{BB962C8B-B14F-4D97-AF65-F5344CB8AC3E}">
        <p14:creationId xmlns:p14="http://schemas.microsoft.com/office/powerpoint/2010/main" val="2621849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10</a:t>
            </a:fld>
            <a:endParaRPr lang="en-US"/>
          </a:p>
        </p:txBody>
      </p:sp>
    </p:spTree>
    <p:extLst>
      <p:ext uri="{BB962C8B-B14F-4D97-AF65-F5344CB8AC3E}">
        <p14:creationId xmlns:p14="http://schemas.microsoft.com/office/powerpoint/2010/main" val="800527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11</a:t>
            </a:fld>
            <a:endParaRPr lang="en-US"/>
          </a:p>
        </p:txBody>
      </p:sp>
    </p:spTree>
    <p:extLst>
      <p:ext uri="{BB962C8B-B14F-4D97-AF65-F5344CB8AC3E}">
        <p14:creationId xmlns:p14="http://schemas.microsoft.com/office/powerpoint/2010/main" val="1832184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12</a:t>
            </a:fld>
            <a:endParaRPr lang="en-US"/>
          </a:p>
        </p:txBody>
      </p:sp>
    </p:spTree>
    <p:extLst>
      <p:ext uri="{BB962C8B-B14F-4D97-AF65-F5344CB8AC3E}">
        <p14:creationId xmlns:p14="http://schemas.microsoft.com/office/powerpoint/2010/main" val="7171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Azure/Snowflake services </a:t>
            </a:r>
            <a:r>
              <a:rPr lang="en-US" dirty="0" err="1"/>
              <a:t>SetUp</a:t>
            </a:r>
            <a:r>
              <a:rPr lang="en-US" dirty="0"/>
              <a:t>, Git </a:t>
            </a:r>
            <a:r>
              <a:rPr lang="en-US" dirty="0" err="1"/>
              <a:t>SetUp</a:t>
            </a:r>
            <a:r>
              <a:rPr lang="en-US" dirty="0"/>
              <a:t>, Tenant Acct Creation, Subscription, Access, </a:t>
            </a:r>
            <a:endParaRPr lang="en-IN" dirty="0"/>
          </a:p>
        </p:txBody>
      </p:sp>
      <p:sp>
        <p:nvSpPr>
          <p:cNvPr id="4" name="Slide Number Placeholder 3"/>
          <p:cNvSpPr>
            <a:spLocks noGrp="1"/>
          </p:cNvSpPr>
          <p:nvPr>
            <p:ph type="sldNum" sz="quarter" idx="5"/>
          </p:nvPr>
        </p:nvSpPr>
        <p:spPr/>
        <p:txBody>
          <a:bodyPr/>
          <a:lstStyle/>
          <a:p>
            <a:fld id="{473E8DD3-7F5E-4F38-8DF1-E0849E959DFE}" type="slidenum">
              <a:rPr lang="en-US" smtClean="0"/>
              <a:pPr/>
              <a:t>13</a:t>
            </a:fld>
            <a:endParaRPr lang="en-US"/>
          </a:p>
        </p:txBody>
      </p:sp>
    </p:spTree>
    <p:extLst>
      <p:ext uri="{BB962C8B-B14F-4D97-AF65-F5344CB8AC3E}">
        <p14:creationId xmlns:p14="http://schemas.microsoft.com/office/powerpoint/2010/main" val="39864512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0.png"/><Relationship Id="rId18" Type="http://schemas.openxmlformats.org/officeDocument/2006/relationships/image" Target="../media/image3.png"/><Relationship Id="rId3" Type="http://schemas.openxmlformats.org/officeDocument/2006/relationships/oleObject" Target="../embeddings/oleObject10.bin"/><Relationship Id="rId7" Type="http://schemas.openxmlformats.org/officeDocument/2006/relationships/image" Target="../media/image7.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1.xml"/><Relationship Id="rId16" Type="http://schemas.openxmlformats.org/officeDocument/2006/relationships/image" Target="../media/image11.png"/><Relationship Id="rId1" Type="http://schemas.openxmlformats.org/officeDocument/2006/relationships/tags" Target="../tags/tag12.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6.jpeg"/><Relationship Id="rId15" Type="http://schemas.openxmlformats.org/officeDocument/2006/relationships/hyperlink" Target="https://www.facebook.com/TrinityLifeSciences" TargetMode="External"/><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5.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a:solidFill>
                  <a:schemeClr val="bg2">
                    <a:lumMod val="50000"/>
                  </a:schemeClr>
                </a:solidFill>
              </a:rPr>
              <a:t>This presentation is provided to you by Trinity,</a:t>
            </a:r>
            <a:r>
              <a:rPr lang="en-US" sz="700" baseline="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76199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a:t>Agenda Slide</a:t>
            </a:r>
          </a:p>
        </p:txBody>
      </p:sp>
    </p:spTree>
    <p:extLst>
      <p:ext uri="{BB962C8B-B14F-4D97-AF65-F5344CB8AC3E}">
        <p14:creationId xmlns:p14="http://schemas.microsoft.com/office/powerpoint/2010/main" val="41658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9468984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63268574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245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802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35650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3132214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662B1A74-FD20-1E30-E399-D162A9D96D51}"/>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86D71FA1-8E0E-3962-D0DB-A51197810B8C}"/>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F4C5CF7B-5048-2349-EAD2-6CCD84E67B0F}"/>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C416ED8D-678F-4003-9677-24E1A81CD645}"/>
              </a:ext>
            </a:extLst>
          </p:cNvPr>
          <p:cNvGrpSpPr/>
          <p:nvPr userDrawn="1"/>
        </p:nvGrpSpPr>
        <p:grpSpPr>
          <a:xfrm>
            <a:off x="1419076" y="5725874"/>
            <a:ext cx="951309" cy="341297"/>
            <a:chOff x="1419076" y="6371773"/>
            <a:chExt cx="951309" cy="341297"/>
          </a:xfrm>
        </p:grpSpPr>
        <p:sp>
          <p:nvSpPr>
            <p:cNvPr id="6" name="Shape 2452">
              <a:extLst>
                <a:ext uri="{FF2B5EF4-FFF2-40B4-BE49-F238E27FC236}">
                  <a16:creationId xmlns:a16="http://schemas.microsoft.com/office/drawing/2014/main" id="{2AFBE1BD-A3B9-8727-1A01-2F1111F9E721}"/>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94DC8B57-1736-DF44-4EF1-AA9E1578AFDD}"/>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10" name="Group 9">
            <a:extLst>
              <a:ext uri="{FF2B5EF4-FFF2-40B4-BE49-F238E27FC236}">
                <a16:creationId xmlns:a16="http://schemas.microsoft.com/office/drawing/2014/main" id="{A5B275BD-4520-544E-5290-5330F40C899E}"/>
              </a:ext>
            </a:extLst>
          </p:cNvPr>
          <p:cNvGrpSpPr/>
          <p:nvPr userDrawn="1"/>
        </p:nvGrpSpPr>
        <p:grpSpPr>
          <a:xfrm>
            <a:off x="2470784" y="5725874"/>
            <a:ext cx="951309" cy="341297"/>
            <a:chOff x="2470784" y="6371773"/>
            <a:chExt cx="951309" cy="341297"/>
          </a:xfrm>
        </p:grpSpPr>
        <p:sp>
          <p:nvSpPr>
            <p:cNvPr id="11" name="Shape 2452">
              <a:extLst>
                <a:ext uri="{FF2B5EF4-FFF2-40B4-BE49-F238E27FC236}">
                  <a16:creationId xmlns:a16="http://schemas.microsoft.com/office/drawing/2014/main" id="{0FCBCC48-B311-AC02-DB66-F05789A922D3}"/>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522ECBC5-D3E8-AC03-A529-5A9A067507C8}"/>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3" name="Group 12">
            <a:extLst>
              <a:ext uri="{FF2B5EF4-FFF2-40B4-BE49-F238E27FC236}">
                <a16:creationId xmlns:a16="http://schemas.microsoft.com/office/drawing/2014/main" id="{315D9351-936A-E5DC-C6A1-EB88E29AE077}"/>
              </a:ext>
            </a:extLst>
          </p:cNvPr>
          <p:cNvGrpSpPr/>
          <p:nvPr userDrawn="1"/>
        </p:nvGrpSpPr>
        <p:grpSpPr>
          <a:xfrm>
            <a:off x="5625908" y="5725874"/>
            <a:ext cx="951309" cy="341297"/>
            <a:chOff x="5625908" y="6371773"/>
            <a:chExt cx="951309" cy="341297"/>
          </a:xfrm>
        </p:grpSpPr>
        <p:sp>
          <p:nvSpPr>
            <p:cNvPr id="14" name="Shape 2452">
              <a:extLst>
                <a:ext uri="{FF2B5EF4-FFF2-40B4-BE49-F238E27FC236}">
                  <a16:creationId xmlns:a16="http://schemas.microsoft.com/office/drawing/2014/main" id="{DCD87015-80E8-DF2E-E2D1-D5ED03C0EEC8}"/>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BF55862B-4FBC-BE1B-D3A7-6C83682322AE}"/>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D67F8BAD-7787-76CD-1F3D-25C246732206}"/>
              </a:ext>
            </a:extLst>
          </p:cNvPr>
          <p:cNvGrpSpPr/>
          <p:nvPr userDrawn="1"/>
        </p:nvGrpSpPr>
        <p:grpSpPr>
          <a:xfrm>
            <a:off x="9832740" y="5725874"/>
            <a:ext cx="951309" cy="341297"/>
            <a:chOff x="9832740" y="6371773"/>
            <a:chExt cx="951309" cy="341297"/>
          </a:xfrm>
        </p:grpSpPr>
        <p:sp>
          <p:nvSpPr>
            <p:cNvPr id="17" name="Shape 2452">
              <a:extLst>
                <a:ext uri="{FF2B5EF4-FFF2-40B4-BE49-F238E27FC236}">
                  <a16:creationId xmlns:a16="http://schemas.microsoft.com/office/drawing/2014/main" id="{4C058740-EF42-C809-D6DA-5EA9085BA7EA}"/>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8F138E1-A13F-045D-CC73-0760387DB2D6}"/>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19" name="Group 18">
            <a:extLst>
              <a:ext uri="{FF2B5EF4-FFF2-40B4-BE49-F238E27FC236}">
                <a16:creationId xmlns:a16="http://schemas.microsoft.com/office/drawing/2014/main" id="{E7D2661B-F29E-DC32-A850-1FCF111C3F06}"/>
              </a:ext>
            </a:extLst>
          </p:cNvPr>
          <p:cNvGrpSpPr/>
          <p:nvPr userDrawn="1"/>
        </p:nvGrpSpPr>
        <p:grpSpPr>
          <a:xfrm>
            <a:off x="7729324" y="5725874"/>
            <a:ext cx="951309" cy="341297"/>
            <a:chOff x="7729324" y="5725874"/>
            <a:chExt cx="951309" cy="341297"/>
          </a:xfrm>
        </p:grpSpPr>
        <p:sp>
          <p:nvSpPr>
            <p:cNvPr id="20" name="TextBox 19">
              <a:extLst>
                <a:ext uri="{FF2B5EF4-FFF2-40B4-BE49-F238E27FC236}">
                  <a16:creationId xmlns:a16="http://schemas.microsoft.com/office/drawing/2014/main" id="{21FBA13A-8615-9F27-8C35-25D91EE88FED}"/>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21" name="Shape 2452">
              <a:extLst>
                <a:ext uri="{FF2B5EF4-FFF2-40B4-BE49-F238E27FC236}">
                  <a16:creationId xmlns:a16="http://schemas.microsoft.com/office/drawing/2014/main" id="{8A9BB947-3A06-78B2-849D-4E6A0051A922}"/>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22" name="Group 21">
            <a:extLst>
              <a:ext uri="{FF2B5EF4-FFF2-40B4-BE49-F238E27FC236}">
                <a16:creationId xmlns:a16="http://schemas.microsoft.com/office/drawing/2014/main" id="{4308970F-C9F0-1748-D1AC-4A1B8EC81982}"/>
              </a:ext>
            </a:extLst>
          </p:cNvPr>
          <p:cNvGrpSpPr/>
          <p:nvPr userDrawn="1"/>
        </p:nvGrpSpPr>
        <p:grpSpPr>
          <a:xfrm>
            <a:off x="6677616" y="5725874"/>
            <a:ext cx="951309" cy="341297"/>
            <a:chOff x="6677616" y="5725874"/>
            <a:chExt cx="951309" cy="341297"/>
          </a:xfrm>
        </p:grpSpPr>
        <p:sp>
          <p:nvSpPr>
            <p:cNvPr id="23" name="Shape 2452">
              <a:extLst>
                <a:ext uri="{FF2B5EF4-FFF2-40B4-BE49-F238E27FC236}">
                  <a16:creationId xmlns:a16="http://schemas.microsoft.com/office/drawing/2014/main" id="{359DE768-DD42-09F7-6FF9-F9760E198CE8}"/>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DD2C8BF1-EF3D-16D3-A57D-4B431A0AB36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25" name="Group 24">
            <a:extLst>
              <a:ext uri="{FF2B5EF4-FFF2-40B4-BE49-F238E27FC236}">
                <a16:creationId xmlns:a16="http://schemas.microsoft.com/office/drawing/2014/main" id="{5FBE64BB-9DEE-99AB-68B2-2256194E13C9}"/>
              </a:ext>
            </a:extLst>
          </p:cNvPr>
          <p:cNvGrpSpPr/>
          <p:nvPr userDrawn="1"/>
        </p:nvGrpSpPr>
        <p:grpSpPr>
          <a:xfrm>
            <a:off x="8781032" y="5725874"/>
            <a:ext cx="951309" cy="341297"/>
            <a:chOff x="8781032" y="6371773"/>
            <a:chExt cx="951309" cy="341297"/>
          </a:xfrm>
        </p:grpSpPr>
        <p:sp>
          <p:nvSpPr>
            <p:cNvPr id="26" name="Shape 2452">
              <a:extLst>
                <a:ext uri="{FF2B5EF4-FFF2-40B4-BE49-F238E27FC236}">
                  <a16:creationId xmlns:a16="http://schemas.microsoft.com/office/drawing/2014/main" id="{540D27EF-26CC-8EB8-3265-5FF3F35F70ED}"/>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DA2FEFD3-E0F4-2350-5459-0AD9C66A5503}"/>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28" name="Group 27">
            <a:extLst>
              <a:ext uri="{FF2B5EF4-FFF2-40B4-BE49-F238E27FC236}">
                <a16:creationId xmlns:a16="http://schemas.microsoft.com/office/drawing/2014/main" id="{4DFBC3EA-97BE-05E6-46B6-2EBD6A7DCA86}"/>
              </a:ext>
            </a:extLst>
          </p:cNvPr>
          <p:cNvGrpSpPr/>
          <p:nvPr userDrawn="1"/>
        </p:nvGrpSpPr>
        <p:grpSpPr>
          <a:xfrm>
            <a:off x="3522492" y="5725874"/>
            <a:ext cx="951309" cy="341297"/>
            <a:chOff x="3522492" y="6371773"/>
            <a:chExt cx="951309" cy="341297"/>
          </a:xfrm>
        </p:grpSpPr>
        <p:sp>
          <p:nvSpPr>
            <p:cNvPr id="29" name="TextBox 28">
              <a:extLst>
                <a:ext uri="{FF2B5EF4-FFF2-40B4-BE49-F238E27FC236}">
                  <a16:creationId xmlns:a16="http://schemas.microsoft.com/office/drawing/2014/main" id="{8346A939-5231-F04A-5871-100DE2F02622}"/>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30" name="Shape 2452">
              <a:extLst>
                <a:ext uri="{FF2B5EF4-FFF2-40B4-BE49-F238E27FC236}">
                  <a16:creationId xmlns:a16="http://schemas.microsoft.com/office/drawing/2014/main" id="{74972758-CC23-0AE4-8203-91A6AF89FA06}"/>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32" name="Group 31">
            <a:extLst>
              <a:ext uri="{FF2B5EF4-FFF2-40B4-BE49-F238E27FC236}">
                <a16:creationId xmlns:a16="http://schemas.microsoft.com/office/drawing/2014/main" id="{F7C42DC5-98E5-1F68-1F6D-A273ABA0B0F2}"/>
              </a:ext>
            </a:extLst>
          </p:cNvPr>
          <p:cNvGrpSpPr/>
          <p:nvPr userDrawn="1"/>
        </p:nvGrpSpPr>
        <p:grpSpPr>
          <a:xfrm>
            <a:off x="4574200" y="5725874"/>
            <a:ext cx="951309" cy="341297"/>
            <a:chOff x="4574200" y="6371773"/>
            <a:chExt cx="951309" cy="341297"/>
          </a:xfrm>
        </p:grpSpPr>
        <p:sp>
          <p:nvSpPr>
            <p:cNvPr id="33" name="Shape 2452">
              <a:extLst>
                <a:ext uri="{FF2B5EF4-FFF2-40B4-BE49-F238E27FC236}">
                  <a16:creationId xmlns:a16="http://schemas.microsoft.com/office/drawing/2014/main" id="{DF786BAC-AF16-34B2-4D11-8D74F7A690C7}"/>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9E93E1C-1877-029B-185E-D7886C5124A1}"/>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35" name="Group 34">
            <a:extLst>
              <a:ext uri="{FF2B5EF4-FFF2-40B4-BE49-F238E27FC236}">
                <a16:creationId xmlns:a16="http://schemas.microsoft.com/office/drawing/2014/main" id="{47D0E684-594D-20B3-F874-08CDFD287A89}"/>
              </a:ext>
            </a:extLst>
          </p:cNvPr>
          <p:cNvGrpSpPr/>
          <p:nvPr userDrawn="1"/>
        </p:nvGrpSpPr>
        <p:grpSpPr>
          <a:xfrm>
            <a:off x="10884444" y="5725874"/>
            <a:ext cx="951309" cy="341297"/>
            <a:chOff x="10884444" y="6371773"/>
            <a:chExt cx="951309" cy="341297"/>
          </a:xfrm>
        </p:grpSpPr>
        <p:sp>
          <p:nvSpPr>
            <p:cNvPr id="36" name="TextBox 35">
              <a:extLst>
                <a:ext uri="{FF2B5EF4-FFF2-40B4-BE49-F238E27FC236}">
                  <a16:creationId xmlns:a16="http://schemas.microsoft.com/office/drawing/2014/main" id="{505A2510-4613-D7C2-062E-D7AD6C904070}"/>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37" name="Shape 2452">
              <a:extLst>
                <a:ext uri="{FF2B5EF4-FFF2-40B4-BE49-F238E27FC236}">
                  <a16:creationId xmlns:a16="http://schemas.microsoft.com/office/drawing/2014/main" id="{55486696-67FD-26A2-5B19-F7D7666D35F5}"/>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99191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1"/>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3" imgW="383" imgH="384" progId="TCLayout.ActiveDocument.1">
                  <p:embed/>
                </p:oleObj>
              </mc:Choice>
              <mc:Fallback>
                <p:oleObj name="think-cell Slide" r:id="rId13" imgW="383" imgH="384" progId="TCLayout.ActiveDocument.1">
                  <p:embed/>
                  <p:pic>
                    <p:nvPicPr>
                      <p:cNvPr id="6" name="Object 5" hidden="1"/>
                      <p:cNvPicPr/>
                      <p:nvPr/>
                    </p:nvPicPr>
                    <p:blipFill>
                      <a:blip r:embed="rId14"/>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2"/>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3632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7.png"/><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15.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16.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17.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18.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19.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20.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21.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22.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6.svg"/><Relationship Id="rId2" Type="http://schemas.openxmlformats.org/officeDocument/2006/relationships/slideLayout" Target="../slideLayouts/slideLayout3.xml"/><Relationship Id="rId1" Type="http://schemas.openxmlformats.org/officeDocument/2006/relationships/tags" Target="../tags/tag23.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oleObject" Target="../embeddings/oleObject1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3EE1007F-F9E9-4586-A8E8-AB831C44B4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lstStyle/>
          <a:p>
            <a:r>
              <a:rPr lang="en-US"/>
              <a:t>28 Point Title 1.2 Character Spacing</a:t>
            </a:r>
          </a:p>
        </p:txBody>
      </p:sp>
      <p:sp>
        <p:nvSpPr>
          <p:cNvPr id="3" name="Subtitle 2"/>
          <p:cNvSpPr>
            <a:spLocks noGrp="1"/>
          </p:cNvSpPr>
          <p:nvPr>
            <p:ph type="subTitle" idx="1"/>
          </p:nvPr>
        </p:nvSpPr>
        <p:spPr>
          <a:xfrm>
            <a:off x="1993392" y="4971085"/>
            <a:ext cx="8165592" cy="335280"/>
          </a:xfrm>
        </p:spPr>
        <p:txBody>
          <a:bodyPr/>
          <a:lstStyle/>
          <a:p>
            <a:r>
              <a:rPr lang="en-US"/>
              <a:t>18 Point Subtitle</a:t>
            </a:r>
          </a:p>
        </p:txBody>
      </p:sp>
      <p:sp>
        <p:nvSpPr>
          <p:cNvPr id="4" name="Text Placeholder 3"/>
          <p:cNvSpPr>
            <a:spLocks noGrp="1"/>
          </p:cNvSpPr>
          <p:nvPr>
            <p:ph type="body" sz="quarter" idx="13"/>
          </p:nvPr>
        </p:nvSpPr>
        <p:spPr>
          <a:xfrm>
            <a:off x="1993392" y="5406888"/>
            <a:ext cx="4876800" cy="304800"/>
          </a:xfrm>
        </p:spPr>
        <p:txBody>
          <a:bodyPr/>
          <a:lstStyle/>
          <a:p>
            <a:r>
              <a:rPr lang="en-US"/>
              <a:t>Month Day, Year</a:t>
            </a:r>
          </a:p>
        </p:txBody>
      </p:sp>
      <p:sp>
        <p:nvSpPr>
          <p:cNvPr id="11" name="Speech Bubble: Rectangle with Corners Rounded 7"/>
          <p:cNvSpPr/>
          <p:nvPr/>
        </p:nvSpPr>
        <p:spPr>
          <a:xfrm>
            <a:off x="4254453" y="2529060"/>
            <a:ext cx="2549237" cy="312470"/>
          </a:xfrm>
          <a:prstGeom prst="wedgeRectCallout">
            <a:avLst>
              <a:gd name="adj1" fmla="val -35749"/>
              <a:gd name="adj2" fmla="val 97269"/>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172B3C"/>
                </a:solidFill>
                <a:effectLst/>
                <a:uLnTx/>
                <a:uFillTx/>
                <a:latin typeface="Calibri" panose="020F0502020204030204"/>
                <a:ea typeface="+mn-ea"/>
                <a:cs typeface="+mn-cs"/>
              </a:rPr>
              <a:t>Place to drop in Trinity and/or client logo</a:t>
            </a:r>
          </a:p>
        </p:txBody>
      </p:sp>
      <p:pic>
        <p:nvPicPr>
          <p:cNvPr id="14" name="Graphic 13">
            <a:extLst>
              <a:ext uri="{FF2B5EF4-FFF2-40B4-BE49-F238E27FC236}">
                <a16:creationId xmlns:a16="http://schemas.microsoft.com/office/drawing/2014/main" id="{75F22772-E4DA-47A5-92AE-2F5963808F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8870" y="2873777"/>
            <a:ext cx="3952053" cy="951420"/>
          </a:xfrm>
          <a:prstGeom prst="rect">
            <a:avLst/>
          </a:prstGeom>
        </p:spPr>
      </p:pic>
    </p:spTree>
    <p:extLst>
      <p:ext uri="{BB962C8B-B14F-4D97-AF65-F5344CB8AC3E}">
        <p14:creationId xmlns:p14="http://schemas.microsoft.com/office/powerpoint/2010/main" val="141495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6D7DCC0-198F-FD89-C136-1C48964CADA4}"/>
              </a:ext>
            </a:extLst>
          </p:cNvPr>
          <p:cNvSpPr>
            <a:spLocks noGrp="1"/>
          </p:cNvSpPr>
          <p:nvPr>
            <p:ph type="body" sz="quarter" idx="14"/>
          </p:nvPr>
        </p:nvSpPr>
        <p:spPr/>
        <p:txBody>
          <a:bodyPr/>
          <a:lstStyle/>
          <a:p>
            <a:endParaRPr lang="en-IN"/>
          </a:p>
        </p:txBody>
      </p:sp>
      <p:sp>
        <p:nvSpPr>
          <p:cNvPr id="2" name="Text Placeholder 2">
            <a:extLst>
              <a:ext uri="{FF2B5EF4-FFF2-40B4-BE49-F238E27FC236}">
                <a16:creationId xmlns:a16="http://schemas.microsoft.com/office/drawing/2014/main" id="{6FCE9EC0-6EFA-E00E-838F-26DE8B2B13AE}"/>
              </a:ext>
            </a:extLst>
          </p:cNvPr>
          <p:cNvSpPr txBox="1">
            <a:spLocks/>
          </p:cNvSpPr>
          <p:nvPr/>
        </p:nvSpPr>
        <p:spPr>
          <a:xfrm>
            <a:off x="3907858" y="2480075"/>
            <a:ext cx="3965608" cy="677011"/>
          </a:xfrm>
          <a:prstGeom prst="rect">
            <a:avLst/>
          </a:prstGeom>
        </p:spPr>
        <p:txBody>
          <a:bodyPr/>
          <a:lst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175" indent="0" algn="ctr">
              <a:buNone/>
            </a:pPr>
            <a:r>
              <a:rPr lang="en-US" sz="3000" b="1" dirty="0"/>
              <a:t>PLATFORM ADMIN</a:t>
            </a:r>
            <a:endParaRPr lang="en-US" sz="3000" dirty="0"/>
          </a:p>
        </p:txBody>
      </p:sp>
    </p:spTree>
    <p:extLst>
      <p:ext uri="{BB962C8B-B14F-4D97-AF65-F5344CB8AC3E}">
        <p14:creationId xmlns:p14="http://schemas.microsoft.com/office/powerpoint/2010/main" val="2792775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C177A2AF-B2A3-728B-4D35-DD6F29E5A781}"/>
              </a:ext>
            </a:extLst>
          </p:cNvPr>
          <p:cNvSpPr/>
          <p:nvPr/>
        </p:nvSpPr>
        <p:spPr>
          <a:xfrm>
            <a:off x="1359605" y="772343"/>
            <a:ext cx="4841748" cy="340801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1" name="Rectangle: Rounded Corners 10">
            <a:extLst>
              <a:ext uri="{FF2B5EF4-FFF2-40B4-BE49-F238E27FC236}">
                <a16:creationId xmlns:a16="http://schemas.microsoft.com/office/drawing/2014/main" id="{6F1C0E6E-FF68-43C1-C490-4435E9085D3A}"/>
              </a:ext>
            </a:extLst>
          </p:cNvPr>
          <p:cNvSpPr/>
          <p:nvPr/>
        </p:nvSpPr>
        <p:spPr>
          <a:xfrm>
            <a:off x="1587061" y="2453416"/>
            <a:ext cx="4368547" cy="1507498"/>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a:p>
        </p:txBody>
      </p:sp>
      <p:sp>
        <p:nvSpPr>
          <p:cNvPr id="7" name="TextBox 6">
            <a:extLst>
              <a:ext uri="{FF2B5EF4-FFF2-40B4-BE49-F238E27FC236}">
                <a16:creationId xmlns:a16="http://schemas.microsoft.com/office/drawing/2014/main" id="{99B38F64-8308-9D47-96C0-0459E50B7CFB}"/>
              </a:ext>
            </a:extLst>
          </p:cNvPr>
          <p:cNvSpPr txBox="1"/>
          <p:nvPr/>
        </p:nvSpPr>
        <p:spPr>
          <a:xfrm>
            <a:off x="1186163" y="1244620"/>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chemeClr val="tx2"/>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cxnSp>
        <p:nvCxnSpPr>
          <p:cNvPr id="14" name="Straight Arrow Connector 13">
            <a:extLst>
              <a:ext uri="{FF2B5EF4-FFF2-40B4-BE49-F238E27FC236}">
                <a16:creationId xmlns:a16="http://schemas.microsoft.com/office/drawing/2014/main" id="{EC057DDE-3FE8-9D15-26B6-51965F51F8B2}"/>
              </a:ext>
            </a:extLst>
          </p:cNvPr>
          <p:cNvCxnSpPr>
            <a:cxnSpLocks/>
          </p:cNvCxnSpPr>
          <p:nvPr/>
        </p:nvCxnSpPr>
        <p:spPr>
          <a:xfrm>
            <a:off x="874973" y="2495391"/>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Graphic 17" descr="User with solid fill">
            <a:extLst>
              <a:ext uri="{FF2B5EF4-FFF2-40B4-BE49-F238E27FC236}">
                <a16:creationId xmlns:a16="http://schemas.microsoft.com/office/drawing/2014/main" id="{D6C75F6F-32AD-0F1E-FB8B-9EFDC95E79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7182" y="1366063"/>
            <a:ext cx="484632" cy="484632"/>
          </a:xfrm>
          <a:prstGeom prst="rect">
            <a:avLst/>
          </a:prstGeom>
        </p:spPr>
      </p:pic>
      <p:sp>
        <p:nvSpPr>
          <p:cNvPr id="19" name="TextBox 18">
            <a:extLst>
              <a:ext uri="{FF2B5EF4-FFF2-40B4-BE49-F238E27FC236}">
                <a16:creationId xmlns:a16="http://schemas.microsoft.com/office/drawing/2014/main" id="{400A7B31-C392-C398-A101-CE4921F47986}"/>
              </a:ext>
            </a:extLst>
          </p:cNvPr>
          <p:cNvSpPr txBox="1"/>
          <p:nvPr/>
        </p:nvSpPr>
        <p:spPr>
          <a:xfrm>
            <a:off x="120878" y="1850695"/>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Admin</a:t>
            </a:r>
            <a:endParaRPr lang="en-IN" sz="1600" dirty="0">
              <a:solidFill>
                <a:srgbClr val="002240"/>
              </a:solidFill>
              <a:cs typeface="Tahoma" pitchFamily="34" charset="0"/>
            </a:endParaRPr>
          </a:p>
        </p:txBody>
      </p:sp>
      <p:sp>
        <p:nvSpPr>
          <p:cNvPr id="2" name="TextBox 1">
            <a:extLst>
              <a:ext uri="{FF2B5EF4-FFF2-40B4-BE49-F238E27FC236}">
                <a16:creationId xmlns:a16="http://schemas.microsoft.com/office/drawing/2014/main" id="{BF943A92-6E28-B646-9B11-DEF3D960E126}"/>
              </a:ext>
            </a:extLst>
          </p:cNvPr>
          <p:cNvSpPr txBox="1"/>
          <p:nvPr/>
        </p:nvSpPr>
        <p:spPr>
          <a:xfrm>
            <a:off x="2855792" y="818064"/>
            <a:ext cx="2267712" cy="333875"/>
          </a:xfrm>
          <a:prstGeom prst="rect">
            <a:avLst/>
          </a:prstGeom>
          <a:solidFill>
            <a:schemeClr val="tx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600" dirty="0">
                <a:solidFill>
                  <a:schemeClr val="bg1"/>
                </a:solidFill>
                <a:cs typeface="Tahoma" pitchFamily="34" charset="0"/>
              </a:rPr>
              <a:t>Centralized Dashboard</a:t>
            </a:r>
            <a:endParaRPr lang="en-IN" sz="1600" dirty="0">
              <a:solidFill>
                <a:schemeClr val="bg1"/>
              </a:solidFill>
              <a:cs typeface="Tahoma" pitchFamily="34" charset="0"/>
            </a:endParaRPr>
          </a:p>
        </p:txBody>
      </p:sp>
      <p:sp>
        <p:nvSpPr>
          <p:cNvPr id="4" name="TextBox 3">
            <a:extLst>
              <a:ext uri="{FF2B5EF4-FFF2-40B4-BE49-F238E27FC236}">
                <a16:creationId xmlns:a16="http://schemas.microsoft.com/office/drawing/2014/main" id="{277F1FD8-7C3E-337D-EEEF-5FE28C9C97D7}"/>
              </a:ext>
            </a:extLst>
          </p:cNvPr>
          <p:cNvSpPr txBox="1"/>
          <p:nvPr/>
        </p:nvSpPr>
        <p:spPr>
          <a:xfrm>
            <a:off x="1950197" y="1313015"/>
            <a:ext cx="1101650" cy="28573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List of Accts</a:t>
            </a:r>
            <a:endParaRPr lang="en-IN" sz="1400" dirty="0">
              <a:solidFill>
                <a:schemeClr val="tx2"/>
              </a:solidFill>
              <a:cs typeface="Tahoma" pitchFamily="34" charset="0"/>
            </a:endParaRPr>
          </a:p>
        </p:txBody>
      </p:sp>
      <p:sp>
        <p:nvSpPr>
          <p:cNvPr id="5" name="TextBox 4">
            <a:extLst>
              <a:ext uri="{FF2B5EF4-FFF2-40B4-BE49-F238E27FC236}">
                <a16:creationId xmlns:a16="http://schemas.microsoft.com/office/drawing/2014/main" id="{25E5E917-F4CC-06B2-7F70-AE31453ABE99}"/>
              </a:ext>
            </a:extLst>
          </p:cNvPr>
          <p:cNvSpPr txBox="1"/>
          <p:nvPr/>
        </p:nvSpPr>
        <p:spPr>
          <a:xfrm>
            <a:off x="3870991" y="1366063"/>
            <a:ext cx="1822508" cy="23494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Acct/User management</a:t>
            </a:r>
            <a:endParaRPr lang="en-IN" sz="1300" dirty="0">
              <a:solidFill>
                <a:schemeClr val="tx2"/>
              </a:solidFill>
              <a:cs typeface="Tahoma" pitchFamily="34" charset="0"/>
            </a:endParaRPr>
          </a:p>
        </p:txBody>
      </p:sp>
      <p:sp>
        <p:nvSpPr>
          <p:cNvPr id="6" name="TextBox 5">
            <a:extLst>
              <a:ext uri="{FF2B5EF4-FFF2-40B4-BE49-F238E27FC236}">
                <a16:creationId xmlns:a16="http://schemas.microsoft.com/office/drawing/2014/main" id="{CC5DDED8-2C0C-5819-6338-4D19D224ECD0}"/>
              </a:ext>
            </a:extLst>
          </p:cNvPr>
          <p:cNvSpPr txBox="1"/>
          <p:nvPr/>
        </p:nvSpPr>
        <p:spPr>
          <a:xfrm>
            <a:off x="2912368" y="2123927"/>
            <a:ext cx="1636969" cy="22981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chemeClr val="tx2"/>
                </a:solidFill>
                <a:cs typeface="Tahoma" pitchFamily="34" charset="0"/>
              </a:rPr>
              <a:t>Other Admin Activities</a:t>
            </a:r>
            <a:endParaRPr lang="en-IN" sz="1200" dirty="0">
              <a:solidFill>
                <a:schemeClr val="tx2"/>
              </a:solidFill>
              <a:cs typeface="Tahoma" pitchFamily="34" charset="0"/>
            </a:endParaRPr>
          </a:p>
        </p:txBody>
      </p:sp>
      <p:sp>
        <p:nvSpPr>
          <p:cNvPr id="10" name="TextBox 9">
            <a:extLst>
              <a:ext uri="{FF2B5EF4-FFF2-40B4-BE49-F238E27FC236}">
                <a16:creationId xmlns:a16="http://schemas.microsoft.com/office/drawing/2014/main" id="{8D21CC33-7416-F7B0-8051-E8DBF25D8EB2}"/>
              </a:ext>
            </a:extLst>
          </p:cNvPr>
          <p:cNvSpPr txBox="1"/>
          <p:nvPr/>
        </p:nvSpPr>
        <p:spPr>
          <a:xfrm>
            <a:off x="2314788" y="2453416"/>
            <a:ext cx="2984682" cy="369661"/>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cs typeface="Tahoma" pitchFamily="34" charset="0"/>
              </a:rPr>
              <a:t>Account Wise health Statistics</a:t>
            </a:r>
            <a:endParaRPr lang="en-IN" sz="1600" dirty="0">
              <a:cs typeface="Tahoma" pitchFamily="34" charset="0"/>
            </a:endParaRPr>
          </a:p>
        </p:txBody>
      </p:sp>
      <p:sp>
        <p:nvSpPr>
          <p:cNvPr id="13" name="TextBox 12">
            <a:extLst>
              <a:ext uri="{FF2B5EF4-FFF2-40B4-BE49-F238E27FC236}">
                <a16:creationId xmlns:a16="http://schemas.microsoft.com/office/drawing/2014/main" id="{D3422962-8E9A-1A37-E9E1-11024CB8C23E}"/>
              </a:ext>
            </a:extLst>
          </p:cNvPr>
          <p:cNvSpPr txBox="1">
            <a:spLocks noGrp="1" noRot="1" noMove="1" noResize="1" noEditPoints="1" noAdjustHandles="1" noChangeArrowheads="1" noChangeShapeType="1"/>
          </p:cNvSpPr>
          <p:nvPr/>
        </p:nvSpPr>
        <p:spPr>
          <a:xfrm>
            <a:off x="7867847" y="512681"/>
            <a:ext cx="1370457" cy="305383"/>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List of Accounts</a:t>
            </a:r>
            <a:endParaRPr lang="en-IN" sz="1400" dirty="0">
              <a:solidFill>
                <a:schemeClr val="tx2"/>
              </a:solidFill>
              <a:cs typeface="Tahoma" pitchFamily="34" charset="0"/>
            </a:endParaRPr>
          </a:p>
        </p:txBody>
      </p:sp>
      <p:cxnSp>
        <p:nvCxnSpPr>
          <p:cNvPr id="15" name="Straight Arrow Connector 14">
            <a:extLst>
              <a:ext uri="{FF2B5EF4-FFF2-40B4-BE49-F238E27FC236}">
                <a16:creationId xmlns:a16="http://schemas.microsoft.com/office/drawing/2014/main" id="{D8906AE6-5DE6-8A92-487F-5F627FBCD5BB}"/>
              </a:ext>
            </a:extLst>
          </p:cNvPr>
          <p:cNvCxnSpPr>
            <a:cxnSpLocks/>
          </p:cNvCxnSpPr>
          <p:nvPr/>
        </p:nvCxnSpPr>
        <p:spPr>
          <a:xfrm>
            <a:off x="7312730" y="67539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Graphic 16" descr="User with solid fill">
            <a:extLst>
              <a:ext uri="{FF2B5EF4-FFF2-40B4-BE49-F238E27FC236}">
                <a16:creationId xmlns:a16="http://schemas.microsoft.com/office/drawing/2014/main" id="{64505726-C6E1-0FB8-5A5C-90025740948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27514" y="382788"/>
            <a:ext cx="484632" cy="484632"/>
          </a:xfrm>
          <a:prstGeom prst="rect">
            <a:avLst/>
          </a:prstGeom>
        </p:spPr>
      </p:pic>
      <p:sp>
        <p:nvSpPr>
          <p:cNvPr id="28" name="TextBox 27">
            <a:extLst>
              <a:ext uri="{FF2B5EF4-FFF2-40B4-BE49-F238E27FC236}">
                <a16:creationId xmlns:a16="http://schemas.microsoft.com/office/drawing/2014/main" id="{5B5A5EB0-A030-2C7B-BC38-2719784CDCC7}"/>
              </a:ext>
            </a:extLst>
          </p:cNvPr>
          <p:cNvSpPr txBox="1"/>
          <p:nvPr/>
        </p:nvSpPr>
        <p:spPr>
          <a:xfrm>
            <a:off x="6665609" y="80322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sp>
        <p:nvSpPr>
          <p:cNvPr id="43" name="TextBox 42">
            <a:extLst>
              <a:ext uri="{FF2B5EF4-FFF2-40B4-BE49-F238E27FC236}">
                <a16:creationId xmlns:a16="http://schemas.microsoft.com/office/drawing/2014/main" id="{829BD638-4BAD-5F86-28C9-B3912110D37F}"/>
              </a:ext>
            </a:extLst>
          </p:cNvPr>
          <p:cNvSpPr txBox="1"/>
          <p:nvPr/>
        </p:nvSpPr>
        <p:spPr>
          <a:xfrm>
            <a:off x="9998017" y="343734"/>
            <a:ext cx="1676399"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sp>
        <p:nvSpPr>
          <p:cNvPr id="45" name="TextBox 44">
            <a:extLst>
              <a:ext uri="{FF2B5EF4-FFF2-40B4-BE49-F238E27FC236}">
                <a16:creationId xmlns:a16="http://schemas.microsoft.com/office/drawing/2014/main" id="{7A3528CB-7AC7-BB69-54E9-0EA6A60990F1}"/>
              </a:ext>
            </a:extLst>
          </p:cNvPr>
          <p:cNvSpPr txBox="1"/>
          <p:nvPr/>
        </p:nvSpPr>
        <p:spPr>
          <a:xfrm>
            <a:off x="7862132" y="1298505"/>
            <a:ext cx="1451796" cy="484149"/>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Acct/User Management </a:t>
            </a:r>
            <a:endParaRPr lang="en-IN" sz="1400" dirty="0">
              <a:solidFill>
                <a:schemeClr val="tx2"/>
              </a:solidFill>
              <a:cs typeface="Tahoma" pitchFamily="34" charset="0"/>
            </a:endParaRPr>
          </a:p>
        </p:txBody>
      </p:sp>
      <p:cxnSp>
        <p:nvCxnSpPr>
          <p:cNvPr id="46" name="Straight Arrow Connector 45">
            <a:extLst>
              <a:ext uri="{FF2B5EF4-FFF2-40B4-BE49-F238E27FC236}">
                <a16:creationId xmlns:a16="http://schemas.microsoft.com/office/drawing/2014/main" id="{5F9BDC33-69D0-2E25-FE84-99083A3A067D}"/>
              </a:ext>
            </a:extLst>
          </p:cNvPr>
          <p:cNvCxnSpPr>
            <a:cxnSpLocks/>
          </p:cNvCxnSpPr>
          <p:nvPr/>
        </p:nvCxnSpPr>
        <p:spPr>
          <a:xfrm>
            <a:off x="7307015" y="146121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F9888D9-590F-4281-3F7D-83BA98B99C8A}"/>
              </a:ext>
            </a:extLst>
          </p:cNvPr>
          <p:cNvSpPr txBox="1"/>
          <p:nvPr/>
        </p:nvSpPr>
        <p:spPr>
          <a:xfrm>
            <a:off x="6581210" y="151121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20" name="Graphic 19" descr="User with solid fill">
            <a:extLst>
              <a:ext uri="{FF2B5EF4-FFF2-40B4-BE49-F238E27FC236}">
                <a16:creationId xmlns:a16="http://schemas.microsoft.com/office/drawing/2014/main" id="{76EA900A-B092-EFF2-5841-A19326F1049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7992" y="1119256"/>
            <a:ext cx="484632" cy="484632"/>
          </a:xfrm>
          <a:prstGeom prst="rect">
            <a:avLst/>
          </a:prstGeom>
        </p:spPr>
      </p:pic>
      <p:sp>
        <p:nvSpPr>
          <p:cNvPr id="22" name="TextBox 21">
            <a:extLst>
              <a:ext uri="{FF2B5EF4-FFF2-40B4-BE49-F238E27FC236}">
                <a16:creationId xmlns:a16="http://schemas.microsoft.com/office/drawing/2014/main" id="{B1A36FEA-9FFB-C0B6-73F8-4EABDC8B2A4C}"/>
              </a:ext>
            </a:extLst>
          </p:cNvPr>
          <p:cNvSpPr txBox="1"/>
          <p:nvPr/>
        </p:nvSpPr>
        <p:spPr>
          <a:xfrm>
            <a:off x="7862132" y="2041327"/>
            <a:ext cx="1440561" cy="537063"/>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Datamart</a:t>
            </a:r>
            <a:endParaRPr lang="en-IN" sz="1400" dirty="0">
              <a:solidFill>
                <a:schemeClr val="tx2"/>
              </a:solidFill>
              <a:cs typeface="Tahoma" pitchFamily="34" charset="0"/>
            </a:endParaRPr>
          </a:p>
        </p:txBody>
      </p:sp>
      <p:cxnSp>
        <p:nvCxnSpPr>
          <p:cNvPr id="23" name="Straight Arrow Connector 22">
            <a:extLst>
              <a:ext uri="{FF2B5EF4-FFF2-40B4-BE49-F238E27FC236}">
                <a16:creationId xmlns:a16="http://schemas.microsoft.com/office/drawing/2014/main" id="{2DDC662C-A2DB-9A98-88C5-D390D0617F5B}"/>
              </a:ext>
            </a:extLst>
          </p:cNvPr>
          <p:cNvCxnSpPr>
            <a:cxnSpLocks/>
          </p:cNvCxnSpPr>
          <p:nvPr/>
        </p:nvCxnSpPr>
        <p:spPr>
          <a:xfrm>
            <a:off x="7307015" y="220404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FF0C0E8-A7C0-E661-0E8D-0790DB69F071}"/>
              </a:ext>
            </a:extLst>
          </p:cNvPr>
          <p:cNvSpPr txBox="1"/>
          <p:nvPr/>
        </p:nvSpPr>
        <p:spPr>
          <a:xfrm>
            <a:off x="6581210" y="2254036"/>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34" name="Graphic 33" descr="User with solid fill">
            <a:extLst>
              <a:ext uri="{FF2B5EF4-FFF2-40B4-BE49-F238E27FC236}">
                <a16:creationId xmlns:a16="http://schemas.microsoft.com/office/drawing/2014/main" id="{81E98BFF-0AAC-343D-DA74-84EBB83BEE8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7992" y="1862079"/>
            <a:ext cx="484632" cy="484632"/>
          </a:xfrm>
          <a:prstGeom prst="rect">
            <a:avLst/>
          </a:prstGeom>
        </p:spPr>
      </p:pic>
      <p:sp>
        <p:nvSpPr>
          <p:cNvPr id="41" name="TextBox 40">
            <a:extLst>
              <a:ext uri="{FF2B5EF4-FFF2-40B4-BE49-F238E27FC236}">
                <a16:creationId xmlns:a16="http://schemas.microsoft.com/office/drawing/2014/main" id="{3ADD4479-394D-5284-333D-15EC1496C3E5}"/>
              </a:ext>
            </a:extLst>
          </p:cNvPr>
          <p:cNvSpPr txBox="1"/>
          <p:nvPr/>
        </p:nvSpPr>
        <p:spPr>
          <a:xfrm>
            <a:off x="3937369" y="1755708"/>
            <a:ext cx="844876" cy="23494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Billing</a:t>
            </a:r>
            <a:endParaRPr lang="en-IN" sz="1400" dirty="0">
              <a:solidFill>
                <a:schemeClr val="tx2"/>
              </a:solidFill>
              <a:cs typeface="Tahoma" pitchFamily="34" charset="0"/>
            </a:endParaRPr>
          </a:p>
        </p:txBody>
      </p:sp>
      <p:sp>
        <p:nvSpPr>
          <p:cNvPr id="42" name="TextBox 41">
            <a:extLst>
              <a:ext uri="{FF2B5EF4-FFF2-40B4-BE49-F238E27FC236}">
                <a16:creationId xmlns:a16="http://schemas.microsoft.com/office/drawing/2014/main" id="{BF31B888-450F-C926-4B96-189E01B5B219}"/>
              </a:ext>
            </a:extLst>
          </p:cNvPr>
          <p:cNvSpPr txBox="1"/>
          <p:nvPr/>
        </p:nvSpPr>
        <p:spPr>
          <a:xfrm>
            <a:off x="7911759" y="3504192"/>
            <a:ext cx="1387985" cy="37554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Billing</a:t>
            </a:r>
            <a:endParaRPr lang="en-IN" sz="1400" dirty="0">
              <a:solidFill>
                <a:schemeClr val="tx2"/>
              </a:solidFill>
              <a:cs typeface="Tahoma" pitchFamily="34" charset="0"/>
            </a:endParaRPr>
          </a:p>
        </p:txBody>
      </p:sp>
      <p:cxnSp>
        <p:nvCxnSpPr>
          <p:cNvPr id="54" name="Straight Arrow Connector 53">
            <a:extLst>
              <a:ext uri="{FF2B5EF4-FFF2-40B4-BE49-F238E27FC236}">
                <a16:creationId xmlns:a16="http://schemas.microsoft.com/office/drawing/2014/main" id="{20FB60AD-0C66-EB8E-7A9E-2BF9284E2D08}"/>
              </a:ext>
            </a:extLst>
          </p:cNvPr>
          <p:cNvCxnSpPr>
            <a:cxnSpLocks/>
          </p:cNvCxnSpPr>
          <p:nvPr/>
        </p:nvCxnSpPr>
        <p:spPr>
          <a:xfrm>
            <a:off x="7356642" y="366690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BD265D12-3CE6-E937-8C01-D85728FBE291}"/>
              </a:ext>
            </a:extLst>
          </p:cNvPr>
          <p:cNvSpPr txBox="1"/>
          <p:nvPr/>
        </p:nvSpPr>
        <p:spPr>
          <a:xfrm>
            <a:off x="6630837" y="371690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61" name="Graphic 60" descr="User with solid fill">
            <a:extLst>
              <a:ext uri="{FF2B5EF4-FFF2-40B4-BE49-F238E27FC236}">
                <a16:creationId xmlns:a16="http://schemas.microsoft.com/office/drawing/2014/main" id="{99EA1871-2D31-C0A0-6E1E-E75CAAA707C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87619" y="3324944"/>
            <a:ext cx="484632" cy="484632"/>
          </a:xfrm>
          <a:prstGeom prst="rect">
            <a:avLst/>
          </a:prstGeom>
        </p:spPr>
      </p:pic>
      <p:sp>
        <p:nvSpPr>
          <p:cNvPr id="64" name="TextBox 63">
            <a:extLst>
              <a:ext uri="{FF2B5EF4-FFF2-40B4-BE49-F238E27FC236}">
                <a16:creationId xmlns:a16="http://schemas.microsoft.com/office/drawing/2014/main" id="{61D1590E-961E-412C-9956-BFFE63270D05}"/>
              </a:ext>
            </a:extLst>
          </p:cNvPr>
          <p:cNvSpPr txBox="1"/>
          <p:nvPr/>
        </p:nvSpPr>
        <p:spPr>
          <a:xfrm>
            <a:off x="1992927" y="1755708"/>
            <a:ext cx="1134497" cy="25805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Datamart</a:t>
            </a:r>
            <a:endParaRPr lang="en-IN" sz="1400" dirty="0">
              <a:solidFill>
                <a:schemeClr val="tx2"/>
              </a:solidFill>
              <a:cs typeface="Tahoma" pitchFamily="34" charset="0"/>
            </a:endParaRPr>
          </a:p>
        </p:txBody>
      </p:sp>
      <p:cxnSp>
        <p:nvCxnSpPr>
          <p:cNvPr id="69" name="Straight Arrow Connector 68">
            <a:extLst>
              <a:ext uri="{FF2B5EF4-FFF2-40B4-BE49-F238E27FC236}">
                <a16:creationId xmlns:a16="http://schemas.microsoft.com/office/drawing/2014/main" id="{C2B81905-993A-8839-EE2E-EC57A745F7B6}"/>
              </a:ext>
            </a:extLst>
          </p:cNvPr>
          <p:cNvCxnSpPr/>
          <p:nvPr/>
        </p:nvCxnSpPr>
        <p:spPr>
          <a:xfrm>
            <a:off x="9247829" y="611387"/>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Flowchart: Connector 34">
            <a:extLst>
              <a:ext uri="{FF2B5EF4-FFF2-40B4-BE49-F238E27FC236}">
                <a16:creationId xmlns:a16="http://schemas.microsoft.com/office/drawing/2014/main" id="{22BA387A-D3D6-7F34-E5E8-E0D173D0D287}"/>
              </a:ext>
            </a:extLst>
          </p:cNvPr>
          <p:cNvSpPr/>
          <p:nvPr/>
        </p:nvSpPr>
        <p:spPr>
          <a:xfrm>
            <a:off x="168336" y="2111838"/>
            <a:ext cx="718361" cy="759277"/>
          </a:xfrm>
          <a:prstGeom prst="flowChartConnector">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dirty="0"/>
              <a:t>Log In</a:t>
            </a:r>
            <a:endParaRPr lang="en-IN" sz="1400" dirty="0"/>
          </a:p>
        </p:txBody>
      </p:sp>
      <p:sp>
        <p:nvSpPr>
          <p:cNvPr id="36" name="TextBox 35">
            <a:extLst>
              <a:ext uri="{FF2B5EF4-FFF2-40B4-BE49-F238E27FC236}">
                <a16:creationId xmlns:a16="http://schemas.microsoft.com/office/drawing/2014/main" id="{5E999FEB-0FB8-6668-0089-963F80DB81A4}"/>
              </a:ext>
            </a:extLst>
          </p:cNvPr>
          <p:cNvSpPr txBox="1"/>
          <p:nvPr/>
        </p:nvSpPr>
        <p:spPr>
          <a:xfrm>
            <a:off x="475123" y="2824893"/>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Authenticate using SSO</a:t>
            </a:r>
            <a:endParaRPr lang="en-IN" sz="1100" dirty="0">
              <a:solidFill>
                <a:srgbClr val="002240"/>
              </a:solidFill>
              <a:cs typeface="Tahoma" pitchFamily="34" charset="0"/>
            </a:endParaRPr>
          </a:p>
        </p:txBody>
      </p:sp>
      <p:sp>
        <p:nvSpPr>
          <p:cNvPr id="37" name="TextBox 36">
            <a:extLst>
              <a:ext uri="{FF2B5EF4-FFF2-40B4-BE49-F238E27FC236}">
                <a16:creationId xmlns:a16="http://schemas.microsoft.com/office/drawing/2014/main" id="{D8D9D4AE-2C64-C2DE-D661-05C889B3398C}"/>
              </a:ext>
            </a:extLst>
          </p:cNvPr>
          <p:cNvSpPr txBox="1"/>
          <p:nvPr/>
        </p:nvSpPr>
        <p:spPr>
          <a:xfrm>
            <a:off x="1444424" y="2124069"/>
            <a:ext cx="1442261" cy="24123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chemeClr val="tx2"/>
                </a:solidFill>
                <a:cs typeface="Tahoma" pitchFamily="34" charset="0"/>
              </a:rPr>
              <a:t>Support &amp; Ticketing</a:t>
            </a:r>
            <a:endParaRPr lang="en-IN" sz="1200" dirty="0">
              <a:solidFill>
                <a:schemeClr val="tx2"/>
              </a:solidFill>
              <a:cs typeface="Tahoma" pitchFamily="34" charset="0"/>
            </a:endParaRPr>
          </a:p>
        </p:txBody>
      </p:sp>
      <p:graphicFrame>
        <p:nvGraphicFramePr>
          <p:cNvPr id="38" name="Table 37">
            <a:extLst>
              <a:ext uri="{FF2B5EF4-FFF2-40B4-BE49-F238E27FC236}">
                <a16:creationId xmlns:a16="http://schemas.microsoft.com/office/drawing/2014/main" id="{EA87390C-EC25-CBBC-3FA5-0BE3B34AF851}"/>
              </a:ext>
            </a:extLst>
          </p:cNvPr>
          <p:cNvGraphicFramePr>
            <a:graphicFrameLocks noGrp="1"/>
          </p:cNvGraphicFramePr>
          <p:nvPr>
            <p:extLst>
              <p:ext uri="{D42A27DB-BD31-4B8C-83A1-F6EECF244321}">
                <p14:modId xmlns:p14="http://schemas.microsoft.com/office/powerpoint/2010/main" val="1590152168"/>
              </p:ext>
            </p:extLst>
          </p:nvPr>
        </p:nvGraphicFramePr>
        <p:xfrm>
          <a:off x="1740341" y="2922749"/>
          <a:ext cx="4082982" cy="699063"/>
        </p:xfrm>
        <a:graphic>
          <a:graphicData uri="http://schemas.openxmlformats.org/drawingml/2006/table">
            <a:tbl>
              <a:tblPr firstRow="1" bandRow="1">
                <a:tableStyleId>{F2DE63D5-997A-4646-A377-4702673A728D}</a:tableStyleId>
              </a:tblPr>
              <a:tblGrid>
                <a:gridCol w="843510">
                  <a:extLst>
                    <a:ext uri="{9D8B030D-6E8A-4147-A177-3AD203B41FA5}">
                      <a16:colId xmlns:a16="http://schemas.microsoft.com/office/drawing/2014/main" val="2188964586"/>
                    </a:ext>
                  </a:extLst>
                </a:gridCol>
                <a:gridCol w="1197980">
                  <a:extLst>
                    <a:ext uri="{9D8B030D-6E8A-4147-A177-3AD203B41FA5}">
                      <a16:colId xmlns:a16="http://schemas.microsoft.com/office/drawing/2014/main" val="263043661"/>
                    </a:ext>
                  </a:extLst>
                </a:gridCol>
                <a:gridCol w="1020746">
                  <a:extLst>
                    <a:ext uri="{9D8B030D-6E8A-4147-A177-3AD203B41FA5}">
                      <a16:colId xmlns:a16="http://schemas.microsoft.com/office/drawing/2014/main" val="4279740874"/>
                    </a:ext>
                  </a:extLst>
                </a:gridCol>
                <a:gridCol w="1020746">
                  <a:extLst>
                    <a:ext uri="{9D8B030D-6E8A-4147-A177-3AD203B41FA5}">
                      <a16:colId xmlns:a16="http://schemas.microsoft.com/office/drawing/2014/main" val="2010840677"/>
                    </a:ext>
                  </a:extLst>
                </a:gridCol>
              </a:tblGrid>
              <a:tr h="233021">
                <a:tc>
                  <a:txBody>
                    <a:bodyPr/>
                    <a:lstStyle/>
                    <a:p>
                      <a:r>
                        <a:rPr lang="en-US" sz="900" dirty="0"/>
                        <a:t>Acct </a:t>
                      </a:r>
                      <a:endParaRPr lang="en-IN" sz="900" dirty="0"/>
                    </a:p>
                  </a:txBody>
                  <a:tcPr/>
                </a:tc>
                <a:tc>
                  <a:txBody>
                    <a:bodyPr/>
                    <a:lstStyle/>
                    <a:p>
                      <a:r>
                        <a:rPr lang="en-US" sz="900" dirty="0"/>
                        <a:t>No of Extractors</a:t>
                      </a:r>
                      <a:endParaRPr lang="en-IN" sz="900" dirty="0"/>
                    </a:p>
                  </a:txBody>
                  <a:tcPr/>
                </a:tc>
                <a:tc>
                  <a:txBody>
                    <a:bodyPr/>
                    <a:lstStyle/>
                    <a:p>
                      <a:r>
                        <a:rPr lang="en-US" sz="900" dirty="0"/>
                        <a:t>No of Pipelines </a:t>
                      </a:r>
                      <a:endParaRPr lang="en-IN" sz="900" dirty="0"/>
                    </a:p>
                  </a:txBody>
                  <a:tcPr/>
                </a:tc>
                <a:tc>
                  <a:txBody>
                    <a:bodyPr/>
                    <a:lstStyle/>
                    <a:p>
                      <a:r>
                        <a:rPr lang="en-US" sz="900" dirty="0"/>
                        <a:t>…….</a:t>
                      </a:r>
                      <a:endParaRPr lang="en-IN" sz="900" dirty="0"/>
                    </a:p>
                  </a:txBody>
                  <a:tcPr/>
                </a:tc>
                <a:extLst>
                  <a:ext uri="{0D108BD9-81ED-4DB2-BD59-A6C34878D82A}">
                    <a16:rowId xmlns:a16="http://schemas.microsoft.com/office/drawing/2014/main" val="2202397540"/>
                  </a:ext>
                </a:extLst>
              </a:tr>
              <a:tr h="233021">
                <a:tc>
                  <a:txBody>
                    <a:bodyPr/>
                    <a:lstStyle/>
                    <a:p>
                      <a:r>
                        <a:rPr lang="en-US" sz="900" dirty="0" err="1"/>
                        <a:t>Sobi</a:t>
                      </a:r>
                      <a:endParaRPr lang="en-IN" sz="900" dirty="0"/>
                    </a:p>
                  </a:txBody>
                  <a:tcPr/>
                </a:tc>
                <a:tc>
                  <a:txBody>
                    <a:bodyPr/>
                    <a:lstStyle/>
                    <a:p>
                      <a:endParaRPr lang="en-IN" sz="900"/>
                    </a:p>
                  </a:txBody>
                  <a:tcPr/>
                </a:tc>
                <a:tc>
                  <a:txBody>
                    <a:bodyPr/>
                    <a:lstStyle/>
                    <a:p>
                      <a:endParaRPr lang="en-IN" sz="900" dirty="0"/>
                    </a:p>
                  </a:txBody>
                  <a:tcPr/>
                </a:tc>
                <a:tc>
                  <a:txBody>
                    <a:bodyPr/>
                    <a:lstStyle/>
                    <a:p>
                      <a:endParaRPr lang="en-IN" sz="900" dirty="0"/>
                    </a:p>
                  </a:txBody>
                  <a:tcPr/>
                </a:tc>
                <a:extLst>
                  <a:ext uri="{0D108BD9-81ED-4DB2-BD59-A6C34878D82A}">
                    <a16:rowId xmlns:a16="http://schemas.microsoft.com/office/drawing/2014/main" val="2362751832"/>
                  </a:ext>
                </a:extLst>
              </a:tr>
              <a:tr h="233021">
                <a:tc>
                  <a:txBody>
                    <a:bodyPr/>
                    <a:lstStyle/>
                    <a:p>
                      <a:r>
                        <a:rPr lang="en-US" sz="900" dirty="0"/>
                        <a:t>Ironshore</a:t>
                      </a:r>
                      <a:endParaRPr lang="en-IN" sz="900" dirty="0"/>
                    </a:p>
                  </a:txBody>
                  <a:tcPr/>
                </a:tc>
                <a:tc>
                  <a:txBody>
                    <a:bodyPr/>
                    <a:lstStyle/>
                    <a:p>
                      <a:endParaRPr lang="en-IN" sz="900"/>
                    </a:p>
                  </a:txBody>
                  <a:tcPr/>
                </a:tc>
                <a:tc>
                  <a:txBody>
                    <a:bodyPr/>
                    <a:lstStyle/>
                    <a:p>
                      <a:endParaRPr lang="en-IN" sz="900"/>
                    </a:p>
                  </a:txBody>
                  <a:tcPr/>
                </a:tc>
                <a:tc>
                  <a:txBody>
                    <a:bodyPr/>
                    <a:lstStyle/>
                    <a:p>
                      <a:endParaRPr lang="en-IN" sz="900" dirty="0"/>
                    </a:p>
                  </a:txBody>
                  <a:tcPr/>
                </a:tc>
                <a:extLst>
                  <a:ext uri="{0D108BD9-81ED-4DB2-BD59-A6C34878D82A}">
                    <a16:rowId xmlns:a16="http://schemas.microsoft.com/office/drawing/2014/main" val="4142431679"/>
                  </a:ext>
                </a:extLst>
              </a:tr>
            </a:tbl>
          </a:graphicData>
        </a:graphic>
      </p:graphicFrame>
      <p:sp>
        <p:nvSpPr>
          <p:cNvPr id="59" name="TextBox 58">
            <a:extLst>
              <a:ext uri="{FF2B5EF4-FFF2-40B4-BE49-F238E27FC236}">
                <a16:creationId xmlns:a16="http://schemas.microsoft.com/office/drawing/2014/main" id="{571173C4-6602-FBCC-7D18-42DDF960CA5B}"/>
              </a:ext>
            </a:extLst>
          </p:cNvPr>
          <p:cNvSpPr txBox="1"/>
          <p:nvPr/>
        </p:nvSpPr>
        <p:spPr>
          <a:xfrm>
            <a:off x="6991073" y="407711"/>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7" name="TextBox 66">
            <a:extLst>
              <a:ext uri="{FF2B5EF4-FFF2-40B4-BE49-F238E27FC236}">
                <a16:creationId xmlns:a16="http://schemas.microsoft.com/office/drawing/2014/main" id="{13431147-0B90-958D-ACE5-90E08ADA0DD4}"/>
              </a:ext>
            </a:extLst>
          </p:cNvPr>
          <p:cNvSpPr txBox="1"/>
          <p:nvPr/>
        </p:nvSpPr>
        <p:spPr>
          <a:xfrm>
            <a:off x="7127750" y="1941336"/>
            <a:ext cx="784009"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8" name="TextBox 67">
            <a:extLst>
              <a:ext uri="{FF2B5EF4-FFF2-40B4-BE49-F238E27FC236}">
                <a16:creationId xmlns:a16="http://schemas.microsoft.com/office/drawing/2014/main" id="{0ABDD660-B89C-DFCE-BE9E-DC8D069091E6}"/>
              </a:ext>
            </a:extLst>
          </p:cNvPr>
          <p:cNvSpPr txBox="1"/>
          <p:nvPr/>
        </p:nvSpPr>
        <p:spPr>
          <a:xfrm>
            <a:off x="6996225" y="1168852"/>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71" name="TextBox 70">
            <a:extLst>
              <a:ext uri="{FF2B5EF4-FFF2-40B4-BE49-F238E27FC236}">
                <a16:creationId xmlns:a16="http://schemas.microsoft.com/office/drawing/2014/main" id="{BEF3AF14-944D-E952-7DBB-5E38CA2E2853}"/>
              </a:ext>
            </a:extLst>
          </p:cNvPr>
          <p:cNvSpPr txBox="1"/>
          <p:nvPr/>
        </p:nvSpPr>
        <p:spPr>
          <a:xfrm>
            <a:off x="7082613" y="3364577"/>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78" name="Oval 77">
            <a:extLst>
              <a:ext uri="{FF2B5EF4-FFF2-40B4-BE49-F238E27FC236}">
                <a16:creationId xmlns:a16="http://schemas.microsoft.com/office/drawing/2014/main" id="{259372F9-1F90-1C00-8748-CCF889299BBE}"/>
              </a:ext>
            </a:extLst>
          </p:cNvPr>
          <p:cNvSpPr/>
          <p:nvPr/>
        </p:nvSpPr>
        <p:spPr>
          <a:xfrm>
            <a:off x="11332467" y="512681"/>
            <a:ext cx="415487"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A</a:t>
            </a:r>
            <a:endParaRPr lang="en-IN" sz="1600" dirty="0">
              <a:solidFill>
                <a:schemeClr val="tx2"/>
              </a:solidFill>
            </a:endParaRPr>
          </a:p>
        </p:txBody>
      </p:sp>
      <p:sp>
        <p:nvSpPr>
          <p:cNvPr id="81" name="Oval 80">
            <a:extLst>
              <a:ext uri="{FF2B5EF4-FFF2-40B4-BE49-F238E27FC236}">
                <a16:creationId xmlns:a16="http://schemas.microsoft.com/office/drawing/2014/main" id="{5096BA02-55A5-B758-10B9-5031A0EB6F03}"/>
              </a:ext>
            </a:extLst>
          </p:cNvPr>
          <p:cNvSpPr/>
          <p:nvPr/>
        </p:nvSpPr>
        <p:spPr>
          <a:xfrm>
            <a:off x="11340169" y="1402140"/>
            <a:ext cx="415487"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B</a:t>
            </a:r>
            <a:endParaRPr lang="en-IN" sz="1600" dirty="0">
              <a:solidFill>
                <a:schemeClr val="tx2"/>
              </a:solidFill>
            </a:endParaRPr>
          </a:p>
        </p:txBody>
      </p:sp>
      <p:sp>
        <p:nvSpPr>
          <p:cNvPr id="84" name="Oval 83">
            <a:extLst>
              <a:ext uri="{FF2B5EF4-FFF2-40B4-BE49-F238E27FC236}">
                <a16:creationId xmlns:a16="http://schemas.microsoft.com/office/drawing/2014/main" id="{E294A983-2792-241B-D4FA-D0E3165AD2DD}"/>
              </a:ext>
            </a:extLst>
          </p:cNvPr>
          <p:cNvSpPr/>
          <p:nvPr/>
        </p:nvSpPr>
        <p:spPr>
          <a:xfrm>
            <a:off x="11337797" y="2123927"/>
            <a:ext cx="415487"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C</a:t>
            </a:r>
            <a:endParaRPr lang="en-IN" sz="1600" dirty="0">
              <a:solidFill>
                <a:schemeClr val="tx2"/>
              </a:solidFill>
            </a:endParaRPr>
          </a:p>
        </p:txBody>
      </p:sp>
      <p:sp>
        <p:nvSpPr>
          <p:cNvPr id="86" name="Oval 85">
            <a:extLst>
              <a:ext uri="{FF2B5EF4-FFF2-40B4-BE49-F238E27FC236}">
                <a16:creationId xmlns:a16="http://schemas.microsoft.com/office/drawing/2014/main" id="{43A103CA-F52C-3191-ABC3-46F39C70DEEF}"/>
              </a:ext>
            </a:extLst>
          </p:cNvPr>
          <p:cNvSpPr/>
          <p:nvPr/>
        </p:nvSpPr>
        <p:spPr>
          <a:xfrm>
            <a:off x="11390664" y="3517199"/>
            <a:ext cx="415487"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E</a:t>
            </a:r>
            <a:endParaRPr lang="en-IN" sz="1600" dirty="0">
              <a:solidFill>
                <a:schemeClr val="tx2"/>
              </a:solidFill>
            </a:endParaRPr>
          </a:p>
        </p:txBody>
      </p:sp>
      <p:sp>
        <p:nvSpPr>
          <p:cNvPr id="87" name="TextBox 86">
            <a:extLst>
              <a:ext uri="{FF2B5EF4-FFF2-40B4-BE49-F238E27FC236}">
                <a16:creationId xmlns:a16="http://schemas.microsoft.com/office/drawing/2014/main" id="{700F0097-2074-50D0-F678-B108474FB804}"/>
              </a:ext>
            </a:extLst>
          </p:cNvPr>
          <p:cNvSpPr txBox="1"/>
          <p:nvPr/>
        </p:nvSpPr>
        <p:spPr>
          <a:xfrm>
            <a:off x="10052881" y="1318366"/>
            <a:ext cx="1676399"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88" name="Straight Arrow Connector 87">
            <a:extLst>
              <a:ext uri="{FF2B5EF4-FFF2-40B4-BE49-F238E27FC236}">
                <a16:creationId xmlns:a16="http://schemas.microsoft.com/office/drawing/2014/main" id="{95933508-DF41-2A1F-A623-9FE0F02473CC}"/>
              </a:ext>
            </a:extLst>
          </p:cNvPr>
          <p:cNvCxnSpPr/>
          <p:nvPr/>
        </p:nvCxnSpPr>
        <p:spPr>
          <a:xfrm>
            <a:off x="9302693" y="1558587"/>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AAD7BB89-E6C1-89B2-48CF-A18DBBB3B226}"/>
              </a:ext>
            </a:extLst>
          </p:cNvPr>
          <p:cNvSpPr txBox="1"/>
          <p:nvPr/>
        </p:nvSpPr>
        <p:spPr>
          <a:xfrm>
            <a:off x="10022021" y="2049170"/>
            <a:ext cx="1676399"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90" name="Straight Arrow Connector 89">
            <a:extLst>
              <a:ext uri="{FF2B5EF4-FFF2-40B4-BE49-F238E27FC236}">
                <a16:creationId xmlns:a16="http://schemas.microsoft.com/office/drawing/2014/main" id="{52678C88-F64B-4A91-B61A-071A92D58F97}"/>
              </a:ext>
            </a:extLst>
          </p:cNvPr>
          <p:cNvCxnSpPr/>
          <p:nvPr/>
        </p:nvCxnSpPr>
        <p:spPr>
          <a:xfrm>
            <a:off x="9271833" y="2289391"/>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C9E606C5-0904-2853-4CA8-DFD8CE6F6668}"/>
              </a:ext>
            </a:extLst>
          </p:cNvPr>
          <p:cNvSpPr txBox="1"/>
          <p:nvPr/>
        </p:nvSpPr>
        <p:spPr>
          <a:xfrm>
            <a:off x="10059456" y="3382818"/>
            <a:ext cx="1272245"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92" name="Straight Arrow Connector 91">
            <a:extLst>
              <a:ext uri="{FF2B5EF4-FFF2-40B4-BE49-F238E27FC236}">
                <a16:creationId xmlns:a16="http://schemas.microsoft.com/office/drawing/2014/main" id="{14F2176E-B85C-1CCD-1866-E1D520C407B6}"/>
              </a:ext>
            </a:extLst>
          </p:cNvPr>
          <p:cNvCxnSpPr/>
          <p:nvPr/>
        </p:nvCxnSpPr>
        <p:spPr>
          <a:xfrm>
            <a:off x="9309268" y="3623039"/>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E6D969C4-30BA-F63B-E904-37E4B1C6D053}"/>
              </a:ext>
            </a:extLst>
          </p:cNvPr>
          <p:cNvSpPr txBox="1"/>
          <p:nvPr/>
        </p:nvSpPr>
        <p:spPr>
          <a:xfrm>
            <a:off x="4600970" y="2113356"/>
            <a:ext cx="1442261" cy="24123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chemeClr val="tx2"/>
                </a:solidFill>
                <a:cs typeface="Tahoma" pitchFamily="34" charset="0"/>
              </a:rPr>
              <a:t>Maintenance</a:t>
            </a:r>
            <a:endParaRPr lang="en-IN" sz="1200" dirty="0">
              <a:solidFill>
                <a:schemeClr val="tx2"/>
              </a:solidFill>
              <a:cs typeface="Tahoma" pitchFamily="34" charset="0"/>
            </a:endParaRPr>
          </a:p>
        </p:txBody>
      </p:sp>
      <p:sp>
        <p:nvSpPr>
          <p:cNvPr id="94" name="TextBox 93">
            <a:extLst>
              <a:ext uri="{FF2B5EF4-FFF2-40B4-BE49-F238E27FC236}">
                <a16:creationId xmlns:a16="http://schemas.microsoft.com/office/drawing/2014/main" id="{6643518C-293F-3476-DE06-2ED8F6AA84DE}"/>
              </a:ext>
            </a:extLst>
          </p:cNvPr>
          <p:cNvSpPr txBox="1"/>
          <p:nvPr/>
        </p:nvSpPr>
        <p:spPr>
          <a:xfrm>
            <a:off x="7946912" y="4287545"/>
            <a:ext cx="1387985" cy="48463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Support &amp; Ticketing</a:t>
            </a:r>
            <a:endParaRPr lang="en-IN" sz="1400" dirty="0">
              <a:solidFill>
                <a:schemeClr val="tx2"/>
              </a:solidFill>
              <a:cs typeface="Tahoma" pitchFamily="34" charset="0"/>
            </a:endParaRPr>
          </a:p>
        </p:txBody>
      </p:sp>
      <p:cxnSp>
        <p:nvCxnSpPr>
          <p:cNvPr id="95" name="Straight Arrow Connector 94">
            <a:extLst>
              <a:ext uri="{FF2B5EF4-FFF2-40B4-BE49-F238E27FC236}">
                <a16:creationId xmlns:a16="http://schemas.microsoft.com/office/drawing/2014/main" id="{71E5DF06-31A3-F9B9-9595-3C654A26CC19}"/>
              </a:ext>
            </a:extLst>
          </p:cNvPr>
          <p:cNvCxnSpPr>
            <a:cxnSpLocks/>
          </p:cNvCxnSpPr>
          <p:nvPr/>
        </p:nvCxnSpPr>
        <p:spPr>
          <a:xfrm>
            <a:off x="7391795" y="4450260"/>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AF9C1A9C-5F9B-BC17-8670-47401EF7351A}"/>
              </a:ext>
            </a:extLst>
          </p:cNvPr>
          <p:cNvSpPr txBox="1"/>
          <p:nvPr/>
        </p:nvSpPr>
        <p:spPr>
          <a:xfrm>
            <a:off x="6665990" y="4500254"/>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97" name="Graphic 96" descr="User with solid fill">
            <a:extLst>
              <a:ext uri="{FF2B5EF4-FFF2-40B4-BE49-F238E27FC236}">
                <a16:creationId xmlns:a16="http://schemas.microsoft.com/office/drawing/2014/main" id="{FD6AE21F-FEB6-537D-BEF6-9FD928A076F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22772" y="4108297"/>
            <a:ext cx="484632" cy="484632"/>
          </a:xfrm>
          <a:prstGeom prst="rect">
            <a:avLst/>
          </a:prstGeom>
        </p:spPr>
      </p:pic>
      <p:sp>
        <p:nvSpPr>
          <p:cNvPr id="98" name="TextBox 97">
            <a:extLst>
              <a:ext uri="{FF2B5EF4-FFF2-40B4-BE49-F238E27FC236}">
                <a16:creationId xmlns:a16="http://schemas.microsoft.com/office/drawing/2014/main" id="{0C370B3A-81F2-8C74-FC87-5AB748A00753}"/>
              </a:ext>
            </a:extLst>
          </p:cNvPr>
          <p:cNvSpPr txBox="1"/>
          <p:nvPr/>
        </p:nvSpPr>
        <p:spPr>
          <a:xfrm>
            <a:off x="7117766" y="4147930"/>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99" name="Oval 98">
            <a:extLst>
              <a:ext uri="{FF2B5EF4-FFF2-40B4-BE49-F238E27FC236}">
                <a16:creationId xmlns:a16="http://schemas.microsoft.com/office/drawing/2014/main" id="{84A3C77E-CA3C-5AA8-4E36-6B2DAAEDAE9B}"/>
              </a:ext>
            </a:extLst>
          </p:cNvPr>
          <p:cNvSpPr/>
          <p:nvPr/>
        </p:nvSpPr>
        <p:spPr>
          <a:xfrm>
            <a:off x="11462442" y="5769898"/>
            <a:ext cx="415487"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H</a:t>
            </a:r>
            <a:endParaRPr lang="en-IN" sz="1600" dirty="0">
              <a:solidFill>
                <a:schemeClr val="tx2"/>
              </a:solidFill>
            </a:endParaRPr>
          </a:p>
        </p:txBody>
      </p:sp>
      <p:sp>
        <p:nvSpPr>
          <p:cNvPr id="100" name="TextBox 99">
            <a:extLst>
              <a:ext uri="{FF2B5EF4-FFF2-40B4-BE49-F238E27FC236}">
                <a16:creationId xmlns:a16="http://schemas.microsoft.com/office/drawing/2014/main" id="{4EDEDBF4-23A8-E95F-3879-6D3C604D45D0}"/>
              </a:ext>
            </a:extLst>
          </p:cNvPr>
          <p:cNvSpPr txBox="1"/>
          <p:nvPr/>
        </p:nvSpPr>
        <p:spPr>
          <a:xfrm>
            <a:off x="10094609" y="4166171"/>
            <a:ext cx="1213955"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101" name="Straight Arrow Connector 100">
            <a:extLst>
              <a:ext uri="{FF2B5EF4-FFF2-40B4-BE49-F238E27FC236}">
                <a16:creationId xmlns:a16="http://schemas.microsoft.com/office/drawing/2014/main" id="{12E85064-BAB8-E615-7EF4-7E671D3758E3}"/>
              </a:ext>
            </a:extLst>
          </p:cNvPr>
          <p:cNvCxnSpPr/>
          <p:nvPr/>
        </p:nvCxnSpPr>
        <p:spPr>
          <a:xfrm>
            <a:off x="9344421" y="4406392"/>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CECF59E8-F029-3AA1-770A-8347C21908DB}"/>
              </a:ext>
            </a:extLst>
          </p:cNvPr>
          <p:cNvSpPr txBox="1"/>
          <p:nvPr/>
        </p:nvSpPr>
        <p:spPr>
          <a:xfrm>
            <a:off x="7956436" y="5749616"/>
            <a:ext cx="1387985" cy="48463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Other Admin Activities</a:t>
            </a:r>
            <a:endParaRPr lang="en-IN" sz="1400" dirty="0">
              <a:solidFill>
                <a:schemeClr val="tx2"/>
              </a:solidFill>
              <a:cs typeface="Tahoma" pitchFamily="34" charset="0"/>
            </a:endParaRPr>
          </a:p>
        </p:txBody>
      </p:sp>
      <p:cxnSp>
        <p:nvCxnSpPr>
          <p:cNvPr id="106" name="Straight Arrow Connector 105">
            <a:extLst>
              <a:ext uri="{FF2B5EF4-FFF2-40B4-BE49-F238E27FC236}">
                <a16:creationId xmlns:a16="http://schemas.microsoft.com/office/drawing/2014/main" id="{ACB6EA28-3429-19EE-845E-A61233C12EA7}"/>
              </a:ext>
            </a:extLst>
          </p:cNvPr>
          <p:cNvCxnSpPr>
            <a:cxnSpLocks/>
          </p:cNvCxnSpPr>
          <p:nvPr/>
        </p:nvCxnSpPr>
        <p:spPr>
          <a:xfrm>
            <a:off x="7356642" y="513817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6C303958-BDB6-6BC8-9E4A-18DB3EF205D7}"/>
              </a:ext>
            </a:extLst>
          </p:cNvPr>
          <p:cNvSpPr txBox="1"/>
          <p:nvPr/>
        </p:nvSpPr>
        <p:spPr>
          <a:xfrm>
            <a:off x="6630837" y="5188166"/>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108" name="Graphic 107" descr="User with solid fill">
            <a:extLst>
              <a:ext uri="{FF2B5EF4-FFF2-40B4-BE49-F238E27FC236}">
                <a16:creationId xmlns:a16="http://schemas.microsoft.com/office/drawing/2014/main" id="{5142C2CC-0DA4-0793-D3C2-3B88B947A9F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87619" y="4796209"/>
            <a:ext cx="484632" cy="484632"/>
          </a:xfrm>
          <a:prstGeom prst="rect">
            <a:avLst/>
          </a:prstGeom>
        </p:spPr>
      </p:pic>
      <p:sp>
        <p:nvSpPr>
          <p:cNvPr id="109" name="TextBox 108">
            <a:extLst>
              <a:ext uri="{FF2B5EF4-FFF2-40B4-BE49-F238E27FC236}">
                <a16:creationId xmlns:a16="http://schemas.microsoft.com/office/drawing/2014/main" id="{E5CD4D8A-9CDE-DA6A-3D99-707D90D21C0B}"/>
              </a:ext>
            </a:extLst>
          </p:cNvPr>
          <p:cNvSpPr txBox="1"/>
          <p:nvPr/>
        </p:nvSpPr>
        <p:spPr>
          <a:xfrm>
            <a:off x="7082613" y="4835842"/>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110" name="Oval 109">
            <a:extLst>
              <a:ext uri="{FF2B5EF4-FFF2-40B4-BE49-F238E27FC236}">
                <a16:creationId xmlns:a16="http://schemas.microsoft.com/office/drawing/2014/main" id="{642C61EA-CFF9-A101-95A3-8D651807BCDE}"/>
              </a:ext>
            </a:extLst>
          </p:cNvPr>
          <p:cNvSpPr/>
          <p:nvPr/>
        </p:nvSpPr>
        <p:spPr>
          <a:xfrm>
            <a:off x="11402658" y="4238052"/>
            <a:ext cx="415487"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F</a:t>
            </a:r>
            <a:endParaRPr lang="en-IN" sz="1600" dirty="0">
              <a:solidFill>
                <a:schemeClr val="tx2"/>
              </a:solidFill>
            </a:endParaRPr>
          </a:p>
        </p:txBody>
      </p:sp>
      <p:cxnSp>
        <p:nvCxnSpPr>
          <p:cNvPr id="111" name="Straight Arrow Connector 110">
            <a:extLst>
              <a:ext uri="{FF2B5EF4-FFF2-40B4-BE49-F238E27FC236}">
                <a16:creationId xmlns:a16="http://schemas.microsoft.com/office/drawing/2014/main" id="{6EBDC17F-B16A-323C-986B-6DA9AA42D0BF}"/>
              </a:ext>
            </a:extLst>
          </p:cNvPr>
          <p:cNvCxnSpPr/>
          <p:nvPr/>
        </p:nvCxnSpPr>
        <p:spPr>
          <a:xfrm>
            <a:off x="9309268" y="5094304"/>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E6C44626-9A02-DC69-832D-13DB187E6F96}"/>
              </a:ext>
            </a:extLst>
          </p:cNvPr>
          <p:cNvSpPr txBox="1"/>
          <p:nvPr/>
        </p:nvSpPr>
        <p:spPr>
          <a:xfrm>
            <a:off x="7936907" y="4937330"/>
            <a:ext cx="1387985" cy="29056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Maintenance</a:t>
            </a:r>
            <a:endParaRPr lang="en-IN" sz="1400" dirty="0">
              <a:solidFill>
                <a:schemeClr val="tx2"/>
              </a:solidFill>
              <a:cs typeface="Tahoma" pitchFamily="34" charset="0"/>
            </a:endParaRPr>
          </a:p>
        </p:txBody>
      </p:sp>
      <p:cxnSp>
        <p:nvCxnSpPr>
          <p:cNvPr id="113" name="Straight Arrow Connector 112">
            <a:extLst>
              <a:ext uri="{FF2B5EF4-FFF2-40B4-BE49-F238E27FC236}">
                <a16:creationId xmlns:a16="http://schemas.microsoft.com/office/drawing/2014/main" id="{412B624F-5451-E836-2A14-FD6F122EEA94}"/>
              </a:ext>
            </a:extLst>
          </p:cNvPr>
          <p:cNvCxnSpPr>
            <a:cxnSpLocks/>
          </p:cNvCxnSpPr>
          <p:nvPr/>
        </p:nvCxnSpPr>
        <p:spPr>
          <a:xfrm>
            <a:off x="7344450" y="606781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F0A32E51-E728-1B1D-EB9A-8E9CB22CEAD4}"/>
              </a:ext>
            </a:extLst>
          </p:cNvPr>
          <p:cNvSpPr txBox="1"/>
          <p:nvPr/>
        </p:nvSpPr>
        <p:spPr>
          <a:xfrm>
            <a:off x="6618645" y="6117806"/>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115" name="Graphic 114" descr="User with solid fill">
            <a:extLst>
              <a:ext uri="{FF2B5EF4-FFF2-40B4-BE49-F238E27FC236}">
                <a16:creationId xmlns:a16="http://schemas.microsoft.com/office/drawing/2014/main" id="{431792C1-8091-9D58-2F3B-ED66DBD64B0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75427" y="5725849"/>
            <a:ext cx="484632" cy="484632"/>
          </a:xfrm>
          <a:prstGeom prst="rect">
            <a:avLst/>
          </a:prstGeom>
        </p:spPr>
      </p:pic>
      <p:sp>
        <p:nvSpPr>
          <p:cNvPr id="116" name="TextBox 115">
            <a:extLst>
              <a:ext uri="{FF2B5EF4-FFF2-40B4-BE49-F238E27FC236}">
                <a16:creationId xmlns:a16="http://schemas.microsoft.com/office/drawing/2014/main" id="{9FF529DD-AA45-E688-EF41-324BA505A1B5}"/>
              </a:ext>
            </a:extLst>
          </p:cNvPr>
          <p:cNvSpPr txBox="1"/>
          <p:nvPr/>
        </p:nvSpPr>
        <p:spPr>
          <a:xfrm>
            <a:off x="7070421" y="5765482"/>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117" name="Oval 116">
            <a:extLst>
              <a:ext uri="{FF2B5EF4-FFF2-40B4-BE49-F238E27FC236}">
                <a16:creationId xmlns:a16="http://schemas.microsoft.com/office/drawing/2014/main" id="{2FDCCC99-3040-F266-E685-E0F98A47DFD3}"/>
              </a:ext>
            </a:extLst>
          </p:cNvPr>
          <p:cNvSpPr/>
          <p:nvPr/>
        </p:nvSpPr>
        <p:spPr>
          <a:xfrm>
            <a:off x="11437582" y="4938694"/>
            <a:ext cx="415487"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G</a:t>
            </a:r>
            <a:endParaRPr lang="en-IN" sz="1600" dirty="0">
              <a:solidFill>
                <a:schemeClr val="tx2"/>
              </a:solidFill>
            </a:endParaRPr>
          </a:p>
        </p:txBody>
      </p:sp>
      <p:cxnSp>
        <p:nvCxnSpPr>
          <p:cNvPr id="118" name="Straight Arrow Connector 117">
            <a:extLst>
              <a:ext uri="{FF2B5EF4-FFF2-40B4-BE49-F238E27FC236}">
                <a16:creationId xmlns:a16="http://schemas.microsoft.com/office/drawing/2014/main" id="{089E52F5-D2C0-FECE-F058-2ABBBFF4AB54}"/>
              </a:ext>
            </a:extLst>
          </p:cNvPr>
          <p:cNvCxnSpPr/>
          <p:nvPr/>
        </p:nvCxnSpPr>
        <p:spPr>
          <a:xfrm>
            <a:off x="9297076" y="6023944"/>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85EFBA5D-E2B3-D005-B91E-E304413416D5}"/>
              </a:ext>
            </a:extLst>
          </p:cNvPr>
          <p:cNvSpPr txBox="1"/>
          <p:nvPr/>
        </p:nvSpPr>
        <p:spPr>
          <a:xfrm>
            <a:off x="10145565" y="4801463"/>
            <a:ext cx="1247859" cy="606148"/>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sp>
        <p:nvSpPr>
          <p:cNvPr id="120" name="TextBox 119">
            <a:extLst>
              <a:ext uri="{FF2B5EF4-FFF2-40B4-BE49-F238E27FC236}">
                <a16:creationId xmlns:a16="http://schemas.microsoft.com/office/drawing/2014/main" id="{BD35983A-E479-63A5-1E3A-CE29DF4A389C}"/>
              </a:ext>
            </a:extLst>
          </p:cNvPr>
          <p:cNvSpPr txBox="1"/>
          <p:nvPr/>
        </p:nvSpPr>
        <p:spPr>
          <a:xfrm>
            <a:off x="10145567" y="5765169"/>
            <a:ext cx="1247858"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sp>
        <p:nvSpPr>
          <p:cNvPr id="121" name="TextBox 120">
            <a:extLst>
              <a:ext uri="{FF2B5EF4-FFF2-40B4-BE49-F238E27FC236}">
                <a16:creationId xmlns:a16="http://schemas.microsoft.com/office/drawing/2014/main" id="{87FD90F3-7ACF-D8E0-86C6-C35F58A372A9}"/>
              </a:ext>
            </a:extLst>
          </p:cNvPr>
          <p:cNvSpPr txBox="1"/>
          <p:nvPr/>
        </p:nvSpPr>
        <p:spPr>
          <a:xfrm>
            <a:off x="7919780" y="2819194"/>
            <a:ext cx="1387985" cy="37554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Product Services</a:t>
            </a:r>
            <a:endParaRPr lang="en-IN" sz="1400" dirty="0">
              <a:solidFill>
                <a:schemeClr val="tx2"/>
              </a:solidFill>
              <a:cs typeface="Tahoma" pitchFamily="34" charset="0"/>
            </a:endParaRPr>
          </a:p>
        </p:txBody>
      </p:sp>
      <p:cxnSp>
        <p:nvCxnSpPr>
          <p:cNvPr id="122" name="Straight Arrow Connector 121">
            <a:extLst>
              <a:ext uri="{FF2B5EF4-FFF2-40B4-BE49-F238E27FC236}">
                <a16:creationId xmlns:a16="http://schemas.microsoft.com/office/drawing/2014/main" id="{1ECA79A7-9612-8BB3-C631-63683C243E5A}"/>
              </a:ext>
            </a:extLst>
          </p:cNvPr>
          <p:cNvCxnSpPr>
            <a:cxnSpLocks/>
          </p:cNvCxnSpPr>
          <p:nvPr/>
        </p:nvCxnSpPr>
        <p:spPr>
          <a:xfrm>
            <a:off x="7364663" y="298190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FA143B52-3C5D-7F68-E948-E27600E8996D}"/>
              </a:ext>
            </a:extLst>
          </p:cNvPr>
          <p:cNvSpPr txBox="1"/>
          <p:nvPr/>
        </p:nvSpPr>
        <p:spPr>
          <a:xfrm>
            <a:off x="6638858" y="303190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124" name="Graphic 123" descr="User with solid fill">
            <a:extLst>
              <a:ext uri="{FF2B5EF4-FFF2-40B4-BE49-F238E27FC236}">
                <a16:creationId xmlns:a16="http://schemas.microsoft.com/office/drawing/2014/main" id="{4703261E-39E2-73EA-F4C4-980552AEE20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95640" y="2639946"/>
            <a:ext cx="484632" cy="484632"/>
          </a:xfrm>
          <a:prstGeom prst="rect">
            <a:avLst/>
          </a:prstGeom>
        </p:spPr>
      </p:pic>
      <p:sp>
        <p:nvSpPr>
          <p:cNvPr id="125" name="TextBox 124">
            <a:extLst>
              <a:ext uri="{FF2B5EF4-FFF2-40B4-BE49-F238E27FC236}">
                <a16:creationId xmlns:a16="http://schemas.microsoft.com/office/drawing/2014/main" id="{75DD41FA-7FFC-1EFE-D7C7-206A2609D7DE}"/>
              </a:ext>
            </a:extLst>
          </p:cNvPr>
          <p:cNvSpPr txBox="1"/>
          <p:nvPr/>
        </p:nvSpPr>
        <p:spPr>
          <a:xfrm>
            <a:off x="7090634" y="2679579"/>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126" name="Oval 125">
            <a:extLst>
              <a:ext uri="{FF2B5EF4-FFF2-40B4-BE49-F238E27FC236}">
                <a16:creationId xmlns:a16="http://schemas.microsoft.com/office/drawing/2014/main" id="{0C576A6B-BD96-EA40-F261-C8E4DEE32014}"/>
              </a:ext>
            </a:extLst>
          </p:cNvPr>
          <p:cNvSpPr/>
          <p:nvPr/>
        </p:nvSpPr>
        <p:spPr>
          <a:xfrm>
            <a:off x="11398685" y="2832201"/>
            <a:ext cx="415487"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D</a:t>
            </a:r>
            <a:endParaRPr lang="en-IN" sz="1600" dirty="0">
              <a:solidFill>
                <a:schemeClr val="tx2"/>
              </a:solidFill>
            </a:endParaRPr>
          </a:p>
        </p:txBody>
      </p:sp>
      <p:sp>
        <p:nvSpPr>
          <p:cNvPr id="127" name="TextBox 126">
            <a:extLst>
              <a:ext uri="{FF2B5EF4-FFF2-40B4-BE49-F238E27FC236}">
                <a16:creationId xmlns:a16="http://schemas.microsoft.com/office/drawing/2014/main" id="{DBE0C912-10C1-4543-74DC-FEF581EA2AED}"/>
              </a:ext>
            </a:extLst>
          </p:cNvPr>
          <p:cNvSpPr txBox="1"/>
          <p:nvPr/>
        </p:nvSpPr>
        <p:spPr>
          <a:xfrm>
            <a:off x="10067477" y="2697820"/>
            <a:ext cx="1676399"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128" name="Straight Arrow Connector 127">
            <a:extLst>
              <a:ext uri="{FF2B5EF4-FFF2-40B4-BE49-F238E27FC236}">
                <a16:creationId xmlns:a16="http://schemas.microsoft.com/office/drawing/2014/main" id="{6BCB3FC1-107E-AF6C-428F-47DCFBC3B417}"/>
              </a:ext>
            </a:extLst>
          </p:cNvPr>
          <p:cNvCxnSpPr/>
          <p:nvPr/>
        </p:nvCxnSpPr>
        <p:spPr>
          <a:xfrm>
            <a:off x="9317289" y="2938041"/>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554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385A3B-3739-F9FD-DB10-F90E8E02FDEB}"/>
              </a:ext>
            </a:extLst>
          </p:cNvPr>
          <p:cNvSpPr/>
          <p:nvPr/>
        </p:nvSpPr>
        <p:spPr>
          <a:xfrm>
            <a:off x="792677" y="516312"/>
            <a:ext cx="4841748" cy="282901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8" name="Rectangle: Rounded Corners 17">
            <a:extLst>
              <a:ext uri="{FF2B5EF4-FFF2-40B4-BE49-F238E27FC236}">
                <a16:creationId xmlns:a16="http://schemas.microsoft.com/office/drawing/2014/main" id="{7071DF86-61C6-CDE3-A076-BDE30D0B0077}"/>
              </a:ext>
            </a:extLst>
          </p:cNvPr>
          <p:cNvSpPr/>
          <p:nvPr/>
        </p:nvSpPr>
        <p:spPr>
          <a:xfrm>
            <a:off x="1054609" y="1219095"/>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a:xfrm>
            <a:off x="609600" y="6253146"/>
            <a:ext cx="10972800" cy="301625"/>
          </a:xfrm>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4" name="Rectangle: Rounded Corners 3">
            <a:extLst>
              <a:ext uri="{FF2B5EF4-FFF2-40B4-BE49-F238E27FC236}">
                <a16:creationId xmlns:a16="http://schemas.microsoft.com/office/drawing/2014/main" id="{823D7279-91B9-875E-EBC5-73922B9CECE6}"/>
              </a:ext>
            </a:extLst>
          </p:cNvPr>
          <p:cNvSpPr/>
          <p:nvPr/>
        </p:nvSpPr>
        <p:spPr>
          <a:xfrm>
            <a:off x="1020133" y="2078513"/>
            <a:ext cx="4368547" cy="1125474"/>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8AC192B-3F34-8817-86DE-4C15BE7CE9DB}"/>
              </a:ext>
            </a:extLst>
          </p:cNvPr>
          <p:cNvSpPr txBox="1"/>
          <p:nvPr/>
        </p:nvSpPr>
        <p:spPr>
          <a:xfrm>
            <a:off x="2484919" y="524921"/>
            <a:ext cx="1259008" cy="304739"/>
          </a:xfrm>
          <a:prstGeom prst="rect">
            <a:avLst/>
          </a:prstGeom>
          <a:solidFill>
            <a:schemeClr val="tx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600" dirty="0">
                <a:solidFill>
                  <a:schemeClr val="bg1"/>
                </a:solidFill>
                <a:cs typeface="Tahoma" pitchFamily="34" charset="0"/>
              </a:rPr>
              <a:t>List of Accts</a:t>
            </a:r>
            <a:endParaRPr lang="en-IN" sz="1600" dirty="0">
              <a:solidFill>
                <a:schemeClr val="bg1"/>
              </a:solidFill>
              <a:cs typeface="Tahoma" pitchFamily="34" charset="0"/>
            </a:endParaRPr>
          </a:p>
        </p:txBody>
      </p:sp>
      <p:sp>
        <p:nvSpPr>
          <p:cNvPr id="6" name="TextBox 5">
            <a:extLst>
              <a:ext uri="{FF2B5EF4-FFF2-40B4-BE49-F238E27FC236}">
                <a16:creationId xmlns:a16="http://schemas.microsoft.com/office/drawing/2014/main" id="{92A80422-97AB-699A-6FAA-B5BE5214ACE5}"/>
              </a:ext>
            </a:extLst>
          </p:cNvPr>
          <p:cNvSpPr txBox="1"/>
          <p:nvPr/>
        </p:nvSpPr>
        <p:spPr>
          <a:xfrm>
            <a:off x="1172095" y="922198"/>
            <a:ext cx="1920794" cy="30473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Shows the List of Accts</a:t>
            </a:r>
            <a:endParaRPr lang="en-IN" sz="1400" dirty="0">
              <a:solidFill>
                <a:schemeClr val="tx2"/>
              </a:solidFill>
              <a:cs typeface="Tahoma" pitchFamily="34" charset="0"/>
            </a:endParaRPr>
          </a:p>
        </p:txBody>
      </p:sp>
      <p:sp>
        <p:nvSpPr>
          <p:cNvPr id="7" name="TextBox 6">
            <a:extLst>
              <a:ext uri="{FF2B5EF4-FFF2-40B4-BE49-F238E27FC236}">
                <a16:creationId xmlns:a16="http://schemas.microsoft.com/office/drawing/2014/main" id="{4C200395-E3D8-B210-1C20-02C3A58CF913}"/>
              </a:ext>
            </a:extLst>
          </p:cNvPr>
          <p:cNvSpPr txBox="1"/>
          <p:nvPr/>
        </p:nvSpPr>
        <p:spPr>
          <a:xfrm>
            <a:off x="3732691" y="1110030"/>
            <a:ext cx="1523704" cy="30473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Create/Delete Acct</a:t>
            </a:r>
            <a:endParaRPr lang="en-IN" sz="1300" dirty="0">
              <a:solidFill>
                <a:schemeClr val="tx2"/>
              </a:solidFill>
              <a:cs typeface="Tahoma" pitchFamily="34" charset="0"/>
            </a:endParaRPr>
          </a:p>
        </p:txBody>
      </p:sp>
      <p:sp>
        <p:nvSpPr>
          <p:cNvPr id="11" name="TextBox 10">
            <a:extLst>
              <a:ext uri="{FF2B5EF4-FFF2-40B4-BE49-F238E27FC236}">
                <a16:creationId xmlns:a16="http://schemas.microsoft.com/office/drawing/2014/main" id="{E9EB9C84-E308-4A31-F8E2-D75C9304B08E}"/>
              </a:ext>
            </a:extLst>
          </p:cNvPr>
          <p:cNvSpPr txBox="1"/>
          <p:nvPr/>
        </p:nvSpPr>
        <p:spPr>
          <a:xfrm>
            <a:off x="1803721" y="2040128"/>
            <a:ext cx="2984682" cy="252651"/>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cs typeface="Tahoma" pitchFamily="34" charset="0"/>
              </a:rPr>
              <a:t>Project Wise health Statistics</a:t>
            </a:r>
            <a:endParaRPr lang="en-IN" sz="1600" dirty="0">
              <a:cs typeface="Tahoma" pitchFamily="34" charset="0"/>
            </a:endParaRPr>
          </a:p>
        </p:txBody>
      </p:sp>
      <p:graphicFrame>
        <p:nvGraphicFramePr>
          <p:cNvPr id="15" name="Table 14">
            <a:extLst>
              <a:ext uri="{FF2B5EF4-FFF2-40B4-BE49-F238E27FC236}">
                <a16:creationId xmlns:a16="http://schemas.microsoft.com/office/drawing/2014/main" id="{F0C6364C-381F-2990-06F4-C43B8E5DAC81}"/>
              </a:ext>
            </a:extLst>
          </p:cNvPr>
          <p:cNvGraphicFramePr>
            <a:graphicFrameLocks noGrp="1"/>
          </p:cNvGraphicFramePr>
          <p:nvPr>
            <p:extLst>
              <p:ext uri="{D42A27DB-BD31-4B8C-83A1-F6EECF244321}">
                <p14:modId xmlns:p14="http://schemas.microsoft.com/office/powerpoint/2010/main" val="1745611481"/>
              </p:ext>
            </p:extLst>
          </p:nvPr>
        </p:nvGraphicFramePr>
        <p:xfrm>
          <a:off x="1193385" y="2391415"/>
          <a:ext cx="4082982" cy="699063"/>
        </p:xfrm>
        <a:graphic>
          <a:graphicData uri="http://schemas.openxmlformats.org/drawingml/2006/table">
            <a:tbl>
              <a:tblPr firstRow="1" bandRow="1">
                <a:tableStyleId>{F2DE63D5-997A-4646-A377-4702673A728D}</a:tableStyleId>
              </a:tblPr>
              <a:tblGrid>
                <a:gridCol w="843510">
                  <a:extLst>
                    <a:ext uri="{9D8B030D-6E8A-4147-A177-3AD203B41FA5}">
                      <a16:colId xmlns:a16="http://schemas.microsoft.com/office/drawing/2014/main" val="2188964586"/>
                    </a:ext>
                  </a:extLst>
                </a:gridCol>
                <a:gridCol w="1197980">
                  <a:extLst>
                    <a:ext uri="{9D8B030D-6E8A-4147-A177-3AD203B41FA5}">
                      <a16:colId xmlns:a16="http://schemas.microsoft.com/office/drawing/2014/main" val="263043661"/>
                    </a:ext>
                  </a:extLst>
                </a:gridCol>
                <a:gridCol w="1020746">
                  <a:extLst>
                    <a:ext uri="{9D8B030D-6E8A-4147-A177-3AD203B41FA5}">
                      <a16:colId xmlns:a16="http://schemas.microsoft.com/office/drawing/2014/main" val="4279740874"/>
                    </a:ext>
                  </a:extLst>
                </a:gridCol>
                <a:gridCol w="1020746">
                  <a:extLst>
                    <a:ext uri="{9D8B030D-6E8A-4147-A177-3AD203B41FA5}">
                      <a16:colId xmlns:a16="http://schemas.microsoft.com/office/drawing/2014/main" val="2010840677"/>
                    </a:ext>
                  </a:extLst>
                </a:gridCol>
              </a:tblGrid>
              <a:tr h="233021">
                <a:tc>
                  <a:txBody>
                    <a:bodyPr/>
                    <a:lstStyle/>
                    <a:p>
                      <a:r>
                        <a:rPr lang="en-US" sz="900" dirty="0"/>
                        <a:t>Project</a:t>
                      </a:r>
                      <a:endParaRPr lang="en-IN" sz="900" dirty="0"/>
                    </a:p>
                  </a:txBody>
                  <a:tcPr/>
                </a:tc>
                <a:tc>
                  <a:txBody>
                    <a:bodyPr/>
                    <a:lstStyle/>
                    <a:p>
                      <a:r>
                        <a:rPr lang="en-US" sz="900" dirty="0"/>
                        <a:t>No of Extractors</a:t>
                      </a:r>
                      <a:endParaRPr lang="en-IN" sz="900" dirty="0"/>
                    </a:p>
                  </a:txBody>
                  <a:tcPr/>
                </a:tc>
                <a:tc>
                  <a:txBody>
                    <a:bodyPr/>
                    <a:lstStyle/>
                    <a:p>
                      <a:r>
                        <a:rPr lang="en-US" sz="900" dirty="0"/>
                        <a:t>No of Pipelines </a:t>
                      </a:r>
                      <a:endParaRPr lang="en-IN" sz="900" dirty="0"/>
                    </a:p>
                  </a:txBody>
                  <a:tcPr/>
                </a:tc>
                <a:tc>
                  <a:txBody>
                    <a:bodyPr/>
                    <a:lstStyle/>
                    <a:p>
                      <a:r>
                        <a:rPr lang="en-US" sz="900" dirty="0"/>
                        <a:t>…….</a:t>
                      </a:r>
                      <a:endParaRPr lang="en-IN" sz="900" dirty="0"/>
                    </a:p>
                  </a:txBody>
                  <a:tcPr/>
                </a:tc>
                <a:extLst>
                  <a:ext uri="{0D108BD9-81ED-4DB2-BD59-A6C34878D82A}">
                    <a16:rowId xmlns:a16="http://schemas.microsoft.com/office/drawing/2014/main" val="2202397540"/>
                  </a:ext>
                </a:extLst>
              </a:tr>
              <a:tr h="233021">
                <a:tc>
                  <a:txBody>
                    <a:bodyPr/>
                    <a:lstStyle/>
                    <a:p>
                      <a:r>
                        <a:rPr lang="en-US" sz="900" dirty="0"/>
                        <a:t>Project 1</a:t>
                      </a:r>
                      <a:endParaRPr lang="en-IN" sz="900" dirty="0"/>
                    </a:p>
                  </a:txBody>
                  <a:tcPr/>
                </a:tc>
                <a:tc>
                  <a:txBody>
                    <a:bodyPr/>
                    <a:lstStyle/>
                    <a:p>
                      <a:endParaRPr lang="en-IN" sz="900"/>
                    </a:p>
                  </a:txBody>
                  <a:tcPr/>
                </a:tc>
                <a:tc>
                  <a:txBody>
                    <a:bodyPr/>
                    <a:lstStyle/>
                    <a:p>
                      <a:endParaRPr lang="en-IN" sz="900" dirty="0"/>
                    </a:p>
                  </a:txBody>
                  <a:tcPr/>
                </a:tc>
                <a:tc>
                  <a:txBody>
                    <a:bodyPr/>
                    <a:lstStyle/>
                    <a:p>
                      <a:endParaRPr lang="en-IN" sz="900" dirty="0"/>
                    </a:p>
                  </a:txBody>
                  <a:tcPr/>
                </a:tc>
                <a:extLst>
                  <a:ext uri="{0D108BD9-81ED-4DB2-BD59-A6C34878D82A}">
                    <a16:rowId xmlns:a16="http://schemas.microsoft.com/office/drawing/2014/main" val="2362751832"/>
                  </a:ext>
                </a:extLst>
              </a:tr>
              <a:tr h="233021">
                <a:tc>
                  <a:txBody>
                    <a:bodyPr/>
                    <a:lstStyle/>
                    <a:p>
                      <a:r>
                        <a:rPr lang="en-US" sz="900" dirty="0"/>
                        <a:t>Project 2</a:t>
                      </a:r>
                      <a:endParaRPr lang="en-IN" sz="900" dirty="0"/>
                    </a:p>
                  </a:txBody>
                  <a:tcPr/>
                </a:tc>
                <a:tc>
                  <a:txBody>
                    <a:bodyPr/>
                    <a:lstStyle/>
                    <a:p>
                      <a:endParaRPr lang="en-IN" sz="900" dirty="0"/>
                    </a:p>
                  </a:txBody>
                  <a:tcPr/>
                </a:tc>
                <a:tc>
                  <a:txBody>
                    <a:bodyPr/>
                    <a:lstStyle/>
                    <a:p>
                      <a:endParaRPr lang="en-IN" sz="900"/>
                    </a:p>
                  </a:txBody>
                  <a:tcPr/>
                </a:tc>
                <a:tc>
                  <a:txBody>
                    <a:bodyPr/>
                    <a:lstStyle/>
                    <a:p>
                      <a:endParaRPr lang="en-IN" sz="900" dirty="0"/>
                    </a:p>
                  </a:txBody>
                  <a:tcPr/>
                </a:tc>
                <a:extLst>
                  <a:ext uri="{0D108BD9-81ED-4DB2-BD59-A6C34878D82A}">
                    <a16:rowId xmlns:a16="http://schemas.microsoft.com/office/drawing/2014/main" val="4142431679"/>
                  </a:ext>
                </a:extLst>
              </a:tr>
            </a:tbl>
          </a:graphicData>
        </a:graphic>
      </p:graphicFrame>
      <p:graphicFrame>
        <p:nvGraphicFramePr>
          <p:cNvPr id="17" name="Table 16">
            <a:extLst>
              <a:ext uri="{FF2B5EF4-FFF2-40B4-BE49-F238E27FC236}">
                <a16:creationId xmlns:a16="http://schemas.microsoft.com/office/drawing/2014/main" id="{A743AFA9-4FB9-CC07-8F4B-CC0B52652099}"/>
              </a:ext>
            </a:extLst>
          </p:cNvPr>
          <p:cNvGraphicFramePr>
            <a:graphicFrameLocks noGrp="1"/>
          </p:cNvGraphicFramePr>
          <p:nvPr>
            <p:extLst>
              <p:ext uri="{D42A27DB-BD31-4B8C-83A1-F6EECF244321}">
                <p14:modId xmlns:p14="http://schemas.microsoft.com/office/powerpoint/2010/main" val="4046122309"/>
              </p:ext>
            </p:extLst>
          </p:nvPr>
        </p:nvGraphicFramePr>
        <p:xfrm>
          <a:off x="1243112" y="1289213"/>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Acct </a:t>
                      </a:r>
                      <a:endParaRPr lang="en-IN" sz="900" dirty="0"/>
                    </a:p>
                  </a:txBody>
                  <a:tcPr/>
                </a:tc>
                <a:extLst>
                  <a:ext uri="{0D108BD9-81ED-4DB2-BD59-A6C34878D82A}">
                    <a16:rowId xmlns:a16="http://schemas.microsoft.com/office/drawing/2014/main" val="2202397540"/>
                  </a:ext>
                </a:extLst>
              </a:tr>
              <a:tr h="169015">
                <a:tc>
                  <a:txBody>
                    <a:bodyPr/>
                    <a:lstStyle/>
                    <a:p>
                      <a:r>
                        <a:rPr lang="en-US" sz="900" dirty="0" err="1"/>
                        <a:t>Sobi</a:t>
                      </a:r>
                      <a:endParaRPr lang="en-IN" sz="900" dirty="0"/>
                    </a:p>
                  </a:txBody>
                  <a:tcPr/>
                </a:tc>
                <a:extLst>
                  <a:ext uri="{0D108BD9-81ED-4DB2-BD59-A6C34878D82A}">
                    <a16:rowId xmlns:a16="http://schemas.microsoft.com/office/drawing/2014/main" val="2362751832"/>
                  </a:ext>
                </a:extLst>
              </a:tr>
              <a:tr h="169015">
                <a:tc>
                  <a:txBody>
                    <a:bodyPr/>
                    <a:lstStyle/>
                    <a:p>
                      <a:r>
                        <a:rPr lang="en-US" sz="900" dirty="0"/>
                        <a:t>Ironshore</a:t>
                      </a:r>
                      <a:endParaRPr lang="en-IN" sz="900" dirty="0"/>
                    </a:p>
                  </a:txBody>
                  <a:tcPr/>
                </a:tc>
                <a:extLst>
                  <a:ext uri="{0D108BD9-81ED-4DB2-BD59-A6C34878D82A}">
                    <a16:rowId xmlns:a16="http://schemas.microsoft.com/office/drawing/2014/main" val="4142431679"/>
                  </a:ext>
                </a:extLst>
              </a:tr>
            </a:tbl>
          </a:graphicData>
        </a:graphic>
      </p:graphicFrame>
      <p:sp>
        <p:nvSpPr>
          <p:cNvPr id="19" name="TextBox 18">
            <a:extLst>
              <a:ext uri="{FF2B5EF4-FFF2-40B4-BE49-F238E27FC236}">
                <a16:creationId xmlns:a16="http://schemas.microsoft.com/office/drawing/2014/main" id="{9626B970-88DC-FBD1-9DB4-0AEA388B5A4A}"/>
              </a:ext>
            </a:extLst>
          </p:cNvPr>
          <p:cNvSpPr txBox="1"/>
          <p:nvPr/>
        </p:nvSpPr>
        <p:spPr>
          <a:xfrm>
            <a:off x="7476465" y="616815"/>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Accts in the list</a:t>
            </a:r>
            <a:endParaRPr lang="en-IN" sz="1400" dirty="0">
              <a:solidFill>
                <a:schemeClr val="tx2"/>
              </a:solidFill>
              <a:cs typeface="Tahoma" pitchFamily="34" charset="0"/>
            </a:endParaRPr>
          </a:p>
        </p:txBody>
      </p:sp>
      <p:cxnSp>
        <p:nvCxnSpPr>
          <p:cNvPr id="20" name="Straight Arrow Connector 19">
            <a:extLst>
              <a:ext uri="{FF2B5EF4-FFF2-40B4-BE49-F238E27FC236}">
                <a16:creationId xmlns:a16="http://schemas.microsoft.com/office/drawing/2014/main" id="{C0D1CCD1-E9F8-3AEE-B32F-7CD7E57BB190}"/>
              </a:ext>
            </a:extLst>
          </p:cNvPr>
          <p:cNvCxnSpPr>
            <a:cxnSpLocks/>
          </p:cNvCxnSpPr>
          <p:nvPr/>
        </p:nvCxnSpPr>
        <p:spPr>
          <a:xfrm>
            <a:off x="6921348" y="77952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User with solid fill">
            <a:extLst>
              <a:ext uri="{FF2B5EF4-FFF2-40B4-BE49-F238E27FC236}">
                <a16:creationId xmlns:a16="http://schemas.microsoft.com/office/drawing/2014/main" id="{A6F154C1-472E-5E1D-0940-45DBFF5094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36132" y="486922"/>
            <a:ext cx="484632" cy="484632"/>
          </a:xfrm>
          <a:prstGeom prst="rect">
            <a:avLst/>
          </a:prstGeom>
        </p:spPr>
      </p:pic>
      <p:sp>
        <p:nvSpPr>
          <p:cNvPr id="22" name="TextBox 21">
            <a:extLst>
              <a:ext uri="{FF2B5EF4-FFF2-40B4-BE49-F238E27FC236}">
                <a16:creationId xmlns:a16="http://schemas.microsoft.com/office/drawing/2014/main" id="{5B82C5C8-BF43-6507-236A-C24A5CB12397}"/>
              </a:ext>
            </a:extLst>
          </p:cNvPr>
          <p:cNvSpPr txBox="1"/>
          <p:nvPr/>
        </p:nvSpPr>
        <p:spPr>
          <a:xfrm>
            <a:off x="6274227" y="907357"/>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24" name="Straight Arrow Connector 23">
            <a:extLst>
              <a:ext uri="{FF2B5EF4-FFF2-40B4-BE49-F238E27FC236}">
                <a16:creationId xmlns:a16="http://schemas.microsoft.com/office/drawing/2014/main" id="{1B07CA32-306B-8024-6EC3-81A68141A6BE}"/>
              </a:ext>
            </a:extLst>
          </p:cNvPr>
          <p:cNvCxnSpPr/>
          <p:nvPr/>
        </p:nvCxnSpPr>
        <p:spPr>
          <a:xfrm>
            <a:off x="8865971" y="893692"/>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6A8CF0-40C8-AD66-F60C-F4B19A6D2133}"/>
              </a:ext>
            </a:extLst>
          </p:cNvPr>
          <p:cNvSpPr txBox="1"/>
          <p:nvPr/>
        </p:nvSpPr>
        <p:spPr>
          <a:xfrm>
            <a:off x="6599691" y="511845"/>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27" name="TextBox 26">
            <a:extLst>
              <a:ext uri="{FF2B5EF4-FFF2-40B4-BE49-F238E27FC236}">
                <a16:creationId xmlns:a16="http://schemas.microsoft.com/office/drawing/2014/main" id="{2CF2798B-4412-0395-9F77-A170122CAEDB}"/>
              </a:ext>
            </a:extLst>
          </p:cNvPr>
          <p:cNvSpPr txBox="1"/>
          <p:nvPr/>
        </p:nvSpPr>
        <p:spPr>
          <a:xfrm>
            <a:off x="9606635" y="524921"/>
            <a:ext cx="2220850" cy="85946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Projects under that acct with details gets displayed in the bottom grid</a:t>
            </a:r>
            <a:endParaRPr lang="en-IN" sz="1400" dirty="0">
              <a:solidFill>
                <a:schemeClr val="tx2"/>
              </a:solidFill>
              <a:cs typeface="Tahoma" pitchFamily="34" charset="0"/>
            </a:endParaRPr>
          </a:p>
        </p:txBody>
      </p:sp>
      <p:sp>
        <p:nvSpPr>
          <p:cNvPr id="28" name="TextBox 27">
            <a:extLst>
              <a:ext uri="{FF2B5EF4-FFF2-40B4-BE49-F238E27FC236}">
                <a16:creationId xmlns:a16="http://schemas.microsoft.com/office/drawing/2014/main" id="{2EDBC459-B19D-9FB4-008B-1AF5A2E1D832}"/>
              </a:ext>
            </a:extLst>
          </p:cNvPr>
          <p:cNvSpPr txBox="1"/>
          <p:nvPr/>
        </p:nvSpPr>
        <p:spPr>
          <a:xfrm>
            <a:off x="7418553" y="1957935"/>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Create/Delete Acct</a:t>
            </a:r>
            <a:endParaRPr lang="en-IN" sz="1400" dirty="0">
              <a:solidFill>
                <a:schemeClr val="tx2"/>
              </a:solidFill>
              <a:cs typeface="Tahoma" pitchFamily="34" charset="0"/>
            </a:endParaRPr>
          </a:p>
        </p:txBody>
      </p:sp>
      <p:cxnSp>
        <p:nvCxnSpPr>
          <p:cNvPr id="29" name="Straight Arrow Connector 28">
            <a:extLst>
              <a:ext uri="{FF2B5EF4-FFF2-40B4-BE49-F238E27FC236}">
                <a16:creationId xmlns:a16="http://schemas.microsoft.com/office/drawing/2014/main" id="{E51B655D-8096-0A66-E722-B5250380BFCD}"/>
              </a:ext>
            </a:extLst>
          </p:cNvPr>
          <p:cNvCxnSpPr>
            <a:cxnSpLocks/>
          </p:cNvCxnSpPr>
          <p:nvPr/>
        </p:nvCxnSpPr>
        <p:spPr>
          <a:xfrm>
            <a:off x="6863436" y="212064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Graphic 29" descr="User with solid fill">
            <a:extLst>
              <a:ext uri="{FF2B5EF4-FFF2-40B4-BE49-F238E27FC236}">
                <a16:creationId xmlns:a16="http://schemas.microsoft.com/office/drawing/2014/main" id="{4E7ADF6F-1CD8-3E74-44AC-550CD3AD31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78220" y="1828042"/>
            <a:ext cx="484632" cy="484632"/>
          </a:xfrm>
          <a:prstGeom prst="rect">
            <a:avLst/>
          </a:prstGeom>
        </p:spPr>
      </p:pic>
      <p:sp>
        <p:nvSpPr>
          <p:cNvPr id="31" name="TextBox 30">
            <a:extLst>
              <a:ext uri="{FF2B5EF4-FFF2-40B4-BE49-F238E27FC236}">
                <a16:creationId xmlns:a16="http://schemas.microsoft.com/office/drawing/2014/main" id="{DD13A458-1523-BC78-934A-5DB738193232}"/>
              </a:ext>
            </a:extLst>
          </p:cNvPr>
          <p:cNvSpPr txBox="1"/>
          <p:nvPr/>
        </p:nvSpPr>
        <p:spPr>
          <a:xfrm>
            <a:off x="6216315" y="2248477"/>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32" name="Straight Arrow Connector 31">
            <a:extLst>
              <a:ext uri="{FF2B5EF4-FFF2-40B4-BE49-F238E27FC236}">
                <a16:creationId xmlns:a16="http://schemas.microsoft.com/office/drawing/2014/main" id="{815B187D-5143-606C-C7D2-25EDC701CCDB}"/>
              </a:ext>
            </a:extLst>
          </p:cNvPr>
          <p:cNvCxnSpPr/>
          <p:nvPr/>
        </p:nvCxnSpPr>
        <p:spPr>
          <a:xfrm>
            <a:off x="8808059" y="2234812"/>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C8A95F2-ECB5-2C76-CD92-C2B59570AD70}"/>
              </a:ext>
            </a:extLst>
          </p:cNvPr>
          <p:cNvSpPr txBox="1"/>
          <p:nvPr/>
        </p:nvSpPr>
        <p:spPr>
          <a:xfrm>
            <a:off x="6541779" y="1852965"/>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34" name="TextBox 33">
            <a:extLst>
              <a:ext uri="{FF2B5EF4-FFF2-40B4-BE49-F238E27FC236}">
                <a16:creationId xmlns:a16="http://schemas.microsoft.com/office/drawing/2014/main" id="{C55E69B7-C290-8341-D389-8B0291AFA9ED}"/>
              </a:ext>
            </a:extLst>
          </p:cNvPr>
          <p:cNvSpPr txBox="1"/>
          <p:nvPr/>
        </p:nvSpPr>
        <p:spPr>
          <a:xfrm>
            <a:off x="9606635" y="1610844"/>
            <a:ext cx="2220850" cy="134247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It should take to the Acct creation tab/box</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Required details to be entered and acct should be created</a:t>
            </a:r>
            <a:endParaRPr lang="en-IN" sz="1400" dirty="0">
              <a:solidFill>
                <a:schemeClr val="tx2"/>
              </a:solidFill>
              <a:cs typeface="Tahoma" pitchFamily="34" charset="0"/>
            </a:endParaRPr>
          </a:p>
        </p:txBody>
      </p:sp>
      <p:sp>
        <p:nvSpPr>
          <p:cNvPr id="39" name="Oval 38">
            <a:extLst>
              <a:ext uri="{FF2B5EF4-FFF2-40B4-BE49-F238E27FC236}">
                <a16:creationId xmlns:a16="http://schemas.microsoft.com/office/drawing/2014/main" id="{FAAEB783-2DDE-42D8-E893-42C0E24F421E}"/>
              </a:ext>
            </a:extLst>
          </p:cNvPr>
          <p:cNvSpPr/>
          <p:nvPr/>
        </p:nvSpPr>
        <p:spPr>
          <a:xfrm>
            <a:off x="692093" y="264470"/>
            <a:ext cx="549337" cy="30473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A</a:t>
            </a:r>
            <a:endParaRPr lang="en-IN" sz="1600" dirty="0"/>
          </a:p>
        </p:txBody>
      </p:sp>
      <p:sp>
        <p:nvSpPr>
          <p:cNvPr id="40" name="Rectangle: Rounded Corners 39">
            <a:extLst>
              <a:ext uri="{FF2B5EF4-FFF2-40B4-BE49-F238E27FC236}">
                <a16:creationId xmlns:a16="http://schemas.microsoft.com/office/drawing/2014/main" id="{0495AA4B-B277-5AA8-AB82-66E335933841}"/>
              </a:ext>
            </a:extLst>
          </p:cNvPr>
          <p:cNvSpPr/>
          <p:nvPr/>
        </p:nvSpPr>
        <p:spPr>
          <a:xfrm>
            <a:off x="787352" y="3683373"/>
            <a:ext cx="4841748" cy="25242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43" name="TextBox 42">
            <a:extLst>
              <a:ext uri="{FF2B5EF4-FFF2-40B4-BE49-F238E27FC236}">
                <a16:creationId xmlns:a16="http://schemas.microsoft.com/office/drawing/2014/main" id="{4BCB5D7B-7524-1219-5CD5-90B27944274D}"/>
              </a:ext>
            </a:extLst>
          </p:cNvPr>
          <p:cNvSpPr txBox="1"/>
          <p:nvPr/>
        </p:nvSpPr>
        <p:spPr>
          <a:xfrm>
            <a:off x="1803721" y="3691983"/>
            <a:ext cx="2596665" cy="287195"/>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Acct User management</a:t>
            </a:r>
            <a:endParaRPr lang="en-IN" sz="1600" dirty="0">
              <a:solidFill>
                <a:schemeClr val="bg1"/>
              </a:solidFill>
              <a:cs typeface="Tahoma" pitchFamily="34" charset="0"/>
            </a:endParaRPr>
          </a:p>
        </p:txBody>
      </p:sp>
      <p:sp>
        <p:nvSpPr>
          <p:cNvPr id="44" name="TextBox 43">
            <a:extLst>
              <a:ext uri="{FF2B5EF4-FFF2-40B4-BE49-F238E27FC236}">
                <a16:creationId xmlns:a16="http://schemas.microsoft.com/office/drawing/2014/main" id="{9311CEA2-4ED8-C837-C9E6-63CF515ED49C}"/>
              </a:ext>
            </a:extLst>
          </p:cNvPr>
          <p:cNvSpPr txBox="1"/>
          <p:nvPr/>
        </p:nvSpPr>
        <p:spPr>
          <a:xfrm>
            <a:off x="1166770" y="4089260"/>
            <a:ext cx="1920794" cy="304738"/>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Create/Delete User</a:t>
            </a:r>
            <a:endParaRPr lang="en-IN" sz="1400" dirty="0">
              <a:solidFill>
                <a:schemeClr val="tx2"/>
              </a:solidFill>
              <a:cs typeface="Tahoma" pitchFamily="34" charset="0"/>
            </a:endParaRPr>
          </a:p>
        </p:txBody>
      </p:sp>
      <p:sp>
        <p:nvSpPr>
          <p:cNvPr id="45" name="TextBox 44">
            <a:extLst>
              <a:ext uri="{FF2B5EF4-FFF2-40B4-BE49-F238E27FC236}">
                <a16:creationId xmlns:a16="http://schemas.microsoft.com/office/drawing/2014/main" id="{2590F334-CA25-DA31-D431-C91AE5073515}"/>
              </a:ext>
            </a:extLst>
          </p:cNvPr>
          <p:cNvSpPr txBox="1"/>
          <p:nvPr/>
        </p:nvSpPr>
        <p:spPr>
          <a:xfrm>
            <a:off x="3717401" y="4085445"/>
            <a:ext cx="1523704" cy="30473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User Access</a:t>
            </a:r>
            <a:endParaRPr lang="en-IN" sz="1300" dirty="0">
              <a:solidFill>
                <a:schemeClr val="tx2"/>
              </a:solidFill>
              <a:cs typeface="Tahoma" pitchFamily="34" charset="0"/>
            </a:endParaRPr>
          </a:p>
        </p:txBody>
      </p:sp>
      <p:sp>
        <p:nvSpPr>
          <p:cNvPr id="49" name="TextBox 48">
            <a:extLst>
              <a:ext uri="{FF2B5EF4-FFF2-40B4-BE49-F238E27FC236}">
                <a16:creationId xmlns:a16="http://schemas.microsoft.com/office/drawing/2014/main" id="{9A58A5EA-329B-16F3-BC7C-3E9931B7A6F3}"/>
              </a:ext>
            </a:extLst>
          </p:cNvPr>
          <p:cNvSpPr txBox="1"/>
          <p:nvPr/>
        </p:nvSpPr>
        <p:spPr>
          <a:xfrm>
            <a:off x="7413228" y="3466889"/>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Users in the list</a:t>
            </a:r>
            <a:endParaRPr lang="en-IN" sz="1400" dirty="0">
              <a:solidFill>
                <a:schemeClr val="tx2"/>
              </a:solidFill>
              <a:cs typeface="Tahoma" pitchFamily="34" charset="0"/>
            </a:endParaRPr>
          </a:p>
        </p:txBody>
      </p:sp>
      <p:cxnSp>
        <p:nvCxnSpPr>
          <p:cNvPr id="50" name="Straight Arrow Connector 49">
            <a:extLst>
              <a:ext uri="{FF2B5EF4-FFF2-40B4-BE49-F238E27FC236}">
                <a16:creationId xmlns:a16="http://schemas.microsoft.com/office/drawing/2014/main" id="{65370F53-761D-726C-1904-2935C2F654ED}"/>
              </a:ext>
            </a:extLst>
          </p:cNvPr>
          <p:cNvCxnSpPr>
            <a:cxnSpLocks/>
          </p:cNvCxnSpPr>
          <p:nvPr/>
        </p:nvCxnSpPr>
        <p:spPr>
          <a:xfrm>
            <a:off x="6858111" y="3629603"/>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1" name="Graphic 50" descr="User with solid fill">
            <a:extLst>
              <a:ext uri="{FF2B5EF4-FFF2-40B4-BE49-F238E27FC236}">
                <a16:creationId xmlns:a16="http://schemas.microsoft.com/office/drawing/2014/main" id="{1FD7913F-1F2F-7DBA-8F38-4E4B8252AA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72895" y="3336996"/>
            <a:ext cx="484632" cy="484632"/>
          </a:xfrm>
          <a:prstGeom prst="rect">
            <a:avLst/>
          </a:prstGeom>
        </p:spPr>
      </p:pic>
      <p:sp>
        <p:nvSpPr>
          <p:cNvPr id="52" name="TextBox 51">
            <a:extLst>
              <a:ext uri="{FF2B5EF4-FFF2-40B4-BE49-F238E27FC236}">
                <a16:creationId xmlns:a16="http://schemas.microsoft.com/office/drawing/2014/main" id="{DE7F6667-0422-1098-1040-806B7BF9D0EA}"/>
              </a:ext>
            </a:extLst>
          </p:cNvPr>
          <p:cNvSpPr txBox="1"/>
          <p:nvPr/>
        </p:nvSpPr>
        <p:spPr>
          <a:xfrm>
            <a:off x="6210990" y="375743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53" name="Straight Arrow Connector 52">
            <a:extLst>
              <a:ext uri="{FF2B5EF4-FFF2-40B4-BE49-F238E27FC236}">
                <a16:creationId xmlns:a16="http://schemas.microsoft.com/office/drawing/2014/main" id="{F5FE4A57-068D-CCE0-99A6-11734C0D8BB2}"/>
              </a:ext>
            </a:extLst>
          </p:cNvPr>
          <p:cNvCxnSpPr/>
          <p:nvPr/>
        </p:nvCxnSpPr>
        <p:spPr>
          <a:xfrm>
            <a:off x="8802734" y="374376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94A232D-CD42-25B5-D48A-D7B3EA7E9486}"/>
              </a:ext>
            </a:extLst>
          </p:cNvPr>
          <p:cNvSpPr txBox="1"/>
          <p:nvPr/>
        </p:nvSpPr>
        <p:spPr>
          <a:xfrm>
            <a:off x="6536454" y="3361919"/>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55" name="TextBox 54">
            <a:extLst>
              <a:ext uri="{FF2B5EF4-FFF2-40B4-BE49-F238E27FC236}">
                <a16:creationId xmlns:a16="http://schemas.microsoft.com/office/drawing/2014/main" id="{086F1A0C-02B6-C0E2-73DC-6B9CC1556C38}"/>
              </a:ext>
            </a:extLst>
          </p:cNvPr>
          <p:cNvSpPr txBox="1"/>
          <p:nvPr/>
        </p:nvSpPr>
        <p:spPr>
          <a:xfrm>
            <a:off x="9527760" y="3515346"/>
            <a:ext cx="2220850" cy="446632"/>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Modify Users/Access</a:t>
            </a:r>
            <a:endParaRPr lang="en-IN" sz="1400" dirty="0">
              <a:solidFill>
                <a:schemeClr val="tx2"/>
              </a:solidFill>
              <a:cs typeface="Tahoma" pitchFamily="34" charset="0"/>
            </a:endParaRPr>
          </a:p>
        </p:txBody>
      </p:sp>
      <p:sp>
        <p:nvSpPr>
          <p:cNvPr id="56" name="TextBox 55">
            <a:extLst>
              <a:ext uri="{FF2B5EF4-FFF2-40B4-BE49-F238E27FC236}">
                <a16:creationId xmlns:a16="http://schemas.microsoft.com/office/drawing/2014/main" id="{0676CB51-A39E-7734-1597-E1C3011BE92E}"/>
              </a:ext>
            </a:extLst>
          </p:cNvPr>
          <p:cNvSpPr txBox="1"/>
          <p:nvPr/>
        </p:nvSpPr>
        <p:spPr>
          <a:xfrm>
            <a:off x="7360641" y="4427058"/>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Create/Delete User</a:t>
            </a:r>
            <a:endParaRPr lang="en-IN" sz="1400" dirty="0">
              <a:solidFill>
                <a:schemeClr val="tx2"/>
              </a:solidFill>
              <a:cs typeface="Tahoma" pitchFamily="34" charset="0"/>
            </a:endParaRPr>
          </a:p>
        </p:txBody>
      </p:sp>
      <p:cxnSp>
        <p:nvCxnSpPr>
          <p:cNvPr id="57" name="Straight Arrow Connector 56">
            <a:extLst>
              <a:ext uri="{FF2B5EF4-FFF2-40B4-BE49-F238E27FC236}">
                <a16:creationId xmlns:a16="http://schemas.microsoft.com/office/drawing/2014/main" id="{8859ED95-0D20-C314-B2BA-7B1C12F3019C}"/>
              </a:ext>
            </a:extLst>
          </p:cNvPr>
          <p:cNvCxnSpPr>
            <a:cxnSpLocks/>
          </p:cNvCxnSpPr>
          <p:nvPr/>
        </p:nvCxnSpPr>
        <p:spPr>
          <a:xfrm>
            <a:off x="6805524" y="458977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8" name="Graphic 57" descr="User with solid fill">
            <a:extLst>
              <a:ext uri="{FF2B5EF4-FFF2-40B4-BE49-F238E27FC236}">
                <a16:creationId xmlns:a16="http://schemas.microsoft.com/office/drawing/2014/main" id="{87C2291D-1741-341F-62F9-FB1054DBEF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0308" y="4297165"/>
            <a:ext cx="484632" cy="484632"/>
          </a:xfrm>
          <a:prstGeom prst="rect">
            <a:avLst/>
          </a:prstGeom>
        </p:spPr>
      </p:pic>
      <p:sp>
        <p:nvSpPr>
          <p:cNvPr id="60" name="TextBox 59">
            <a:extLst>
              <a:ext uri="{FF2B5EF4-FFF2-40B4-BE49-F238E27FC236}">
                <a16:creationId xmlns:a16="http://schemas.microsoft.com/office/drawing/2014/main" id="{957C6CA1-7590-253F-A445-3848678B0A97}"/>
              </a:ext>
            </a:extLst>
          </p:cNvPr>
          <p:cNvSpPr txBox="1"/>
          <p:nvPr/>
        </p:nvSpPr>
        <p:spPr>
          <a:xfrm>
            <a:off x="6158403" y="4717600"/>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61" name="Straight Arrow Connector 60">
            <a:extLst>
              <a:ext uri="{FF2B5EF4-FFF2-40B4-BE49-F238E27FC236}">
                <a16:creationId xmlns:a16="http://schemas.microsoft.com/office/drawing/2014/main" id="{1414EBF1-450F-5316-181C-713BDF770F13}"/>
              </a:ext>
            </a:extLst>
          </p:cNvPr>
          <p:cNvCxnSpPr/>
          <p:nvPr/>
        </p:nvCxnSpPr>
        <p:spPr>
          <a:xfrm>
            <a:off x="8750147" y="4703935"/>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30C5173-4BFA-7596-2EB9-A811904D802E}"/>
              </a:ext>
            </a:extLst>
          </p:cNvPr>
          <p:cNvSpPr txBox="1"/>
          <p:nvPr/>
        </p:nvSpPr>
        <p:spPr>
          <a:xfrm>
            <a:off x="6483867" y="4322088"/>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3" name="TextBox 62">
            <a:extLst>
              <a:ext uri="{FF2B5EF4-FFF2-40B4-BE49-F238E27FC236}">
                <a16:creationId xmlns:a16="http://schemas.microsoft.com/office/drawing/2014/main" id="{6BB4496F-090D-80A9-7D64-A90AF16249C6}"/>
              </a:ext>
            </a:extLst>
          </p:cNvPr>
          <p:cNvSpPr txBox="1"/>
          <p:nvPr/>
        </p:nvSpPr>
        <p:spPr>
          <a:xfrm>
            <a:off x="9548723" y="4079967"/>
            <a:ext cx="2220850" cy="134247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It should take to the User creation tab/box</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Required details to be entered and User should be created</a:t>
            </a:r>
            <a:endParaRPr lang="en-IN" sz="1400" dirty="0">
              <a:solidFill>
                <a:schemeClr val="tx2"/>
              </a:solidFill>
              <a:cs typeface="Tahoma" pitchFamily="34" charset="0"/>
            </a:endParaRPr>
          </a:p>
        </p:txBody>
      </p:sp>
      <p:sp>
        <p:nvSpPr>
          <p:cNvPr id="64" name="Oval 63">
            <a:extLst>
              <a:ext uri="{FF2B5EF4-FFF2-40B4-BE49-F238E27FC236}">
                <a16:creationId xmlns:a16="http://schemas.microsoft.com/office/drawing/2014/main" id="{7CF66C52-633C-52DC-2BD9-E1F8E03087EE}"/>
              </a:ext>
            </a:extLst>
          </p:cNvPr>
          <p:cNvSpPr/>
          <p:nvPr/>
        </p:nvSpPr>
        <p:spPr>
          <a:xfrm>
            <a:off x="686768" y="3431532"/>
            <a:ext cx="549337" cy="30473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B</a:t>
            </a:r>
            <a:endParaRPr lang="en-IN" sz="1600" dirty="0"/>
          </a:p>
        </p:txBody>
      </p:sp>
      <p:sp>
        <p:nvSpPr>
          <p:cNvPr id="65" name="TextBox 64">
            <a:extLst>
              <a:ext uri="{FF2B5EF4-FFF2-40B4-BE49-F238E27FC236}">
                <a16:creationId xmlns:a16="http://schemas.microsoft.com/office/drawing/2014/main" id="{6B5233FF-3B79-3735-3EEB-C4AAE535E86E}"/>
              </a:ext>
            </a:extLst>
          </p:cNvPr>
          <p:cNvSpPr txBox="1"/>
          <p:nvPr/>
        </p:nvSpPr>
        <p:spPr>
          <a:xfrm>
            <a:off x="1166770" y="4751204"/>
            <a:ext cx="2247853" cy="28840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List of Users &amp; Details</a:t>
            </a:r>
            <a:endParaRPr lang="en-IN" sz="1400" dirty="0">
              <a:solidFill>
                <a:schemeClr val="tx2"/>
              </a:solidFill>
              <a:cs typeface="Tahoma" pitchFamily="34" charset="0"/>
            </a:endParaRPr>
          </a:p>
        </p:txBody>
      </p:sp>
      <p:sp>
        <p:nvSpPr>
          <p:cNvPr id="66" name="Rectangle: Rounded Corners 65">
            <a:extLst>
              <a:ext uri="{FF2B5EF4-FFF2-40B4-BE49-F238E27FC236}">
                <a16:creationId xmlns:a16="http://schemas.microsoft.com/office/drawing/2014/main" id="{23A2B8AF-6A61-149F-981F-72647A8BF973}"/>
              </a:ext>
            </a:extLst>
          </p:cNvPr>
          <p:cNvSpPr/>
          <p:nvPr/>
        </p:nvSpPr>
        <p:spPr>
          <a:xfrm>
            <a:off x="1176874" y="5130480"/>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69" name="Table 68">
            <a:extLst>
              <a:ext uri="{FF2B5EF4-FFF2-40B4-BE49-F238E27FC236}">
                <a16:creationId xmlns:a16="http://schemas.microsoft.com/office/drawing/2014/main" id="{FF2E2725-AEE8-731D-79D4-C2ACAD1E00D7}"/>
              </a:ext>
            </a:extLst>
          </p:cNvPr>
          <p:cNvGraphicFramePr>
            <a:graphicFrameLocks noGrp="1"/>
          </p:cNvGraphicFramePr>
          <p:nvPr>
            <p:extLst>
              <p:ext uri="{D42A27DB-BD31-4B8C-83A1-F6EECF244321}">
                <p14:modId xmlns:p14="http://schemas.microsoft.com/office/powerpoint/2010/main" val="581830959"/>
              </p:ext>
            </p:extLst>
          </p:nvPr>
        </p:nvGraphicFramePr>
        <p:xfrm>
          <a:off x="1365377" y="5200598"/>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Users </a:t>
                      </a:r>
                      <a:endParaRPr lang="en-IN" sz="900" dirty="0"/>
                    </a:p>
                  </a:txBody>
                  <a:tcPr/>
                </a:tc>
                <a:extLst>
                  <a:ext uri="{0D108BD9-81ED-4DB2-BD59-A6C34878D82A}">
                    <a16:rowId xmlns:a16="http://schemas.microsoft.com/office/drawing/2014/main" val="2202397540"/>
                  </a:ext>
                </a:extLst>
              </a:tr>
              <a:tr h="169015">
                <a:tc>
                  <a:txBody>
                    <a:bodyPr/>
                    <a:lstStyle/>
                    <a:p>
                      <a:r>
                        <a:rPr lang="en-US" sz="900" dirty="0"/>
                        <a:t>User 1</a:t>
                      </a:r>
                      <a:endParaRPr lang="en-IN" sz="900" dirty="0"/>
                    </a:p>
                  </a:txBody>
                  <a:tcPr/>
                </a:tc>
                <a:extLst>
                  <a:ext uri="{0D108BD9-81ED-4DB2-BD59-A6C34878D82A}">
                    <a16:rowId xmlns:a16="http://schemas.microsoft.com/office/drawing/2014/main" val="2362751832"/>
                  </a:ext>
                </a:extLst>
              </a:tr>
              <a:tr h="169015">
                <a:tc>
                  <a:txBody>
                    <a:bodyPr/>
                    <a:lstStyle/>
                    <a:p>
                      <a:r>
                        <a:rPr lang="en-US" sz="900" dirty="0"/>
                        <a:t>User 2</a:t>
                      </a:r>
                      <a:endParaRPr lang="en-IN" sz="900" dirty="0"/>
                    </a:p>
                  </a:txBody>
                  <a:tcPr/>
                </a:tc>
                <a:extLst>
                  <a:ext uri="{0D108BD9-81ED-4DB2-BD59-A6C34878D82A}">
                    <a16:rowId xmlns:a16="http://schemas.microsoft.com/office/drawing/2014/main" val="4142431679"/>
                  </a:ext>
                </a:extLst>
              </a:tr>
            </a:tbl>
          </a:graphicData>
        </a:graphic>
      </p:graphicFrame>
      <p:sp>
        <p:nvSpPr>
          <p:cNvPr id="70" name="TextBox 69">
            <a:extLst>
              <a:ext uri="{FF2B5EF4-FFF2-40B4-BE49-F238E27FC236}">
                <a16:creationId xmlns:a16="http://schemas.microsoft.com/office/drawing/2014/main" id="{1A5EBEFD-1244-948B-ABC8-8DC576BAF384}"/>
              </a:ext>
            </a:extLst>
          </p:cNvPr>
          <p:cNvSpPr txBox="1"/>
          <p:nvPr/>
        </p:nvSpPr>
        <p:spPr>
          <a:xfrm>
            <a:off x="7382740" y="5549941"/>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User Access</a:t>
            </a:r>
            <a:endParaRPr lang="en-IN" sz="1400" dirty="0">
              <a:solidFill>
                <a:schemeClr val="tx2"/>
              </a:solidFill>
              <a:cs typeface="Tahoma" pitchFamily="34" charset="0"/>
            </a:endParaRPr>
          </a:p>
        </p:txBody>
      </p:sp>
      <p:cxnSp>
        <p:nvCxnSpPr>
          <p:cNvPr id="90" name="Straight Arrow Connector 89">
            <a:extLst>
              <a:ext uri="{FF2B5EF4-FFF2-40B4-BE49-F238E27FC236}">
                <a16:creationId xmlns:a16="http://schemas.microsoft.com/office/drawing/2014/main" id="{A2E87081-0CF6-AF63-0472-37A77C502F0B}"/>
              </a:ext>
            </a:extLst>
          </p:cNvPr>
          <p:cNvCxnSpPr>
            <a:cxnSpLocks/>
          </p:cNvCxnSpPr>
          <p:nvPr/>
        </p:nvCxnSpPr>
        <p:spPr>
          <a:xfrm>
            <a:off x="6827623" y="571265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1" name="Graphic 90" descr="User with solid fill">
            <a:extLst>
              <a:ext uri="{FF2B5EF4-FFF2-40B4-BE49-F238E27FC236}">
                <a16:creationId xmlns:a16="http://schemas.microsoft.com/office/drawing/2014/main" id="{27E04374-4328-4E40-A263-7FD1C130E0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407" y="5420048"/>
            <a:ext cx="484632" cy="484632"/>
          </a:xfrm>
          <a:prstGeom prst="rect">
            <a:avLst/>
          </a:prstGeom>
        </p:spPr>
      </p:pic>
      <p:sp>
        <p:nvSpPr>
          <p:cNvPr id="92" name="TextBox 91">
            <a:extLst>
              <a:ext uri="{FF2B5EF4-FFF2-40B4-BE49-F238E27FC236}">
                <a16:creationId xmlns:a16="http://schemas.microsoft.com/office/drawing/2014/main" id="{FF6BBD0D-61CF-934F-AEDE-A84CE7222093}"/>
              </a:ext>
            </a:extLst>
          </p:cNvPr>
          <p:cNvSpPr txBox="1"/>
          <p:nvPr/>
        </p:nvSpPr>
        <p:spPr>
          <a:xfrm>
            <a:off x="6180502" y="584048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93" name="Straight Arrow Connector 92">
            <a:extLst>
              <a:ext uri="{FF2B5EF4-FFF2-40B4-BE49-F238E27FC236}">
                <a16:creationId xmlns:a16="http://schemas.microsoft.com/office/drawing/2014/main" id="{67013B6B-C3CB-3475-AC85-738B834BA1AB}"/>
              </a:ext>
            </a:extLst>
          </p:cNvPr>
          <p:cNvCxnSpPr/>
          <p:nvPr/>
        </p:nvCxnSpPr>
        <p:spPr>
          <a:xfrm>
            <a:off x="8772246" y="5826818"/>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2D3C146E-3256-869B-5AF6-4F7B6DF94674}"/>
              </a:ext>
            </a:extLst>
          </p:cNvPr>
          <p:cNvSpPr txBox="1"/>
          <p:nvPr/>
        </p:nvSpPr>
        <p:spPr>
          <a:xfrm>
            <a:off x="6505966" y="5444971"/>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95" name="TextBox 94">
            <a:extLst>
              <a:ext uri="{FF2B5EF4-FFF2-40B4-BE49-F238E27FC236}">
                <a16:creationId xmlns:a16="http://schemas.microsoft.com/office/drawing/2014/main" id="{44C96074-C185-22F8-064F-D2EF28BBA960}"/>
              </a:ext>
            </a:extLst>
          </p:cNvPr>
          <p:cNvSpPr txBox="1"/>
          <p:nvPr/>
        </p:nvSpPr>
        <p:spPr>
          <a:xfrm>
            <a:off x="9497271" y="5598397"/>
            <a:ext cx="2636531" cy="65474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Selection of Services</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Grant/Revoke Access </a:t>
            </a:r>
          </a:p>
          <a:p>
            <a:pPr marL="3175">
              <a:spcBef>
                <a:spcPts val="600"/>
              </a:spcBef>
              <a:spcAft>
                <a:spcPts val="600"/>
              </a:spcAft>
              <a:buClr>
                <a:srgbClr val="303030">
                  <a:lumMod val="50000"/>
                  <a:lumOff val="50000"/>
                </a:srgbClr>
              </a:buClr>
            </a:pPr>
            <a:r>
              <a:rPr lang="en-IN" sz="1400" dirty="0">
                <a:solidFill>
                  <a:schemeClr val="tx2"/>
                </a:solidFill>
                <a:cs typeface="Tahoma" pitchFamily="34" charset="0"/>
              </a:rPr>
              <a:t>To the respective services</a:t>
            </a:r>
          </a:p>
        </p:txBody>
      </p:sp>
      <p:cxnSp>
        <p:nvCxnSpPr>
          <p:cNvPr id="97" name="Straight Connector 96">
            <a:extLst>
              <a:ext uri="{FF2B5EF4-FFF2-40B4-BE49-F238E27FC236}">
                <a16:creationId xmlns:a16="http://schemas.microsoft.com/office/drawing/2014/main" id="{548AE54C-875E-8A90-9748-82842E9FB701}"/>
              </a:ext>
            </a:extLst>
          </p:cNvPr>
          <p:cNvCxnSpPr/>
          <p:nvPr/>
        </p:nvCxnSpPr>
        <p:spPr>
          <a:xfrm>
            <a:off x="606552" y="3362396"/>
            <a:ext cx="11373333" cy="0"/>
          </a:xfrm>
          <a:prstGeom prst="line">
            <a:avLst/>
          </a:prstGeom>
          <a:ln w="31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770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385A3B-3739-F9FD-DB10-F90E8E02FDEB}"/>
              </a:ext>
            </a:extLst>
          </p:cNvPr>
          <p:cNvSpPr/>
          <p:nvPr/>
        </p:nvSpPr>
        <p:spPr>
          <a:xfrm>
            <a:off x="792677" y="516312"/>
            <a:ext cx="4841748" cy="282901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8" name="Rectangle: Rounded Corners 17">
            <a:extLst>
              <a:ext uri="{FF2B5EF4-FFF2-40B4-BE49-F238E27FC236}">
                <a16:creationId xmlns:a16="http://schemas.microsoft.com/office/drawing/2014/main" id="{7071DF86-61C6-CDE3-A076-BDE30D0B0077}"/>
              </a:ext>
            </a:extLst>
          </p:cNvPr>
          <p:cNvSpPr/>
          <p:nvPr/>
        </p:nvSpPr>
        <p:spPr>
          <a:xfrm>
            <a:off x="965398" y="1200519"/>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a:xfrm>
            <a:off x="609600" y="6253146"/>
            <a:ext cx="10972800" cy="301625"/>
          </a:xfrm>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5" name="TextBox 4">
            <a:extLst>
              <a:ext uri="{FF2B5EF4-FFF2-40B4-BE49-F238E27FC236}">
                <a16:creationId xmlns:a16="http://schemas.microsoft.com/office/drawing/2014/main" id="{98AC192B-3F34-8817-86DE-4C15BE7CE9DB}"/>
              </a:ext>
            </a:extLst>
          </p:cNvPr>
          <p:cNvSpPr txBox="1"/>
          <p:nvPr/>
        </p:nvSpPr>
        <p:spPr>
          <a:xfrm>
            <a:off x="2484919" y="524921"/>
            <a:ext cx="1259008" cy="304739"/>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Datamart</a:t>
            </a:r>
            <a:endParaRPr lang="en-IN" sz="1600" dirty="0">
              <a:solidFill>
                <a:schemeClr val="bg1"/>
              </a:solidFill>
              <a:cs typeface="Tahoma" pitchFamily="34" charset="0"/>
            </a:endParaRPr>
          </a:p>
        </p:txBody>
      </p:sp>
      <p:sp>
        <p:nvSpPr>
          <p:cNvPr id="6" name="TextBox 5">
            <a:extLst>
              <a:ext uri="{FF2B5EF4-FFF2-40B4-BE49-F238E27FC236}">
                <a16:creationId xmlns:a16="http://schemas.microsoft.com/office/drawing/2014/main" id="{92A80422-97AB-699A-6FAA-B5BE5214ACE5}"/>
              </a:ext>
            </a:extLst>
          </p:cNvPr>
          <p:cNvSpPr txBox="1"/>
          <p:nvPr/>
        </p:nvSpPr>
        <p:spPr>
          <a:xfrm>
            <a:off x="1082884" y="903622"/>
            <a:ext cx="1920794" cy="30473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Raw Layer Tables</a:t>
            </a:r>
            <a:endParaRPr lang="en-IN" sz="1400" dirty="0">
              <a:solidFill>
                <a:schemeClr val="tx2"/>
              </a:solidFill>
              <a:cs typeface="Tahoma" pitchFamily="34" charset="0"/>
            </a:endParaRPr>
          </a:p>
        </p:txBody>
      </p:sp>
      <p:sp>
        <p:nvSpPr>
          <p:cNvPr id="7" name="TextBox 6">
            <a:extLst>
              <a:ext uri="{FF2B5EF4-FFF2-40B4-BE49-F238E27FC236}">
                <a16:creationId xmlns:a16="http://schemas.microsoft.com/office/drawing/2014/main" id="{4C200395-E3D8-B210-1C20-02C3A58CF913}"/>
              </a:ext>
            </a:extLst>
          </p:cNvPr>
          <p:cNvSpPr txBox="1"/>
          <p:nvPr/>
        </p:nvSpPr>
        <p:spPr>
          <a:xfrm>
            <a:off x="3643480" y="939135"/>
            <a:ext cx="1655989" cy="50081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Semi Curated Layer Tables</a:t>
            </a:r>
            <a:endParaRPr lang="en-IN" sz="1300" dirty="0">
              <a:solidFill>
                <a:schemeClr val="tx2"/>
              </a:solidFill>
              <a:cs typeface="Tahoma" pitchFamily="34" charset="0"/>
            </a:endParaRPr>
          </a:p>
        </p:txBody>
      </p:sp>
      <p:graphicFrame>
        <p:nvGraphicFramePr>
          <p:cNvPr id="17" name="Table 16">
            <a:extLst>
              <a:ext uri="{FF2B5EF4-FFF2-40B4-BE49-F238E27FC236}">
                <a16:creationId xmlns:a16="http://schemas.microsoft.com/office/drawing/2014/main" id="{A743AFA9-4FB9-CC07-8F4B-CC0B52652099}"/>
              </a:ext>
            </a:extLst>
          </p:cNvPr>
          <p:cNvGraphicFramePr>
            <a:graphicFrameLocks noGrp="1"/>
          </p:cNvGraphicFramePr>
          <p:nvPr>
            <p:extLst>
              <p:ext uri="{D42A27DB-BD31-4B8C-83A1-F6EECF244321}">
                <p14:modId xmlns:p14="http://schemas.microsoft.com/office/powerpoint/2010/main" val="874853719"/>
              </p:ext>
            </p:extLst>
          </p:nvPr>
        </p:nvGraphicFramePr>
        <p:xfrm>
          <a:off x="1153901" y="1270637"/>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List of Tables</a:t>
                      </a:r>
                      <a:endParaRPr lang="en-IN" sz="900" dirty="0"/>
                    </a:p>
                  </a:txBody>
                  <a:tcPr/>
                </a:tc>
                <a:extLst>
                  <a:ext uri="{0D108BD9-81ED-4DB2-BD59-A6C34878D82A}">
                    <a16:rowId xmlns:a16="http://schemas.microsoft.com/office/drawing/2014/main" val="2202397540"/>
                  </a:ext>
                </a:extLst>
              </a:tr>
              <a:tr h="169015">
                <a:tc>
                  <a:txBody>
                    <a:bodyPr/>
                    <a:lstStyle/>
                    <a:p>
                      <a:endParaRPr lang="en-IN" sz="900" dirty="0"/>
                    </a:p>
                  </a:txBody>
                  <a:tcPr/>
                </a:tc>
                <a:extLst>
                  <a:ext uri="{0D108BD9-81ED-4DB2-BD59-A6C34878D82A}">
                    <a16:rowId xmlns:a16="http://schemas.microsoft.com/office/drawing/2014/main" val="2362751832"/>
                  </a:ext>
                </a:extLst>
              </a:tr>
              <a:tr h="169015">
                <a:tc>
                  <a:txBody>
                    <a:bodyPr/>
                    <a:lstStyle/>
                    <a:p>
                      <a:endParaRPr lang="en-IN" sz="900" dirty="0"/>
                    </a:p>
                  </a:txBody>
                  <a:tcPr/>
                </a:tc>
                <a:extLst>
                  <a:ext uri="{0D108BD9-81ED-4DB2-BD59-A6C34878D82A}">
                    <a16:rowId xmlns:a16="http://schemas.microsoft.com/office/drawing/2014/main" val="4142431679"/>
                  </a:ext>
                </a:extLst>
              </a:tr>
            </a:tbl>
          </a:graphicData>
        </a:graphic>
      </p:graphicFrame>
      <p:sp>
        <p:nvSpPr>
          <p:cNvPr id="19" name="TextBox 18">
            <a:extLst>
              <a:ext uri="{FF2B5EF4-FFF2-40B4-BE49-F238E27FC236}">
                <a16:creationId xmlns:a16="http://schemas.microsoft.com/office/drawing/2014/main" id="{9626B970-88DC-FBD1-9DB4-0AEA388B5A4A}"/>
              </a:ext>
            </a:extLst>
          </p:cNvPr>
          <p:cNvSpPr txBox="1"/>
          <p:nvPr/>
        </p:nvSpPr>
        <p:spPr>
          <a:xfrm>
            <a:off x="7367101" y="1240453"/>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Tables the list</a:t>
            </a:r>
            <a:endParaRPr lang="en-IN" sz="1400" dirty="0">
              <a:solidFill>
                <a:schemeClr val="tx2"/>
              </a:solidFill>
              <a:cs typeface="Tahoma" pitchFamily="34" charset="0"/>
            </a:endParaRPr>
          </a:p>
        </p:txBody>
      </p:sp>
      <p:cxnSp>
        <p:nvCxnSpPr>
          <p:cNvPr id="20" name="Straight Arrow Connector 19">
            <a:extLst>
              <a:ext uri="{FF2B5EF4-FFF2-40B4-BE49-F238E27FC236}">
                <a16:creationId xmlns:a16="http://schemas.microsoft.com/office/drawing/2014/main" id="{C0D1CCD1-E9F8-3AEE-B32F-7CD7E57BB190}"/>
              </a:ext>
            </a:extLst>
          </p:cNvPr>
          <p:cNvCxnSpPr>
            <a:cxnSpLocks/>
          </p:cNvCxnSpPr>
          <p:nvPr/>
        </p:nvCxnSpPr>
        <p:spPr>
          <a:xfrm>
            <a:off x="6811984" y="140316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User with solid fill">
            <a:extLst>
              <a:ext uri="{FF2B5EF4-FFF2-40B4-BE49-F238E27FC236}">
                <a16:creationId xmlns:a16="http://schemas.microsoft.com/office/drawing/2014/main" id="{A6F154C1-472E-5E1D-0940-45DBFF5094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6768" y="1110560"/>
            <a:ext cx="484632" cy="484632"/>
          </a:xfrm>
          <a:prstGeom prst="rect">
            <a:avLst/>
          </a:prstGeom>
        </p:spPr>
      </p:pic>
      <p:sp>
        <p:nvSpPr>
          <p:cNvPr id="22" name="TextBox 21">
            <a:extLst>
              <a:ext uri="{FF2B5EF4-FFF2-40B4-BE49-F238E27FC236}">
                <a16:creationId xmlns:a16="http://schemas.microsoft.com/office/drawing/2014/main" id="{5B82C5C8-BF43-6507-236A-C24A5CB12397}"/>
              </a:ext>
            </a:extLst>
          </p:cNvPr>
          <p:cNvSpPr txBox="1"/>
          <p:nvPr/>
        </p:nvSpPr>
        <p:spPr>
          <a:xfrm>
            <a:off x="6164863" y="1530995"/>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24" name="Straight Arrow Connector 23">
            <a:extLst>
              <a:ext uri="{FF2B5EF4-FFF2-40B4-BE49-F238E27FC236}">
                <a16:creationId xmlns:a16="http://schemas.microsoft.com/office/drawing/2014/main" id="{1B07CA32-306B-8024-6EC3-81A68141A6BE}"/>
              </a:ext>
            </a:extLst>
          </p:cNvPr>
          <p:cNvCxnSpPr/>
          <p:nvPr/>
        </p:nvCxnSpPr>
        <p:spPr>
          <a:xfrm>
            <a:off x="8756607" y="1517330"/>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6A8CF0-40C8-AD66-F60C-F4B19A6D2133}"/>
              </a:ext>
            </a:extLst>
          </p:cNvPr>
          <p:cNvSpPr txBox="1"/>
          <p:nvPr/>
        </p:nvSpPr>
        <p:spPr>
          <a:xfrm>
            <a:off x="6490327" y="1135483"/>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27" name="TextBox 26">
            <a:extLst>
              <a:ext uri="{FF2B5EF4-FFF2-40B4-BE49-F238E27FC236}">
                <a16:creationId xmlns:a16="http://schemas.microsoft.com/office/drawing/2014/main" id="{2CF2798B-4412-0395-9F77-A170122CAEDB}"/>
              </a:ext>
            </a:extLst>
          </p:cNvPr>
          <p:cNvSpPr txBox="1"/>
          <p:nvPr/>
        </p:nvSpPr>
        <p:spPr>
          <a:xfrm>
            <a:off x="9497271" y="1148559"/>
            <a:ext cx="2220850" cy="601472"/>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Table structure will be displayed</a:t>
            </a:r>
            <a:endParaRPr lang="en-IN" sz="1400" dirty="0">
              <a:solidFill>
                <a:schemeClr val="tx2"/>
              </a:solidFill>
              <a:cs typeface="Tahoma" pitchFamily="34" charset="0"/>
            </a:endParaRPr>
          </a:p>
        </p:txBody>
      </p:sp>
      <p:sp>
        <p:nvSpPr>
          <p:cNvPr id="39" name="Oval 38">
            <a:extLst>
              <a:ext uri="{FF2B5EF4-FFF2-40B4-BE49-F238E27FC236}">
                <a16:creationId xmlns:a16="http://schemas.microsoft.com/office/drawing/2014/main" id="{FAAEB783-2DDE-42D8-E893-42C0E24F421E}"/>
              </a:ext>
            </a:extLst>
          </p:cNvPr>
          <p:cNvSpPr/>
          <p:nvPr/>
        </p:nvSpPr>
        <p:spPr>
          <a:xfrm>
            <a:off x="692093" y="264470"/>
            <a:ext cx="549337" cy="30473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C</a:t>
            </a:r>
            <a:endParaRPr lang="en-IN" sz="1600" dirty="0"/>
          </a:p>
        </p:txBody>
      </p:sp>
      <p:sp>
        <p:nvSpPr>
          <p:cNvPr id="40" name="Rectangle: Rounded Corners 39">
            <a:extLst>
              <a:ext uri="{FF2B5EF4-FFF2-40B4-BE49-F238E27FC236}">
                <a16:creationId xmlns:a16="http://schemas.microsoft.com/office/drawing/2014/main" id="{0495AA4B-B277-5AA8-AB82-66E335933841}"/>
              </a:ext>
            </a:extLst>
          </p:cNvPr>
          <p:cNvSpPr/>
          <p:nvPr/>
        </p:nvSpPr>
        <p:spPr>
          <a:xfrm>
            <a:off x="787352" y="3683373"/>
            <a:ext cx="4841748" cy="25242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43" name="TextBox 42">
            <a:extLst>
              <a:ext uri="{FF2B5EF4-FFF2-40B4-BE49-F238E27FC236}">
                <a16:creationId xmlns:a16="http://schemas.microsoft.com/office/drawing/2014/main" id="{4BCB5D7B-7524-1219-5CD5-90B27944274D}"/>
              </a:ext>
            </a:extLst>
          </p:cNvPr>
          <p:cNvSpPr txBox="1"/>
          <p:nvPr/>
        </p:nvSpPr>
        <p:spPr>
          <a:xfrm>
            <a:off x="1803721" y="3691983"/>
            <a:ext cx="2596665" cy="287195"/>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Product Services</a:t>
            </a:r>
            <a:endParaRPr lang="en-IN" sz="1600" dirty="0">
              <a:solidFill>
                <a:schemeClr val="bg1"/>
              </a:solidFill>
              <a:cs typeface="Tahoma" pitchFamily="34" charset="0"/>
            </a:endParaRPr>
          </a:p>
        </p:txBody>
      </p:sp>
      <p:sp>
        <p:nvSpPr>
          <p:cNvPr id="44" name="TextBox 43">
            <a:extLst>
              <a:ext uri="{FF2B5EF4-FFF2-40B4-BE49-F238E27FC236}">
                <a16:creationId xmlns:a16="http://schemas.microsoft.com/office/drawing/2014/main" id="{9311CEA2-4ED8-C837-C9E6-63CF515ED49C}"/>
              </a:ext>
            </a:extLst>
          </p:cNvPr>
          <p:cNvSpPr txBox="1"/>
          <p:nvPr/>
        </p:nvSpPr>
        <p:spPr>
          <a:xfrm>
            <a:off x="1166770" y="4089260"/>
            <a:ext cx="1920794" cy="304738"/>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TERRA Extractors</a:t>
            </a:r>
            <a:endParaRPr lang="en-IN" sz="1400" dirty="0">
              <a:solidFill>
                <a:schemeClr val="tx2"/>
              </a:solidFill>
              <a:cs typeface="Tahoma" pitchFamily="34" charset="0"/>
            </a:endParaRPr>
          </a:p>
        </p:txBody>
      </p:sp>
      <p:sp>
        <p:nvSpPr>
          <p:cNvPr id="45" name="TextBox 44">
            <a:extLst>
              <a:ext uri="{FF2B5EF4-FFF2-40B4-BE49-F238E27FC236}">
                <a16:creationId xmlns:a16="http://schemas.microsoft.com/office/drawing/2014/main" id="{2590F334-CA25-DA31-D431-C91AE5073515}"/>
              </a:ext>
            </a:extLst>
          </p:cNvPr>
          <p:cNvSpPr txBox="1"/>
          <p:nvPr/>
        </p:nvSpPr>
        <p:spPr>
          <a:xfrm>
            <a:off x="3717401" y="4085445"/>
            <a:ext cx="1523704" cy="30473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TERRA </a:t>
            </a:r>
            <a:r>
              <a:rPr lang="en-US" sz="1300" dirty="0" err="1">
                <a:solidFill>
                  <a:schemeClr val="tx2"/>
                </a:solidFill>
                <a:cs typeface="Tahoma" pitchFamily="34" charset="0"/>
              </a:rPr>
              <a:t>PIpelines</a:t>
            </a:r>
            <a:endParaRPr lang="en-IN" sz="1300" dirty="0">
              <a:solidFill>
                <a:schemeClr val="tx2"/>
              </a:solidFill>
              <a:cs typeface="Tahoma" pitchFamily="34" charset="0"/>
            </a:endParaRPr>
          </a:p>
        </p:txBody>
      </p:sp>
      <p:sp>
        <p:nvSpPr>
          <p:cNvPr id="49" name="TextBox 48">
            <a:extLst>
              <a:ext uri="{FF2B5EF4-FFF2-40B4-BE49-F238E27FC236}">
                <a16:creationId xmlns:a16="http://schemas.microsoft.com/office/drawing/2014/main" id="{9A58A5EA-329B-16F3-BC7C-3E9931B7A6F3}"/>
              </a:ext>
            </a:extLst>
          </p:cNvPr>
          <p:cNvSpPr txBox="1"/>
          <p:nvPr/>
        </p:nvSpPr>
        <p:spPr>
          <a:xfrm>
            <a:off x="7413228" y="3466889"/>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TERRA Extractors </a:t>
            </a:r>
            <a:endParaRPr lang="en-IN" sz="1400" dirty="0">
              <a:solidFill>
                <a:schemeClr val="tx2"/>
              </a:solidFill>
              <a:cs typeface="Tahoma" pitchFamily="34" charset="0"/>
            </a:endParaRPr>
          </a:p>
        </p:txBody>
      </p:sp>
      <p:cxnSp>
        <p:nvCxnSpPr>
          <p:cNvPr id="50" name="Straight Arrow Connector 49">
            <a:extLst>
              <a:ext uri="{FF2B5EF4-FFF2-40B4-BE49-F238E27FC236}">
                <a16:creationId xmlns:a16="http://schemas.microsoft.com/office/drawing/2014/main" id="{65370F53-761D-726C-1904-2935C2F654ED}"/>
              </a:ext>
            </a:extLst>
          </p:cNvPr>
          <p:cNvCxnSpPr>
            <a:cxnSpLocks/>
          </p:cNvCxnSpPr>
          <p:nvPr/>
        </p:nvCxnSpPr>
        <p:spPr>
          <a:xfrm>
            <a:off x="6858111" y="3629603"/>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1" name="Graphic 50" descr="User with solid fill">
            <a:extLst>
              <a:ext uri="{FF2B5EF4-FFF2-40B4-BE49-F238E27FC236}">
                <a16:creationId xmlns:a16="http://schemas.microsoft.com/office/drawing/2014/main" id="{1FD7913F-1F2F-7DBA-8F38-4E4B8252AA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72895" y="3336996"/>
            <a:ext cx="484632" cy="484632"/>
          </a:xfrm>
          <a:prstGeom prst="rect">
            <a:avLst/>
          </a:prstGeom>
        </p:spPr>
      </p:pic>
      <p:sp>
        <p:nvSpPr>
          <p:cNvPr id="52" name="TextBox 51">
            <a:extLst>
              <a:ext uri="{FF2B5EF4-FFF2-40B4-BE49-F238E27FC236}">
                <a16:creationId xmlns:a16="http://schemas.microsoft.com/office/drawing/2014/main" id="{DE7F6667-0422-1098-1040-806B7BF9D0EA}"/>
              </a:ext>
            </a:extLst>
          </p:cNvPr>
          <p:cNvSpPr txBox="1"/>
          <p:nvPr/>
        </p:nvSpPr>
        <p:spPr>
          <a:xfrm>
            <a:off x="6210990" y="375743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53" name="Straight Arrow Connector 52">
            <a:extLst>
              <a:ext uri="{FF2B5EF4-FFF2-40B4-BE49-F238E27FC236}">
                <a16:creationId xmlns:a16="http://schemas.microsoft.com/office/drawing/2014/main" id="{F5FE4A57-068D-CCE0-99A6-11734C0D8BB2}"/>
              </a:ext>
            </a:extLst>
          </p:cNvPr>
          <p:cNvCxnSpPr/>
          <p:nvPr/>
        </p:nvCxnSpPr>
        <p:spPr>
          <a:xfrm>
            <a:off x="8802734" y="374376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94A232D-CD42-25B5-D48A-D7B3EA7E9486}"/>
              </a:ext>
            </a:extLst>
          </p:cNvPr>
          <p:cNvSpPr txBox="1"/>
          <p:nvPr/>
        </p:nvSpPr>
        <p:spPr>
          <a:xfrm>
            <a:off x="6536454" y="3361919"/>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55" name="TextBox 54">
            <a:extLst>
              <a:ext uri="{FF2B5EF4-FFF2-40B4-BE49-F238E27FC236}">
                <a16:creationId xmlns:a16="http://schemas.microsoft.com/office/drawing/2014/main" id="{086F1A0C-02B6-C0E2-73DC-6B9CC1556C38}"/>
              </a:ext>
            </a:extLst>
          </p:cNvPr>
          <p:cNvSpPr txBox="1"/>
          <p:nvPr/>
        </p:nvSpPr>
        <p:spPr>
          <a:xfrm>
            <a:off x="9527760" y="3429001"/>
            <a:ext cx="2452126" cy="39262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000" dirty="0">
                <a:solidFill>
                  <a:schemeClr val="tx2"/>
                </a:solidFill>
                <a:cs typeface="Tahoma" pitchFamily="34" charset="0"/>
              </a:rPr>
              <a:t>List of Prebuilt Extractors, List of Extractors across Accounts, Create Extractors</a:t>
            </a:r>
            <a:endParaRPr lang="en-IN" sz="1000" dirty="0">
              <a:solidFill>
                <a:schemeClr val="tx2"/>
              </a:solidFill>
              <a:cs typeface="Tahoma" pitchFamily="34" charset="0"/>
            </a:endParaRPr>
          </a:p>
        </p:txBody>
      </p:sp>
      <p:sp>
        <p:nvSpPr>
          <p:cNvPr id="56" name="TextBox 55">
            <a:extLst>
              <a:ext uri="{FF2B5EF4-FFF2-40B4-BE49-F238E27FC236}">
                <a16:creationId xmlns:a16="http://schemas.microsoft.com/office/drawing/2014/main" id="{0676CB51-A39E-7734-1597-E1C3011BE92E}"/>
              </a:ext>
            </a:extLst>
          </p:cNvPr>
          <p:cNvSpPr txBox="1"/>
          <p:nvPr/>
        </p:nvSpPr>
        <p:spPr>
          <a:xfrm>
            <a:off x="7360641" y="4427058"/>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TERRA PIPELINES</a:t>
            </a:r>
            <a:endParaRPr lang="en-IN" sz="1400" dirty="0">
              <a:solidFill>
                <a:schemeClr val="tx2"/>
              </a:solidFill>
              <a:cs typeface="Tahoma" pitchFamily="34" charset="0"/>
            </a:endParaRPr>
          </a:p>
        </p:txBody>
      </p:sp>
      <p:cxnSp>
        <p:nvCxnSpPr>
          <p:cNvPr id="57" name="Straight Arrow Connector 56">
            <a:extLst>
              <a:ext uri="{FF2B5EF4-FFF2-40B4-BE49-F238E27FC236}">
                <a16:creationId xmlns:a16="http://schemas.microsoft.com/office/drawing/2014/main" id="{8859ED95-0D20-C314-B2BA-7B1C12F3019C}"/>
              </a:ext>
            </a:extLst>
          </p:cNvPr>
          <p:cNvCxnSpPr>
            <a:cxnSpLocks/>
          </p:cNvCxnSpPr>
          <p:nvPr/>
        </p:nvCxnSpPr>
        <p:spPr>
          <a:xfrm>
            <a:off x="6805524" y="458977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8" name="Graphic 57" descr="User with solid fill">
            <a:extLst>
              <a:ext uri="{FF2B5EF4-FFF2-40B4-BE49-F238E27FC236}">
                <a16:creationId xmlns:a16="http://schemas.microsoft.com/office/drawing/2014/main" id="{87C2291D-1741-341F-62F9-FB1054DBEF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0308" y="4297165"/>
            <a:ext cx="484632" cy="484632"/>
          </a:xfrm>
          <a:prstGeom prst="rect">
            <a:avLst/>
          </a:prstGeom>
        </p:spPr>
      </p:pic>
      <p:sp>
        <p:nvSpPr>
          <p:cNvPr id="60" name="TextBox 59">
            <a:extLst>
              <a:ext uri="{FF2B5EF4-FFF2-40B4-BE49-F238E27FC236}">
                <a16:creationId xmlns:a16="http://schemas.microsoft.com/office/drawing/2014/main" id="{957C6CA1-7590-253F-A445-3848678B0A97}"/>
              </a:ext>
            </a:extLst>
          </p:cNvPr>
          <p:cNvSpPr txBox="1"/>
          <p:nvPr/>
        </p:nvSpPr>
        <p:spPr>
          <a:xfrm>
            <a:off x="6158403" y="4717600"/>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61" name="Straight Arrow Connector 60">
            <a:extLst>
              <a:ext uri="{FF2B5EF4-FFF2-40B4-BE49-F238E27FC236}">
                <a16:creationId xmlns:a16="http://schemas.microsoft.com/office/drawing/2014/main" id="{1414EBF1-450F-5316-181C-713BDF770F13}"/>
              </a:ext>
            </a:extLst>
          </p:cNvPr>
          <p:cNvCxnSpPr/>
          <p:nvPr/>
        </p:nvCxnSpPr>
        <p:spPr>
          <a:xfrm>
            <a:off x="8750147" y="4703935"/>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30C5173-4BFA-7596-2EB9-A811904D802E}"/>
              </a:ext>
            </a:extLst>
          </p:cNvPr>
          <p:cNvSpPr txBox="1"/>
          <p:nvPr/>
        </p:nvSpPr>
        <p:spPr>
          <a:xfrm>
            <a:off x="6483867" y="4322088"/>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4" name="Oval 63">
            <a:extLst>
              <a:ext uri="{FF2B5EF4-FFF2-40B4-BE49-F238E27FC236}">
                <a16:creationId xmlns:a16="http://schemas.microsoft.com/office/drawing/2014/main" id="{7CF66C52-633C-52DC-2BD9-E1F8E03087EE}"/>
              </a:ext>
            </a:extLst>
          </p:cNvPr>
          <p:cNvSpPr/>
          <p:nvPr/>
        </p:nvSpPr>
        <p:spPr>
          <a:xfrm>
            <a:off x="686768" y="3431532"/>
            <a:ext cx="549337" cy="30473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D</a:t>
            </a:r>
            <a:endParaRPr lang="en-IN" sz="1600" dirty="0"/>
          </a:p>
        </p:txBody>
      </p:sp>
      <p:sp>
        <p:nvSpPr>
          <p:cNvPr id="65" name="TextBox 64">
            <a:extLst>
              <a:ext uri="{FF2B5EF4-FFF2-40B4-BE49-F238E27FC236}">
                <a16:creationId xmlns:a16="http://schemas.microsoft.com/office/drawing/2014/main" id="{6B5233FF-3B79-3735-3EEB-C4AAE535E86E}"/>
              </a:ext>
            </a:extLst>
          </p:cNvPr>
          <p:cNvSpPr txBox="1"/>
          <p:nvPr/>
        </p:nvSpPr>
        <p:spPr>
          <a:xfrm>
            <a:off x="1978126" y="5706282"/>
            <a:ext cx="2247853" cy="28840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TERRA DQM</a:t>
            </a:r>
            <a:endParaRPr lang="en-IN" sz="1400" dirty="0">
              <a:solidFill>
                <a:schemeClr val="tx2"/>
              </a:solidFill>
              <a:cs typeface="Tahoma" pitchFamily="34" charset="0"/>
            </a:endParaRPr>
          </a:p>
        </p:txBody>
      </p:sp>
      <p:sp>
        <p:nvSpPr>
          <p:cNvPr id="70" name="TextBox 69">
            <a:extLst>
              <a:ext uri="{FF2B5EF4-FFF2-40B4-BE49-F238E27FC236}">
                <a16:creationId xmlns:a16="http://schemas.microsoft.com/office/drawing/2014/main" id="{1A5EBEFD-1244-948B-ABC8-8DC576BAF384}"/>
              </a:ext>
            </a:extLst>
          </p:cNvPr>
          <p:cNvSpPr txBox="1"/>
          <p:nvPr/>
        </p:nvSpPr>
        <p:spPr>
          <a:xfrm>
            <a:off x="7382740" y="5549941"/>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TERRA DQM</a:t>
            </a:r>
            <a:endParaRPr lang="en-IN" sz="1400" dirty="0">
              <a:solidFill>
                <a:schemeClr val="tx2"/>
              </a:solidFill>
              <a:cs typeface="Tahoma" pitchFamily="34" charset="0"/>
            </a:endParaRPr>
          </a:p>
        </p:txBody>
      </p:sp>
      <p:cxnSp>
        <p:nvCxnSpPr>
          <p:cNvPr id="90" name="Straight Arrow Connector 89">
            <a:extLst>
              <a:ext uri="{FF2B5EF4-FFF2-40B4-BE49-F238E27FC236}">
                <a16:creationId xmlns:a16="http://schemas.microsoft.com/office/drawing/2014/main" id="{A2E87081-0CF6-AF63-0472-37A77C502F0B}"/>
              </a:ext>
            </a:extLst>
          </p:cNvPr>
          <p:cNvCxnSpPr>
            <a:cxnSpLocks/>
          </p:cNvCxnSpPr>
          <p:nvPr/>
        </p:nvCxnSpPr>
        <p:spPr>
          <a:xfrm>
            <a:off x="6827623" y="571265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1" name="Graphic 90" descr="User with solid fill">
            <a:extLst>
              <a:ext uri="{FF2B5EF4-FFF2-40B4-BE49-F238E27FC236}">
                <a16:creationId xmlns:a16="http://schemas.microsoft.com/office/drawing/2014/main" id="{27E04374-4328-4E40-A263-7FD1C130E0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407" y="5420048"/>
            <a:ext cx="484632" cy="484632"/>
          </a:xfrm>
          <a:prstGeom prst="rect">
            <a:avLst/>
          </a:prstGeom>
        </p:spPr>
      </p:pic>
      <p:sp>
        <p:nvSpPr>
          <p:cNvPr id="92" name="TextBox 91">
            <a:extLst>
              <a:ext uri="{FF2B5EF4-FFF2-40B4-BE49-F238E27FC236}">
                <a16:creationId xmlns:a16="http://schemas.microsoft.com/office/drawing/2014/main" id="{FF6BBD0D-61CF-934F-AEDE-A84CE7222093}"/>
              </a:ext>
            </a:extLst>
          </p:cNvPr>
          <p:cNvSpPr txBox="1"/>
          <p:nvPr/>
        </p:nvSpPr>
        <p:spPr>
          <a:xfrm>
            <a:off x="6180502" y="584048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93" name="Straight Arrow Connector 92">
            <a:extLst>
              <a:ext uri="{FF2B5EF4-FFF2-40B4-BE49-F238E27FC236}">
                <a16:creationId xmlns:a16="http://schemas.microsoft.com/office/drawing/2014/main" id="{67013B6B-C3CB-3475-AC85-738B834BA1AB}"/>
              </a:ext>
            </a:extLst>
          </p:cNvPr>
          <p:cNvCxnSpPr/>
          <p:nvPr/>
        </p:nvCxnSpPr>
        <p:spPr>
          <a:xfrm>
            <a:off x="8772246" y="5826818"/>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2D3C146E-3256-869B-5AF6-4F7B6DF94674}"/>
              </a:ext>
            </a:extLst>
          </p:cNvPr>
          <p:cNvSpPr txBox="1"/>
          <p:nvPr/>
        </p:nvSpPr>
        <p:spPr>
          <a:xfrm>
            <a:off x="6505966" y="5444971"/>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95" name="TextBox 94">
            <a:extLst>
              <a:ext uri="{FF2B5EF4-FFF2-40B4-BE49-F238E27FC236}">
                <a16:creationId xmlns:a16="http://schemas.microsoft.com/office/drawing/2014/main" id="{44C96074-C185-22F8-064F-D2EF28BBA960}"/>
              </a:ext>
            </a:extLst>
          </p:cNvPr>
          <p:cNvSpPr txBox="1"/>
          <p:nvPr/>
        </p:nvSpPr>
        <p:spPr>
          <a:xfrm>
            <a:off x="9497271" y="5683867"/>
            <a:ext cx="2636531" cy="301625"/>
          </a:xfrm>
          <a:prstGeom prst="rect">
            <a:avLst/>
          </a:prstGeom>
          <a:solidFill>
            <a:schemeClr val="bg1">
              <a:lumMod val="75000"/>
            </a:schemeClr>
          </a:solidFill>
        </p:spPr>
        <p:txBody>
          <a:bodyPr wrap="square" rtlCol="0">
            <a:noAutofit/>
          </a:bodyPr>
          <a:lstStyle>
            <a:defPPr>
              <a:defRPr lang="en-US"/>
            </a:defPPr>
            <a:lvl1pPr marL="3175">
              <a:spcBef>
                <a:spcPts val="600"/>
              </a:spcBef>
              <a:spcAft>
                <a:spcPts val="600"/>
              </a:spcAft>
              <a:buClr>
                <a:srgbClr val="303030">
                  <a:lumMod val="50000"/>
                  <a:lumOff val="50000"/>
                </a:srgbClr>
              </a:buClr>
              <a:defRPr sz="1000">
                <a:solidFill>
                  <a:schemeClr val="tx2"/>
                </a:solidFill>
                <a:cs typeface="Tahoma" pitchFamily="34" charset="0"/>
              </a:defRPr>
            </a:lvl1pPr>
          </a:lstStyle>
          <a:p>
            <a:r>
              <a:rPr lang="en-US" dirty="0"/>
              <a:t>List of DQ rules, Create DQ rules</a:t>
            </a:r>
            <a:endParaRPr lang="en-IN" dirty="0"/>
          </a:p>
        </p:txBody>
      </p:sp>
      <p:cxnSp>
        <p:nvCxnSpPr>
          <p:cNvPr id="97" name="Straight Connector 96">
            <a:extLst>
              <a:ext uri="{FF2B5EF4-FFF2-40B4-BE49-F238E27FC236}">
                <a16:creationId xmlns:a16="http://schemas.microsoft.com/office/drawing/2014/main" id="{548AE54C-875E-8A90-9748-82842E9FB701}"/>
              </a:ext>
            </a:extLst>
          </p:cNvPr>
          <p:cNvCxnSpPr/>
          <p:nvPr/>
        </p:nvCxnSpPr>
        <p:spPr>
          <a:xfrm>
            <a:off x="606552" y="3362396"/>
            <a:ext cx="11373333" cy="0"/>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EC0BB09-D3F9-EAC0-0C85-FE69ED388524}"/>
              </a:ext>
            </a:extLst>
          </p:cNvPr>
          <p:cNvSpPr txBox="1"/>
          <p:nvPr/>
        </p:nvSpPr>
        <p:spPr>
          <a:xfrm>
            <a:off x="2360981" y="2190210"/>
            <a:ext cx="1655989" cy="39632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Common Data Model</a:t>
            </a:r>
            <a:endParaRPr lang="en-IN" sz="1300" dirty="0">
              <a:solidFill>
                <a:schemeClr val="tx2"/>
              </a:solidFill>
              <a:cs typeface="Tahoma" pitchFamily="34" charset="0"/>
            </a:endParaRPr>
          </a:p>
        </p:txBody>
      </p:sp>
      <p:sp>
        <p:nvSpPr>
          <p:cNvPr id="12" name="Rectangle: Rounded Corners 11">
            <a:extLst>
              <a:ext uri="{FF2B5EF4-FFF2-40B4-BE49-F238E27FC236}">
                <a16:creationId xmlns:a16="http://schemas.microsoft.com/office/drawing/2014/main" id="{839D4A6D-9AC4-2BEB-2F5D-A6E0BF6ED0E2}"/>
              </a:ext>
            </a:extLst>
          </p:cNvPr>
          <p:cNvSpPr/>
          <p:nvPr/>
        </p:nvSpPr>
        <p:spPr>
          <a:xfrm>
            <a:off x="3352168" y="1362501"/>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13" name="Table 12">
            <a:extLst>
              <a:ext uri="{FF2B5EF4-FFF2-40B4-BE49-F238E27FC236}">
                <a16:creationId xmlns:a16="http://schemas.microsoft.com/office/drawing/2014/main" id="{FD5BDBE0-F0DD-CC9C-BF2F-C12A171FDA08}"/>
              </a:ext>
            </a:extLst>
          </p:cNvPr>
          <p:cNvGraphicFramePr>
            <a:graphicFrameLocks noGrp="1"/>
          </p:cNvGraphicFramePr>
          <p:nvPr>
            <p:extLst>
              <p:ext uri="{D42A27DB-BD31-4B8C-83A1-F6EECF244321}">
                <p14:modId xmlns:p14="http://schemas.microsoft.com/office/powerpoint/2010/main" val="1827703140"/>
              </p:ext>
            </p:extLst>
          </p:nvPr>
        </p:nvGraphicFramePr>
        <p:xfrm>
          <a:off x="3540671" y="1432619"/>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List of Tables</a:t>
                      </a:r>
                      <a:endParaRPr lang="en-IN" sz="900" dirty="0"/>
                    </a:p>
                  </a:txBody>
                  <a:tcPr/>
                </a:tc>
                <a:extLst>
                  <a:ext uri="{0D108BD9-81ED-4DB2-BD59-A6C34878D82A}">
                    <a16:rowId xmlns:a16="http://schemas.microsoft.com/office/drawing/2014/main" val="2202397540"/>
                  </a:ext>
                </a:extLst>
              </a:tr>
              <a:tr h="169015">
                <a:tc>
                  <a:txBody>
                    <a:bodyPr/>
                    <a:lstStyle/>
                    <a:p>
                      <a:endParaRPr lang="en-IN" sz="900" dirty="0"/>
                    </a:p>
                  </a:txBody>
                  <a:tcPr/>
                </a:tc>
                <a:extLst>
                  <a:ext uri="{0D108BD9-81ED-4DB2-BD59-A6C34878D82A}">
                    <a16:rowId xmlns:a16="http://schemas.microsoft.com/office/drawing/2014/main" val="2362751832"/>
                  </a:ext>
                </a:extLst>
              </a:tr>
              <a:tr h="169015">
                <a:tc>
                  <a:txBody>
                    <a:bodyPr/>
                    <a:lstStyle/>
                    <a:p>
                      <a:endParaRPr lang="en-IN" sz="900" dirty="0"/>
                    </a:p>
                  </a:txBody>
                  <a:tcPr/>
                </a:tc>
                <a:extLst>
                  <a:ext uri="{0D108BD9-81ED-4DB2-BD59-A6C34878D82A}">
                    <a16:rowId xmlns:a16="http://schemas.microsoft.com/office/drawing/2014/main" val="4142431679"/>
                  </a:ext>
                </a:extLst>
              </a:tr>
            </a:tbl>
          </a:graphicData>
        </a:graphic>
      </p:graphicFrame>
      <p:sp>
        <p:nvSpPr>
          <p:cNvPr id="14" name="Rectangle: Rounded Corners 13">
            <a:extLst>
              <a:ext uri="{FF2B5EF4-FFF2-40B4-BE49-F238E27FC236}">
                <a16:creationId xmlns:a16="http://schemas.microsoft.com/office/drawing/2014/main" id="{299667F3-BD29-EB9C-E47C-4499A264F342}"/>
              </a:ext>
            </a:extLst>
          </p:cNvPr>
          <p:cNvSpPr/>
          <p:nvPr/>
        </p:nvSpPr>
        <p:spPr>
          <a:xfrm>
            <a:off x="2112167" y="2457417"/>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16" name="Table 15">
            <a:extLst>
              <a:ext uri="{FF2B5EF4-FFF2-40B4-BE49-F238E27FC236}">
                <a16:creationId xmlns:a16="http://schemas.microsoft.com/office/drawing/2014/main" id="{4DE968C4-7BCC-FF6A-2361-E43FA5B68BBE}"/>
              </a:ext>
            </a:extLst>
          </p:cNvPr>
          <p:cNvGraphicFramePr>
            <a:graphicFrameLocks noGrp="1"/>
          </p:cNvGraphicFramePr>
          <p:nvPr>
            <p:extLst>
              <p:ext uri="{D42A27DB-BD31-4B8C-83A1-F6EECF244321}">
                <p14:modId xmlns:p14="http://schemas.microsoft.com/office/powerpoint/2010/main" val="708052024"/>
              </p:ext>
            </p:extLst>
          </p:nvPr>
        </p:nvGraphicFramePr>
        <p:xfrm>
          <a:off x="2300670" y="2527535"/>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List of Tables</a:t>
                      </a:r>
                      <a:endParaRPr lang="en-IN" sz="900" dirty="0"/>
                    </a:p>
                  </a:txBody>
                  <a:tcPr/>
                </a:tc>
                <a:extLst>
                  <a:ext uri="{0D108BD9-81ED-4DB2-BD59-A6C34878D82A}">
                    <a16:rowId xmlns:a16="http://schemas.microsoft.com/office/drawing/2014/main" val="2202397540"/>
                  </a:ext>
                </a:extLst>
              </a:tr>
              <a:tr h="169015">
                <a:tc>
                  <a:txBody>
                    <a:bodyPr/>
                    <a:lstStyle/>
                    <a:p>
                      <a:endParaRPr lang="en-IN" sz="900" dirty="0"/>
                    </a:p>
                  </a:txBody>
                  <a:tcPr/>
                </a:tc>
                <a:extLst>
                  <a:ext uri="{0D108BD9-81ED-4DB2-BD59-A6C34878D82A}">
                    <a16:rowId xmlns:a16="http://schemas.microsoft.com/office/drawing/2014/main" val="2362751832"/>
                  </a:ext>
                </a:extLst>
              </a:tr>
              <a:tr h="169015">
                <a:tc>
                  <a:txBody>
                    <a:bodyPr/>
                    <a:lstStyle/>
                    <a:p>
                      <a:endParaRPr lang="en-IN" sz="900" dirty="0"/>
                    </a:p>
                  </a:txBody>
                  <a:tcPr/>
                </a:tc>
                <a:extLst>
                  <a:ext uri="{0D108BD9-81ED-4DB2-BD59-A6C34878D82A}">
                    <a16:rowId xmlns:a16="http://schemas.microsoft.com/office/drawing/2014/main" val="4142431679"/>
                  </a:ext>
                </a:extLst>
              </a:tr>
            </a:tbl>
          </a:graphicData>
        </a:graphic>
      </p:graphicFrame>
      <p:cxnSp>
        <p:nvCxnSpPr>
          <p:cNvPr id="26" name="Connector: Elbow 25">
            <a:extLst>
              <a:ext uri="{FF2B5EF4-FFF2-40B4-BE49-F238E27FC236}">
                <a16:creationId xmlns:a16="http://schemas.microsoft.com/office/drawing/2014/main" id="{11C88DEB-964B-2630-2A99-589C66458054}"/>
              </a:ext>
            </a:extLst>
          </p:cNvPr>
          <p:cNvCxnSpPr>
            <a:cxnSpLocks/>
          </p:cNvCxnSpPr>
          <p:nvPr/>
        </p:nvCxnSpPr>
        <p:spPr>
          <a:xfrm rot="5400000">
            <a:off x="1157581" y="4468706"/>
            <a:ext cx="499488" cy="342440"/>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3C90E9CF-BA9C-3E9E-47A3-26D11F0048D3}"/>
              </a:ext>
            </a:extLst>
          </p:cNvPr>
          <p:cNvSpPr txBox="1"/>
          <p:nvPr/>
        </p:nvSpPr>
        <p:spPr>
          <a:xfrm>
            <a:off x="961436" y="4889670"/>
            <a:ext cx="803473" cy="55530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chemeClr val="tx2"/>
                </a:solidFill>
                <a:cs typeface="Tahoma" pitchFamily="34" charset="0"/>
              </a:rPr>
              <a:t>List of Prebuilt Extractors</a:t>
            </a:r>
            <a:endParaRPr lang="en-IN" sz="1100" dirty="0">
              <a:solidFill>
                <a:schemeClr val="tx2"/>
              </a:solidFill>
              <a:cs typeface="Tahoma" pitchFamily="34" charset="0"/>
            </a:endParaRPr>
          </a:p>
        </p:txBody>
      </p:sp>
      <p:cxnSp>
        <p:nvCxnSpPr>
          <p:cNvPr id="41" name="Connector: Elbow 40">
            <a:extLst>
              <a:ext uri="{FF2B5EF4-FFF2-40B4-BE49-F238E27FC236}">
                <a16:creationId xmlns:a16="http://schemas.microsoft.com/office/drawing/2014/main" id="{61DE447F-121C-43BA-3792-B11FC1E60237}"/>
              </a:ext>
            </a:extLst>
          </p:cNvPr>
          <p:cNvCxnSpPr>
            <a:cxnSpLocks/>
          </p:cNvCxnSpPr>
          <p:nvPr/>
        </p:nvCxnSpPr>
        <p:spPr>
          <a:xfrm rot="16200000" flipH="1">
            <a:off x="2847743" y="4465996"/>
            <a:ext cx="510833" cy="348972"/>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64C759C-F754-864B-E6A5-4C7D6177B14D}"/>
              </a:ext>
            </a:extLst>
          </p:cNvPr>
          <p:cNvSpPr txBox="1"/>
          <p:nvPr/>
        </p:nvSpPr>
        <p:spPr>
          <a:xfrm>
            <a:off x="2833865" y="4877402"/>
            <a:ext cx="842285" cy="37837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chemeClr val="tx2"/>
                </a:solidFill>
                <a:cs typeface="Tahoma" pitchFamily="34" charset="0"/>
              </a:rPr>
              <a:t>Create Extractors</a:t>
            </a:r>
            <a:endParaRPr lang="en-IN" sz="1100" dirty="0">
              <a:solidFill>
                <a:schemeClr val="tx2"/>
              </a:solidFill>
              <a:cs typeface="Tahoma" pitchFamily="34" charset="0"/>
            </a:endParaRPr>
          </a:p>
        </p:txBody>
      </p:sp>
      <p:cxnSp>
        <p:nvCxnSpPr>
          <p:cNvPr id="47" name="Connector: Elbow 46">
            <a:extLst>
              <a:ext uri="{FF2B5EF4-FFF2-40B4-BE49-F238E27FC236}">
                <a16:creationId xmlns:a16="http://schemas.microsoft.com/office/drawing/2014/main" id="{63FCD2BC-FEFC-1688-5D8E-A0705E164E23}"/>
              </a:ext>
            </a:extLst>
          </p:cNvPr>
          <p:cNvCxnSpPr>
            <a:cxnSpLocks/>
          </p:cNvCxnSpPr>
          <p:nvPr/>
        </p:nvCxnSpPr>
        <p:spPr>
          <a:xfrm rot="16200000" flipH="1">
            <a:off x="1948852" y="4465996"/>
            <a:ext cx="510833" cy="348972"/>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06A1094-7FDB-6ED4-671B-ADA64BE58CE9}"/>
              </a:ext>
            </a:extLst>
          </p:cNvPr>
          <p:cNvSpPr txBox="1"/>
          <p:nvPr/>
        </p:nvSpPr>
        <p:spPr>
          <a:xfrm>
            <a:off x="1934974" y="4877402"/>
            <a:ext cx="842285" cy="70996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chemeClr val="tx2"/>
                </a:solidFill>
                <a:cs typeface="Tahoma" pitchFamily="34" charset="0"/>
              </a:rPr>
              <a:t>List of Extractors across Accts</a:t>
            </a:r>
            <a:endParaRPr lang="en-IN" sz="1100" dirty="0">
              <a:solidFill>
                <a:schemeClr val="tx2"/>
              </a:solidFill>
              <a:cs typeface="Tahoma" pitchFamily="34" charset="0"/>
            </a:endParaRPr>
          </a:p>
        </p:txBody>
      </p:sp>
      <p:sp>
        <p:nvSpPr>
          <p:cNvPr id="59" name="TextBox 58">
            <a:extLst>
              <a:ext uri="{FF2B5EF4-FFF2-40B4-BE49-F238E27FC236}">
                <a16:creationId xmlns:a16="http://schemas.microsoft.com/office/drawing/2014/main" id="{FCAD9771-8707-CD33-EAFF-9AAA07DFAA2C}"/>
              </a:ext>
            </a:extLst>
          </p:cNvPr>
          <p:cNvSpPr txBox="1"/>
          <p:nvPr/>
        </p:nvSpPr>
        <p:spPr>
          <a:xfrm>
            <a:off x="9526155" y="4476552"/>
            <a:ext cx="2452126" cy="39262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000" dirty="0">
                <a:solidFill>
                  <a:schemeClr val="tx2"/>
                </a:solidFill>
                <a:cs typeface="Tahoma" pitchFamily="34" charset="0"/>
              </a:rPr>
              <a:t>List of Pipelines across Accounts, Create Pipelines</a:t>
            </a:r>
            <a:endParaRPr lang="en-IN" sz="1000" dirty="0">
              <a:solidFill>
                <a:schemeClr val="tx2"/>
              </a:solidFill>
              <a:cs typeface="Tahoma" pitchFamily="34" charset="0"/>
            </a:endParaRPr>
          </a:p>
        </p:txBody>
      </p:sp>
    </p:spTree>
    <p:extLst>
      <p:ext uri="{BB962C8B-B14F-4D97-AF65-F5344CB8AC3E}">
        <p14:creationId xmlns:p14="http://schemas.microsoft.com/office/powerpoint/2010/main" val="1589172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385A3B-3739-F9FD-DB10-F90E8E02FDEB}"/>
              </a:ext>
            </a:extLst>
          </p:cNvPr>
          <p:cNvSpPr/>
          <p:nvPr/>
        </p:nvSpPr>
        <p:spPr>
          <a:xfrm>
            <a:off x="792677" y="516313"/>
            <a:ext cx="4841748" cy="231351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8" name="Rectangle: Rounded Corners 17">
            <a:extLst>
              <a:ext uri="{FF2B5EF4-FFF2-40B4-BE49-F238E27FC236}">
                <a16:creationId xmlns:a16="http://schemas.microsoft.com/office/drawing/2014/main" id="{7071DF86-61C6-CDE3-A076-BDE30D0B0077}"/>
              </a:ext>
            </a:extLst>
          </p:cNvPr>
          <p:cNvSpPr/>
          <p:nvPr/>
        </p:nvSpPr>
        <p:spPr>
          <a:xfrm>
            <a:off x="965398" y="1200519"/>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a:xfrm>
            <a:off x="609600" y="6253146"/>
            <a:ext cx="10972800" cy="301625"/>
          </a:xfrm>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5" name="TextBox 4">
            <a:extLst>
              <a:ext uri="{FF2B5EF4-FFF2-40B4-BE49-F238E27FC236}">
                <a16:creationId xmlns:a16="http://schemas.microsoft.com/office/drawing/2014/main" id="{98AC192B-3F34-8817-86DE-4C15BE7CE9DB}"/>
              </a:ext>
            </a:extLst>
          </p:cNvPr>
          <p:cNvSpPr txBox="1"/>
          <p:nvPr/>
        </p:nvSpPr>
        <p:spPr>
          <a:xfrm>
            <a:off x="2484919" y="524921"/>
            <a:ext cx="1259008" cy="304739"/>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Billing</a:t>
            </a:r>
            <a:endParaRPr lang="en-IN" sz="1600" dirty="0">
              <a:solidFill>
                <a:schemeClr val="bg1"/>
              </a:solidFill>
              <a:cs typeface="Tahoma" pitchFamily="34" charset="0"/>
            </a:endParaRPr>
          </a:p>
        </p:txBody>
      </p:sp>
      <p:sp>
        <p:nvSpPr>
          <p:cNvPr id="6" name="TextBox 5">
            <a:extLst>
              <a:ext uri="{FF2B5EF4-FFF2-40B4-BE49-F238E27FC236}">
                <a16:creationId xmlns:a16="http://schemas.microsoft.com/office/drawing/2014/main" id="{92A80422-97AB-699A-6FAA-B5BE5214ACE5}"/>
              </a:ext>
            </a:extLst>
          </p:cNvPr>
          <p:cNvSpPr txBox="1"/>
          <p:nvPr/>
        </p:nvSpPr>
        <p:spPr>
          <a:xfrm>
            <a:off x="1082884" y="903622"/>
            <a:ext cx="1477436" cy="28324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Top 3 Accts </a:t>
            </a:r>
            <a:endParaRPr lang="en-IN" sz="1400" dirty="0">
              <a:solidFill>
                <a:schemeClr val="tx2"/>
              </a:solidFill>
              <a:cs typeface="Tahoma" pitchFamily="34" charset="0"/>
            </a:endParaRPr>
          </a:p>
        </p:txBody>
      </p:sp>
      <p:sp>
        <p:nvSpPr>
          <p:cNvPr id="7" name="TextBox 6">
            <a:extLst>
              <a:ext uri="{FF2B5EF4-FFF2-40B4-BE49-F238E27FC236}">
                <a16:creationId xmlns:a16="http://schemas.microsoft.com/office/drawing/2014/main" id="{4C200395-E3D8-B210-1C20-02C3A58CF913}"/>
              </a:ext>
            </a:extLst>
          </p:cNvPr>
          <p:cNvSpPr txBox="1"/>
          <p:nvPr/>
        </p:nvSpPr>
        <p:spPr>
          <a:xfrm>
            <a:off x="3643480" y="939134"/>
            <a:ext cx="1655989" cy="86808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Acct wise Billing details (Includes Monthly Usage of CPU, Storage, Cost ) </a:t>
            </a:r>
            <a:endParaRPr lang="en-IN" sz="1300" dirty="0">
              <a:solidFill>
                <a:schemeClr val="tx2"/>
              </a:solidFill>
              <a:cs typeface="Tahoma" pitchFamily="34" charset="0"/>
            </a:endParaRPr>
          </a:p>
        </p:txBody>
      </p:sp>
      <p:graphicFrame>
        <p:nvGraphicFramePr>
          <p:cNvPr id="17" name="Table 16">
            <a:extLst>
              <a:ext uri="{FF2B5EF4-FFF2-40B4-BE49-F238E27FC236}">
                <a16:creationId xmlns:a16="http://schemas.microsoft.com/office/drawing/2014/main" id="{A743AFA9-4FB9-CC07-8F4B-CC0B52652099}"/>
              </a:ext>
            </a:extLst>
          </p:cNvPr>
          <p:cNvGraphicFramePr>
            <a:graphicFrameLocks noGrp="1"/>
          </p:cNvGraphicFramePr>
          <p:nvPr/>
        </p:nvGraphicFramePr>
        <p:xfrm>
          <a:off x="1153901" y="1270637"/>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List of Tables</a:t>
                      </a:r>
                      <a:endParaRPr lang="en-IN" sz="900" dirty="0"/>
                    </a:p>
                  </a:txBody>
                  <a:tcPr/>
                </a:tc>
                <a:extLst>
                  <a:ext uri="{0D108BD9-81ED-4DB2-BD59-A6C34878D82A}">
                    <a16:rowId xmlns:a16="http://schemas.microsoft.com/office/drawing/2014/main" val="2202397540"/>
                  </a:ext>
                </a:extLst>
              </a:tr>
              <a:tr h="169015">
                <a:tc>
                  <a:txBody>
                    <a:bodyPr/>
                    <a:lstStyle/>
                    <a:p>
                      <a:endParaRPr lang="en-IN" sz="900" dirty="0"/>
                    </a:p>
                  </a:txBody>
                  <a:tcPr/>
                </a:tc>
                <a:extLst>
                  <a:ext uri="{0D108BD9-81ED-4DB2-BD59-A6C34878D82A}">
                    <a16:rowId xmlns:a16="http://schemas.microsoft.com/office/drawing/2014/main" val="2362751832"/>
                  </a:ext>
                </a:extLst>
              </a:tr>
              <a:tr h="169015">
                <a:tc>
                  <a:txBody>
                    <a:bodyPr/>
                    <a:lstStyle/>
                    <a:p>
                      <a:endParaRPr lang="en-IN" sz="900" dirty="0"/>
                    </a:p>
                  </a:txBody>
                  <a:tcPr/>
                </a:tc>
                <a:extLst>
                  <a:ext uri="{0D108BD9-81ED-4DB2-BD59-A6C34878D82A}">
                    <a16:rowId xmlns:a16="http://schemas.microsoft.com/office/drawing/2014/main" val="4142431679"/>
                  </a:ext>
                </a:extLst>
              </a:tr>
            </a:tbl>
          </a:graphicData>
        </a:graphic>
      </p:graphicFrame>
      <p:sp>
        <p:nvSpPr>
          <p:cNvPr id="19" name="TextBox 18">
            <a:extLst>
              <a:ext uri="{FF2B5EF4-FFF2-40B4-BE49-F238E27FC236}">
                <a16:creationId xmlns:a16="http://schemas.microsoft.com/office/drawing/2014/main" id="{9626B970-88DC-FBD1-9DB4-0AEA388B5A4A}"/>
              </a:ext>
            </a:extLst>
          </p:cNvPr>
          <p:cNvSpPr txBox="1"/>
          <p:nvPr/>
        </p:nvSpPr>
        <p:spPr>
          <a:xfrm>
            <a:off x="7367101" y="1240453"/>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Acct in the list</a:t>
            </a:r>
            <a:endParaRPr lang="en-IN" sz="1400" dirty="0">
              <a:solidFill>
                <a:schemeClr val="tx2"/>
              </a:solidFill>
              <a:cs typeface="Tahoma" pitchFamily="34" charset="0"/>
            </a:endParaRPr>
          </a:p>
        </p:txBody>
      </p:sp>
      <p:cxnSp>
        <p:nvCxnSpPr>
          <p:cNvPr id="20" name="Straight Arrow Connector 19">
            <a:extLst>
              <a:ext uri="{FF2B5EF4-FFF2-40B4-BE49-F238E27FC236}">
                <a16:creationId xmlns:a16="http://schemas.microsoft.com/office/drawing/2014/main" id="{C0D1CCD1-E9F8-3AEE-B32F-7CD7E57BB190}"/>
              </a:ext>
            </a:extLst>
          </p:cNvPr>
          <p:cNvCxnSpPr>
            <a:cxnSpLocks/>
          </p:cNvCxnSpPr>
          <p:nvPr/>
        </p:nvCxnSpPr>
        <p:spPr>
          <a:xfrm>
            <a:off x="6811984" y="140316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User with solid fill">
            <a:extLst>
              <a:ext uri="{FF2B5EF4-FFF2-40B4-BE49-F238E27FC236}">
                <a16:creationId xmlns:a16="http://schemas.microsoft.com/office/drawing/2014/main" id="{A6F154C1-472E-5E1D-0940-45DBFF5094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6768" y="1110560"/>
            <a:ext cx="484632" cy="484632"/>
          </a:xfrm>
          <a:prstGeom prst="rect">
            <a:avLst/>
          </a:prstGeom>
        </p:spPr>
      </p:pic>
      <p:sp>
        <p:nvSpPr>
          <p:cNvPr id="22" name="TextBox 21">
            <a:extLst>
              <a:ext uri="{FF2B5EF4-FFF2-40B4-BE49-F238E27FC236}">
                <a16:creationId xmlns:a16="http://schemas.microsoft.com/office/drawing/2014/main" id="{5B82C5C8-BF43-6507-236A-C24A5CB12397}"/>
              </a:ext>
            </a:extLst>
          </p:cNvPr>
          <p:cNvSpPr txBox="1"/>
          <p:nvPr/>
        </p:nvSpPr>
        <p:spPr>
          <a:xfrm>
            <a:off x="6164863" y="1530995"/>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24" name="Straight Arrow Connector 23">
            <a:extLst>
              <a:ext uri="{FF2B5EF4-FFF2-40B4-BE49-F238E27FC236}">
                <a16:creationId xmlns:a16="http://schemas.microsoft.com/office/drawing/2014/main" id="{1B07CA32-306B-8024-6EC3-81A68141A6BE}"/>
              </a:ext>
            </a:extLst>
          </p:cNvPr>
          <p:cNvCxnSpPr/>
          <p:nvPr/>
        </p:nvCxnSpPr>
        <p:spPr>
          <a:xfrm>
            <a:off x="8756607" y="1517330"/>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6A8CF0-40C8-AD66-F60C-F4B19A6D2133}"/>
              </a:ext>
            </a:extLst>
          </p:cNvPr>
          <p:cNvSpPr txBox="1"/>
          <p:nvPr/>
        </p:nvSpPr>
        <p:spPr>
          <a:xfrm>
            <a:off x="6490327" y="1135483"/>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27" name="TextBox 26">
            <a:extLst>
              <a:ext uri="{FF2B5EF4-FFF2-40B4-BE49-F238E27FC236}">
                <a16:creationId xmlns:a16="http://schemas.microsoft.com/office/drawing/2014/main" id="{2CF2798B-4412-0395-9F77-A170122CAEDB}"/>
              </a:ext>
            </a:extLst>
          </p:cNvPr>
          <p:cNvSpPr txBox="1"/>
          <p:nvPr/>
        </p:nvSpPr>
        <p:spPr>
          <a:xfrm>
            <a:off x="9497271" y="1148559"/>
            <a:ext cx="2220850" cy="73036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Billing Details about that particular acct will be displayed</a:t>
            </a:r>
            <a:endParaRPr lang="en-IN" sz="1400" dirty="0">
              <a:solidFill>
                <a:schemeClr val="tx2"/>
              </a:solidFill>
              <a:cs typeface="Tahoma" pitchFamily="34" charset="0"/>
            </a:endParaRPr>
          </a:p>
        </p:txBody>
      </p:sp>
      <p:sp>
        <p:nvSpPr>
          <p:cNvPr id="39" name="Oval 38">
            <a:extLst>
              <a:ext uri="{FF2B5EF4-FFF2-40B4-BE49-F238E27FC236}">
                <a16:creationId xmlns:a16="http://schemas.microsoft.com/office/drawing/2014/main" id="{FAAEB783-2DDE-42D8-E893-42C0E24F421E}"/>
              </a:ext>
            </a:extLst>
          </p:cNvPr>
          <p:cNvSpPr/>
          <p:nvPr/>
        </p:nvSpPr>
        <p:spPr>
          <a:xfrm>
            <a:off x="692093" y="264470"/>
            <a:ext cx="549337" cy="30473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E</a:t>
            </a:r>
            <a:endParaRPr lang="en-IN" sz="1600" dirty="0"/>
          </a:p>
        </p:txBody>
      </p:sp>
      <p:sp>
        <p:nvSpPr>
          <p:cNvPr id="40" name="Rectangle: Rounded Corners 39">
            <a:extLst>
              <a:ext uri="{FF2B5EF4-FFF2-40B4-BE49-F238E27FC236}">
                <a16:creationId xmlns:a16="http://schemas.microsoft.com/office/drawing/2014/main" id="{0495AA4B-B277-5AA8-AB82-66E335933841}"/>
              </a:ext>
            </a:extLst>
          </p:cNvPr>
          <p:cNvSpPr/>
          <p:nvPr/>
        </p:nvSpPr>
        <p:spPr>
          <a:xfrm>
            <a:off x="787352" y="3683373"/>
            <a:ext cx="4841748" cy="25242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43" name="TextBox 42">
            <a:extLst>
              <a:ext uri="{FF2B5EF4-FFF2-40B4-BE49-F238E27FC236}">
                <a16:creationId xmlns:a16="http://schemas.microsoft.com/office/drawing/2014/main" id="{4BCB5D7B-7524-1219-5CD5-90B27944274D}"/>
              </a:ext>
            </a:extLst>
          </p:cNvPr>
          <p:cNvSpPr txBox="1"/>
          <p:nvPr/>
        </p:nvSpPr>
        <p:spPr>
          <a:xfrm>
            <a:off x="1803721" y="3691983"/>
            <a:ext cx="2596665" cy="287195"/>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Support &amp; Ticketing</a:t>
            </a:r>
            <a:endParaRPr lang="en-IN" sz="1600" dirty="0">
              <a:solidFill>
                <a:schemeClr val="bg1"/>
              </a:solidFill>
              <a:cs typeface="Tahoma" pitchFamily="34" charset="0"/>
            </a:endParaRPr>
          </a:p>
        </p:txBody>
      </p:sp>
      <p:sp>
        <p:nvSpPr>
          <p:cNvPr id="44" name="TextBox 43">
            <a:extLst>
              <a:ext uri="{FF2B5EF4-FFF2-40B4-BE49-F238E27FC236}">
                <a16:creationId xmlns:a16="http://schemas.microsoft.com/office/drawing/2014/main" id="{9311CEA2-4ED8-C837-C9E6-63CF515ED49C}"/>
              </a:ext>
            </a:extLst>
          </p:cNvPr>
          <p:cNvSpPr txBox="1"/>
          <p:nvPr/>
        </p:nvSpPr>
        <p:spPr>
          <a:xfrm>
            <a:off x="1057562" y="4116133"/>
            <a:ext cx="1652348" cy="232828"/>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List of Open Tickets</a:t>
            </a:r>
            <a:endParaRPr lang="en-IN" sz="1400" dirty="0">
              <a:solidFill>
                <a:schemeClr val="tx2"/>
              </a:solidFill>
              <a:cs typeface="Tahoma" pitchFamily="34" charset="0"/>
            </a:endParaRPr>
          </a:p>
        </p:txBody>
      </p:sp>
      <p:sp>
        <p:nvSpPr>
          <p:cNvPr id="45" name="TextBox 44">
            <a:extLst>
              <a:ext uri="{FF2B5EF4-FFF2-40B4-BE49-F238E27FC236}">
                <a16:creationId xmlns:a16="http://schemas.microsoft.com/office/drawing/2014/main" id="{2590F334-CA25-DA31-D431-C91AE5073515}"/>
              </a:ext>
            </a:extLst>
          </p:cNvPr>
          <p:cNvSpPr txBox="1"/>
          <p:nvPr/>
        </p:nvSpPr>
        <p:spPr>
          <a:xfrm>
            <a:off x="4159195" y="4085445"/>
            <a:ext cx="1081910" cy="287195"/>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Escalation</a:t>
            </a:r>
            <a:endParaRPr lang="en-IN" sz="1300" dirty="0">
              <a:solidFill>
                <a:schemeClr val="tx2"/>
              </a:solidFill>
              <a:cs typeface="Tahoma" pitchFamily="34" charset="0"/>
            </a:endParaRPr>
          </a:p>
        </p:txBody>
      </p:sp>
      <p:sp>
        <p:nvSpPr>
          <p:cNvPr id="49" name="TextBox 48">
            <a:extLst>
              <a:ext uri="{FF2B5EF4-FFF2-40B4-BE49-F238E27FC236}">
                <a16:creationId xmlns:a16="http://schemas.microsoft.com/office/drawing/2014/main" id="{9A58A5EA-329B-16F3-BC7C-3E9931B7A6F3}"/>
              </a:ext>
            </a:extLst>
          </p:cNvPr>
          <p:cNvSpPr txBox="1"/>
          <p:nvPr/>
        </p:nvSpPr>
        <p:spPr>
          <a:xfrm>
            <a:off x="7413228" y="3393737"/>
            <a:ext cx="1370457" cy="71968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Open Tickets in the list</a:t>
            </a:r>
            <a:endParaRPr lang="en-IN" sz="1400" dirty="0">
              <a:solidFill>
                <a:schemeClr val="tx2"/>
              </a:solidFill>
              <a:cs typeface="Tahoma" pitchFamily="34" charset="0"/>
            </a:endParaRPr>
          </a:p>
        </p:txBody>
      </p:sp>
      <p:cxnSp>
        <p:nvCxnSpPr>
          <p:cNvPr id="50" name="Straight Arrow Connector 49">
            <a:extLst>
              <a:ext uri="{FF2B5EF4-FFF2-40B4-BE49-F238E27FC236}">
                <a16:creationId xmlns:a16="http://schemas.microsoft.com/office/drawing/2014/main" id="{65370F53-761D-726C-1904-2935C2F654ED}"/>
              </a:ext>
            </a:extLst>
          </p:cNvPr>
          <p:cNvCxnSpPr>
            <a:cxnSpLocks/>
          </p:cNvCxnSpPr>
          <p:nvPr/>
        </p:nvCxnSpPr>
        <p:spPr>
          <a:xfrm>
            <a:off x="6858111" y="3629603"/>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1" name="Graphic 50" descr="User with solid fill">
            <a:extLst>
              <a:ext uri="{FF2B5EF4-FFF2-40B4-BE49-F238E27FC236}">
                <a16:creationId xmlns:a16="http://schemas.microsoft.com/office/drawing/2014/main" id="{1FD7913F-1F2F-7DBA-8F38-4E4B8252AA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72895" y="3336996"/>
            <a:ext cx="484632" cy="484632"/>
          </a:xfrm>
          <a:prstGeom prst="rect">
            <a:avLst/>
          </a:prstGeom>
        </p:spPr>
      </p:pic>
      <p:sp>
        <p:nvSpPr>
          <p:cNvPr id="52" name="TextBox 51">
            <a:extLst>
              <a:ext uri="{FF2B5EF4-FFF2-40B4-BE49-F238E27FC236}">
                <a16:creationId xmlns:a16="http://schemas.microsoft.com/office/drawing/2014/main" id="{DE7F6667-0422-1098-1040-806B7BF9D0EA}"/>
              </a:ext>
            </a:extLst>
          </p:cNvPr>
          <p:cNvSpPr txBox="1"/>
          <p:nvPr/>
        </p:nvSpPr>
        <p:spPr>
          <a:xfrm>
            <a:off x="6210990" y="375743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53" name="Straight Arrow Connector 52">
            <a:extLst>
              <a:ext uri="{FF2B5EF4-FFF2-40B4-BE49-F238E27FC236}">
                <a16:creationId xmlns:a16="http://schemas.microsoft.com/office/drawing/2014/main" id="{F5FE4A57-068D-CCE0-99A6-11734C0D8BB2}"/>
              </a:ext>
            </a:extLst>
          </p:cNvPr>
          <p:cNvCxnSpPr/>
          <p:nvPr/>
        </p:nvCxnSpPr>
        <p:spPr>
          <a:xfrm>
            <a:off x="8802734" y="374376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94A232D-CD42-25B5-D48A-D7B3EA7E9486}"/>
              </a:ext>
            </a:extLst>
          </p:cNvPr>
          <p:cNvSpPr txBox="1"/>
          <p:nvPr/>
        </p:nvSpPr>
        <p:spPr>
          <a:xfrm>
            <a:off x="6536454" y="3361919"/>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55" name="TextBox 54">
            <a:extLst>
              <a:ext uri="{FF2B5EF4-FFF2-40B4-BE49-F238E27FC236}">
                <a16:creationId xmlns:a16="http://schemas.microsoft.com/office/drawing/2014/main" id="{086F1A0C-02B6-C0E2-73DC-6B9CC1556C38}"/>
              </a:ext>
            </a:extLst>
          </p:cNvPr>
          <p:cNvSpPr txBox="1"/>
          <p:nvPr/>
        </p:nvSpPr>
        <p:spPr>
          <a:xfrm>
            <a:off x="9527760" y="3515346"/>
            <a:ext cx="2220850" cy="388662"/>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Ticket Details</a:t>
            </a:r>
            <a:endParaRPr lang="en-IN" sz="1400" dirty="0">
              <a:solidFill>
                <a:schemeClr val="tx2"/>
              </a:solidFill>
              <a:cs typeface="Tahoma" pitchFamily="34" charset="0"/>
            </a:endParaRPr>
          </a:p>
        </p:txBody>
      </p:sp>
      <p:sp>
        <p:nvSpPr>
          <p:cNvPr id="56" name="TextBox 55">
            <a:extLst>
              <a:ext uri="{FF2B5EF4-FFF2-40B4-BE49-F238E27FC236}">
                <a16:creationId xmlns:a16="http://schemas.microsoft.com/office/drawing/2014/main" id="{0676CB51-A39E-7734-1597-E1C3011BE92E}"/>
              </a:ext>
            </a:extLst>
          </p:cNvPr>
          <p:cNvSpPr txBox="1"/>
          <p:nvPr/>
        </p:nvSpPr>
        <p:spPr>
          <a:xfrm>
            <a:off x="7360641" y="4427058"/>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err="1">
                <a:solidFill>
                  <a:schemeClr val="tx2"/>
                </a:solidFill>
                <a:cs typeface="Tahoma" pitchFamily="34" charset="0"/>
              </a:rPr>
              <a:t>CreateTicket</a:t>
            </a:r>
            <a:endParaRPr lang="en-IN" sz="1400" dirty="0">
              <a:solidFill>
                <a:schemeClr val="tx2"/>
              </a:solidFill>
              <a:cs typeface="Tahoma" pitchFamily="34" charset="0"/>
            </a:endParaRPr>
          </a:p>
        </p:txBody>
      </p:sp>
      <p:cxnSp>
        <p:nvCxnSpPr>
          <p:cNvPr id="57" name="Straight Arrow Connector 56">
            <a:extLst>
              <a:ext uri="{FF2B5EF4-FFF2-40B4-BE49-F238E27FC236}">
                <a16:creationId xmlns:a16="http://schemas.microsoft.com/office/drawing/2014/main" id="{8859ED95-0D20-C314-B2BA-7B1C12F3019C}"/>
              </a:ext>
            </a:extLst>
          </p:cNvPr>
          <p:cNvCxnSpPr>
            <a:cxnSpLocks/>
          </p:cNvCxnSpPr>
          <p:nvPr/>
        </p:nvCxnSpPr>
        <p:spPr>
          <a:xfrm>
            <a:off x="6805524" y="458977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8" name="Graphic 57" descr="User with solid fill">
            <a:extLst>
              <a:ext uri="{FF2B5EF4-FFF2-40B4-BE49-F238E27FC236}">
                <a16:creationId xmlns:a16="http://schemas.microsoft.com/office/drawing/2014/main" id="{87C2291D-1741-341F-62F9-FB1054DBEF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0308" y="4297165"/>
            <a:ext cx="484632" cy="484632"/>
          </a:xfrm>
          <a:prstGeom prst="rect">
            <a:avLst/>
          </a:prstGeom>
        </p:spPr>
      </p:pic>
      <p:sp>
        <p:nvSpPr>
          <p:cNvPr id="60" name="TextBox 59">
            <a:extLst>
              <a:ext uri="{FF2B5EF4-FFF2-40B4-BE49-F238E27FC236}">
                <a16:creationId xmlns:a16="http://schemas.microsoft.com/office/drawing/2014/main" id="{957C6CA1-7590-253F-A445-3848678B0A97}"/>
              </a:ext>
            </a:extLst>
          </p:cNvPr>
          <p:cNvSpPr txBox="1"/>
          <p:nvPr/>
        </p:nvSpPr>
        <p:spPr>
          <a:xfrm>
            <a:off x="6158403" y="4717600"/>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61" name="Straight Arrow Connector 60">
            <a:extLst>
              <a:ext uri="{FF2B5EF4-FFF2-40B4-BE49-F238E27FC236}">
                <a16:creationId xmlns:a16="http://schemas.microsoft.com/office/drawing/2014/main" id="{1414EBF1-450F-5316-181C-713BDF770F13}"/>
              </a:ext>
            </a:extLst>
          </p:cNvPr>
          <p:cNvCxnSpPr/>
          <p:nvPr/>
        </p:nvCxnSpPr>
        <p:spPr>
          <a:xfrm>
            <a:off x="8750147" y="4703935"/>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30C5173-4BFA-7596-2EB9-A811904D802E}"/>
              </a:ext>
            </a:extLst>
          </p:cNvPr>
          <p:cNvSpPr txBox="1"/>
          <p:nvPr/>
        </p:nvSpPr>
        <p:spPr>
          <a:xfrm>
            <a:off x="6483867" y="4322088"/>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3" name="TextBox 62">
            <a:extLst>
              <a:ext uri="{FF2B5EF4-FFF2-40B4-BE49-F238E27FC236}">
                <a16:creationId xmlns:a16="http://schemas.microsoft.com/office/drawing/2014/main" id="{6BB4496F-090D-80A9-7D64-A90AF16249C6}"/>
              </a:ext>
            </a:extLst>
          </p:cNvPr>
          <p:cNvSpPr txBox="1"/>
          <p:nvPr/>
        </p:nvSpPr>
        <p:spPr>
          <a:xfrm>
            <a:off x="9548723" y="4006815"/>
            <a:ext cx="2220850" cy="134247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It should take to the Ticket creation tab/box</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Required details to be entered and </a:t>
            </a:r>
            <a:r>
              <a:rPr lang="en-US" sz="1400" dirty="0" err="1">
                <a:solidFill>
                  <a:schemeClr val="tx2"/>
                </a:solidFill>
                <a:cs typeface="Tahoma" pitchFamily="34" charset="0"/>
              </a:rPr>
              <a:t>Tkt</a:t>
            </a:r>
            <a:r>
              <a:rPr lang="en-US" sz="1400" dirty="0">
                <a:solidFill>
                  <a:schemeClr val="tx2"/>
                </a:solidFill>
                <a:cs typeface="Tahoma" pitchFamily="34" charset="0"/>
              </a:rPr>
              <a:t> should be created</a:t>
            </a:r>
            <a:endParaRPr lang="en-IN" sz="1400" dirty="0">
              <a:solidFill>
                <a:schemeClr val="tx2"/>
              </a:solidFill>
              <a:cs typeface="Tahoma" pitchFamily="34" charset="0"/>
            </a:endParaRPr>
          </a:p>
        </p:txBody>
      </p:sp>
      <p:sp>
        <p:nvSpPr>
          <p:cNvPr id="64" name="Oval 63">
            <a:extLst>
              <a:ext uri="{FF2B5EF4-FFF2-40B4-BE49-F238E27FC236}">
                <a16:creationId xmlns:a16="http://schemas.microsoft.com/office/drawing/2014/main" id="{7CF66C52-633C-52DC-2BD9-E1F8E03087EE}"/>
              </a:ext>
            </a:extLst>
          </p:cNvPr>
          <p:cNvSpPr/>
          <p:nvPr/>
        </p:nvSpPr>
        <p:spPr>
          <a:xfrm>
            <a:off x="686768" y="3431532"/>
            <a:ext cx="549337" cy="30473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F</a:t>
            </a:r>
            <a:endParaRPr lang="en-IN" sz="1600" dirty="0"/>
          </a:p>
        </p:txBody>
      </p:sp>
      <p:sp>
        <p:nvSpPr>
          <p:cNvPr id="66" name="Rectangle: Rounded Corners 65">
            <a:extLst>
              <a:ext uri="{FF2B5EF4-FFF2-40B4-BE49-F238E27FC236}">
                <a16:creationId xmlns:a16="http://schemas.microsoft.com/office/drawing/2014/main" id="{23A2B8AF-6A61-149F-981F-72647A8BF973}"/>
              </a:ext>
            </a:extLst>
          </p:cNvPr>
          <p:cNvSpPr/>
          <p:nvPr/>
        </p:nvSpPr>
        <p:spPr>
          <a:xfrm>
            <a:off x="1000258" y="4438903"/>
            <a:ext cx="1634148" cy="790523"/>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69" name="Table 68">
            <a:extLst>
              <a:ext uri="{FF2B5EF4-FFF2-40B4-BE49-F238E27FC236}">
                <a16:creationId xmlns:a16="http://schemas.microsoft.com/office/drawing/2014/main" id="{FF2E2725-AEE8-731D-79D4-C2ACAD1E00D7}"/>
              </a:ext>
            </a:extLst>
          </p:cNvPr>
          <p:cNvGraphicFramePr>
            <a:graphicFrameLocks noGrp="1"/>
          </p:cNvGraphicFramePr>
          <p:nvPr>
            <p:extLst>
              <p:ext uri="{D42A27DB-BD31-4B8C-83A1-F6EECF244321}">
                <p14:modId xmlns:p14="http://schemas.microsoft.com/office/powerpoint/2010/main" val="1140251953"/>
              </p:ext>
            </p:extLst>
          </p:nvPr>
        </p:nvGraphicFramePr>
        <p:xfrm>
          <a:off x="1188761" y="4509021"/>
          <a:ext cx="1373160" cy="685800"/>
        </p:xfrm>
        <a:graphic>
          <a:graphicData uri="http://schemas.openxmlformats.org/drawingml/2006/table">
            <a:tbl>
              <a:tblPr firstRow="1" bandRow="1">
                <a:tableStyleId>{F2DE63D5-997A-4646-A377-4702673A728D}</a:tableStyleId>
              </a:tblPr>
              <a:tblGrid>
                <a:gridCol w="1373160">
                  <a:extLst>
                    <a:ext uri="{9D8B030D-6E8A-4147-A177-3AD203B41FA5}">
                      <a16:colId xmlns:a16="http://schemas.microsoft.com/office/drawing/2014/main" val="2188964586"/>
                    </a:ext>
                  </a:extLst>
                </a:gridCol>
              </a:tblGrid>
              <a:tr h="226344">
                <a:tc>
                  <a:txBody>
                    <a:bodyPr/>
                    <a:lstStyle/>
                    <a:p>
                      <a:r>
                        <a:rPr lang="en-US" sz="900" dirty="0"/>
                        <a:t>Open Tickets</a:t>
                      </a:r>
                      <a:endParaRPr lang="en-IN" sz="900" dirty="0"/>
                    </a:p>
                  </a:txBody>
                  <a:tcPr/>
                </a:tc>
                <a:extLst>
                  <a:ext uri="{0D108BD9-81ED-4DB2-BD59-A6C34878D82A}">
                    <a16:rowId xmlns:a16="http://schemas.microsoft.com/office/drawing/2014/main" val="2202397540"/>
                  </a:ext>
                </a:extLst>
              </a:tr>
              <a:tr h="226344">
                <a:tc>
                  <a:txBody>
                    <a:bodyPr/>
                    <a:lstStyle/>
                    <a:p>
                      <a:r>
                        <a:rPr lang="en-US" sz="900" dirty="0" err="1"/>
                        <a:t>Tkt</a:t>
                      </a:r>
                      <a:r>
                        <a:rPr lang="en-US" sz="900" dirty="0"/>
                        <a:t> Id1</a:t>
                      </a:r>
                      <a:endParaRPr lang="en-IN" sz="900" dirty="0"/>
                    </a:p>
                  </a:txBody>
                  <a:tcPr/>
                </a:tc>
                <a:extLst>
                  <a:ext uri="{0D108BD9-81ED-4DB2-BD59-A6C34878D82A}">
                    <a16:rowId xmlns:a16="http://schemas.microsoft.com/office/drawing/2014/main" val="2362751832"/>
                  </a:ext>
                </a:extLst>
              </a:tr>
              <a:tr h="226344">
                <a:tc>
                  <a:txBody>
                    <a:bodyPr/>
                    <a:lstStyle/>
                    <a:p>
                      <a:r>
                        <a:rPr lang="en-US" sz="900" dirty="0"/>
                        <a:t>….</a:t>
                      </a:r>
                      <a:endParaRPr lang="en-IN" sz="900" dirty="0"/>
                    </a:p>
                  </a:txBody>
                  <a:tcPr/>
                </a:tc>
                <a:extLst>
                  <a:ext uri="{0D108BD9-81ED-4DB2-BD59-A6C34878D82A}">
                    <a16:rowId xmlns:a16="http://schemas.microsoft.com/office/drawing/2014/main" val="4142431679"/>
                  </a:ext>
                </a:extLst>
              </a:tr>
            </a:tbl>
          </a:graphicData>
        </a:graphic>
      </p:graphicFrame>
      <p:sp>
        <p:nvSpPr>
          <p:cNvPr id="70" name="TextBox 69">
            <a:extLst>
              <a:ext uri="{FF2B5EF4-FFF2-40B4-BE49-F238E27FC236}">
                <a16:creationId xmlns:a16="http://schemas.microsoft.com/office/drawing/2014/main" id="{1A5EBEFD-1244-948B-ABC8-8DC576BAF384}"/>
              </a:ext>
            </a:extLst>
          </p:cNvPr>
          <p:cNvSpPr txBox="1"/>
          <p:nvPr/>
        </p:nvSpPr>
        <p:spPr>
          <a:xfrm>
            <a:off x="7382740" y="5549941"/>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Escalation</a:t>
            </a:r>
            <a:endParaRPr lang="en-IN" sz="1400" dirty="0">
              <a:solidFill>
                <a:schemeClr val="tx2"/>
              </a:solidFill>
              <a:cs typeface="Tahoma" pitchFamily="34" charset="0"/>
            </a:endParaRPr>
          </a:p>
        </p:txBody>
      </p:sp>
      <p:cxnSp>
        <p:nvCxnSpPr>
          <p:cNvPr id="90" name="Straight Arrow Connector 89">
            <a:extLst>
              <a:ext uri="{FF2B5EF4-FFF2-40B4-BE49-F238E27FC236}">
                <a16:creationId xmlns:a16="http://schemas.microsoft.com/office/drawing/2014/main" id="{A2E87081-0CF6-AF63-0472-37A77C502F0B}"/>
              </a:ext>
            </a:extLst>
          </p:cNvPr>
          <p:cNvCxnSpPr>
            <a:cxnSpLocks/>
          </p:cNvCxnSpPr>
          <p:nvPr/>
        </p:nvCxnSpPr>
        <p:spPr>
          <a:xfrm>
            <a:off x="6827623" y="571265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1" name="Graphic 90" descr="User with solid fill">
            <a:extLst>
              <a:ext uri="{FF2B5EF4-FFF2-40B4-BE49-F238E27FC236}">
                <a16:creationId xmlns:a16="http://schemas.microsoft.com/office/drawing/2014/main" id="{27E04374-4328-4E40-A263-7FD1C130E0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407" y="5420048"/>
            <a:ext cx="484632" cy="484632"/>
          </a:xfrm>
          <a:prstGeom prst="rect">
            <a:avLst/>
          </a:prstGeom>
        </p:spPr>
      </p:pic>
      <p:sp>
        <p:nvSpPr>
          <p:cNvPr id="92" name="TextBox 91">
            <a:extLst>
              <a:ext uri="{FF2B5EF4-FFF2-40B4-BE49-F238E27FC236}">
                <a16:creationId xmlns:a16="http://schemas.microsoft.com/office/drawing/2014/main" id="{FF6BBD0D-61CF-934F-AEDE-A84CE7222093}"/>
              </a:ext>
            </a:extLst>
          </p:cNvPr>
          <p:cNvSpPr txBox="1"/>
          <p:nvPr/>
        </p:nvSpPr>
        <p:spPr>
          <a:xfrm>
            <a:off x="6180502" y="584048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93" name="Straight Arrow Connector 92">
            <a:extLst>
              <a:ext uri="{FF2B5EF4-FFF2-40B4-BE49-F238E27FC236}">
                <a16:creationId xmlns:a16="http://schemas.microsoft.com/office/drawing/2014/main" id="{67013B6B-C3CB-3475-AC85-738B834BA1AB}"/>
              </a:ext>
            </a:extLst>
          </p:cNvPr>
          <p:cNvCxnSpPr/>
          <p:nvPr/>
        </p:nvCxnSpPr>
        <p:spPr>
          <a:xfrm>
            <a:off x="8772246" y="5826818"/>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2D3C146E-3256-869B-5AF6-4F7B6DF94674}"/>
              </a:ext>
            </a:extLst>
          </p:cNvPr>
          <p:cNvSpPr txBox="1"/>
          <p:nvPr/>
        </p:nvSpPr>
        <p:spPr>
          <a:xfrm>
            <a:off x="6505966" y="5444971"/>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95" name="TextBox 94">
            <a:extLst>
              <a:ext uri="{FF2B5EF4-FFF2-40B4-BE49-F238E27FC236}">
                <a16:creationId xmlns:a16="http://schemas.microsoft.com/office/drawing/2014/main" id="{44C96074-C185-22F8-064F-D2EF28BBA960}"/>
              </a:ext>
            </a:extLst>
          </p:cNvPr>
          <p:cNvSpPr txBox="1"/>
          <p:nvPr/>
        </p:nvSpPr>
        <p:spPr>
          <a:xfrm>
            <a:off x="9497272" y="5488669"/>
            <a:ext cx="2272302" cy="956373"/>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List of escalations will be displayed</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Raise an escalation</a:t>
            </a:r>
            <a:endParaRPr lang="en-IN" sz="1400" dirty="0">
              <a:solidFill>
                <a:schemeClr val="tx2"/>
              </a:solidFill>
              <a:cs typeface="Tahoma" pitchFamily="34" charset="0"/>
            </a:endParaRPr>
          </a:p>
        </p:txBody>
      </p:sp>
      <p:cxnSp>
        <p:nvCxnSpPr>
          <p:cNvPr id="97" name="Straight Connector 96">
            <a:extLst>
              <a:ext uri="{FF2B5EF4-FFF2-40B4-BE49-F238E27FC236}">
                <a16:creationId xmlns:a16="http://schemas.microsoft.com/office/drawing/2014/main" id="{548AE54C-875E-8A90-9748-82842E9FB701}"/>
              </a:ext>
            </a:extLst>
          </p:cNvPr>
          <p:cNvCxnSpPr/>
          <p:nvPr/>
        </p:nvCxnSpPr>
        <p:spPr>
          <a:xfrm>
            <a:off x="609600" y="3064012"/>
            <a:ext cx="11373333" cy="0"/>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610773E-6BB1-D652-BEC7-D87C5A67077A}"/>
              </a:ext>
            </a:extLst>
          </p:cNvPr>
          <p:cNvSpPr txBox="1"/>
          <p:nvPr/>
        </p:nvSpPr>
        <p:spPr>
          <a:xfrm>
            <a:off x="3651258" y="2034716"/>
            <a:ext cx="1655989" cy="397668"/>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Plan Change</a:t>
            </a:r>
            <a:endParaRPr lang="en-IN" sz="1300" dirty="0">
              <a:solidFill>
                <a:schemeClr val="tx2"/>
              </a:solidFill>
              <a:cs typeface="Tahoma" pitchFamily="34" charset="0"/>
            </a:endParaRPr>
          </a:p>
        </p:txBody>
      </p:sp>
      <p:sp>
        <p:nvSpPr>
          <p:cNvPr id="15" name="TextBox 14">
            <a:extLst>
              <a:ext uri="{FF2B5EF4-FFF2-40B4-BE49-F238E27FC236}">
                <a16:creationId xmlns:a16="http://schemas.microsoft.com/office/drawing/2014/main" id="{2728265F-2B82-1BC0-F16E-E43FFA43B584}"/>
              </a:ext>
            </a:extLst>
          </p:cNvPr>
          <p:cNvSpPr txBox="1"/>
          <p:nvPr/>
        </p:nvSpPr>
        <p:spPr>
          <a:xfrm>
            <a:off x="2802498" y="4116133"/>
            <a:ext cx="1264108" cy="28719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Create Ticket</a:t>
            </a:r>
            <a:endParaRPr lang="en-IN" sz="1400" dirty="0">
              <a:solidFill>
                <a:schemeClr val="tx2"/>
              </a:solidFill>
              <a:cs typeface="Tahoma" pitchFamily="34" charset="0"/>
            </a:endParaRPr>
          </a:p>
        </p:txBody>
      </p:sp>
    </p:spTree>
    <p:extLst>
      <p:ext uri="{BB962C8B-B14F-4D97-AF65-F5344CB8AC3E}">
        <p14:creationId xmlns:p14="http://schemas.microsoft.com/office/powerpoint/2010/main" val="1801600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385A3B-3739-F9FD-DB10-F90E8E02FDEB}"/>
              </a:ext>
            </a:extLst>
          </p:cNvPr>
          <p:cNvSpPr/>
          <p:nvPr/>
        </p:nvSpPr>
        <p:spPr>
          <a:xfrm>
            <a:off x="792677" y="516313"/>
            <a:ext cx="4841748" cy="231351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a:xfrm>
            <a:off x="609600" y="6253146"/>
            <a:ext cx="10972800" cy="301625"/>
          </a:xfrm>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5" name="TextBox 4">
            <a:extLst>
              <a:ext uri="{FF2B5EF4-FFF2-40B4-BE49-F238E27FC236}">
                <a16:creationId xmlns:a16="http://schemas.microsoft.com/office/drawing/2014/main" id="{98AC192B-3F34-8817-86DE-4C15BE7CE9DB}"/>
              </a:ext>
            </a:extLst>
          </p:cNvPr>
          <p:cNvSpPr txBox="1"/>
          <p:nvPr/>
        </p:nvSpPr>
        <p:spPr>
          <a:xfrm>
            <a:off x="2484918" y="351945"/>
            <a:ext cx="1581687" cy="358843"/>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Maintenance</a:t>
            </a:r>
            <a:endParaRPr lang="en-IN" sz="1600" dirty="0">
              <a:solidFill>
                <a:schemeClr val="bg1"/>
              </a:solidFill>
              <a:cs typeface="Tahoma" pitchFamily="34" charset="0"/>
            </a:endParaRPr>
          </a:p>
        </p:txBody>
      </p:sp>
      <p:sp>
        <p:nvSpPr>
          <p:cNvPr id="6" name="TextBox 5">
            <a:extLst>
              <a:ext uri="{FF2B5EF4-FFF2-40B4-BE49-F238E27FC236}">
                <a16:creationId xmlns:a16="http://schemas.microsoft.com/office/drawing/2014/main" id="{92A80422-97AB-699A-6FAA-B5BE5214ACE5}"/>
              </a:ext>
            </a:extLst>
          </p:cNvPr>
          <p:cNvSpPr txBox="1"/>
          <p:nvPr/>
        </p:nvSpPr>
        <p:spPr>
          <a:xfrm>
            <a:off x="1079582" y="1032587"/>
            <a:ext cx="1777927" cy="32009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Downtime Alerts</a:t>
            </a:r>
            <a:endParaRPr lang="en-IN" sz="1400" dirty="0">
              <a:solidFill>
                <a:schemeClr val="tx2"/>
              </a:solidFill>
              <a:cs typeface="Tahoma" pitchFamily="34" charset="0"/>
            </a:endParaRPr>
          </a:p>
        </p:txBody>
      </p:sp>
      <p:sp>
        <p:nvSpPr>
          <p:cNvPr id="7" name="TextBox 6">
            <a:extLst>
              <a:ext uri="{FF2B5EF4-FFF2-40B4-BE49-F238E27FC236}">
                <a16:creationId xmlns:a16="http://schemas.microsoft.com/office/drawing/2014/main" id="{4C200395-E3D8-B210-1C20-02C3A58CF913}"/>
              </a:ext>
            </a:extLst>
          </p:cNvPr>
          <p:cNvSpPr txBox="1"/>
          <p:nvPr/>
        </p:nvSpPr>
        <p:spPr>
          <a:xfrm>
            <a:off x="3643480" y="939134"/>
            <a:ext cx="1655989" cy="53613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Software/Extension Upgrades</a:t>
            </a:r>
            <a:endParaRPr lang="en-IN" sz="1300" dirty="0">
              <a:solidFill>
                <a:schemeClr val="tx2"/>
              </a:solidFill>
              <a:cs typeface="Tahoma" pitchFamily="34" charset="0"/>
            </a:endParaRPr>
          </a:p>
        </p:txBody>
      </p:sp>
      <p:sp>
        <p:nvSpPr>
          <p:cNvPr id="19" name="TextBox 18">
            <a:extLst>
              <a:ext uri="{FF2B5EF4-FFF2-40B4-BE49-F238E27FC236}">
                <a16:creationId xmlns:a16="http://schemas.microsoft.com/office/drawing/2014/main" id="{9626B970-88DC-FBD1-9DB4-0AEA388B5A4A}"/>
              </a:ext>
            </a:extLst>
          </p:cNvPr>
          <p:cNvSpPr txBox="1"/>
          <p:nvPr/>
        </p:nvSpPr>
        <p:spPr>
          <a:xfrm>
            <a:off x="7452064" y="939134"/>
            <a:ext cx="980983" cy="998581"/>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Software/</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Extension Upgrade</a:t>
            </a:r>
            <a:endParaRPr lang="en-IN" sz="1400" dirty="0">
              <a:solidFill>
                <a:schemeClr val="tx2"/>
              </a:solidFill>
              <a:cs typeface="Tahoma" pitchFamily="34" charset="0"/>
            </a:endParaRPr>
          </a:p>
        </p:txBody>
      </p:sp>
      <p:cxnSp>
        <p:nvCxnSpPr>
          <p:cNvPr id="20" name="Straight Arrow Connector 19">
            <a:extLst>
              <a:ext uri="{FF2B5EF4-FFF2-40B4-BE49-F238E27FC236}">
                <a16:creationId xmlns:a16="http://schemas.microsoft.com/office/drawing/2014/main" id="{C0D1CCD1-E9F8-3AEE-B32F-7CD7E57BB190}"/>
              </a:ext>
            </a:extLst>
          </p:cNvPr>
          <p:cNvCxnSpPr>
            <a:cxnSpLocks/>
          </p:cNvCxnSpPr>
          <p:nvPr/>
        </p:nvCxnSpPr>
        <p:spPr>
          <a:xfrm>
            <a:off x="6811984" y="140316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User with solid fill">
            <a:extLst>
              <a:ext uri="{FF2B5EF4-FFF2-40B4-BE49-F238E27FC236}">
                <a16:creationId xmlns:a16="http://schemas.microsoft.com/office/drawing/2014/main" id="{A6F154C1-472E-5E1D-0940-45DBFF5094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6768" y="1110560"/>
            <a:ext cx="484632" cy="484632"/>
          </a:xfrm>
          <a:prstGeom prst="rect">
            <a:avLst/>
          </a:prstGeom>
        </p:spPr>
      </p:pic>
      <p:sp>
        <p:nvSpPr>
          <p:cNvPr id="22" name="TextBox 21">
            <a:extLst>
              <a:ext uri="{FF2B5EF4-FFF2-40B4-BE49-F238E27FC236}">
                <a16:creationId xmlns:a16="http://schemas.microsoft.com/office/drawing/2014/main" id="{5B82C5C8-BF43-6507-236A-C24A5CB12397}"/>
              </a:ext>
            </a:extLst>
          </p:cNvPr>
          <p:cNvSpPr txBox="1"/>
          <p:nvPr/>
        </p:nvSpPr>
        <p:spPr>
          <a:xfrm>
            <a:off x="6164863" y="1530995"/>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24" name="Straight Arrow Connector 23">
            <a:extLst>
              <a:ext uri="{FF2B5EF4-FFF2-40B4-BE49-F238E27FC236}">
                <a16:creationId xmlns:a16="http://schemas.microsoft.com/office/drawing/2014/main" id="{1B07CA32-306B-8024-6EC3-81A68141A6BE}"/>
              </a:ext>
            </a:extLst>
          </p:cNvPr>
          <p:cNvCxnSpPr/>
          <p:nvPr/>
        </p:nvCxnSpPr>
        <p:spPr>
          <a:xfrm>
            <a:off x="8756607" y="1517330"/>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6A8CF0-40C8-AD66-F60C-F4B19A6D2133}"/>
              </a:ext>
            </a:extLst>
          </p:cNvPr>
          <p:cNvSpPr txBox="1"/>
          <p:nvPr/>
        </p:nvSpPr>
        <p:spPr>
          <a:xfrm>
            <a:off x="6490327" y="1135483"/>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27" name="TextBox 26">
            <a:extLst>
              <a:ext uri="{FF2B5EF4-FFF2-40B4-BE49-F238E27FC236}">
                <a16:creationId xmlns:a16="http://schemas.microsoft.com/office/drawing/2014/main" id="{2CF2798B-4412-0395-9F77-A170122CAEDB}"/>
              </a:ext>
            </a:extLst>
          </p:cNvPr>
          <p:cNvSpPr txBox="1"/>
          <p:nvPr/>
        </p:nvSpPr>
        <p:spPr>
          <a:xfrm>
            <a:off x="9497271" y="1148559"/>
            <a:ext cx="2220850" cy="73036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Billing Details about that particular acct will be displayed</a:t>
            </a:r>
            <a:endParaRPr lang="en-IN" sz="1400" dirty="0">
              <a:solidFill>
                <a:schemeClr val="tx2"/>
              </a:solidFill>
              <a:cs typeface="Tahoma" pitchFamily="34" charset="0"/>
            </a:endParaRPr>
          </a:p>
        </p:txBody>
      </p:sp>
      <p:sp>
        <p:nvSpPr>
          <p:cNvPr id="39" name="Oval 38">
            <a:extLst>
              <a:ext uri="{FF2B5EF4-FFF2-40B4-BE49-F238E27FC236}">
                <a16:creationId xmlns:a16="http://schemas.microsoft.com/office/drawing/2014/main" id="{FAAEB783-2DDE-42D8-E893-42C0E24F421E}"/>
              </a:ext>
            </a:extLst>
          </p:cNvPr>
          <p:cNvSpPr/>
          <p:nvPr/>
        </p:nvSpPr>
        <p:spPr>
          <a:xfrm>
            <a:off x="692093" y="264470"/>
            <a:ext cx="549337" cy="30473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G</a:t>
            </a:r>
            <a:endParaRPr lang="en-IN" sz="1600" dirty="0"/>
          </a:p>
        </p:txBody>
      </p:sp>
      <p:sp>
        <p:nvSpPr>
          <p:cNvPr id="40" name="Rectangle: Rounded Corners 39">
            <a:extLst>
              <a:ext uri="{FF2B5EF4-FFF2-40B4-BE49-F238E27FC236}">
                <a16:creationId xmlns:a16="http://schemas.microsoft.com/office/drawing/2014/main" id="{0495AA4B-B277-5AA8-AB82-66E335933841}"/>
              </a:ext>
            </a:extLst>
          </p:cNvPr>
          <p:cNvSpPr/>
          <p:nvPr/>
        </p:nvSpPr>
        <p:spPr>
          <a:xfrm>
            <a:off x="787352" y="3683373"/>
            <a:ext cx="4841748" cy="25242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43" name="TextBox 42">
            <a:extLst>
              <a:ext uri="{FF2B5EF4-FFF2-40B4-BE49-F238E27FC236}">
                <a16:creationId xmlns:a16="http://schemas.microsoft.com/office/drawing/2014/main" id="{4BCB5D7B-7524-1219-5CD5-90B27944274D}"/>
              </a:ext>
            </a:extLst>
          </p:cNvPr>
          <p:cNvSpPr txBox="1"/>
          <p:nvPr/>
        </p:nvSpPr>
        <p:spPr>
          <a:xfrm>
            <a:off x="1803721" y="3527391"/>
            <a:ext cx="2596665" cy="287195"/>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Other Admin Activities</a:t>
            </a:r>
            <a:endParaRPr lang="en-IN" sz="1600" dirty="0">
              <a:solidFill>
                <a:schemeClr val="bg1"/>
              </a:solidFill>
              <a:cs typeface="Tahoma" pitchFamily="34" charset="0"/>
            </a:endParaRPr>
          </a:p>
        </p:txBody>
      </p:sp>
      <p:sp>
        <p:nvSpPr>
          <p:cNvPr id="64" name="Oval 63">
            <a:extLst>
              <a:ext uri="{FF2B5EF4-FFF2-40B4-BE49-F238E27FC236}">
                <a16:creationId xmlns:a16="http://schemas.microsoft.com/office/drawing/2014/main" id="{7CF66C52-633C-52DC-2BD9-E1F8E03087EE}"/>
              </a:ext>
            </a:extLst>
          </p:cNvPr>
          <p:cNvSpPr/>
          <p:nvPr/>
        </p:nvSpPr>
        <p:spPr>
          <a:xfrm>
            <a:off x="686768" y="3431532"/>
            <a:ext cx="549337" cy="30473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H</a:t>
            </a:r>
            <a:endParaRPr lang="en-IN" sz="1600" dirty="0"/>
          </a:p>
        </p:txBody>
      </p:sp>
      <p:cxnSp>
        <p:nvCxnSpPr>
          <p:cNvPr id="97" name="Straight Connector 96">
            <a:extLst>
              <a:ext uri="{FF2B5EF4-FFF2-40B4-BE49-F238E27FC236}">
                <a16:creationId xmlns:a16="http://schemas.microsoft.com/office/drawing/2014/main" id="{548AE54C-875E-8A90-9748-82842E9FB701}"/>
              </a:ext>
            </a:extLst>
          </p:cNvPr>
          <p:cNvCxnSpPr/>
          <p:nvPr/>
        </p:nvCxnSpPr>
        <p:spPr>
          <a:xfrm>
            <a:off x="609600" y="3064012"/>
            <a:ext cx="11373333" cy="0"/>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610773E-6BB1-D652-BEC7-D87C5A67077A}"/>
              </a:ext>
            </a:extLst>
          </p:cNvPr>
          <p:cNvSpPr txBox="1"/>
          <p:nvPr/>
        </p:nvSpPr>
        <p:spPr>
          <a:xfrm>
            <a:off x="2380231" y="1855127"/>
            <a:ext cx="1655989" cy="349543"/>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Memory/Cache Clean</a:t>
            </a:r>
            <a:endParaRPr lang="en-IN" sz="1300" dirty="0">
              <a:solidFill>
                <a:schemeClr val="tx2"/>
              </a:solidFill>
              <a:cs typeface="Tahoma" pitchFamily="34" charset="0"/>
            </a:endParaRPr>
          </a:p>
        </p:txBody>
      </p:sp>
    </p:spTree>
    <p:extLst>
      <p:ext uri="{BB962C8B-B14F-4D97-AF65-F5344CB8AC3E}">
        <p14:creationId xmlns:p14="http://schemas.microsoft.com/office/powerpoint/2010/main" val="1464949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6D7DCC0-198F-FD89-C136-1C48964CADA4}"/>
              </a:ext>
            </a:extLst>
          </p:cNvPr>
          <p:cNvSpPr>
            <a:spLocks noGrp="1"/>
          </p:cNvSpPr>
          <p:nvPr>
            <p:ph type="body" sz="quarter" idx="14"/>
          </p:nvPr>
        </p:nvSpPr>
        <p:spPr/>
        <p:txBody>
          <a:bodyPr/>
          <a:lstStyle/>
          <a:p>
            <a:endParaRPr lang="en-IN"/>
          </a:p>
        </p:txBody>
      </p:sp>
      <p:sp>
        <p:nvSpPr>
          <p:cNvPr id="5" name="Text Placeholder 2">
            <a:extLst>
              <a:ext uri="{FF2B5EF4-FFF2-40B4-BE49-F238E27FC236}">
                <a16:creationId xmlns:a16="http://schemas.microsoft.com/office/drawing/2014/main" id="{33B33C7B-5B47-8914-F25C-198D05C6346D}"/>
              </a:ext>
            </a:extLst>
          </p:cNvPr>
          <p:cNvSpPr txBox="1">
            <a:spLocks/>
          </p:cNvSpPr>
          <p:nvPr/>
        </p:nvSpPr>
        <p:spPr>
          <a:xfrm>
            <a:off x="3907858" y="2451200"/>
            <a:ext cx="3965608" cy="677011"/>
          </a:xfrm>
          <a:prstGeom prst="rect">
            <a:avLst/>
          </a:prstGeom>
        </p:spPr>
        <p:txBody>
          <a:bodyPr/>
          <a:lst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175" indent="0" algn="ctr">
              <a:buNone/>
            </a:pPr>
            <a:r>
              <a:rPr lang="en-US" sz="3000" b="1" dirty="0"/>
              <a:t>TENANT ADMIN</a:t>
            </a:r>
            <a:endParaRPr lang="en-US" sz="3000" dirty="0"/>
          </a:p>
        </p:txBody>
      </p:sp>
    </p:spTree>
    <p:extLst>
      <p:ext uri="{BB962C8B-B14F-4D97-AF65-F5344CB8AC3E}">
        <p14:creationId xmlns:p14="http://schemas.microsoft.com/office/powerpoint/2010/main" val="249013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C177A2AF-B2A3-728B-4D35-DD6F29E5A781}"/>
              </a:ext>
            </a:extLst>
          </p:cNvPr>
          <p:cNvSpPr/>
          <p:nvPr/>
        </p:nvSpPr>
        <p:spPr>
          <a:xfrm>
            <a:off x="1359605" y="772343"/>
            <a:ext cx="4841748" cy="340801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1" name="Rectangle: Rounded Corners 10">
            <a:extLst>
              <a:ext uri="{FF2B5EF4-FFF2-40B4-BE49-F238E27FC236}">
                <a16:creationId xmlns:a16="http://schemas.microsoft.com/office/drawing/2014/main" id="{6F1C0E6E-FF68-43C1-C490-4435E9085D3A}"/>
              </a:ext>
            </a:extLst>
          </p:cNvPr>
          <p:cNvSpPr/>
          <p:nvPr/>
        </p:nvSpPr>
        <p:spPr>
          <a:xfrm>
            <a:off x="1587061" y="2453416"/>
            <a:ext cx="4368547" cy="1507498"/>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p:txBody>
          <a:bodyPr/>
          <a:lstStyle/>
          <a:p>
            <a:endParaRPr lang="en-US"/>
          </a:p>
        </p:txBody>
      </p:sp>
      <p:sp>
        <p:nvSpPr>
          <p:cNvPr id="7" name="TextBox 6">
            <a:extLst>
              <a:ext uri="{FF2B5EF4-FFF2-40B4-BE49-F238E27FC236}">
                <a16:creationId xmlns:a16="http://schemas.microsoft.com/office/drawing/2014/main" id="{99B38F64-8308-9D47-96C0-0459E50B7CFB}"/>
              </a:ext>
            </a:extLst>
          </p:cNvPr>
          <p:cNvSpPr txBox="1"/>
          <p:nvPr/>
        </p:nvSpPr>
        <p:spPr>
          <a:xfrm>
            <a:off x="1186163" y="1244620"/>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chemeClr val="tx2"/>
              </a:solidFill>
              <a:effectLst/>
              <a:uLnTx/>
              <a:uFillTx/>
              <a:latin typeface="Calibri" panose="020F0502020204030204"/>
              <a:ea typeface="+mn-ea"/>
              <a:cs typeface="Tahoma" pitchFamily="34" charset="0"/>
            </a:endParaRPr>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cxnSp>
        <p:nvCxnSpPr>
          <p:cNvPr id="14" name="Straight Arrow Connector 13">
            <a:extLst>
              <a:ext uri="{FF2B5EF4-FFF2-40B4-BE49-F238E27FC236}">
                <a16:creationId xmlns:a16="http://schemas.microsoft.com/office/drawing/2014/main" id="{EC057DDE-3FE8-9D15-26B6-51965F51F8B2}"/>
              </a:ext>
            </a:extLst>
          </p:cNvPr>
          <p:cNvCxnSpPr>
            <a:cxnSpLocks/>
          </p:cNvCxnSpPr>
          <p:nvPr/>
        </p:nvCxnSpPr>
        <p:spPr>
          <a:xfrm>
            <a:off x="874973" y="2495391"/>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Graphic 17" descr="User with solid fill">
            <a:extLst>
              <a:ext uri="{FF2B5EF4-FFF2-40B4-BE49-F238E27FC236}">
                <a16:creationId xmlns:a16="http://schemas.microsoft.com/office/drawing/2014/main" id="{D6C75F6F-32AD-0F1E-FB8B-9EFDC95E79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7182" y="1366063"/>
            <a:ext cx="484632" cy="484632"/>
          </a:xfrm>
          <a:prstGeom prst="rect">
            <a:avLst/>
          </a:prstGeom>
        </p:spPr>
      </p:pic>
      <p:sp>
        <p:nvSpPr>
          <p:cNvPr id="19" name="TextBox 18">
            <a:extLst>
              <a:ext uri="{FF2B5EF4-FFF2-40B4-BE49-F238E27FC236}">
                <a16:creationId xmlns:a16="http://schemas.microsoft.com/office/drawing/2014/main" id="{400A7B31-C392-C398-A101-CE4921F47986}"/>
              </a:ext>
            </a:extLst>
          </p:cNvPr>
          <p:cNvSpPr txBox="1"/>
          <p:nvPr/>
        </p:nvSpPr>
        <p:spPr>
          <a:xfrm>
            <a:off x="1" y="1782654"/>
            <a:ext cx="1393506" cy="36062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solidFill>
                  <a:srgbClr val="002240"/>
                </a:solidFill>
                <a:cs typeface="Tahoma" pitchFamily="34" charset="0"/>
              </a:rPr>
              <a:t>Tenant Admin</a:t>
            </a:r>
            <a:endParaRPr lang="en-IN" sz="1600" dirty="0">
              <a:solidFill>
                <a:srgbClr val="002240"/>
              </a:solidFill>
              <a:cs typeface="Tahoma" pitchFamily="34" charset="0"/>
            </a:endParaRPr>
          </a:p>
        </p:txBody>
      </p:sp>
      <p:sp>
        <p:nvSpPr>
          <p:cNvPr id="2" name="TextBox 1">
            <a:extLst>
              <a:ext uri="{FF2B5EF4-FFF2-40B4-BE49-F238E27FC236}">
                <a16:creationId xmlns:a16="http://schemas.microsoft.com/office/drawing/2014/main" id="{BF943A92-6E28-B646-9B11-DEF3D960E126}"/>
              </a:ext>
            </a:extLst>
          </p:cNvPr>
          <p:cNvSpPr txBox="1"/>
          <p:nvPr/>
        </p:nvSpPr>
        <p:spPr>
          <a:xfrm>
            <a:off x="2855792" y="818064"/>
            <a:ext cx="2267712" cy="333875"/>
          </a:xfrm>
          <a:prstGeom prst="rect">
            <a:avLst/>
          </a:prstGeom>
          <a:solidFill>
            <a:schemeClr val="tx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600" dirty="0">
                <a:solidFill>
                  <a:schemeClr val="bg1"/>
                </a:solidFill>
                <a:cs typeface="Tahoma" pitchFamily="34" charset="0"/>
              </a:rPr>
              <a:t>Centralized Dashboard</a:t>
            </a:r>
            <a:endParaRPr lang="en-IN" sz="1600" dirty="0">
              <a:solidFill>
                <a:schemeClr val="bg1"/>
              </a:solidFill>
              <a:cs typeface="Tahoma" pitchFamily="34" charset="0"/>
            </a:endParaRPr>
          </a:p>
        </p:txBody>
      </p:sp>
      <p:sp>
        <p:nvSpPr>
          <p:cNvPr id="4" name="TextBox 3">
            <a:extLst>
              <a:ext uri="{FF2B5EF4-FFF2-40B4-BE49-F238E27FC236}">
                <a16:creationId xmlns:a16="http://schemas.microsoft.com/office/drawing/2014/main" id="{277F1FD8-7C3E-337D-EEEF-5FE28C9C97D7}"/>
              </a:ext>
            </a:extLst>
          </p:cNvPr>
          <p:cNvSpPr txBox="1"/>
          <p:nvPr/>
        </p:nvSpPr>
        <p:spPr>
          <a:xfrm>
            <a:off x="1950197" y="1313015"/>
            <a:ext cx="1321476" cy="278573"/>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List of Projects</a:t>
            </a:r>
            <a:endParaRPr lang="en-IN" sz="1400" dirty="0">
              <a:solidFill>
                <a:schemeClr val="tx2"/>
              </a:solidFill>
              <a:cs typeface="Tahoma" pitchFamily="34" charset="0"/>
            </a:endParaRPr>
          </a:p>
        </p:txBody>
      </p:sp>
      <p:sp>
        <p:nvSpPr>
          <p:cNvPr id="5" name="TextBox 4">
            <a:extLst>
              <a:ext uri="{FF2B5EF4-FFF2-40B4-BE49-F238E27FC236}">
                <a16:creationId xmlns:a16="http://schemas.microsoft.com/office/drawing/2014/main" id="{25E5E917-F4CC-06B2-7F70-AE31453ABE99}"/>
              </a:ext>
            </a:extLst>
          </p:cNvPr>
          <p:cNvSpPr txBox="1"/>
          <p:nvPr/>
        </p:nvSpPr>
        <p:spPr>
          <a:xfrm>
            <a:off x="3425787" y="1366063"/>
            <a:ext cx="2267712" cy="232688"/>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Tenant User management</a:t>
            </a:r>
            <a:endParaRPr lang="en-IN" sz="1300" dirty="0">
              <a:solidFill>
                <a:schemeClr val="tx2"/>
              </a:solidFill>
              <a:cs typeface="Tahoma" pitchFamily="34" charset="0"/>
            </a:endParaRPr>
          </a:p>
        </p:txBody>
      </p:sp>
      <p:sp>
        <p:nvSpPr>
          <p:cNvPr id="6" name="TextBox 5">
            <a:extLst>
              <a:ext uri="{FF2B5EF4-FFF2-40B4-BE49-F238E27FC236}">
                <a16:creationId xmlns:a16="http://schemas.microsoft.com/office/drawing/2014/main" id="{CC5DDED8-2C0C-5819-6338-4D19D224ECD0}"/>
              </a:ext>
            </a:extLst>
          </p:cNvPr>
          <p:cNvSpPr txBox="1"/>
          <p:nvPr/>
        </p:nvSpPr>
        <p:spPr>
          <a:xfrm>
            <a:off x="2912368" y="2123927"/>
            <a:ext cx="1636969" cy="22981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chemeClr val="tx2"/>
                </a:solidFill>
                <a:cs typeface="Tahoma" pitchFamily="34" charset="0"/>
              </a:rPr>
              <a:t>Other Admin Activities</a:t>
            </a:r>
            <a:endParaRPr lang="en-IN" sz="1200" dirty="0">
              <a:solidFill>
                <a:schemeClr val="tx2"/>
              </a:solidFill>
              <a:cs typeface="Tahoma" pitchFamily="34" charset="0"/>
            </a:endParaRPr>
          </a:p>
        </p:txBody>
      </p:sp>
      <p:sp>
        <p:nvSpPr>
          <p:cNvPr id="10" name="TextBox 9">
            <a:extLst>
              <a:ext uri="{FF2B5EF4-FFF2-40B4-BE49-F238E27FC236}">
                <a16:creationId xmlns:a16="http://schemas.microsoft.com/office/drawing/2014/main" id="{8D21CC33-7416-F7B0-8051-E8DBF25D8EB2}"/>
              </a:ext>
            </a:extLst>
          </p:cNvPr>
          <p:cNvSpPr txBox="1"/>
          <p:nvPr/>
        </p:nvSpPr>
        <p:spPr>
          <a:xfrm>
            <a:off x="2314788" y="2453416"/>
            <a:ext cx="2984682" cy="369661"/>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cs typeface="Tahoma" pitchFamily="34" charset="0"/>
              </a:rPr>
              <a:t>Project Wise health Statistics</a:t>
            </a:r>
            <a:endParaRPr lang="en-IN" sz="1600" dirty="0">
              <a:cs typeface="Tahoma" pitchFamily="34" charset="0"/>
            </a:endParaRPr>
          </a:p>
        </p:txBody>
      </p:sp>
      <p:sp>
        <p:nvSpPr>
          <p:cNvPr id="13" name="TextBox 12">
            <a:extLst>
              <a:ext uri="{FF2B5EF4-FFF2-40B4-BE49-F238E27FC236}">
                <a16:creationId xmlns:a16="http://schemas.microsoft.com/office/drawing/2014/main" id="{D3422962-8E9A-1A37-E9E1-11024CB8C23E}"/>
              </a:ext>
            </a:extLst>
          </p:cNvPr>
          <p:cNvSpPr txBox="1">
            <a:spLocks noGrp="1" noRot="1" noMove="1" noResize="1" noEditPoints="1" noAdjustHandles="1" noChangeArrowheads="1" noChangeShapeType="1"/>
          </p:cNvSpPr>
          <p:nvPr/>
        </p:nvSpPr>
        <p:spPr>
          <a:xfrm>
            <a:off x="7867847" y="512681"/>
            <a:ext cx="1370457" cy="305383"/>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List of projects</a:t>
            </a:r>
            <a:endParaRPr lang="en-IN" sz="1400" dirty="0">
              <a:solidFill>
                <a:schemeClr val="tx2"/>
              </a:solidFill>
              <a:cs typeface="Tahoma" pitchFamily="34" charset="0"/>
            </a:endParaRPr>
          </a:p>
        </p:txBody>
      </p:sp>
      <p:cxnSp>
        <p:nvCxnSpPr>
          <p:cNvPr id="15" name="Straight Arrow Connector 14">
            <a:extLst>
              <a:ext uri="{FF2B5EF4-FFF2-40B4-BE49-F238E27FC236}">
                <a16:creationId xmlns:a16="http://schemas.microsoft.com/office/drawing/2014/main" id="{D8906AE6-5DE6-8A92-487F-5F627FBCD5BB}"/>
              </a:ext>
            </a:extLst>
          </p:cNvPr>
          <p:cNvCxnSpPr>
            <a:cxnSpLocks/>
          </p:cNvCxnSpPr>
          <p:nvPr/>
        </p:nvCxnSpPr>
        <p:spPr>
          <a:xfrm>
            <a:off x="7312730" y="67539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Graphic 16" descr="User with solid fill">
            <a:extLst>
              <a:ext uri="{FF2B5EF4-FFF2-40B4-BE49-F238E27FC236}">
                <a16:creationId xmlns:a16="http://schemas.microsoft.com/office/drawing/2014/main" id="{64505726-C6E1-0FB8-5A5C-90025740948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27514" y="382788"/>
            <a:ext cx="484632" cy="484632"/>
          </a:xfrm>
          <a:prstGeom prst="rect">
            <a:avLst/>
          </a:prstGeom>
        </p:spPr>
      </p:pic>
      <p:sp>
        <p:nvSpPr>
          <p:cNvPr id="28" name="TextBox 27">
            <a:extLst>
              <a:ext uri="{FF2B5EF4-FFF2-40B4-BE49-F238E27FC236}">
                <a16:creationId xmlns:a16="http://schemas.microsoft.com/office/drawing/2014/main" id="{5B5A5EB0-A030-2C7B-BC38-2719784CDCC7}"/>
              </a:ext>
            </a:extLst>
          </p:cNvPr>
          <p:cNvSpPr txBox="1"/>
          <p:nvPr/>
        </p:nvSpPr>
        <p:spPr>
          <a:xfrm>
            <a:off x="6665609" y="80322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sp>
        <p:nvSpPr>
          <p:cNvPr id="43" name="TextBox 42">
            <a:extLst>
              <a:ext uri="{FF2B5EF4-FFF2-40B4-BE49-F238E27FC236}">
                <a16:creationId xmlns:a16="http://schemas.microsoft.com/office/drawing/2014/main" id="{829BD638-4BAD-5F86-28C9-B3912110D37F}"/>
              </a:ext>
            </a:extLst>
          </p:cNvPr>
          <p:cNvSpPr txBox="1"/>
          <p:nvPr/>
        </p:nvSpPr>
        <p:spPr>
          <a:xfrm>
            <a:off x="9998017" y="343734"/>
            <a:ext cx="1676399"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sp>
        <p:nvSpPr>
          <p:cNvPr id="45" name="TextBox 44">
            <a:extLst>
              <a:ext uri="{FF2B5EF4-FFF2-40B4-BE49-F238E27FC236}">
                <a16:creationId xmlns:a16="http://schemas.microsoft.com/office/drawing/2014/main" id="{7A3528CB-7AC7-BB69-54E9-0EA6A60990F1}"/>
              </a:ext>
            </a:extLst>
          </p:cNvPr>
          <p:cNvSpPr txBox="1"/>
          <p:nvPr/>
        </p:nvSpPr>
        <p:spPr>
          <a:xfrm>
            <a:off x="7862132" y="1298505"/>
            <a:ext cx="1451796" cy="484149"/>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Project/User Management </a:t>
            </a:r>
            <a:endParaRPr lang="en-IN" sz="1400" dirty="0">
              <a:solidFill>
                <a:schemeClr val="tx2"/>
              </a:solidFill>
              <a:cs typeface="Tahoma" pitchFamily="34" charset="0"/>
            </a:endParaRPr>
          </a:p>
        </p:txBody>
      </p:sp>
      <p:cxnSp>
        <p:nvCxnSpPr>
          <p:cNvPr id="46" name="Straight Arrow Connector 45">
            <a:extLst>
              <a:ext uri="{FF2B5EF4-FFF2-40B4-BE49-F238E27FC236}">
                <a16:creationId xmlns:a16="http://schemas.microsoft.com/office/drawing/2014/main" id="{5F9BDC33-69D0-2E25-FE84-99083A3A067D}"/>
              </a:ext>
            </a:extLst>
          </p:cNvPr>
          <p:cNvCxnSpPr>
            <a:cxnSpLocks/>
          </p:cNvCxnSpPr>
          <p:nvPr/>
        </p:nvCxnSpPr>
        <p:spPr>
          <a:xfrm>
            <a:off x="7307015" y="146121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F9888D9-590F-4281-3F7D-83BA98B99C8A}"/>
              </a:ext>
            </a:extLst>
          </p:cNvPr>
          <p:cNvSpPr txBox="1"/>
          <p:nvPr/>
        </p:nvSpPr>
        <p:spPr>
          <a:xfrm>
            <a:off x="6581210" y="151121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20" name="Graphic 19" descr="User with solid fill">
            <a:extLst>
              <a:ext uri="{FF2B5EF4-FFF2-40B4-BE49-F238E27FC236}">
                <a16:creationId xmlns:a16="http://schemas.microsoft.com/office/drawing/2014/main" id="{76EA900A-B092-EFF2-5841-A19326F1049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7992" y="1119256"/>
            <a:ext cx="484632" cy="484632"/>
          </a:xfrm>
          <a:prstGeom prst="rect">
            <a:avLst/>
          </a:prstGeom>
        </p:spPr>
      </p:pic>
      <p:sp>
        <p:nvSpPr>
          <p:cNvPr id="22" name="TextBox 21">
            <a:extLst>
              <a:ext uri="{FF2B5EF4-FFF2-40B4-BE49-F238E27FC236}">
                <a16:creationId xmlns:a16="http://schemas.microsoft.com/office/drawing/2014/main" id="{B1A36FEA-9FFB-C0B6-73F8-4EABDC8B2A4C}"/>
              </a:ext>
            </a:extLst>
          </p:cNvPr>
          <p:cNvSpPr txBox="1"/>
          <p:nvPr/>
        </p:nvSpPr>
        <p:spPr>
          <a:xfrm>
            <a:off x="7956436" y="2068760"/>
            <a:ext cx="1300537" cy="29654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Datamart</a:t>
            </a:r>
            <a:endParaRPr lang="en-IN" sz="1400" dirty="0">
              <a:solidFill>
                <a:schemeClr val="tx2"/>
              </a:solidFill>
              <a:cs typeface="Tahoma" pitchFamily="34" charset="0"/>
            </a:endParaRPr>
          </a:p>
        </p:txBody>
      </p:sp>
      <p:cxnSp>
        <p:nvCxnSpPr>
          <p:cNvPr id="23" name="Straight Arrow Connector 22">
            <a:extLst>
              <a:ext uri="{FF2B5EF4-FFF2-40B4-BE49-F238E27FC236}">
                <a16:creationId xmlns:a16="http://schemas.microsoft.com/office/drawing/2014/main" id="{2DDC662C-A2DB-9A98-88C5-D390D0617F5B}"/>
              </a:ext>
            </a:extLst>
          </p:cNvPr>
          <p:cNvCxnSpPr>
            <a:cxnSpLocks/>
          </p:cNvCxnSpPr>
          <p:nvPr/>
        </p:nvCxnSpPr>
        <p:spPr>
          <a:xfrm>
            <a:off x="7307015" y="220404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FF0C0E8-A7C0-E661-0E8D-0790DB69F071}"/>
              </a:ext>
            </a:extLst>
          </p:cNvPr>
          <p:cNvSpPr txBox="1"/>
          <p:nvPr/>
        </p:nvSpPr>
        <p:spPr>
          <a:xfrm>
            <a:off x="6581210" y="2254036"/>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34" name="Graphic 33" descr="User with solid fill">
            <a:extLst>
              <a:ext uri="{FF2B5EF4-FFF2-40B4-BE49-F238E27FC236}">
                <a16:creationId xmlns:a16="http://schemas.microsoft.com/office/drawing/2014/main" id="{81E98BFF-0AAC-343D-DA74-84EBB83BEE8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7992" y="1862079"/>
            <a:ext cx="484632" cy="484632"/>
          </a:xfrm>
          <a:prstGeom prst="rect">
            <a:avLst/>
          </a:prstGeom>
        </p:spPr>
      </p:pic>
      <p:sp>
        <p:nvSpPr>
          <p:cNvPr id="41" name="TextBox 40">
            <a:extLst>
              <a:ext uri="{FF2B5EF4-FFF2-40B4-BE49-F238E27FC236}">
                <a16:creationId xmlns:a16="http://schemas.microsoft.com/office/drawing/2014/main" id="{3ADD4479-394D-5284-333D-15EC1496C3E5}"/>
              </a:ext>
            </a:extLst>
          </p:cNvPr>
          <p:cNvSpPr txBox="1"/>
          <p:nvPr/>
        </p:nvSpPr>
        <p:spPr>
          <a:xfrm>
            <a:off x="3937369" y="1755708"/>
            <a:ext cx="844876" cy="23494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Billing</a:t>
            </a:r>
            <a:endParaRPr lang="en-IN" sz="1400" dirty="0">
              <a:solidFill>
                <a:schemeClr val="tx2"/>
              </a:solidFill>
              <a:cs typeface="Tahoma" pitchFamily="34" charset="0"/>
            </a:endParaRPr>
          </a:p>
        </p:txBody>
      </p:sp>
      <p:sp>
        <p:nvSpPr>
          <p:cNvPr id="42" name="TextBox 41">
            <a:extLst>
              <a:ext uri="{FF2B5EF4-FFF2-40B4-BE49-F238E27FC236}">
                <a16:creationId xmlns:a16="http://schemas.microsoft.com/office/drawing/2014/main" id="{BF31B888-450F-C926-4B96-189E01B5B219}"/>
              </a:ext>
            </a:extLst>
          </p:cNvPr>
          <p:cNvSpPr txBox="1"/>
          <p:nvPr/>
        </p:nvSpPr>
        <p:spPr>
          <a:xfrm>
            <a:off x="7911759" y="3504192"/>
            <a:ext cx="1387985" cy="37554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Billing</a:t>
            </a:r>
            <a:endParaRPr lang="en-IN" sz="1400" dirty="0">
              <a:solidFill>
                <a:schemeClr val="tx2"/>
              </a:solidFill>
              <a:cs typeface="Tahoma" pitchFamily="34" charset="0"/>
            </a:endParaRPr>
          </a:p>
        </p:txBody>
      </p:sp>
      <p:cxnSp>
        <p:nvCxnSpPr>
          <p:cNvPr id="54" name="Straight Arrow Connector 53">
            <a:extLst>
              <a:ext uri="{FF2B5EF4-FFF2-40B4-BE49-F238E27FC236}">
                <a16:creationId xmlns:a16="http://schemas.microsoft.com/office/drawing/2014/main" id="{20FB60AD-0C66-EB8E-7A9E-2BF9284E2D08}"/>
              </a:ext>
            </a:extLst>
          </p:cNvPr>
          <p:cNvCxnSpPr>
            <a:cxnSpLocks/>
          </p:cNvCxnSpPr>
          <p:nvPr/>
        </p:nvCxnSpPr>
        <p:spPr>
          <a:xfrm>
            <a:off x="7356642" y="366690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BD265D12-3CE6-E937-8C01-D85728FBE291}"/>
              </a:ext>
            </a:extLst>
          </p:cNvPr>
          <p:cNvSpPr txBox="1"/>
          <p:nvPr/>
        </p:nvSpPr>
        <p:spPr>
          <a:xfrm>
            <a:off x="6630837" y="371690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61" name="Graphic 60" descr="User with solid fill">
            <a:extLst>
              <a:ext uri="{FF2B5EF4-FFF2-40B4-BE49-F238E27FC236}">
                <a16:creationId xmlns:a16="http://schemas.microsoft.com/office/drawing/2014/main" id="{99EA1871-2D31-C0A0-6E1E-E75CAAA707C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87619" y="3324944"/>
            <a:ext cx="484632" cy="484632"/>
          </a:xfrm>
          <a:prstGeom prst="rect">
            <a:avLst/>
          </a:prstGeom>
        </p:spPr>
      </p:pic>
      <p:sp>
        <p:nvSpPr>
          <p:cNvPr id="64" name="TextBox 63">
            <a:extLst>
              <a:ext uri="{FF2B5EF4-FFF2-40B4-BE49-F238E27FC236}">
                <a16:creationId xmlns:a16="http://schemas.microsoft.com/office/drawing/2014/main" id="{61D1590E-961E-412C-9956-BFFE63270D05}"/>
              </a:ext>
            </a:extLst>
          </p:cNvPr>
          <p:cNvSpPr txBox="1"/>
          <p:nvPr/>
        </p:nvSpPr>
        <p:spPr>
          <a:xfrm>
            <a:off x="1992927" y="1755708"/>
            <a:ext cx="1134497" cy="25805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Datamart</a:t>
            </a:r>
            <a:endParaRPr lang="en-IN" sz="1400" dirty="0">
              <a:solidFill>
                <a:schemeClr val="tx2"/>
              </a:solidFill>
              <a:cs typeface="Tahoma" pitchFamily="34" charset="0"/>
            </a:endParaRPr>
          </a:p>
        </p:txBody>
      </p:sp>
      <p:cxnSp>
        <p:nvCxnSpPr>
          <p:cNvPr id="69" name="Straight Arrow Connector 68">
            <a:extLst>
              <a:ext uri="{FF2B5EF4-FFF2-40B4-BE49-F238E27FC236}">
                <a16:creationId xmlns:a16="http://schemas.microsoft.com/office/drawing/2014/main" id="{C2B81905-993A-8839-EE2E-EC57A745F7B6}"/>
              </a:ext>
            </a:extLst>
          </p:cNvPr>
          <p:cNvCxnSpPr/>
          <p:nvPr/>
        </p:nvCxnSpPr>
        <p:spPr>
          <a:xfrm>
            <a:off x="9247829" y="611387"/>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Flowchart: Connector 34">
            <a:extLst>
              <a:ext uri="{FF2B5EF4-FFF2-40B4-BE49-F238E27FC236}">
                <a16:creationId xmlns:a16="http://schemas.microsoft.com/office/drawing/2014/main" id="{22BA387A-D3D6-7F34-E5E8-E0D173D0D287}"/>
              </a:ext>
            </a:extLst>
          </p:cNvPr>
          <p:cNvSpPr/>
          <p:nvPr/>
        </p:nvSpPr>
        <p:spPr>
          <a:xfrm>
            <a:off x="168336" y="2111838"/>
            <a:ext cx="718361" cy="759277"/>
          </a:xfrm>
          <a:prstGeom prst="flowChartConnector">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dirty="0"/>
              <a:t>Log In</a:t>
            </a:r>
            <a:endParaRPr lang="en-IN" sz="1400" dirty="0"/>
          </a:p>
        </p:txBody>
      </p:sp>
      <p:sp>
        <p:nvSpPr>
          <p:cNvPr id="36" name="TextBox 35">
            <a:extLst>
              <a:ext uri="{FF2B5EF4-FFF2-40B4-BE49-F238E27FC236}">
                <a16:creationId xmlns:a16="http://schemas.microsoft.com/office/drawing/2014/main" id="{5E999FEB-0FB8-6668-0089-963F80DB81A4}"/>
              </a:ext>
            </a:extLst>
          </p:cNvPr>
          <p:cNvSpPr txBox="1"/>
          <p:nvPr/>
        </p:nvSpPr>
        <p:spPr>
          <a:xfrm>
            <a:off x="475123" y="2824893"/>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Authenticate using SSO</a:t>
            </a:r>
            <a:endParaRPr lang="en-IN" sz="1100" dirty="0">
              <a:solidFill>
                <a:srgbClr val="002240"/>
              </a:solidFill>
              <a:cs typeface="Tahoma" pitchFamily="34" charset="0"/>
            </a:endParaRPr>
          </a:p>
        </p:txBody>
      </p:sp>
      <p:sp>
        <p:nvSpPr>
          <p:cNvPr id="37" name="TextBox 36">
            <a:extLst>
              <a:ext uri="{FF2B5EF4-FFF2-40B4-BE49-F238E27FC236}">
                <a16:creationId xmlns:a16="http://schemas.microsoft.com/office/drawing/2014/main" id="{D8D9D4AE-2C64-C2DE-D661-05C889B3398C}"/>
              </a:ext>
            </a:extLst>
          </p:cNvPr>
          <p:cNvSpPr txBox="1"/>
          <p:nvPr/>
        </p:nvSpPr>
        <p:spPr>
          <a:xfrm>
            <a:off x="1444424" y="2124069"/>
            <a:ext cx="1442261" cy="24123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chemeClr val="tx2"/>
                </a:solidFill>
                <a:cs typeface="Tahoma" pitchFamily="34" charset="0"/>
              </a:rPr>
              <a:t>Support &amp; Ticketing</a:t>
            </a:r>
            <a:endParaRPr lang="en-IN" sz="1200" dirty="0">
              <a:solidFill>
                <a:schemeClr val="tx2"/>
              </a:solidFill>
              <a:cs typeface="Tahoma" pitchFamily="34" charset="0"/>
            </a:endParaRPr>
          </a:p>
        </p:txBody>
      </p:sp>
      <p:graphicFrame>
        <p:nvGraphicFramePr>
          <p:cNvPr id="38" name="Table 37">
            <a:extLst>
              <a:ext uri="{FF2B5EF4-FFF2-40B4-BE49-F238E27FC236}">
                <a16:creationId xmlns:a16="http://schemas.microsoft.com/office/drawing/2014/main" id="{EA87390C-EC25-CBBC-3FA5-0BE3B34AF851}"/>
              </a:ext>
            </a:extLst>
          </p:cNvPr>
          <p:cNvGraphicFramePr>
            <a:graphicFrameLocks noGrp="1"/>
          </p:cNvGraphicFramePr>
          <p:nvPr>
            <p:extLst>
              <p:ext uri="{D42A27DB-BD31-4B8C-83A1-F6EECF244321}">
                <p14:modId xmlns:p14="http://schemas.microsoft.com/office/powerpoint/2010/main" val="1110996929"/>
              </p:ext>
            </p:extLst>
          </p:nvPr>
        </p:nvGraphicFramePr>
        <p:xfrm>
          <a:off x="1740341" y="2922749"/>
          <a:ext cx="4082982" cy="699063"/>
        </p:xfrm>
        <a:graphic>
          <a:graphicData uri="http://schemas.openxmlformats.org/drawingml/2006/table">
            <a:tbl>
              <a:tblPr firstRow="1" bandRow="1">
                <a:tableStyleId>{F2DE63D5-997A-4646-A377-4702673A728D}</a:tableStyleId>
              </a:tblPr>
              <a:tblGrid>
                <a:gridCol w="843510">
                  <a:extLst>
                    <a:ext uri="{9D8B030D-6E8A-4147-A177-3AD203B41FA5}">
                      <a16:colId xmlns:a16="http://schemas.microsoft.com/office/drawing/2014/main" val="2188964586"/>
                    </a:ext>
                  </a:extLst>
                </a:gridCol>
                <a:gridCol w="1197980">
                  <a:extLst>
                    <a:ext uri="{9D8B030D-6E8A-4147-A177-3AD203B41FA5}">
                      <a16:colId xmlns:a16="http://schemas.microsoft.com/office/drawing/2014/main" val="263043661"/>
                    </a:ext>
                  </a:extLst>
                </a:gridCol>
                <a:gridCol w="1020746">
                  <a:extLst>
                    <a:ext uri="{9D8B030D-6E8A-4147-A177-3AD203B41FA5}">
                      <a16:colId xmlns:a16="http://schemas.microsoft.com/office/drawing/2014/main" val="4279740874"/>
                    </a:ext>
                  </a:extLst>
                </a:gridCol>
                <a:gridCol w="1020746">
                  <a:extLst>
                    <a:ext uri="{9D8B030D-6E8A-4147-A177-3AD203B41FA5}">
                      <a16:colId xmlns:a16="http://schemas.microsoft.com/office/drawing/2014/main" val="2010840677"/>
                    </a:ext>
                  </a:extLst>
                </a:gridCol>
              </a:tblGrid>
              <a:tr h="233021">
                <a:tc>
                  <a:txBody>
                    <a:bodyPr/>
                    <a:lstStyle/>
                    <a:p>
                      <a:r>
                        <a:rPr lang="en-US" sz="900" dirty="0"/>
                        <a:t>Project</a:t>
                      </a:r>
                      <a:endParaRPr lang="en-IN" sz="900" dirty="0"/>
                    </a:p>
                  </a:txBody>
                  <a:tcPr/>
                </a:tc>
                <a:tc>
                  <a:txBody>
                    <a:bodyPr/>
                    <a:lstStyle/>
                    <a:p>
                      <a:r>
                        <a:rPr lang="en-US" sz="900" dirty="0"/>
                        <a:t>No of Extractors</a:t>
                      </a:r>
                      <a:endParaRPr lang="en-IN" sz="900" dirty="0"/>
                    </a:p>
                  </a:txBody>
                  <a:tcPr/>
                </a:tc>
                <a:tc>
                  <a:txBody>
                    <a:bodyPr/>
                    <a:lstStyle/>
                    <a:p>
                      <a:r>
                        <a:rPr lang="en-US" sz="900" dirty="0"/>
                        <a:t>No of Pipelines </a:t>
                      </a:r>
                      <a:endParaRPr lang="en-IN" sz="900" dirty="0"/>
                    </a:p>
                  </a:txBody>
                  <a:tcPr/>
                </a:tc>
                <a:tc>
                  <a:txBody>
                    <a:bodyPr/>
                    <a:lstStyle/>
                    <a:p>
                      <a:r>
                        <a:rPr lang="en-US" sz="900" dirty="0"/>
                        <a:t>…….</a:t>
                      </a:r>
                      <a:endParaRPr lang="en-IN" sz="900" dirty="0"/>
                    </a:p>
                  </a:txBody>
                  <a:tcPr/>
                </a:tc>
                <a:extLst>
                  <a:ext uri="{0D108BD9-81ED-4DB2-BD59-A6C34878D82A}">
                    <a16:rowId xmlns:a16="http://schemas.microsoft.com/office/drawing/2014/main" val="2202397540"/>
                  </a:ext>
                </a:extLst>
              </a:tr>
              <a:tr h="233021">
                <a:tc>
                  <a:txBody>
                    <a:bodyPr/>
                    <a:lstStyle/>
                    <a:p>
                      <a:r>
                        <a:rPr lang="en-US" sz="900" dirty="0" err="1"/>
                        <a:t>Sobi</a:t>
                      </a:r>
                      <a:r>
                        <a:rPr lang="en-US" sz="900" dirty="0"/>
                        <a:t> </a:t>
                      </a:r>
                      <a:r>
                        <a:rPr lang="en-US" sz="900" dirty="0" err="1"/>
                        <a:t>Proj</a:t>
                      </a:r>
                      <a:r>
                        <a:rPr lang="en-US" sz="900" dirty="0"/>
                        <a:t> 1</a:t>
                      </a:r>
                      <a:endParaRPr lang="en-IN" sz="900" dirty="0"/>
                    </a:p>
                  </a:txBody>
                  <a:tcPr/>
                </a:tc>
                <a:tc>
                  <a:txBody>
                    <a:bodyPr/>
                    <a:lstStyle/>
                    <a:p>
                      <a:endParaRPr lang="en-IN" sz="900"/>
                    </a:p>
                  </a:txBody>
                  <a:tcPr/>
                </a:tc>
                <a:tc>
                  <a:txBody>
                    <a:bodyPr/>
                    <a:lstStyle/>
                    <a:p>
                      <a:endParaRPr lang="en-IN" sz="900" dirty="0"/>
                    </a:p>
                  </a:txBody>
                  <a:tcPr/>
                </a:tc>
                <a:tc>
                  <a:txBody>
                    <a:bodyPr/>
                    <a:lstStyle/>
                    <a:p>
                      <a:endParaRPr lang="en-IN" sz="900" dirty="0"/>
                    </a:p>
                  </a:txBody>
                  <a:tcPr/>
                </a:tc>
                <a:extLst>
                  <a:ext uri="{0D108BD9-81ED-4DB2-BD59-A6C34878D82A}">
                    <a16:rowId xmlns:a16="http://schemas.microsoft.com/office/drawing/2014/main" val="2362751832"/>
                  </a:ext>
                </a:extLst>
              </a:tr>
              <a:tr h="233021">
                <a:tc>
                  <a:txBody>
                    <a:bodyPr/>
                    <a:lstStyle/>
                    <a:p>
                      <a:r>
                        <a:rPr lang="en-US" sz="900" dirty="0" err="1"/>
                        <a:t>Sobi</a:t>
                      </a:r>
                      <a:r>
                        <a:rPr lang="en-US" sz="900" dirty="0"/>
                        <a:t> </a:t>
                      </a:r>
                      <a:r>
                        <a:rPr lang="en-US" sz="900" dirty="0" err="1"/>
                        <a:t>Proj</a:t>
                      </a:r>
                      <a:r>
                        <a:rPr lang="en-US" sz="900" dirty="0"/>
                        <a:t> 2</a:t>
                      </a:r>
                      <a:endParaRPr lang="en-IN" sz="900" dirty="0"/>
                    </a:p>
                  </a:txBody>
                  <a:tcPr/>
                </a:tc>
                <a:tc>
                  <a:txBody>
                    <a:bodyPr/>
                    <a:lstStyle/>
                    <a:p>
                      <a:endParaRPr lang="en-IN" sz="900"/>
                    </a:p>
                  </a:txBody>
                  <a:tcPr/>
                </a:tc>
                <a:tc>
                  <a:txBody>
                    <a:bodyPr/>
                    <a:lstStyle/>
                    <a:p>
                      <a:endParaRPr lang="en-IN" sz="900"/>
                    </a:p>
                  </a:txBody>
                  <a:tcPr/>
                </a:tc>
                <a:tc>
                  <a:txBody>
                    <a:bodyPr/>
                    <a:lstStyle/>
                    <a:p>
                      <a:endParaRPr lang="en-IN" sz="900" dirty="0"/>
                    </a:p>
                  </a:txBody>
                  <a:tcPr/>
                </a:tc>
                <a:extLst>
                  <a:ext uri="{0D108BD9-81ED-4DB2-BD59-A6C34878D82A}">
                    <a16:rowId xmlns:a16="http://schemas.microsoft.com/office/drawing/2014/main" val="4142431679"/>
                  </a:ext>
                </a:extLst>
              </a:tr>
            </a:tbl>
          </a:graphicData>
        </a:graphic>
      </p:graphicFrame>
      <p:sp>
        <p:nvSpPr>
          <p:cNvPr id="59" name="TextBox 58">
            <a:extLst>
              <a:ext uri="{FF2B5EF4-FFF2-40B4-BE49-F238E27FC236}">
                <a16:creationId xmlns:a16="http://schemas.microsoft.com/office/drawing/2014/main" id="{571173C4-6602-FBCC-7D18-42DDF960CA5B}"/>
              </a:ext>
            </a:extLst>
          </p:cNvPr>
          <p:cNvSpPr txBox="1"/>
          <p:nvPr/>
        </p:nvSpPr>
        <p:spPr>
          <a:xfrm>
            <a:off x="6991073" y="407711"/>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7" name="TextBox 66">
            <a:extLst>
              <a:ext uri="{FF2B5EF4-FFF2-40B4-BE49-F238E27FC236}">
                <a16:creationId xmlns:a16="http://schemas.microsoft.com/office/drawing/2014/main" id="{13431147-0B90-958D-ACE5-90E08ADA0DD4}"/>
              </a:ext>
            </a:extLst>
          </p:cNvPr>
          <p:cNvSpPr txBox="1"/>
          <p:nvPr/>
        </p:nvSpPr>
        <p:spPr>
          <a:xfrm>
            <a:off x="7127750" y="1941336"/>
            <a:ext cx="784009"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8" name="TextBox 67">
            <a:extLst>
              <a:ext uri="{FF2B5EF4-FFF2-40B4-BE49-F238E27FC236}">
                <a16:creationId xmlns:a16="http://schemas.microsoft.com/office/drawing/2014/main" id="{0ABDD660-B89C-DFCE-BE9E-DC8D069091E6}"/>
              </a:ext>
            </a:extLst>
          </p:cNvPr>
          <p:cNvSpPr txBox="1"/>
          <p:nvPr/>
        </p:nvSpPr>
        <p:spPr>
          <a:xfrm>
            <a:off x="6996225" y="1168852"/>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71" name="TextBox 70">
            <a:extLst>
              <a:ext uri="{FF2B5EF4-FFF2-40B4-BE49-F238E27FC236}">
                <a16:creationId xmlns:a16="http://schemas.microsoft.com/office/drawing/2014/main" id="{BEF3AF14-944D-E952-7DBB-5E38CA2E2853}"/>
              </a:ext>
            </a:extLst>
          </p:cNvPr>
          <p:cNvSpPr txBox="1"/>
          <p:nvPr/>
        </p:nvSpPr>
        <p:spPr>
          <a:xfrm>
            <a:off x="7082613" y="3364577"/>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78" name="Oval 77">
            <a:extLst>
              <a:ext uri="{FF2B5EF4-FFF2-40B4-BE49-F238E27FC236}">
                <a16:creationId xmlns:a16="http://schemas.microsoft.com/office/drawing/2014/main" id="{259372F9-1F90-1C00-8748-CCF889299BBE}"/>
              </a:ext>
            </a:extLst>
          </p:cNvPr>
          <p:cNvSpPr/>
          <p:nvPr/>
        </p:nvSpPr>
        <p:spPr>
          <a:xfrm>
            <a:off x="11332467" y="512681"/>
            <a:ext cx="659228" cy="365360"/>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A 1</a:t>
            </a:r>
            <a:endParaRPr lang="en-IN" sz="1600" dirty="0">
              <a:solidFill>
                <a:schemeClr val="tx2"/>
              </a:solidFill>
            </a:endParaRPr>
          </a:p>
        </p:txBody>
      </p:sp>
      <p:sp>
        <p:nvSpPr>
          <p:cNvPr id="81" name="Oval 80">
            <a:extLst>
              <a:ext uri="{FF2B5EF4-FFF2-40B4-BE49-F238E27FC236}">
                <a16:creationId xmlns:a16="http://schemas.microsoft.com/office/drawing/2014/main" id="{5096BA02-55A5-B758-10B9-5031A0EB6F03}"/>
              </a:ext>
            </a:extLst>
          </p:cNvPr>
          <p:cNvSpPr/>
          <p:nvPr/>
        </p:nvSpPr>
        <p:spPr>
          <a:xfrm>
            <a:off x="11312737" y="1338132"/>
            <a:ext cx="659228" cy="350014"/>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B1</a:t>
            </a:r>
            <a:endParaRPr lang="en-IN" sz="1600" dirty="0">
              <a:solidFill>
                <a:schemeClr val="tx2"/>
              </a:solidFill>
            </a:endParaRPr>
          </a:p>
        </p:txBody>
      </p:sp>
      <p:sp>
        <p:nvSpPr>
          <p:cNvPr id="84" name="Oval 83">
            <a:extLst>
              <a:ext uri="{FF2B5EF4-FFF2-40B4-BE49-F238E27FC236}">
                <a16:creationId xmlns:a16="http://schemas.microsoft.com/office/drawing/2014/main" id="{E294A983-2792-241B-D4FA-D0E3165AD2DD}"/>
              </a:ext>
            </a:extLst>
          </p:cNvPr>
          <p:cNvSpPr/>
          <p:nvPr/>
        </p:nvSpPr>
        <p:spPr>
          <a:xfrm>
            <a:off x="11337797" y="2123927"/>
            <a:ext cx="685867" cy="28450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C1</a:t>
            </a:r>
            <a:endParaRPr lang="en-IN" sz="1600" dirty="0">
              <a:solidFill>
                <a:schemeClr val="tx2"/>
              </a:solidFill>
            </a:endParaRPr>
          </a:p>
        </p:txBody>
      </p:sp>
      <p:sp>
        <p:nvSpPr>
          <p:cNvPr id="86" name="Oval 85">
            <a:extLst>
              <a:ext uri="{FF2B5EF4-FFF2-40B4-BE49-F238E27FC236}">
                <a16:creationId xmlns:a16="http://schemas.microsoft.com/office/drawing/2014/main" id="{43A103CA-F52C-3191-ABC3-46F39C70DEEF}"/>
              </a:ext>
            </a:extLst>
          </p:cNvPr>
          <p:cNvSpPr/>
          <p:nvPr/>
        </p:nvSpPr>
        <p:spPr>
          <a:xfrm>
            <a:off x="11390664" y="3517199"/>
            <a:ext cx="632369"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E1</a:t>
            </a:r>
            <a:endParaRPr lang="en-IN" sz="1600" dirty="0">
              <a:solidFill>
                <a:schemeClr val="tx2"/>
              </a:solidFill>
            </a:endParaRPr>
          </a:p>
        </p:txBody>
      </p:sp>
      <p:sp>
        <p:nvSpPr>
          <p:cNvPr id="87" name="TextBox 86">
            <a:extLst>
              <a:ext uri="{FF2B5EF4-FFF2-40B4-BE49-F238E27FC236}">
                <a16:creationId xmlns:a16="http://schemas.microsoft.com/office/drawing/2014/main" id="{700F0097-2074-50D0-F678-B108474FB804}"/>
              </a:ext>
            </a:extLst>
          </p:cNvPr>
          <p:cNvSpPr txBox="1"/>
          <p:nvPr/>
        </p:nvSpPr>
        <p:spPr>
          <a:xfrm>
            <a:off x="10052881" y="1318366"/>
            <a:ext cx="1409561"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88" name="Straight Arrow Connector 87">
            <a:extLst>
              <a:ext uri="{FF2B5EF4-FFF2-40B4-BE49-F238E27FC236}">
                <a16:creationId xmlns:a16="http://schemas.microsoft.com/office/drawing/2014/main" id="{95933508-DF41-2A1F-A623-9FE0F02473CC}"/>
              </a:ext>
            </a:extLst>
          </p:cNvPr>
          <p:cNvCxnSpPr/>
          <p:nvPr/>
        </p:nvCxnSpPr>
        <p:spPr>
          <a:xfrm>
            <a:off x="9302693" y="1558587"/>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AAD7BB89-E6C1-89B2-48CF-A18DBBB3B226}"/>
              </a:ext>
            </a:extLst>
          </p:cNvPr>
          <p:cNvSpPr txBox="1"/>
          <p:nvPr/>
        </p:nvSpPr>
        <p:spPr>
          <a:xfrm>
            <a:off x="10022021" y="2020966"/>
            <a:ext cx="1440421" cy="478737"/>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90" name="Straight Arrow Connector 89">
            <a:extLst>
              <a:ext uri="{FF2B5EF4-FFF2-40B4-BE49-F238E27FC236}">
                <a16:creationId xmlns:a16="http://schemas.microsoft.com/office/drawing/2014/main" id="{52678C88-F64B-4A91-B61A-071A92D58F97}"/>
              </a:ext>
            </a:extLst>
          </p:cNvPr>
          <p:cNvCxnSpPr/>
          <p:nvPr/>
        </p:nvCxnSpPr>
        <p:spPr>
          <a:xfrm>
            <a:off x="9271833" y="2289391"/>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C9E606C5-0904-2853-4CA8-DFD8CE6F6668}"/>
              </a:ext>
            </a:extLst>
          </p:cNvPr>
          <p:cNvSpPr txBox="1"/>
          <p:nvPr/>
        </p:nvSpPr>
        <p:spPr>
          <a:xfrm>
            <a:off x="10059456" y="3382818"/>
            <a:ext cx="1272245"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92" name="Straight Arrow Connector 91">
            <a:extLst>
              <a:ext uri="{FF2B5EF4-FFF2-40B4-BE49-F238E27FC236}">
                <a16:creationId xmlns:a16="http://schemas.microsoft.com/office/drawing/2014/main" id="{14F2176E-B85C-1CCD-1866-E1D520C407B6}"/>
              </a:ext>
            </a:extLst>
          </p:cNvPr>
          <p:cNvCxnSpPr/>
          <p:nvPr/>
        </p:nvCxnSpPr>
        <p:spPr>
          <a:xfrm>
            <a:off x="9309268" y="3623039"/>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E6D969C4-30BA-F63B-E904-37E4B1C6D053}"/>
              </a:ext>
            </a:extLst>
          </p:cNvPr>
          <p:cNvSpPr txBox="1"/>
          <p:nvPr/>
        </p:nvSpPr>
        <p:spPr>
          <a:xfrm>
            <a:off x="4600970" y="2113356"/>
            <a:ext cx="1442261" cy="24123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200" dirty="0">
                <a:solidFill>
                  <a:schemeClr val="tx2"/>
                </a:solidFill>
                <a:cs typeface="Tahoma" pitchFamily="34" charset="0"/>
              </a:rPr>
              <a:t>Maintenance</a:t>
            </a:r>
            <a:endParaRPr lang="en-IN" sz="1200" dirty="0">
              <a:solidFill>
                <a:schemeClr val="tx2"/>
              </a:solidFill>
              <a:cs typeface="Tahoma" pitchFamily="34" charset="0"/>
            </a:endParaRPr>
          </a:p>
        </p:txBody>
      </p:sp>
      <p:sp>
        <p:nvSpPr>
          <p:cNvPr id="94" name="TextBox 93">
            <a:extLst>
              <a:ext uri="{FF2B5EF4-FFF2-40B4-BE49-F238E27FC236}">
                <a16:creationId xmlns:a16="http://schemas.microsoft.com/office/drawing/2014/main" id="{6643518C-293F-3476-DE06-2ED8F6AA84DE}"/>
              </a:ext>
            </a:extLst>
          </p:cNvPr>
          <p:cNvSpPr txBox="1"/>
          <p:nvPr/>
        </p:nvSpPr>
        <p:spPr>
          <a:xfrm>
            <a:off x="7946912" y="4287545"/>
            <a:ext cx="1387985" cy="48463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Support &amp; Ticketing</a:t>
            </a:r>
            <a:endParaRPr lang="en-IN" sz="1400" dirty="0">
              <a:solidFill>
                <a:schemeClr val="tx2"/>
              </a:solidFill>
              <a:cs typeface="Tahoma" pitchFamily="34" charset="0"/>
            </a:endParaRPr>
          </a:p>
        </p:txBody>
      </p:sp>
      <p:cxnSp>
        <p:nvCxnSpPr>
          <p:cNvPr id="95" name="Straight Arrow Connector 94">
            <a:extLst>
              <a:ext uri="{FF2B5EF4-FFF2-40B4-BE49-F238E27FC236}">
                <a16:creationId xmlns:a16="http://schemas.microsoft.com/office/drawing/2014/main" id="{71E5DF06-31A3-F9B9-9595-3C654A26CC19}"/>
              </a:ext>
            </a:extLst>
          </p:cNvPr>
          <p:cNvCxnSpPr>
            <a:cxnSpLocks/>
          </p:cNvCxnSpPr>
          <p:nvPr/>
        </p:nvCxnSpPr>
        <p:spPr>
          <a:xfrm>
            <a:off x="7391795" y="4450260"/>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AF9C1A9C-5F9B-BC17-8670-47401EF7351A}"/>
              </a:ext>
            </a:extLst>
          </p:cNvPr>
          <p:cNvSpPr txBox="1"/>
          <p:nvPr/>
        </p:nvSpPr>
        <p:spPr>
          <a:xfrm>
            <a:off x="6665990" y="4500254"/>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97" name="Graphic 96" descr="User with solid fill">
            <a:extLst>
              <a:ext uri="{FF2B5EF4-FFF2-40B4-BE49-F238E27FC236}">
                <a16:creationId xmlns:a16="http://schemas.microsoft.com/office/drawing/2014/main" id="{FD6AE21F-FEB6-537D-BEF6-9FD928A076F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22772" y="4108297"/>
            <a:ext cx="484632" cy="484632"/>
          </a:xfrm>
          <a:prstGeom prst="rect">
            <a:avLst/>
          </a:prstGeom>
        </p:spPr>
      </p:pic>
      <p:sp>
        <p:nvSpPr>
          <p:cNvPr id="98" name="TextBox 97">
            <a:extLst>
              <a:ext uri="{FF2B5EF4-FFF2-40B4-BE49-F238E27FC236}">
                <a16:creationId xmlns:a16="http://schemas.microsoft.com/office/drawing/2014/main" id="{0C370B3A-81F2-8C74-FC87-5AB748A00753}"/>
              </a:ext>
            </a:extLst>
          </p:cNvPr>
          <p:cNvSpPr txBox="1"/>
          <p:nvPr/>
        </p:nvSpPr>
        <p:spPr>
          <a:xfrm>
            <a:off x="7117766" y="4147930"/>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99" name="Oval 98">
            <a:extLst>
              <a:ext uri="{FF2B5EF4-FFF2-40B4-BE49-F238E27FC236}">
                <a16:creationId xmlns:a16="http://schemas.microsoft.com/office/drawing/2014/main" id="{84A3C77E-CA3C-5AA8-4E36-6B2DAAEDAE9B}"/>
              </a:ext>
            </a:extLst>
          </p:cNvPr>
          <p:cNvSpPr/>
          <p:nvPr/>
        </p:nvSpPr>
        <p:spPr>
          <a:xfrm>
            <a:off x="11398434" y="5769898"/>
            <a:ext cx="632369" cy="284033"/>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H1</a:t>
            </a:r>
            <a:endParaRPr lang="en-IN" sz="1600" dirty="0">
              <a:solidFill>
                <a:schemeClr val="tx2"/>
              </a:solidFill>
            </a:endParaRPr>
          </a:p>
        </p:txBody>
      </p:sp>
      <p:sp>
        <p:nvSpPr>
          <p:cNvPr id="100" name="TextBox 99">
            <a:extLst>
              <a:ext uri="{FF2B5EF4-FFF2-40B4-BE49-F238E27FC236}">
                <a16:creationId xmlns:a16="http://schemas.microsoft.com/office/drawing/2014/main" id="{4EDEDBF4-23A8-E95F-3879-6D3C604D45D0}"/>
              </a:ext>
            </a:extLst>
          </p:cNvPr>
          <p:cNvSpPr txBox="1"/>
          <p:nvPr/>
        </p:nvSpPr>
        <p:spPr>
          <a:xfrm>
            <a:off x="10094609" y="4166171"/>
            <a:ext cx="1213955"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101" name="Straight Arrow Connector 100">
            <a:extLst>
              <a:ext uri="{FF2B5EF4-FFF2-40B4-BE49-F238E27FC236}">
                <a16:creationId xmlns:a16="http://schemas.microsoft.com/office/drawing/2014/main" id="{12E85064-BAB8-E615-7EF4-7E671D3758E3}"/>
              </a:ext>
            </a:extLst>
          </p:cNvPr>
          <p:cNvCxnSpPr/>
          <p:nvPr/>
        </p:nvCxnSpPr>
        <p:spPr>
          <a:xfrm>
            <a:off x="9344421" y="4406392"/>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CECF59E8-F029-3AA1-770A-8347C21908DB}"/>
              </a:ext>
            </a:extLst>
          </p:cNvPr>
          <p:cNvSpPr txBox="1"/>
          <p:nvPr/>
        </p:nvSpPr>
        <p:spPr>
          <a:xfrm>
            <a:off x="7956436" y="5749616"/>
            <a:ext cx="1387985" cy="48463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Other Admin Activities</a:t>
            </a:r>
            <a:endParaRPr lang="en-IN" sz="1400" dirty="0">
              <a:solidFill>
                <a:schemeClr val="tx2"/>
              </a:solidFill>
              <a:cs typeface="Tahoma" pitchFamily="34" charset="0"/>
            </a:endParaRPr>
          </a:p>
        </p:txBody>
      </p:sp>
      <p:cxnSp>
        <p:nvCxnSpPr>
          <p:cNvPr id="106" name="Straight Arrow Connector 105">
            <a:extLst>
              <a:ext uri="{FF2B5EF4-FFF2-40B4-BE49-F238E27FC236}">
                <a16:creationId xmlns:a16="http://schemas.microsoft.com/office/drawing/2014/main" id="{ACB6EA28-3429-19EE-845E-A61233C12EA7}"/>
              </a:ext>
            </a:extLst>
          </p:cNvPr>
          <p:cNvCxnSpPr>
            <a:cxnSpLocks/>
          </p:cNvCxnSpPr>
          <p:nvPr/>
        </p:nvCxnSpPr>
        <p:spPr>
          <a:xfrm>
            <a:off x="7356642" y="513817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6C303958-BDB6-6BC8-9E4A-18DB3EF205D7}"/>
              </a:ext>
            </a:extLst>
          </p:cNvPr>
          <p:cNvSpPr txBox="1"/>
          <p:nvPr/>
        </p:nvSpPr>
        <p:spPr>
          <a:xfrm>
            <a:off x="6630837" y="5188166"/>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108" name="Graphic 107" descr="User with solid fill">
            <a:extLst>
              <a:ext uri="{FF2B5EF4-FFF2-40B4-BE49-F238E27FC236}">
                <a16:creationId xmlns:a16="http://schemas.microsoft.com/office/drawing/2014/main" id="{5142C2CC-0DA4-0793-D3C2-3B88B947A9F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87619" y="4796209"/>
            <a:ext cx="484632" cy="484632"/>
          </a:xfrm>
          <a:prstGeom prst="rect">
            <a:avLst/>
          </a:prstGeom>
        </p:spPr>
      </p:pic>
      <p:sp>
        <p:nvSpPr>
          <p:cNvPr id="109" name="TextBox 108">
            <a:extLst>
              <a:ext uri="{FF2B5EF4-FFF2-40B4-BE49-F238E27FC236}">
                <a16:creationId xmlns:a16="http://schemas.microsoft.com/office/drawing/2014/main" id="{E5CD4D8A-9CDE-DA6A-3D99-707D90D21C0B}"/>
              </a:ext>
            </a:extLst>
          </p:cNvPr>
          <p:cNvSpPr txBox="1"/>
          <p:nvPr/>
        </p:nvSpPr>
        <p:spPr>
          <a:xfrm>
            <a:off x="7082613" y="4835842"/>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110" name="Oval 109">
            <a:extLst>
              <a:ext uri="{FF2B5EF4-FFF2-40B4-BE49-F238E27FC236}">
                <a16:creationId xmlns:a16="http://schemas.microsoft.com/office/drawing/2014/main" id="{642C61EA-CFF9-A101-95A3-8D651807BCDE}"/>
              </a:ext>
            </a:extLst>
          </p:cNvPr>
          <p:cNvSpPr/>
          <p:nvPr/>
        </p:nvSpPr>
        <p:spPr>
          <a:xfrm>
            <a:off x="11402658" y="4238052"/>
            <a:ext cx="620375" cy="308209"/>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F1</a:t>
            </a:r>
            <a:endParaRPr lang="en-IN" sz="1600" dirty="0">
              <a:solidFill>
                <a:schemeClr val="tx2"/>
              </a:solidFill>
            </a:endParaRPr>
          </a:p>
        </p:txBody>
      </p:sp>
      <p:cxnSp>
        <p:nvCxnSpPr>
          <p:cNvPr id="111" name="Straight Arrow Connector 110">
            <a:extLst>
              <a:ext uri="{FF2B5EF4-FFF2-40B4-BE49-F238E27FC236}">
                <a16:creationId xmlns:a16="http://schemas.microsoft.com/office/drawing/2014/main" id="{6EBDC17F-B16A-323C-986B-6DA9AA42D0BF}"/>
              </a:ext>
            </a:extLst>
          </p:cNvPr>
          <p:cNvCxnSpPr/>
          <p:nvPr/>
        </p:nvCxnSpPr>
        <p:spPr>
          <a:xfrm>
            <a:off x="9309268" y="5094304"/>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E6C44626-9A02-DC69-832D-13DB187E6F96}"/>
              </a:ext>
            </a:extLst>
          </p:cNvPr>
          <p:cNvSpPr txBox="1"/>
          <p:nvPr/>
        </p:nvSpPr>
        <p:spPr>
          <a:xfrm>
            <a:off x="7936907" y="4937330"/>
            <a:ext cx="1387985" cy="29056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Maintenance</a:t>
            </a:r>
            <a:endParaRPr lang="en-IN" sz="1400" dirty="0">
              <a:solidFill>
                <a:schemeClr val="tx2"/>
              </a:solidFill>
              <a:cs typeface="Tahoma" pitchFamily="34" charset="0"/>
            </a:endParaRPr>
          </a:p>
        </p:txBody>
      </p:sp>
      <p:cxnSp>
        <p:nvCxnSpPr>
          <p:cNvPr id="113" name="Straight Arrow Connector 112">
            <a:extLst>
              <a:ext uri="{FF2B5EF4-FFF2-40B4-BE49-F238E27FC236}">
                <a16:creationId xmlns:a16="http://schemas.microsoft.com/office/drawing/2014/main" id="{412B624F-5451-E836-2A14-FD6F122EEA94}"/>
              </a:ext>
            </a:extLst>
          </p:cNvPr>
          <p:cNvCxnSpPr>
            <a:cxnSpLocks/>
          </p:cNvCxnSpPr>
          <p:nvPr/>
        </p:nvCxnSpPr>
        <p:spPr>
          <a:xfrm>
            <a:off x="7344450" y="606781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F0A32E51-E728-1B1D-EB9A-8E9CB22CEAD4}"/>
              </a:ext>
            </a:extLst>
          </p:cNvPr>
          <p:cNvSpPr txBox="1"/>
          <p:nvPr/>
        </p:nvSpPr>
        <p:spPr>
          <a:xfrm>
            <a:off x="6618645" y="6117806"/>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115" name="Graphic 114" descr="User with solid fill">
            <a:extLst>
              <a:ext uri="{FF2B5EF4-FFF2-40B4-BE49-F238E27FC236}">
                <a16:creationId xmlns:a16="http://schemas.microsoft.com/office/drawing/2014/main" id="{431792C1-8091-9D58-2F3B-ED66DBD64B0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75427" y="5725849"/>
            <a:ext cx="484632" cy="484632"/>
          </a:xfrm>
          <a:prstGeom prst="rect">
            <a:avLst/>
          </a:prstGeom>
        </p:spPr>
      </p:pic>
      <p:sp>
        <p:nvSpPr>
          <p:cNvPr id="116" name="TextBox 115">
            <a:extLst>
              <a:ext uri="{FF2B5EF4-FFF2-40B4-BE49-F238E27FC236}">
                <a16:creationId xmlns:a16="http://schemas.microsoft.com/office/drawing/2014/main" id="{9FF529DD-AA45-E688-EF41-324BA505A1B5}"/>
              </a:ext>
            </a:extLst>
          </p:cNvPr>
          <p:cNvSpPr txBox="1"/>
          <p:nvPr/>
        </p:nvSpPr>
        <p:spPr>
          <a:xfrm>
            <a:off x="7070421" y="5765482"/>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117" name="Oval 116">
            <a:extLst>
              <a:ext uri="{FF2B5EF4-FFF2-40B4-BE49-F238E27FC236}">
                <a16:creationId xmlns:a16="http://schemas.microsoft.com/office/drawing/2014/main" id="{2FDCCC99-3040-F266-E685-E0F98A47DFD3}"/>
              </a:ext>
            </a:extLst>
          </p:cNvPr>
          <p:cNvSpPr/>
          <p:nvPr/>
        </p:nvSpPr>
        <p:spPr>
          <a:xfrm>
            <a:off x="11437582" y="4938694"/>
            <a:ext cx="632369" cy="284034"/>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G1</a:t>
            </a:r>
            <a:endParaRPr lang="en-IN" sz="1600" dirty="0">
              <a:solidFill>
                <a:schemeClr val="tx2"/>
              </a:solidFill>
            </a:endParaRPr>
          </a:p>
        </p:txBody>
      </p:sp>
      <p:cxnSp>
        <p:nvCxnSpPr>
          <p:cNvPr id="118" name="Straight Arrow Connector 117">
            <a:extLst>
              <a:ext uri="{FF2B5EF4-FFF2-40B4-BE49-F238E27FC236}">
                <a16:creationId xmlns:a16="http://schemas.microsoft.com/office/drawing/2014/main" id="{089E52F5-D2C0-FECE-F058-2ABBBFF4AB54}"/>
              </a:ext>
            </a:extLst>
          </p:cNvPr>
          <p:cNvCxnSpPr/>
          <p:nvPr/>
        </p:nvCxnSpPr>
        <p:spPr>
          <a:xfrm>
            <a:off x="9297076" y="6023944"/>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85EFBA5D-E2B3-D005-B91E-E304413416D5}"/>
              </a:ext>
            </a:extLst>
          </p:cNvPr>
          <p:cNvSpPr txBox="1"/>
          <p:nvPr/>
        </p:nvSpPr>
        <p:spPr>
          <a:xfrm>
            <a:off x="10145565" y="4801463"/>
            <a:ext cx="1247859" cy="606148"/>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sp>
        <p:nvSpPr>
          <p:cNvPr id="120" name="TextBox 119">
            <a:extLst>
              <a:ext uri="{FF2B5EF4-FFF2-40B4-BE49-F238E27FC236}">
                <a16:creationId xmlns:a16="http://schemas.microsoft.com/office/drawing/2014/main" id="{BD35983A-E479-63A5-1E3A-CE29DF4A389C}"/>
              </a:ext>
            </a:extLst>
          </p:cNvPr>
          <p:cNvSpPr txBox="1"/>
          <p:nvPr/>
        </p:nvSpPr>
        <p:spPr>
          <a:xfrm>
            <a:off x="10145567" y="5765169"/>
            <a:ext cx="1247858"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sp>
        <p:nvSpPr>
          <p:cNvPr id="121" name="TextBox 120">
            <a:extLst>
              <a:ext uri="{FF2B5EF4-FFF2-40B4-BE49-F238E27FC236}">
                <a16:creationId xmlns:a16="http://schemas.microsoft.com/office/drawing/2014/main" id="{87FD90F3-7ACF-D8E0-86C6-C35F58A372A9}"/>
              </a:ext>
            </a:extLst>
          </p:cNvPr>
          <p:cNvSpPr txBox="1"/>
          <p:nvPr/>
        </p:nvSpPr>
        <p:spPr>
          <a:xfrm>
            <a:off x="7919780" y="2819194"/>
            <a:ext cx="1387985" cy="37554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Product Services</a:t>
            </a:r>
            <a:endParaRPr lang="en-IN" sz="1400" dirty="0">
              <a:solidFill>
                <a:schemeClr val="tx2"/>
              </a:solidFill>
              <a:cs typeface="Tahoma" pitchFamily="34" charset="0"/>
            </a:endParaRPr>
          </a:p>
        </p:txBody>
      </p:sp>
      <p:cxnSp>
        <p:nvCxnSpPr>
          <p:cNvPr id="122" name="Straight Arrow Connector 121">
            <a:extLst>
              <a:ext uri="{FF2B5EF4-FFF2-40B4-BE49-F238E27FC236}">
                <a16:creationId xmlns:a16="http://schemas.microsoft.com/office/drawing/2014/main" id="{1ECA79A7-9612-8BB3-C631-63683C243E5A}"/>
              </a:ext>
            </a:extLst>
          </p:cNvPr>
          <p:cNvCxnSpPr>
            <a:cxnSpLocks/>
          </p:cNvCxnSpPr>
          <p:nvPr/>
        </p:nvCxnSpPr>
        <p:spPr>
          <a:xfrm>
            <a:off x="7364663" y="298190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FA143B52-3C5D-7F68-E948-E27600E8996D}"/>
              </a:ext>
            </a:extLst>
          </p:cNvPr>
          <p:cNvSpPr txBox="1"/>
          <p:nvPr/>
        </p:nvSpPr>
        <p:spPr>
          <a:xfrm>
            <a:off x="6638858" y="303190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pic>
        <p:nvPicPr>
          <p:cNvPr id="124" name="Graphic 123" descr="User with solid fill">
            <a:extLst>
              <a:ext uri="{FF2B5EF4-FFF2-40B4-BE49-F238E27FC236}">
                <a16:creationId xmlns:a16="http://schemas.microsoft.com/office/drawing/2014/main" id="{4703261E-39E2-73EA-F4C4-980552AEE20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95640" y="2639946"/>
            <a:ext cx="484632" cy="484632"/>
          </a:xfrm>
          <a:prstGeom prst="rect">
            <a:avLst/>
          </a:prstGeom>
        </p:spPr>
      </p:pic>
      <p:sp>
        <p:nvSpPr>
          <p:cNvPr id="125" name="TextBox 124">
            <a:extLst>
              <a:ext uri="{FF2B5EF4-FFF2-40B4-BE49-F238E27FC236}">
                <a16:creationId xmlns:a16="http://schemas.microsoft.com/office/drawing/2014/main" id="{75DD41FA-7FFC-1EFE-D7C7-206A2609D7DE}"/>
              </a:ext>
            </a:extLst>
          </p:cNvPr>
          <p:cNvSpPr txBox="1"/>
          <p:nvPr/>
        </p:nvSpPr>
        <p:spPr>
          <a:xfrm>
            <a:off x="7090634" y="2679579"/>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126" name="Oval 125">
            <a:extLst>
              <a:ext uri="{FF2B5EF4-FFF2-40B4-BE49-F238E27FC236}">
                <a16:creationId xmlns:a16="http://schemas.microsoft.com/office/drawing/2014/main" id="{0C576A6B-BD96-EA40-F261-C8E4DEE32014}"/>
              </a:ext>
            </a:extLst>
          </p:cNvPr>
          <p:cNvSpPr/>
          <p:nvPr/>
        </p:nvSpPr>
        <p:spPr>
          <a:xfrm>
            <a:off x="11398685" y="2832201"/>
            <a:ext cx="624979" cy="276877"/>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solidFill>
                  <a:schemeClr val="tx2"/>
                </a:solidFill>
              </a:rPr>
              <a:t>D1</a:t>
            </a:r>
            <a:endParaRPr lang="en-IN" sz="1600" dirty="0">
              <a:solidFill>
                <a:schemeClr val="tx2"/>
              </a:solidFill>
            </a:endParaRPr>
          </a:p>
        </p:txBody>
      </p:sp>
      <p:sp>
        <p:nvSpPr>
          <p:cNvPr id="127" name="TextBox 126">
            <a:extLst>
              <a:ext uri="{FF2B5EF4-FFF2-40B4-BE49-F238E27FC236}">
                <a16:creationId xmlns:a16="http://schemas.microsoft.com/office/drawing/2014/main" id="{DBE0C912-10C1-4543-74DC-FEF581EA2AED}"/>
              </a:ext>
            </a:extLst>
          </p:cNvPr>
          <p:cNvSpPr txBox="1"/>
          <p:nvPr/>
        </p:nvSpPr>
        <p:spPr>
          <a:xfrm>
            <a:off x="10067477" y="2697820"/>
            <a:ext cx="1394965" cy="450533"/>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200" dirty="0">
                <a:solidFill>
                  <a:schemeClr val="tx2"/>
                </a:solidFill>
                <a:cs typeface="Tahoma" pitchFamily="34" charset="0"/>
              </a:rPr>
              <a:t>Navigates to the respective Page</a:t>
            </a:r>
            <a:endParaRPr lang="en-IN" sz="1200" dirty="0">
              <a:solidFill>
                <a:schemeClr val="tx2"/>
              </a:solidFill>
              <a:cs typeface="Tahoma" pitchFamily="34" charset="0"/>
            </a:endParaRPr>
          </a:p>
        </p:txBody>
      </p:sp>
      <p:cxnSp>
        <p:nvCxnSpPr>
          <p:cNvPr id="128" name="Straight Arrow Connector 127">
            <a:extLst>
              <a:ext uri="{FF2B5EF4-FFF2-40B4-BE49-F238E27FC236}">
                <a16:creationId xmlns:a16="http://schemas.microsoft.com/office/drawing/2014/main" id="{6BCB3FC1-107E-AF6C-428F-47DCFBC3B417}"/>
              </a:ext>
            </a:extLst>
          </p:cNvPr>
          <p:cNvCxnSpPr/>
          <p:nvPr/>
        </p:nvCxnSpPr>
        <p:spPr>
          <a:xfrm>
            <a:off x="9317289" y="2938041"/>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1134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385A3B-3739-F9FD-DB10-F90E8E02FDEB}"/>
              </a:ext>
            </a:extLst>
          </p:cNvPr>
          <p:cNvSpPr/>
          <p:nvPr/>
        </p:nvSpPr>
        <p:spPr>
          <a:xfrm>
            <a:off x="792677" y="516312"/>
            <a:ext cx="4841748" cy="282901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8" name="Rectangle: Rounded Corners 17">
            <a:extLst>
              <a:ext uri="{FF2B5EF4-FFF2-40B4-BE49-F238E27FC236}">
                <a16:creationId xmlns:a16="http://schemas.microsoft.com/office/drawing/2014/main" id="{7071DF86-61C6-CDE3-A076-BDE30D0B0077}"/>
              </a:ext>
            </a:extLst>
          </p:cNvPr>
          <p:cNvSpPr/>
          <p:nvPr/>
        </p:nvSpPr>
        <p:spPr>
          <a:xfrm>
            <a:off x="1054609" y="1219095"/>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a:xfrm>
            <a:off x="609600" y="6253146"/>
            <a:ext cx="10972800" cy="301625"/>
          </a:xfrm>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4" name="Rectangle: Rounded Corners 3">
            <a:extLst>
              <a:ext uri="{FF2B5EF4-FFF2-40B4-BE49-F238E27FC236}">
                <a16:creationId xmlns:a16="http://schemas.microsoft.com/office/drawing/2014/main" id="{823D7279-91B9-875E-EBC5-73922B9CECE6}"/>
              </a:ext>
            </a:extLst>
          </p:cNvPr>
          <p:cNvSpPr/>
          <p:nvPr/>
        </p:nvSpPr>
        <p:spPr>
          <a:xfrm>
            <a:off x="1020133" y="2078513"/>
            <a:ext cx="4368547" cy="1125474"/>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8AC192B-3F34-8817-86DE-4C15BE7CE9DB}"/>
              </a:ext>
            </a:extLst>
          </p:cNvPr>
          <p:cNvSpPr txBox="1"/>
          <p:nvPr/>
        </p:nvSpPr>
        <p:spPr>
          <a:xfrm>
            <a:off x="2484918" y="524921"/>
            <a:ext cx="1620737" cy="264133"/>
          </a:xfrm>
          <a:prstGeom prst="rect">
            <a:avLst/>
          </a:prstGeom>
          <a:solidFill>
            <a:schemeClr val="tx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600" dirty="0">
                <a:solidFill>
                  <a:schemeClr val="bg1"/>
                </a:solidFill>
                <a:cs typeface="Tahoma" pitchFamily="34" charset="0"/>
              </a:rPr>
              <a:t>List of Projects</a:t>
            </a:r>
            <a:endParaRPr lang="en-IN" sz="1600" dirty="0">
              <a:solidFill>
                <a:schemeClr val="bg1"/>
              </a:solidFill>
              <a:cs typeface="Tahoma" pitchFamily="34" charset="0"/>
            </a:endParaRPr>
          </a:p>
        </p:txBody>
      </p:sp>
      <p:sp>
        <p:nvSpPr>
          <p:cNvPr id="6" name="TextBox 5">
            <a:extLst>
              <a:ext uri="{FF2B5EF4-FFF2-40B4-BE49-F238E27FC236}">
                <a16:creationId xmlns:a16="http://schemas.microsoft.com/office/drawing/2014/main" id="{92A80422-97AB-699A-6FAA-B5BE5214ACE5}"/>
              </a:ext>
            </a:extLst>
          </p:cNvPr>
          <p:cNvSpPr txBox="1"/>
          <p:nvPr/>
        </p:nvSpPr>
        <p:spPr>
          <a:xfrm>
            <a:off x="1172095" y="922198"/>
            <a:ext cx="1920794" cy="30473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Shows the List of Accts</a:t>
            </a:r>
            <a:endParaRPr lang="en-IN" sz="1400" dirty="0">
              <a:solidFill>
                <a:schemeClr val="tx2"/>
              </a:solidFill>
              <a:cs typeface="Tahoma" pitchFamily="34" charset="0"/>
            </a:endParaRPr>
          </a:p>
        </p:txBody>
      </p:sp>
      <p:sp>
        <p:nvSpPr>
          <p:cNvPr id="7" name="TextBox 6">
            <a:extLst>
              <a:ext uri="{FF2B5EF4-FFF2-40B4-BE49-F238E27FC236}">
                <a16:creationId xmlns:a16="http://schemas.microsoft.com/office/drawing/2014/main" id="{4C200395-E3D8-B210-1C20-02C3A58CF913}"/>
              </a:ext>
            </a:extLst>
          </p:cNvPr>
          <p:cNvSpPr txBox="1"/>
          <p:nvPr/>
        </p:nvSpPr>
        <p:spPr>
          <a:xfrm>
            <a:off x="3732690" y="1110030"/>
            <a:ext cx="1655989" cy="34487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Create/Delete Project</a:t>
            </a:r>
            <a:endParaRPr lang="en-IN" sz="1300" dirty="0">
              <a:solidFill>
                <a:schemeClr val="tx2"/>
              </a:solidFill>
              <a:cs typeface="Tahoma" pitchFamily="34" charset="0"/>
            </a:endParaRPr>
          </a:p>
        </p:txBody>
      </p:sp>
      <p:sp>
        <p:nvSpPr>
          <p:cNvPr id="11" name="TextBox 10">
            <a:extLst>
              <a:ext uri="{FF2B5EF4-FFF2-40B4-BE49-F238E27FC236}">
                <a16:creationId xmlns:a16="http://schemas.microsoft.com/office/drawing/2014/main" id="{E9EB9C84-E308-4A31-F8E2-D75C9304B08E}"/>
              </a:ext>
            </a:extLst>
          </p:cNvPr>
          <p:cNvSpPr txBox="1"/>
          <p:nvPr/>
        </p:nvSpPr>
        <p:spPr>
          <a:xfrm>
            <a:off x="1803721" y="2040128"/>
            <a:ext cx="2984682" cy="252651"/>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600" dirty="0">
                <a:cs typeface="Tahoma" pitchFamily="34" charset="0"/>
              </a:rPr>
              <a:t>Project Wise health Statistics</a:t>
            </a:r>
            <a:endParaRPr lang="en-IN" sz="1600" dirty="0">
              <a:cs typeface="Tahoma" pitchFamily="34" charset="0"/>
            </a:endParaRPr>
          </a:p>
        </p:txBody>
      </p:sp>
      <p:graphicFrame>
        <p:nvGraphicFramePr>
          <p:cNvPr id="15" name="Table 14">
            <a:extLst>
              <a:ext uri="{FF2B5EF4-FFF2-40B4-BE49-F238E27FC236}">
                <a16:creationId xmlns:a16="http://schemas.microsoft.com/office/drawing/2014/main" id="{F0C6364C-381F-2990-06F4-C43B8E5DAC81}"/>
              </a:ext>
            </a:extLst>
          </p:cNvPr>
          <p:cNvGraphicFramePr>
            <a:graphicFrameLocks noGrp="1"/>
          </p:cNvGraphicFramePr>
          <p:nvPr/>
        </p:nvGraphicFramePr>
        <p:xfrm>
          <a:off x="1193385" y="2391415"/>
          <a:ext cx="4082982" cy="699063"/>
        </p:xfrm>
        <a:graphic>
          <a:graphicData uri="http://schemas.openxmlformats.org/drawingml/2006/table">
            <a:tbl>
              <a:tblPr firstRow="1" bandRow="1">
                <a:tableStyleId>{F2DE63D5-997A-4646-A377-4702673A728D}</a:tableStyleId>
              </a:tblPr>
              <a:tblGrid>
                <a:gridCol w="843510">
                  <a:extLst>
                    <a:ext uri="{9D8B030D-6E8A-4147-A177-3AD203B41FA5}">
                      <a16:colId xmlns:a16="http://schemas.microsoft.com/office/drawing/2014/main" val="2188964586"/>
                    </a:ext>
                  </a:extLst>
                </a:gridCol>
                <a:gridCol w="1197980">
                  <a:extLst>
                    <a:ext uri="{9D8B030D-6E8A-4147-A177-3AD203B41FA5}">
                      <a16:colId xmlns:a16="http://schemas.microsoft.com/office/drawing/2014/main" val="263043661"/>
                    </a:ext>
                  </a:extLst>
                </a:gridCol>
                <a:gridCol w="1020746">
                  <a:extLst>
                    <a:ext uri="{9D8B030D-6E8A-4147-A177-3AD203B41FA5}">
                      <a16:colId xmlns:a16="http://schemas.microsoft.com/office/drawing/2014/main" val="4279740874"/>
                    </a:ext>
                  </a:extLst>
                </a:gridCol>
                <a:gridCol w="1020746">
                  <a:extLst>
                    <a:ext uri="{9D8B030D-6E8A-4147-A177-3AD203B41FA5}">
                      <a16:colId xmlns:a16="http://schemas.microsoft.com/office/drawing/2014/main" val="2010840677"/>
                    </a:ext>
                  </a:extLst>
                </a:gridCol>
              </a:tblGrid>
              <a:tr h="233021">
                <a:tc>
                  <a:txBody>
                    <a:bodyPr/>
                    <a:lstStyle/>
                    <a:p>
                      <a:r>
                        <a:rPr lang="en-US" sz="900" dirty="0"/>
                        <a:t>Project</a:t>
                      </a:r>
                      <a:endParaRPr lang="en-IN" sz="900" dirty="0"/>
                    </a:p>
                  </a:txBody>
                  <a:tcPr/>
                </a:tc>
                <a:tc>
                  <a:txBody>
                    <a:bodyPr/>
                    <a:lstStyle/>
                    <a:p>
                      <a:r>
                        <a:rPr lang="en-US" sz="900" dirty="0"/>
                        <a:t>No of Extractors</a:t>
                      </a:r>
                      <a:endParaRPr lang="en-IN" sz="900" dirty="0"/>
                    </a:p>
                  </a:txBody>
                  <a:tcPr/>
                </a:tc>
                <a:tc>
                  <a:txBody>
                    <a:bodyPr/>
                    <a:lstStyle/>
                    <a:p>
                      <a:r>
                        <a:rPr lang="en-US" sz="900" dirty="0"/>
                        <a:t>No of Pipelines </a:t>
                      </a:r>
                      <a:endParaRPr lang="en-IN" sz="900" dirty="0"/>
                    </a:p>
                  </a:txBody>
                  <a:tcPr/>
                </a:tc>
                <a:tc>
                  <a:txBody>
                    <a:bodyPr/>
                    <a:lstStyle/>
                    <a:p>
                      <a:r>
                        <a:rPr lang="en-US" sz="900" dirty="0"/>
                        <a:t>…….</a:t>
                      </a:r>
                      <a:endParaRPr lang="en-IN" sz="900" dirty="0"/>
                    </a:p>
                  </a:txBody>
                  <a:tcPr/>
                </a:tc>
                <a:extLst>
                  <a:ext uri="{0D108BD9-81ED-4DB2-BD59-A6C34878D82A}">
                    <a16:rowId xmlns:a16="http://schemas.microsoft.com/office/drawing/2014/main" val="2202397540"/>
                  </a:ext>
                </a:extLst>
              </a:tr>
              <a:tr h="233021">
                <a:tc>
                  <a:txBody>
                    <a:bodyPr/>
                    <a:lstStyle/>
                    <a:p>
                      <a:r>
                        <a:rPr lang="en-US" sz="900" dirty="0"/>
                        <a:t>Project 1</a:t>
                      </a:r>
                      <a:endParaRPr lang="en-IN" sz="900" dirty="0"/>
                    </a:p>
                  </a:txBody>
                  <a:tcPr/>
                </a:tc>
                <a:tc>
                  <a:txBody>
                    <a:bodyPr/>
                    <a:lstStyle/>
                    <a:p>
                      <a:endParaRPr lang="en-IN" sz="900"/>
                    </a:p>
                  </a:txBody>
                  <a:tcPr/>
                </a:tc>
                <a:tc>
                  <a:txBody>
                    <a:bodyPr/>
                    <a:lstStyle/>
                    <a:p>
                      <a:endParaRPr lang="en-IN" sz="900" dirty="0"/>
                    </a:p>
                  </a:txBody>
                  <a:tcPr/>
                </a:tc>
                <a:tc>
                  <a:txBody>
                    <a:bodyPr/>
                    <a:lstStyle/>
                    <a:p>
                      <a:endParaRPr lang="en-IN" sz="900" dirty="0"/>
                    </a:p>
                  </a:txBody>
                  <a:tcPr/>
                </a:tc>
                <a:extLst>
                  <a:ext uri="{0D108BD9-81ED-4DB2-BD59-A6C34878D82A}">
                    <a16:rowId xmlns:a16="http://schemas.microsoft.com/office/drawing/2014/main" val="2362751832"/>
                  </a:ext>
                </a:extLst>
              </a:tr>
              <a:tr h="233021">
                <a:tc>
                  <a:txBody>
                    <a:bodyPr/>
                    <a:lstStyle/>
                    <a:p>
                      <a:r>
                        <a:rPr lang="en-US" sz="900" dirty="0"/>
                        <a:t>Project 2</a:t>
                      </a:r>
                      <a:endParaRPr lang="en-IN" sz="900" dirty="0"/>
                    </a:p>
                  </a:txBody>
                  <a:tcPr/>
                </a:tc>
                <a:tc>
                  <a:txBody>
                    <a:bodyPr/>
                    <a:lstStyle/>
                    <a:p>
                      <a:endParaRPr lang="en-IN" sz="900" dirty="0"/>
                    </a:p>
                  </a:txBody>
                  <a:tcPr/>
                </a:tc>
                <a:tc>
                  <a:txBody>
                    <a:bodyPr/>
                    <a:lstStyle/>
                    <a:p>
                      <a:endParaRPr lang="en-IN" sz="900"/>
                    </a:p>
                  </a:txBody>
                  <a:tcPr/>
                </a:tc>
                <a:tc>
                  <a:txBody>
                    <a:bodyPr/>
                    <a:lstStyle/>
                    <a:p>
                      <a:endParaRPr lang="en-IN" sz="900" dirty="0"/>
                    </a:p>
                  </a:txBody>
                  <a:tcPr/>
                </a:tc>
                <a:extLst>
                  <a:ext uri="{0D108BD9-81ED-4DB2-BD59-A6C34878D82A}">
                    <a16:rowId xmlns:a16="http://schemas.microsoft.com/office/drawing/2014/main" val="4142431679"/>
                  </a:ext>
                </a:extLst>
              </a:tr>
            </a:tbl>
          </a:graphicData>
        </a:graphic>
      </p:graphicFrame>
      <p:graphicFrame>
        <p:nvGraphicFramePr>
          <p:cNvPr id="17" name="Table 16">
            <a:extLst>
              <a:ext uri="{FF2B5EF4-FFF2-40B4-BE49-F238E27FC236}">
                <a16:creationId xmlns:a16="http://schemas.microsoft.com/office/drawing/2014/main" id="{A743AFA9-4FB9-CC07-8F4B-CC0B52652099}"/>
              </a:ext>
            </a:extLst>
          </p:cNvPr>
          <p:cNvGraphicFramePr>
            <a:graphicFrameLocks noGrp="1"/>
          </p:cNvGraphicFramePr>
          <p:nvPr/>
        </p:nvGraphicFramePr>
        <p:xfrm>
          <a:off x="1243112" y="1289213"/>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Acct </a:t>
                      </a:r>
                      <a:endParaRPr lang="en-IN" sz="900" dirty="0"/>
                    </a:p>
                  </a:txBody>
                  <a:tcPr/>
                </a:tc>
                <a:extLst>
                  <a:ext uri="{0D108BD9-81ED-4DB2-BD59-A6C34878D82A}">
                    <a16:rowId xmlns:a16="http://schemas.microsoft.com/office/drawing/2014/main" val="2202397540"/>
                  </a:ext>
                </a:extLst>
              </a:tr>
              <a:tr h="169015">
                <a:tc>
                  <a:txBody>
                    <a:bodyPr/>
                    <a:lstStyle/>
                    <a:p>
                      <a:r>
                        <a:rPr lang="en-US" sz="900" dirty="0" err="1"/>
                        <a:t>Sobi</a:t>
                      </a:r>
                      <a:endParaRPr lang="en-IN" sz="900" dirty="0"/>
                    </a:p>
                  </a:txBody>
                  <a:tcPr/>
                </a:tc>
                <a:extLst>
                  <a:ext uri="{0D108BD9-81ED-4DB2-BD59-A6C34878D82A}">
                    <a16:rowId xmlns:a16="http://schemas.microsoft.com/office/drawing/2014/main" val="2362751832"/>
                  </a:ext>
                </a:extLst>
              </a:tr>
              <a:tr h="169015">
                <a:tc>
                  <a:txBody>
                    <a:bodyPr/>
                    <a:lstStyle/>
                    <a:p>
                      <a:r>
                        <a:rPr lang="en-US" sz="900" dirty="0"/>
                        <a:t>Ironshore</a:t>
                      </a:r>
                      <a:endParaRPr lang="en-IN" sz="900" dirty="0"/>
                    </a:p>
                  </a:txBody>
                  <a:tcPr/>
                </a:tc>
                <a:extLst>
                  <a:ext uri="{0D108BD9-81ED-4DB2-BD59-A6C34878D82A}">
                    <a16:rowId xmlns:a16="http://schemas.microsoft.com/office/drawing/2014/main" val="4142431679"/>
                  </a:ext>
                </a:extLst>
              </a:tr>
            </a:tbl>
          </a:graphicData>
        </a:graphic>
      </p:graphicFrame>
      <p:sp>
        <p:nvSpPr>
          <p:cNvPr id="19" name="TextBox 18">
            <a:extLst>
              <a:ext uri="{FF2B5EF4-FFF2-40B4-BE49-F238E27FC236}">
                <a16:creationId xmlns:a16="http://schemas.microsoft.com/office/drawing/2014/main" id="{9626B970-88DC-FBD1-9DB4-0AEA388B5A4A}"/>
              </a:ext>
            </a:extLst>
          </p:cNvPr>
          <p:cNvSpPr txBox="1"/>
          <p:nvPr/>
        </p:nvSpPr>
        <p:spPr>
          <a:xfrm>
            <a:off x="7458177" y="507087"/>
            <a:ext cx="1389506" cy="72822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Projects in the list</a:t>
            </a:r>
            <a:endParaRPr lang="en-IN" sz="1400" dirty="0">
              <a:solidFill>
                <a:schemeClr val="tx2"/>
              </a:solidFill>
              <a:cs typeface="Tahoma" pitchFamily="34" charset="0"/>
            </a:endParaRPr>
          </a:p>
        </p:txBody>
      </p:sp>
      <p:cxnSp>
        <p:nvCxnSpPr>
          <p:cNvPr id="20" name="Straight Arrow Connector 19">
            <a:extLst>
              <a:ext uri="{FF2B5EF4-FFF2-40B4-BE49-F238E27FC236}">
                <a16:creationId xmlns:a16="http://schemas.microsoft.com/office/drawing/2014/main" id="{C0D1CCD1-E9F8-3AEE-B32F-7CD7E57BB190}"/>
              </a:ext>
            </a:extLst>
          </p:cNvPr>
          <p:cNvCxnSpPr>
            <a:cxnSpLocks/>
          </p:cNvCxnSpPr>
          <p:nvPr/>
        </p:nvCxnSpPr>
        <p:spPr>
          <a:xfrm>
            <a:off x="6921348" y="77952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User with solid fill">
            <a:extLst>
              <a:ext uri="{FF2B5EF4-FFF2-40B4-BE49-F238E27FC236}">
                <a16:creationId xmlns:a16="http://schemas.microsoft.com/office/drawing/2014/main" id="{A6F154C1-472E-5E1D-0940-45DBFF5094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36132" y="486922"/>
            <a:ext cx="484632" cy="484632"/>
          </a:xfrm>
          <a:prstGeom prst="rect">
            <a:avLst/>
          </a:prstGeom>
        </p:spPr>
      </p:pic>
      <p:sp>
        <p:nvSpPr>
          <p:cNvPr id="22" name="TextBox 21">
            <a:extLst>
              <a:ext uri="{FF2B5EF4-FFF2-40B4-BE49-F238E27FC236}">
                <a16:creationId xmlns:a16="http://schemas.microsoft.com/office/drawing/2014/main" id="{5B82C5C8-BF43-6507-236A-C24A5CB12397}"/>
              </a:ext>
            </a:extLst>
          </p:cNvPr>
          <p:cNvSpPr txBox="1"/>
          <p:nvPr/>
        </p:nvSpPr>
        <p:spPr>
          <a:xfrm>
            <a:off x="6274227" y="907357"/>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24" name="Straight Arrow Connector 23">
            <a:extLst>
              <a:ext uri="{FF2B5EF4-FFF2-40B4-BE49-F238E27FC236}">
                <a16:creationId xmlns:a16="http://schemas.microsoft.com/office/drawing/2014/main" id="{1B07CA32-306B-8024-6EC3-81A68141A6BE}"/>
              </a:ext>
            </a:extLst>
          </p:cNvPr>
          <p:cNvCxnSpPr/>
          <p:nvPr/>
        </p:nvCxnSpPr>
        <p:spPr>
          <a:xfrm>
            <a:off x="8865971" y="893692"/>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6A8CF0-40C8-AD66-F60C-F4B19A6D2133}"/>
              </a:ext>
            </a:extLst>
          </p:cNvPr>
          <p:cNvSpPr txBox="1"/>
          <p:nvPr/>
        </p:nvSpPr>
        <p:spPr>
          <a:xfrm>
            <a:off x="6599691" y="511845"/>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27" name="TextBox 26">
            <a:extLst>
              <a:ext uri="{FF2B5EF4-FFF2-40B4-BE49-F238E27FC236}">
                <a16:creationId xmlns:a16="http://schemas.microsoft.com/office/drawing/2014/main" id="{2CF2798B-4412-0395-9F77-A170122CAEDB}"/>
              </a:ext>
            </a:extLst>
          </p:cNvPr>
          <p:cNvSpPr txBox="1"/>
          <p:nvPr/>
        </p:nvSpPr>
        <p:spPr>
          <a:xfrm>
            <a:off x="9606635" y="524921"/>
            <a:ext cx="2220850" cy="85946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Projects under that acct with details gets displayed in the bottom grid</a:t>
            </a:r>
            <a:endParaRPr lang="en-IN" sz="1400" dirty="0">
              <a:solidFill>
                <a:schemeClr val="tx2"/>
              </a:solidFill>
              <a:cs typeface="Tahoma" pitchFamily="34" charset="0"/>
            </a:endParaRPr>
          </a:p>
        </p:txBody>
      </p:sp>
      <p:sp>
        <p:nvSpPr>
          <p:cNvPr id="28" name="TextBox 27">
            <a:extLst>
              <a:ext uri="{FF2B5EF4-FFF2-40B4-BE49-F238E27FC236}">
                <a16:creationId xmlns:a16="http://schemas.microsoft.com/office/drawing/2014/main" id="{2EDBC459-B19D-9FB4-008B-1AF5A2E1D832}"/>
              </a:ext>
            </a:extLst>
          </p:cNvPr>
          <p:cNvSpPr txBox="1"/>
          <p:nvPr/>
        </p:nvSpPr>
        <p:spPr>
          <a:xfrm>
            <a:off x="7418553" y="1957935"/>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Create/Delete Project</a:t>
            </a:r>
            <a:endParaRPr lang="en-IN" sz="1400" dirty="0">
              <a:solidFill>
                <a:schemeClr val="tx2"/>
              </a:solidFill>
              <a:cs typeface="Tahoma" pitchFamily="34" charset="0"/>
            </a:endParaRPr>
          </a:p>
        </p:txBody>
      </p:sp>
      <p:cxnSp>
        <p:nvCxnSpPr>
          <p:cNvPr id="29" name="Straight Arrow Connector 28">
            <a:extLst>
              <a:ext uri="{FF2B5EF4-FFF2-40B4-BE49-F238E27FC236}">
                <a16:creationId xmlns:a16="http://schemas.microsoft.com/office/drawing/2014/main" id="{E51B655D-8096-0A66-E722-B5250380BFCD}"/>
              </a:ext>
            </a:extLst>
          </p:cNvPr>
          <p:cNvCxnSpPr>
            <a:cxnSpLocks/>
          </p:cNvCxnSpPr>
          <p:nvPr/>
        </p:nvCxnSpPr>
        <p:spPr>
          <a:xfrm>
            <a:off x="6863436" y="2120649"/>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0" name="Graphic 29" descr="User with solid fill">
            <a:extLst>
              <a:ext uri="{FF2B5EF4-FFF2-40B4-BE49-F238E27FC236}">
                <a16:creationId xmlns:a16="http://schemas.microsoft.com/office/drawing/2014/main" id="{4E7ADF6F-1CD8-3E74-44AC-550CD3AD31A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78220" y="1828042"/>
            <a:ext cx="484632" cy="484632"/>
          </a:xfrm>
          <a:prstGeom prst="rect">
            <a:avLst/>
          </a:prstGeom>
        </p:spPr>
      </p:pic>
      <p:sp>
        <p:nvSpPr>
          <p:cNvPr id="31" name="TextBox 30">
            <a:extLst>
              <a:ext uri="{FF2B5EF4-FFF2-40B4-BE49-F238E27FC236}">
                <a16:creationId xmlns:a16="http://schemas.microsoft.com/office/drawing/2014/main" id="{DD13A458-1523-BC78-934A-5DB738193232}"/>
              </a:ext>
            </a:extLst>
          </p:cNvPr>
          <p:cNvSpPr txBox="1"/>
          <p:nvPr/>
        </p:nvSpPr>
        <p:spPr>
          <a:xfrm>
            <a:off x="6216315" y="2248477"/>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32" name="Straight Arrow Connector 31">
            <a:extLst>
              <a:ext uri="{FF2B5EF4-FFF2-40B4-BE49-F238E27FC236}">
                <a16:creationId xmlns:a16="http://schemas.microsoft.com/office/drawing/2014/main" id="{815B187D-5143-606C-C7D2-25EDC701CCDB}"/>
              </a:ext>
            </a:extLst>
          </p:cNvPr>
          <p:cNvCxnSpPr/>
          <p:nvPr/>
        </p:nvCxnSpPr>
        <p:spPr>
          <a:xfrm>
            <a:off x="8808059" y="2234812"/>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C8A95F2-ECB5-2C76-CD92-C2B59570AD70}"/>
              </a:ext>
            </a:extLst>
          </p:cNvPr>
          <p:cNvSpPr txBox="1"/>
          <p:nvPr/>
        </p:nvSpPr>
        <p:spPr>
          <a:xfrm>
            <a:off x="6541779" y="1852965"/>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34" name="TextBox 33">
            <a:extLst>
              <a:ext uri="{FF2B5EF4-FFF2-40B4-BE49-F238E27FC236}">
                <a16:creationId xmlns:a16="http://schemas.microsoft.com/office/drawing/2014/main" id="{C55E69B7-C290-8341-D389-8B0291AFA9ED}"/>
              </a:ext>
            </a:extLst>
          </p:cNvPr>
          <p:cNvSpPr txBox="1"/>
          <p:nvPr/>
        </p:nvSpPr>
        <p:spPr>
          <a:xfrm>
            <a:off x="9606635" y="1610844"/>
            <a:ext cx="2220850" cy="134247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It should take to the Project creation tab/box</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Required details to be entered and Project should be created</a:t>
            </a:r>
            <a:endParaRPr lang="en-IN" sz="1400" dirty="0">
              <a:solidFill>
                <a:schemeClr val="tx2"/>
              </a:solidFill>
              <a:cs typeface="Tahoma" pitchFamily="34" charset="0"/>
            </a:endParaRPr>
          </a:p>
        </p:txBody>
      </p:sp>
      <p:sp>
        <p:nvSpPr>
          <p:cNvPr id="39" name="Oval 38">
            <a:extLst>
              <a:ext uri="{FF2B5EF4-FFF2-40B4-BE49-F238E27FC236}">
                <a16:creationId xmlns:a16="http://schemas.microsoft.com/office/drawing/2014/main" id="{FAAEB783-2DDE-42D8-E893-42C0E24F421E}"/>
              </a:ext>
            </a:extLst>
          </p:cNvPr>
          <p:cNvSpPr/>
          <p:nvPr/>
        </p:nvSpPr>
        <p:spPr>
          <a:xfrm>
            <a:off x="543687" y="264470"/>
            <a:ext cx="697744" cy="336746"/>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A1</a:t>
            </a:r>
            <a:endParaRPr lang="en-IN" sz="1600" dirty="0"/>
          </a:p>
        </p:txBody>
      </p:sp>
      <p:sp>
        <p:nvSpPr>
          <p:cNvPr id="40" name="Rectangle: Rounded Corners 39">
            <a:extLst>
              <a:ext uri="{FF2B5EF4-FFF2-40B4-BE49-F238E27FC236}">
                <a16:creationId xmlns:a16="http://schemas.microsoft.com/office/drawing/2014/main" id="{0495AA4B-B277-5AA8-AB82-66E335933841}"/>
              </a:ext>
            </a:extLst>
          </p:cNvPr>
          <p:cNvSpPr/>
          <p:nvPr/>
        </p:nvSpPr>
        <p:spPr>
          <a:xfrm>
            <a:off x="787352" y="3683373"/>
            <a:ext cx="4841748" cy="25242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43" name="TextBox 42">
            <a:extLst>
              <a:ext uri="{FF2B5EF4-FFF2-40B4-BE49-F238E27FC236}">
                <a16:creationId xmlns:a16="http://schemas.microsoft.com/office/drawing/2014/main" id="{4BCB5D7B-7524-1219-5CD5-90B27944274D}"/>
              </a:ext>
            </a:extLst>
          </p:cNvPr>
          <p:cNvSpPr txBox="1"/>
          <p:nvPr/>
        </p:nvSpPr>
        <p:spPr>
          <a:xfrm>
            <a:off x="1803721" y="3691983"/>
            <a:ext cx="2596665" cy="287195"/>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Project User management</a:t>
            </a:r>
            <a:endParaRPr lang="en-IN" sz="1600" dirty="0">
              <a:solidFill>
                <a:schemeClr val="bg1"/>
              </a:solidFill>
              <a:cs typeface="Tahoma" pitchFamily="34" charset="0"/>
            </a:endParaRPr>
          </a:p>
        </p:txBody>
      </p:sp>
      <p:sp>
        <p:nvSpPr>
          <p:cNvPr id="44" name="TextBox 43">
            <a:extLst>
              <a:ext uri="{FF2B5EF4-FFF2-40B4-BE49-F238E27FC236}">
                <a16:creationId xmlns:a16="http://schemas.microsoft.com/office/drawing/2014/main" id="{9311CEA2-4ED8-C837-C9E6-63CF515ED49C}"/>
              </a:ext>
            </a:extLst>
          </p:cNvPr>
          <p:cNvSpPr txBox="1"/>
          <p:nvPr/>
        </p:nvSpPr>
        <p:spPr>
          <a:xfrm>
            <a:off x="1166770" y="4089260"/>
            <a:ext cx="1920794" cy="304738"/>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Create/Delete User</a:t>
            </a:r>
            <a:endParaRPr lang="en-IN" sz="1400" dirty="0">
              <a:solidFill>
                <a:schemeClr val="tx2"/>
              </a:solidFill>
              <a:cs typeface="Tahoma" pitchFamily="34" charset="0"/>
            </a:endParaRPr>
          </a:p>
        </p:txBody>
      </p:sp>
      <p:sp>
        <p:nvSpPr>
          <p:cNvPr id="45" name="TextBox 44">
            <a:extLst>
              <a:ext uri="{FF2B5EF4-FFF2-40B4-BE49-F238E27FC236}">
                <a16:creationId xmlns:a16="http://schemas.microsoft.com/office/drawing/2014/main" id="{2590F334-CA25-DA31-D431-C91AE5073515}"/>
              </a:ext>
            </a:extLst>
          </p:cNvPr>
          <p:cNvSpPr txBox="1"/>
          <p:nvPr/>
        </p:nvSpPr>
        <p:spPr>
          <a:xfrm>
            <a:off x="3717401" y="4085445"/>
            <a:ext cx="1523704" cy="30473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User Access</a:t>
            </a:r>
            <a:endParaRPr lang="en-IN" sz="1300" dirty="0">
              <a:solidFill>
                <a:schemeClr val="tx2"/>
              </a:solidFill>
              <a:cs typeface="Tahoma" pitchFamily="34" charset="0"/>
            </a:endParaRPr>
          </a:p>
        </p:txBody>
      </p:sp>
      <p:sp>
        <p:nvSpPr>
          <p:cNvPr id="49" name="TextBox 48">
            <a:extLst>
              <a:ext uri="{FF2B5EF4-FFF2-40B4-BE49-F238E27FC236}">
                <a16:creationId xmlns:a16="http://schemas.microsoft.com/office/drawing/2014/main" id="{9A58A5EA-329B-16F3-BC7C-3E9931B7A6F3}"/>
              </a:ext>
            </a:extLst>
          </p:cNvPr>
          <p:cNvSpPr txBox="1"/>
          <p:nvPr/>
        </p:nvSpPr>
        <p:spPr>
          <a:xfrm>
            <a:off x="7413228" y="3466889"/>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Users in the list</a:t>
            </a:r>
            <a:endParaRPr lang="en-IN" sz="1400" dirty="0">
              <a:solidFill>
                <a:schemeClr val="tx2"/>
              </a:solidFill>
              <a:cs typeface="Tahoma" pitchFamily="34" charset="0"/>
            </a:endParaRPr>
          </a:p>
        </p:txBody>
      </p:sp>
      <p:cxnSp>
        <p:nvCxnSpPr>
          <p:cNvPr id="50" name="Straight Arrow Connector 49">
            <a:extLst>
              <a:ext uri="{FF2B5EF4-FFF2-40B4-BE49-F238E27FC236}">
                <a16:creationId xmlns:a16="http://schemas.microsoft.com/office/drawing/2014/main" id="{65370F53-761D-726C-1904-2935C2F654ED}"/>
              </a:ext>
            </a:extLst>
          </p:cNvPr>
          <p:cNvCxnSpPr>
            <a:cxnSpLocks/>
          </p:cNvCxnSpPr>
          <p:nvPr/>
        </p:nvCxnSpPr>
        <p:spPr>
          <a:xfrm>
            <a:off x="6858111" y="3629603"/>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1" name="Graphic 50" descr="User with solid fill">
            <a:extLst>
              <a:ext uri="{FF2B5EF4-FFF2-40B4-BE49-F238E27FC236}">
                <a16:creationId xmlns:a16="http://schemas.microsoft.com/office/drawing/2014/main" id="{1FD7913F-1F2F-7DBA-8F38-4E4B8252AA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72895" y="3336996"/>
            <a:ext cx="484632" cy="484632"/>
          </a:xfrm>
          <a:prstGeom prst="rect">
            <a:avLst/>
          </a:prstGeom>
        </p:spPr>
      </p:pic>
      <p:sp>
        <p:nvSpPr>
          <p:cNvPr id="52" name="TextBox 51">
            <a:extLst>
              <a:ext uri="{FF2B5EF4-FFF2-40B4-BE49-F238E27FC236}">
                <a16:creationId xmlns:a16="http://schemas.microsoft.com/office/drawing/2014/main" id="{DE7F6667-0422-1098-1040-806B7BF9D0EA}"/>
              </a:ext>
            </a:extLst>
          </p:cNvPr>
          <p:cNvSpPr txBox="1"/>
          <p:nvPr/>
        </p:nvSpPr>
        <p:spPr>
          <a:xfrm>
            <a:off x="6210990" y="375743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53" name="Straight Arrow Connector 52">
            <a:extLst>
              <a:ext uri="{FF2B5EF4-FFF2-40B4-BE49-F238E27FC236}">
                <a16:creationId xmlns:a16="http://schemas.microsoft.com/office/drawing/2014/main" id="{F5FE4A57-068D-CCE0-99A6-11734C0D8BB2}"/>
              </a:ext>
            </a:extLst>
          </p:cNvPr>
          <p:cNvCxnSpPr/>
          <p:nvPr/>
        </p:nvCxnSpPr>
        <p:spPr>
          <a:xfrm>
            <a:off x="8802734" y="374376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94A232D-CD42-25B5-D48A-D7B3EA7E9486}"/>
              </a:ext>
            </a:extLst>
          </p:cNvPr>
          <p:cNvSpPr txBox="1"/>
          <p:nvPr/>
        </p:nvSpPr>
        <p:spPr>
          <a:xfrm>
            <a:off x="6536454" y="3361919"/>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55" name="TextBox 54">
            <a:extLst>
              <a:ext uri="{FF2B5EF4-FFF2-40B4-BE49-F238E27FC236}">
                <a16:creationId xmlns:a16="http://schemas.microsoft.com/office/drawing/2014/main" id="{086F1A0C-02B6-C0E2-73DC-6B9CC1556C38}"/>
              </a:ext>
            </a:extLst>
          </p:cNvPr>
          <p:cNvSpPr txBox="1"/>
          <p:nvPr/>
        </p:nvSpPr>
        <p:spPr>
          <a:xfrm>
            <a:off x="9527760" y="3515346"/>
            <a:ext cx="2220850" cy="446632"/>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Modify Users/Access</a:t>
            </a:r>
            <a:endParaRPr lang="en-IN" sz="1400" dirty="0">
              <a:solidFill>
                <a:schemeClr val="tx2"/>
              </a:solidFill>
              <a:cs typeface="Tahoma" pitchFamily="34" charset="0"/>
            </a:endParaRPr>
          </a:p>
        </p:txBody>
      </p:sp>
      <p:sp>
        <p:nvSpPr>
          <p:cNvPr id="56" name="TextBox 55">
            <a:extLst>
              <a:ext uri="{FF2B5EF4-FFF2-40B4-BE49-F238E27FC236}">
                <a16:creationId xmlns:a16="http://schemas.microsoft.com/office/drawing/2014/main" id="{0676CB51-A39E-7734-1597-E1C3011BE92E}"/>
              </a:ext>
            </a:extLst>
          </p:cNvPr>
          <p:cNvSpPr txBox="1"/>
          <p:nvPr/>
        </p:nvSpPr>
        <p:spPr>
          <a:xfrm>
            <a:off x="7360641" y="4427058"/>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Create/Delete User</a:t>
            </a:r>
            <a:endParaRPr lang="en-IN" sz="1400" dirty="0">
              <a:solidFill>
                <a:schemeClr val="tx2"/>
              </a:solidFill>
              <a:cs typeface="Tahoma" pitchFamily="34" charset="0"/>
            </a:endParaRPr>
          </a:p>
        </p:txBody>
      </p:sp>
      <p:cxnSp>
        <p:nvCxnSpPr>
          <p:cNvPr id="57" name="Straight Arrow Connector 56">
            <a:extLst>
              <a:ext uri="{FF2B5EF4-FFF2-40B4-BE49-F238E27FC236}">
                <a16:creationId xmlns:a16="http://schemas.microsoft.com/office/drawing/2014/main" id="{8859ED95-0D20-C314-B2BA-7B1C12F3019C}"/>
              </a:ext>
            </a:extLst>
          </p:cNvPr>
          <p:cNvCxnSpPr>
            <a:cxnSpLocks/>
          </p:cNvCxnSpPr>
          <p:nvPr/>
        </p:nvCxnSpPr>
        <p:spPr>
          <a:xfrm>
            <a:off x="6805524" y="458977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8" name="Graphic 57" descr="User with solid fill">
            <a:extLst>
              <a:ext uri="{FF2B5EF4-FFF2-40B4-BE49-F238E27FC236}">
                <a16:creationId xmlns:a16="http://schemas.microsoft.com/office/drawing/2014/main" id="{87C2291D-1741-341F-62F9-FB1054DBEF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0308" y="4297165"/>
            <a:ext cx="484632" cy="484632"/>
          </a:xfrm>
          <a:prstGeom prst="rect">
            <a:avLst/>
          </a:prstGeom>
        </p:spPr>
      </p:pic>
      <p:sp>
        <p:nvSpPr>
          <p:cNvPr id="60" name="TextBox 59">
            <a:extLst>
              <a:ext uri="{FF2B5EF4-FFF2-40B4-BE49-F238E27FC236}">
                <a16:creationId xmlns:a16="http://schemas.microsoft.com/office/drawing/2014/main" id="{957C6CA1-7590-253F-A445-3848678B0A97}"/>
              </a:ext>
            </a:extLst>
          </p:cNvPr>
          <p:cNvSpPr txBox="1"/>
          <p:nvPr/>
        </p:nvSpPr>
        <p:spPr>
          <a:xfrm>
            <a:off x="6158403" y="4717600"/>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61" name="Straight Arrow Connector 60">
            <a:extLst>
              <a:ext uri="{FF2B5EF4-FFF2-40B4-BE49-F238E27FC236}">
                <a16:creationId xmlns:a16="http://schemas.microsoft.com/office/drawing/2014/main" id="{1414EBF1-450F-5316-181C-713BDF770F13}"/>
              </a:ext>
            </a:extLst>
          </p:cNvPr>
          <p:cNvCxnSpPr/>
          <p:nvPr/>
        </p:nvCxnSpPr>
        <p:spPr>
          <a:xfrm>
            <a:off x="8750147" y="4703935"/>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30C5173-4BFA-7596-2EB9-A811904D802E}"/>
              </a:ext>
            </a:extLst>
          </p:cNvPr>
          <p:cNvSpPr txBox="1"/>
          <p:nvPr/>
        </p:nvSpPr>
        <p:spPr>
          <a:xfrm>
            <a:off x="6483867" y="4322088"/>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3" name="TextBox 62">
            <a:extLst>
              <a:ext uri="{FF2B5EF4-FFF2-40B4-BE49-F238E27FC236}">
                <a16:creationId xmlns:a16="http://schemas.microsoft.com/office/drawing/2014/main" id="{6BB4496F-090D-80A9-7D64-A90AF16249C6}"/>
              </a:ext>
            </a:extLst>
          </p:cNvPr>
          <p:cNvSpPr txBox="1"/>
          <p:nvPr/>
        </p:nvSpPr>
        <p:spPr>
          <a:xfrm>
            <a:off x="9548723" y="4079967"/>
            <a:ext cx="2220850" cy="134247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It should take to the User creation tab/box</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Required details to be entered and User should be created</a:t>
            </a:r>
            <a:endParaRPr lang="en-IN" sz="1400" dirty="0">
              <a:solidFill>
                <a:schemeClr val="tx2"/>
              </a:solidFill>
              <a:cs typeface="Tahoma" pitchFamily="34" charset="0"/>
            </a:endParaRPr>
          </a:p>
        </p:txBody>
      </p:sp>
      <p:sp>
        <p:nvSpPr>
          <p:cNvPr id="64" name="Oval 63">
            <a:extLst>
              <a:ext uri="{FF2B5EF4-FFF2-40B4-BE49-F238E27FC236}">
                <a16:creationId xmlns:a16="http://schemas.microsoft.com/office/drawing/2014/main" id="{7CF66C52-633C-52DC-2BD9-E1F8E03087EE}"/>
              </a:ext>
            </a:extLst>
          </p:cNvPr>
          <p:cNvSpPr/>
          <p:nvPr/>
        </p:nvSpPr>
        <p:spPr>
          <a:xfrm>
            <a:off x="538362" y="3431532"/>
            <a:ext cx="697744" cy="319681"/>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B1</a:t>
            </a:r>
            <a:endParaRPr lang="en-IN" sz="1600" dirty="0"/>
          </a:p>
        </p:txBody>
      </p:sp>
      <p:sp>
        <p:nvSpPr>
          <p:cNvPr id="65" name="TextBox 64">
            <a:extLst>
              <a:ext uri="{FF2B5EF4-FFF2-40B4-BE49-F238E27FC236}">
                <a16:creationId xmlns:a16="http://schemas.microsoft.com/office/drawing/2014/main" id="{6B5233FF-3B79-3735-3EEB-C4AAE535E86E}"/>
              </a:ext>
            </a:extLst>
          </p:cNvPr>
          <p:cNvSpPr txBox="1"/>
          <p:nvPr/>
        </p:nvSpPr>
        <p:spPr>
          <a:xfrm>
            <a:off x="1166770" y="4751204"/>
            <a:ext cx="2247853" cy="28840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List of Users &amp; Details</a:t>
            </a:r>
            <a:endParaRPr lang="en-IN" sz="1400" dirty="0">
              <a:solidFill>
                <a:schemeClr val="tx2"/>
              </a:solidFill>
              <a:cs typeface="Tahoma" pitchFamily="34" charset="0"/>
            </a:endParaRPr>
          </a:p>
        </p:txBody>
      </p:sp>
      <p:sp>
        <p:nvSpPr>
          <p:cNvPr id="66" name="Rectangle: Rounded Corners 65">
            <a:extLst>
              <a:ext uri="{FF2B5EF4-FFF2-40B4-BE49-F238E27FC236}">
                <a16:creationId xmlns:a16="http://schemas.microsoft.com/office/drawing/2014/main" id="{23A2B8AF-6A61-149F-981F-72647A8BF973}"/>
              </a:ext>
            </a:extLst>
          </p:cNvPr>
          <p:cNvSpPr/>
          <p:nvPr/>
        </p:nvSpPr>
        <p:spPr>
          <a:xfrm>
            <a:off x="1176874" y="5130480"/>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69" name="Table 68">
            <a:extLst>
              <a:ext uri="{FF2B5EF4-FFF2-40B4-BE49-F238E27FC236}">
                <a16:creationId xmlns:a16="http://schemas.microsoft.com/office/drawing/2014/main" id="{FF2E2725-AEE8-731D-79D4-C2ACAD1E00D7}"/>
              </a:ext>
            </a:extLst>
          </p:cNvPr>
          <p:cNvGraphicFramePr>
            <a:graphicFrameLocks noGrp="1"/>
          </p:cNvGraphicFramePr>
          <p:nvPr/>
        </p:nvGraphicFramePr>
        <p:xfrm>
          <a:off x="1365377" y="5200598"/>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Users </a:t>
                      </a:r>
                      <a:endParaRPr lang="en-IN" sz="900" dirty="0"/>
                    </a:p>
                  </a:txBody>
                  <a:tcPr/>
                </a:tc>
                <a:extLst>
                  <a:ext uri="{0D108BD9-81ED-4DB2-BD59-A6C34878D82A}">
                    <a16:rowId xmlns:a16="http://schemas.microsoft.com/office/drawing/2014/main" val="2202397540"/>
                  </a:ext>
                </a:extLst>
              </a:tr>
              <a:tr h="169015">
                <a:tc>
                  <a:txBody>
                    <a:bodyPr/>
                    <a:lstStyle/>
                    <a:p>
                      <a:r>
                        <a:rPr lang="en-US" sz="900" dirty="0"/>
                        <a:t>User 1</a:t>
                      </a:r>
                      <a:endParaRPr lang="en-IN" sz="900" dirty="0"/>
                    </a:p>
                  </a:txBody>
                  <a:tcPr/>
                </a:tc>
                <a:extLst>
                  <a:ext uri="{0D108BD9-81ED-4DB2-BD59-A6C34878D82A}">
                    <a16:rowId xmlns:a16="http://schemas.microsoft.com/office/drawing/2014/main" val="2362751832"/>
                  </a:ext>
                </a:extLst>
              </a:tr>
              <a:tr h="169015">
                <a:tc>
                  <a:txBody>
                    <a:bodyPr/>
                    <a:lstStyle/>
                    <a:p>
                      <a:r>
                        <a:rPr lang="en-US" sz="900" dirty="0"/>
                        <a:t>User 2</a:t>
                      </a:r>
                      <a:endParaRPr lang="en-IN" sz="900" dirty="0"/>
                    </a:p>
                  </a:txBody>
                  <a:tcPr/>
                </a:tc>
                <a:extLst>
                  <a:ext uri="{0D108BD9-81ED-4DB2-BD59-A6C34878D82A}">
                    <a16:rowId xmlns:a16="http://schemas.microsoft.com/office/drawing/2014/main" val="4142431679"/>
                  </a:ext>
                </a:extLst>
              </a:tr>
            </a:tbl>
          </a:graphicData>
        </a:graphic>
      </p:graphicFrame>
      <p:sp>
        <p:nvSpPr>
          <p:cNvPr id="70" name="TextBox 69">
            <a:extLst>
              <a:ext uri="{FF2B5EF4-FFF2-40B4-BE49-F238E27FC236}">
                <a16:creationId xmlns:a16="http://schemas.microsoft.com/office/drawing/2014/main" id="{1A5EBEFD-1244-948B-ABC8-8DC576BAF384}"/>
              </a:ext>
            </a:extLst>
          </p:cNvPr>
          <p:cNvSpPr txBox="1"/>
          <p:nvPr/>
        </p:nvSpPr>
        <p:spPr>
          <a:xfrm>
            <a:off x="7382740" y="5549941"/>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User Access</a:t>
            </a:r>
            <a:endParaRPr lang="en-IN" sz="1400" dirty="0">
              <a:solidFill>
                <a:schemeClr val="tx2"/>
              </a:solidFill>
              <a:cs typeface="Tahoma" pitchFamily="34" charset="0"/>
            </a:endParaRPr>
          </a:p>
        </p:txBody>
      </p:sp>
      <p:cxnSp>
        <p:nvCxnSpPr>
          <p:cNvPr id="90" name="Straight Arrow Connector 89">
            <a:extLst>
              <a:ext uri="{FF2B5EF4-FFF2-40B4-BE49-F238E27FC236}">
                <a16:creationId xmlns:a16="http://schemas.microsoft.com/office/drawing/2014/main" id="{A2E87081-0CF6-AF63-0472-37A77C502F0B}"/>
              </a:ext>
            </a:extLst>
          </p:cNvPr>
          <p:cNvCxnSpPr>
            <a:cxnSpLocks/>
          </p:cNvCxnSpPr>
          <p:nvPr/>
        </p:nvCxnSpPr>
        <p:spPr>
          <a:xfrm>
            <a:off x="6827623" y="571265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1" name="Graphic 90" descr="User with solid fill">
            <a:extLst>
              <a:ext uri="{FF2B5EF4-FFF2-40B4-BE49-F238E27FC236}">
                <a16:creationId xmlns:a16="http://schemas.microsoft.com/office/drawing/2014/main" id="{27E04374-4328-4E40-A263-7FD1C130E0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407" y="5420048"/>
            <a:ext cx="484632" cy="484632"/>
          </a:xfrm>
          <a:prstGeom prst="rect">
            <a:avLst/>
          </a:prstGeom>
        </p:spPr>
      </p:pic>
      <p:sp>
        <p:nvSpPr>
          <p:cNvPr id="92" name="TextBox 91">
            <a:extLst>
              <a:ext uri="{FF2B5EF4-FFF2-40B4-BE49-F238E27FC236}">
                <a16:creationId xmlns:a16="http://schemas.microsoft.com/office/drawing/2014/main" id="{FF6BBD0D-61CF-934F-AEDE-A84CE7222093}"/>
              </a:ext>
            </a:extLst>
          </p:cNvPr>
          <p:cNvSpPr txBox="1"/>
          <p:nvPr/>
        </p:nvSpPr>
        <p:spPr>
          <a:xfrm>
            <a:off x="6180502" y="584048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93" name="Straight Arrow Connector 92">
            <a:extLst>
              <a:ext uri="{FF2B5EF4-FFF2-40B4-BE49-F238E27FC236}">
                <a16:creationId xmlns:a16="http://schemas.microsoft.com/office/drawing/2014/main" id="{67013B6B-C3CB-3475-AC85-738B834BA1AB}"/>
              </a:ext>
            </a:extLst>
          </p:cNvPr>
          <p:cNvCxnSpPr/>
          <p:nvPr/>
        </p:nvCxnSpPr>
        <p:spPr>
          <a:xfrm>
            <a:off x="8772246" y="5826818"/>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2D3C146E-3256-869B-5AF6-4F7B6DF94674}"/>
              </a:ext>
            </a:extLst>
          </p:cNvPr>
          <p:cNvSpPr txBox="1"/>
          <p:nvPr/>
        </p:nvSpPr>
        <p:spPr>
          <a:xfrm>
            <a:off x="6505966" y="5444971"/>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95" name="TextBox 94">
            <a:extLst>
              <a:ext uri="{FF2B5EF4-FFF2-40B4-BE49-F238E27FC236}">
                <a16:creationId xmlns:a16="http://schemas.microsoft.com/office/drawing/2014/main" id="{44C96074-C185-22F8-064F-D2EF28BBA960}"/>
              </a:ext>
            </a:extLst>
          </p:cNvPr>
          <p:cNvSpPr txBox="1"/>
          <p:nvPr/>
        </p:nvSpPr>
        <p:spPr>
          <a:xfrm>
            <a:off x="9497271" y="5598397"/>
            <a:ext cx="2636531" cy="65474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Selection of Services</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Grant/Revoke Access </a:t>
            </a:r>
          </a:p>
          <a:p>
            <a:pPr marL="3175">
              <a:spcBef>
                <a:spcPts val="600"/>
              </a:spcBef>
              <a:spcAft>
                <a:spcPts val="600"/>
              </a:spcAft>
              <a:buClr>
                <a:srgbClr val="303030">
                  <a:lumMod val="50000"/>
                  <a:lumOff val="50000"/>
                </a:srgbClr>
              </a:buClr>
            </a:pPr>
            <a:r>
              <a:rPr lang="en-IN" sz="1400" dirty="0">
                <a:solidFill>
                  <a:schemeClr val="tx2"/>
                </a:solidFill>
                <a:cs typeface="Tahoma" pitchFamily="34" charset="0"/>
              </a:rPr>
              <a:t>To the respective services</a:t>
            </a:r>
          </a:p>
        </p:txBody>
      </p:sp>
      <p:cxnSp>
        <p:nvCxnSpPr>
          <p:cNvPr id="97" name="Straight Connector 96">
            <a:extLst>
              <a:ext uri="{FF2B5EF4-FFF2-40B4-BE49-F238E27FC236}">
                <a16:creationId xmlns:a16="http://schemas.microsoft.com/office/drawing/2014/main" id="{548AE54C-875E-8A90-9748-82842E9FB701}"/>
              </a:ext>
            </a:extLst>
          </p:cNvPr>
          <p:cNvCxnSpPr/>
          <p:nvPr/>
        </p:nvCxnSpPr>
        <p:spPr>
          <a:xfrm>
            <a:off x="606552" y="3362396"/>
            <a:ext cx="11373333" cy="0"/>
          </a:xfrm>
          <a:prstGeom prst="line">
            <a:avLst/>
          </a:prstGeom>
          <a:ln w="31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8728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385A3B-3739-F9FD-DB10-F90E8E02FDEB}"/>
              </a:ext>
            </a:extLst>
          </p:cNvPr>
          <p:cNvSpPr/>
          <p:nvPr/>
        </p:nvSpPr>
        <p:spPr>
          <a:xfrm>
            <a:off x="792677" y="516312"/>
            <a:ext cx="4841748" cy="2829015"/>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8" name="Rectangle: Rounded Corners 17">
            <a:extLst>
              <a:ext uri="{FF2B5EF4-FFF2-40B4-BE49-F238E27FC236}">
                <a16:creationId xmlns:a16="http://schemas.microsoft.com/office/drawing/2014/main" id="{7071DF86-61C6-CDE3-A076-BDE30D0B0077}"/>
              </a:ext>
            </a:extLst>
          </p:cNvPr>
          <p:cNvSpPr/>
          <p:nvPr/>
        </p:nvSpPr>
        <p:spPr>
          <a:xfrm>
            <a:off x="965398" y="1200519"/>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a:xfrm>
            <a:off x="609600" y="6253146"/>
            <a:ext cx="10972800" cy="301625"/>
          </a:xfrm>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5" name="TextBox 4">
            <a:extLst>
              <a:ext uri="{FF2B5EF4-FFF2-40B4-BE49-F238E27FC236}">
                <a16:creationId xmlns:a16="http://schemas.microsoft.com/office/drawing/2014/main" id="{98AC192B-3F34-8817-86DE-4C15BE7CE9DB}"/>
              </a:ext>
            </a:extLst>
          </p:cNvPr>
          <p:cNvSpPr txBox="1"/>
          <p:nvPr/>
        </p:nvSpPr>
        <p:spPr>
          <a:xfrm>
            <a:off x="2484919" y="524921"/>
            <a:ext cx="1259008" cy="304739"/>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Datamart</a:t>
            </a:r>
            <a:endParaRPr lang="en-IN" sz="1600" dirty="0">
              <a:solidFill>
                <a:schemeClr val="bg1"/>
              </a:solidFill>
              <a:cs typeface="Tahoma" pitchFamily="34" charset="0"/>
            </a:endParaRPr>
          </a:p>
        </p:txBody>
      </p:sp>
      <p:sp>
        <p:nvSpPr>
          <p:cNvPr id="6" name="TextBox 5">
            <a:extLst>
              <a:ext uri="{FF2B5EF4-FFF2-40B4-BE49-F238E27FC236}">
                <a16:creationId xmlns:a16="http://schemas.microsoft.com/office/drawing/2014/main" id="{92A80422-97AB-699A-6FAA-B5BE5214ACE5}"/>
              </a:ext>
            </a:extLst>
          </p:cNvPr>
          <p:cNvSpPr txBox="1"/>
          <p:nvPr/>
        </p:nvSpPr>
        <p:spPr>
          <a:xfrm>
            <a:off x="1082884" y="903622"/>
            <a:ext cx="1920794" cy="30473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Raw Layer Tables</a:t>
            </a:r>
            <a:endParaRPr lang="en-IN" sz="1400" dirty="0">
              <a:solidFill>
                <a:schemeClr val="tx2"/>
              </a:solidFill>
              <a:cs typeface="Tahoma" pitchFamily="34" charset="0"/>
            </a:endParaRPr>
          </a:p>
        </p:txBody>
      </p:sp>
      <p:sp>
        <p:nvSpPr>
          <p:cNvPr id="7" name="TextBox 6">
            <a:extLst>
              <a:ext uri="{FF2B5EF4-FFF2-40B4-BE49-F238E27FC236}">
                <a16:creationId xmlns:a16="http://schemas.microsoft.com/office/drawing/2014/main" id="{4C200395-E3D8-B210-1C20-02C3A58CF913}"/>
              </a:ext>
            </a:extLst>
          </p:cNvPr>
          <p:cNvSpPr txBox="1"/>
          <p:nvPr/>
        </p:nvSpPr>
        <p:spPr>
          <a:xfrm>
            <a:off x="3643480" y="939135"/>
            <a:ext cx="1655989" cy="50081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Semi Curated Layer Tables</a:t>
            </a:r>
            <a:endParaRPr lang="en-IN" sz="1300" dirty="0">
              <a:solidFill>
                <a:schemeClr val="tx2"/>
              </a:solidFill>
              <a:cs typeface="Tahoma" pitchFamily="34" charset="0"/>
            </a:endParaRPr>
          </a:p>
        </p:txBody>
      </p:sp>
      <p:graphicFrame>
        <p:nvGraphicFramePr>
          <p:cNvPr id="17" name="Table 16">
            <a:extLst>
              <a:ext uri="{FF2B5EF4-FFF2-40B4-BE49-F238E27FC236}">
                <a16:creationId xmlns:a16="http://schemas.microsoft.com/office/drawing/2014/main" id="{A743AFA9-4FB9-CC07-8F4B-CC0B52652099}"/>
              </a:ext>
            </a:extLst>
          </p:cNvPr>
          <p:cNvGraphicFramePr>
            <a:graphicFrameLocks noGrp="1"/>
          </p:cNvGraphicFramePr>
          <p:nvPr/>
        </p:nvGraphicFramePr>
        <p:xfrm>
          <a:off x="1153901" y="1270637"/>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List of Tables</a:t>
                      </a:r>
                      <a:endParaRPr lang="en-IN" sz="900" dirty="0"/>
                    </a:p>
                  </a:txBody>
                  <a:tcPr/>
                </a:tc>
                <a:extLst>
                  <a:ext uri="{0D108BD9-81ED-4DB2-BD59-A6C34878D82A}">
                    <a16:rowId xmlns:a16="http://schemas.microsoft.com/office/drawing/2014/main" val="2202397540"/>
                  </a:ext>
                </a:extLst>
              </a:tr>
              <a:tr h="169015">
                <a:tc>
                  <a:txBody>
                    <a:bodyPr/>
                    <a:lstStyle/>
                    <a:p>
                      <a:endParaRPr lang="en-IN" sz="900" dirty="0"/>
                    </a:p>
                  </a:txBody>
                  <a:tcPr/>
                </a:tc>
                <a:extLst>
                  <a:ext uri="{0D108BD9-81ED-4DB2-BD59-A6C34878D82A}">
                    <a16:rowId xmlns:a16="http://schemas.microsoft.com/office/drawing/2014/main" val="2362751832"/>
                  </a:ext>
                </a:extLst>
              </a:tr>
              <a:tr h="169015">
                <a:tc>
                  <a:txBody>
                    <a:bodyPr/>
                    <a:lstStyle/>
                    <a:p>
                      <a:endParaRPr lang="en-IN" sz="900" dirty="0"/>
                    </a:p>
                  </a:txBody>
                  <a:tcPr/>
                </a:tc>
                <a:extLst>
                  <a:ext uri="{0D108BD9-81ED-4DB2-BD59-A6C34878D82A}">
                    <a16:rowId xmlns:a16="http://schemas.microsoft.com/office/drawing/2014/main" val="4142431679"/>
                  </a:ext>
                </a:extLst>
              </a:tr>
            </a:tbl>
          </a:graphicData>
        </a:graphic>
      </p:graphicFrame>
      <p:sp>
        <p:nvSpPr>
          <p:cNvPr id="19" name="TextBox 18">
            <a:extLst>
              <a:ext uri="{FF2B5EF4-FFF2-40B4-BE49-F238E27FC236}">
                <a16:creationId xmlns:a16="http://schemas.microsoft.com/office/drawing/2014/main" id="{9626B970-88DC-FBD1-9DB4-0AEA388B5A4A}"/>
              </a:ext>
            </a:extLst>
          </p:cNvPr>
          <p:cNvSpPr txBox="1"/>
          <p:nvPr/>
        </p:nvSpPr>
        <p:spPr>
          <a:xfrm>
            <a:off x="7367101" y="1240453"/>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Tables the list</a:t>
            </a:r>
            <a:endParaRPr lang="en-IN" sz="1400" dirty="0">
              <a:solidFill>
                <a:schemeClr val="tx2"/>
              </a:solidFill>
              <a:cs typeface="Tahoma" pitchFamily="34" charset="0"/>
            </a:endParaRPr>
          </a:p>
        </p:txBody>
      </p:sp>
      <p:cxnSp>
        <p:nvCxnSpPr>
          <p:cNvPr id="20" name="Straight Arrow Connector 19">
            <a:extLst>
              <a:ext uri="{FF2B5EF4-FFF2-40B4-BE49-F238E27FC236}">
                <a16:creationId xmlns:a16="http://schemas.microsoft.com/office/drawing/2014/main" id="{C0D1CCD1-E9F8-3AEE-B32F-7CD7E57BB190}"/>
              </a:ext>
            </a:extLst>
          </p:cNvPr>
          <p:cNvCxnSpPr>
            <a:cxnSpLocks/>
          </p:cNvCxnSpPr>
          <p:nvPr/>
        </p:nvCxnSpPr>
        <p:spPr>
          <a:xfrm>
            <a:off x="6811984" y="140316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User with solid fill">
            <a:extLst>
              <a:ext uri="{FF2B5EF4-FFF2-40B4-BE49-F238E27FC236}">
                <a16:creationId xmlns:a16="http://schemas.microsoft.com/office/drawing/2014/main" id="{A6F154C1-472E-5E1D-0940-45DBFF5094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6768" y="1110560"/>
            <a:ext cx="484632" cy="484632"/>
          </a:xfrm>
          <a:prstGeom prst="rect">
            <a:avLst/>
          </a:prstGeom>
        </p:spPr>
      </p:pic>
      <p:sp>
        <p:nvSpPr>
          <p:cNvPr id="22" name="TextBox 21">
            <a:extLst>
              <a:ext uri="{FF2B5EF4-FFF2-40B4-BE49-F238E27FC236}">
                <a16:creationId xmlns:a16="http://schemas.microsoft.com/office/drawing/2014/main" id="{5B82C5C8-BF43-6507-236A-C24A5CB12397}"/>
              </a:ext>
            </a:extLst>
          </p:cNvPr>
          <p:cNvSpPr txBox="1"/>
          <p:nvPr/>
        </p:nvSpPr>
        <p:spPr>
          <a:xfrm>
            <a:off x="6164863" y="1530995"/>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24" name="Straight Arrow Connector 23">
            <a:extLst>
              <a:ext uri="{FF2B5EF4-FFF2-40B4-BE49-F238E27FC236}">
                <a16:creationId xmlns:a16="http://schemas.microsoft.com/office/drawing/2014/main" id="{1B07CA32-306B-8024-6EC3-81A68141A6BE}"/>
              </a:ext>
            </a:extLst>
          </p:cNvPr>
          <p:cNvCxnSpPr/>
          <p:nvPr/>
        </p:nvCxnSpPr>
        <p:spPr>
          <a:xfrm>
            <a:off x="8756607" y="1517330"/>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6A8CF0-40C8-AD66-F60C-F4B19A6D2133}"/>
              </a:ext>
            </a:extLst>
          </p:cNvPr>
          <p:cNvSpPr txBox="1"/>
          <p:nvPr/>
        </p:nvSpPr>
        <p:spPr>
          <a:xfrm>
            <a:off x="6490327" y="1135483"/>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27" name="TextBox 26">
            <a:extLst>
              <a:ext uri="{FF2B5EF4-FFF2-40B4-BE49-F238E27FC236}">
                <a16:creationId xmlns:a16="http://schemas.microsoft.com/office/drawing/2014/main" id="{2CF2798B-4412-0395-9F77-A170122CAEDB}"/>
              </a:ext>
            </a:extLst>
          </p:cNvPr>
          <p:cNvSpPr txBox="1"/>
          <p:nvPr/>
        </p:nvSpPr>
        <p:spPr>
          <a:xfrm>
            <a:off x="9497271" y="1148559"/>
            <a:ext cx="2220850" cy="601472"/>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Table structure will be displayed</a:t>
            </a:r>
            <a:endParaRPr lang="en-IN" sz="1400" dirty="0">
              <a:solidFill>
                <a:schemeClr val="tx2"/>
              </a:solidFill>
              <a:cs typeface="Tahoma" pitchFamily="34" charset="0"/>
            </a:endParaRPr>
          </a:p>
        </p:txBody>
      </p:sp>
      <p:sp>
        <p:nvSpPr>
          <p:cNvPr id="39" name="Oval 38">
            <a:extLst>
              <a:ext uri="{FF2B5EF4-FFF2-40B4-BE49-F238E27FC236}">
                <a16:creationId xmlns:a16="http://schemas.microsoft.com/office/drawing/2014/main" id="{FAAEB783-2DDE-42D8-E893-42C0E24F421E}"/>
              </a:ext>
            </a:extLst>
          </p:cNvPr>
          <p:cNvSpPr/>
          <p:nvPr/>
        </p:nvSpPr>
        <p:spPr>
          <a:xfrm>
            <a:off x="493777" y="249106"/>
            <a:ext cx="747654" cy="320103"/>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C1</a:t>
            </a:r>
            <a:endParaRPr lang="en-IN" sz="1600" dirty="0"/>
          </a:p>
        </p:txBody>
      </p:sp>
      <p:sp>
        <p:nvSpPr>
          <p:cNvPr id="40" name="Rectangle: Rounded Corners 39">
            <a:extLst>
              <a:ext uri="{FF2B5EF4-FFF2-40B4-BE49-F238E27FC236}">
                <a16:creationId xmlns:a16="http://schemas.microsoft.com/office/drawing/2014/main" id="{0495AA4B-B277-5AA8-AB82-66E335933841}"/>
              </a:ext>
            </a:extLst>
          </p:cNvPr>
          <p:cNvSpPr/>
          <p:nvPr/>
        </p:nvSpPr>
        <p:spPr>
          <a:xfrm>
            <a:off x="787352" y="3683373"/>
            <a:ext cx="4841748" cy="25242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43" name="TextBox 42">
            <a:extLst>
              <a:ext uri="{FF2B5EF4-FFF2-40B4-BE49-F238E27FC236}">
                <a16:creationId xmlns:a16="http://schemas.microsoft.com/office/drawing/2014/main" id="{4BCB5D7B-7524-1219-5CD5-90B27944274D}"/>
              </a:ext>
            </a:extLst>
          </p:cNvPr>
          <p:cNvSpPr txBox="1"/>
          <p:nvPr/>
        </p:nvSpPr>
        <p:spPr>
          <a:xfrm>
            <a:off x="1803721" y="3691983"/>
            <a:ext cx="2596665" cy="287195"/>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Product Services</a:t>
            </a:r>
            <a:endParaRPr lang="en-IN" sz="1600" dirty="0">
              <a:solidFill>
                <a:schemeClr val="bg1"/>
              </a:solidFill>
              <a:cs typeface="Tahoma" pitchFamily="34" charset="0"/>
            </a:endParaRPr>
          </a:p>
        </p:txBody>
      </p:sp>
      <p:sp>
        <p:nvSpPr>
          <p:cNvPr id="44" name="TextBox 43">
            <a:extLst>
              <a:ext uri="{FF2B5EF4-FFF2-40B4-BE49-F238E27FC236}">
                <a16:creationId xmlns:a16="http://schemas.microsoft.com/office/drawing/2014/main" id="{9311CEA2-4ED8-C837-C9E6-63CF515ED49C}"/>
              </a:ext>
            </a:extLst>
          </p:cNvPr>
          <p:cNvSpPr txBox="1"/>
          <p:nvPr/>
        </p:nvSpPr>
        <p:spPr>
          <a:xfrm>
            <a:off x="1166770" y="4089260"/>
            <a:ext cx="1920794" cy="304738"/>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TERRA Extractors</a:t>
            </a:r>
            <a:endParaRPr lang="en-IN" sz="1400" dirty="0">
              <a:solidFill>
                <a:schemeClr val="tx2"/>
              </a:solidFill>
              <a:cs typeface="Tahoma" pitchFamily="34" charset="0"/>
            </a:endParaRPr>
          </a:p>
        </p:txBody>
      </p:sp>
      <p:sp>
        <p:nvSpPr>
          <p:cNvPr id="45" name="TextBox 44">
            <a:extLst>
              <a:ext uri="{FF2B5EF4-FFF2-40B4-BE49-F238E27FC236}">
                <a16:creationId xmlns:a16="http://schemas.microsoft.com/office/drawing/2014/main" id="{2590F334-CA25-DA31-D431-C91AE5073515}"/>
              </a:ext>
            </a:extLst>
          </p:cNvPr>
          <p:cNvSpPr txBox="1"/>
          <p:nvPr/>
        </p:nvSpPr>
        <p:spPr>
          <a:xfrm>
            <a:off x="3717401" y="4085445"/>
            <a:ext cx="1523704" cy="304737"/>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TERRA </a:t>
            </a:r>
            <a:r>
              <a:rPr lang="en-US" sz="1300" dirty="0" err="1">
                <a:solidFill>
                  <a:schemeClr val="tx2"/>
                </a:solidFill>
                <a:cs typeface="Tahoma" pitchFamily="34" charset="0"/>
              </a:rPr>
              <a:t>PIpelines</a:t>
            </a:r>
            <a:endParaRPr lang="en-IN" sz="1300" dirty="0">
              <a:solidFill>
                <a:schemeClr val="tx2"/>
              </a:solidFill>
              <a:cs typeface="Tahoma" pitchFamily="34" charset="0"/>
            </a:endParaRPr>
          </a:p>
        </p:txBody>
      </p:sp>
      <p:sp>
        <p:nvSpPr>
          <p:cNvPr id="49" name="TextBox 48">
            <a:extLst>
              <a:ext uri="{FF2B5EF4-FFF2-40B4-BE49-F238E27FC236}">
                <a16:creationId xmlns:a16="http://schemas.microsoft.com/office/drawing/2014/main" id="{9A58A5EA-329B-16F3-BC7C-3E9931B7A6F3}"/>
              </a:ext>
            </a:extLst>
          </p:cNvPr>
          <p:cNvSpPr txBox="1"/>
          <p:nvPr/>
        </p:nvSpPr>
        <p:spPr>
          <a:xfrm>
            <a:off x="7413228" y="3466889"/>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TERRA Extractors </a:t>
            </a:r>
            <a:endParaRPr lang="en-IN" sz="1400" dirty="0">
              <a:solidFill>
                <a:schemeClr val="tx2"/>
              </a:solidFill>
              <a:cs typeface="Tahoma" pitchFamily="34" charset="0"/>
            </a:endParaRPr>
          </a:p>
        </p:txBody>
      </p:sp>
      <p:cxnSp>
        <p:nvCxnSpPr>
          <p:cNvPr id="50" name="Straight Arrow Connector 49">
            <a:extLst>
              <a:ext uri="{FF2B5EF4-FFF2-40B4-BE49-F238E27FC236}">
                <a16:creationId xmlns:a16="http://schemas.microsoft.com/office/drawing/2014/main" id="{65370F53-761D-726C-1904-2935C2F654ED}"/>
              </a:ext>
            </a:extLst>
          </p:cNvPr>
          <p:cNvCxnSpPr>
            <a:cxnSpLocks/>
          </p:cNvCxnSpPr>
          <p:nvPr/>
        </p:nvCxnSpPr>
        <p:spPr>
          <a:xfrm>
            <a:off x="6858111" y="3629603"/>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1" name="Graphic 50" descr="User with solid fill">
            <a:extLst>
              <a:ext uri="{FF2B5EF4-FFF2-40B4-BE49-F238E27FC236}">
                <a16:creationId xmlns:a16="http://schemas.microsoft.com/office/drawing/2014/main" id="{1FD7913F-1F2F-7DBA-8F38-4E4B8252AA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72895" y="3336996"/>
            <a:ext cx="484632" cy="484632"/>
          </a:xfrm>
          <a:prstGeom prst="rect">
            <a:avLst/>
          </a:prstGeom>
        </p:spPr>
      </p:pic>
      <p:sp>
        <p:nvSpPr>
          <p:cNvPr id="52" name="TextBox 51">
            <a:extLst>
              <a:ext uri="{FF2B5EF4-FFF2-40B4-BE49-F238E27FC236}">
                <a16:creationId xmlns:a16="http://schemas.microsoft.com/office/drawing/2014/main" id="{DE7F6667-0422-1098-1040-806B7BF9D0EA}"/>
              </a:ext>
            </a:extLst>
          </p:cNvPr>
          <p:cNvSpPr txBox="1"/>
          <p:nvPr/>
        </p:nvSpPr>
        <p:spPr>
          <a:xfrm>
            <a:off x="6210990" y="375743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53" name="Straight Arrow Connector 52">
            <a:extLst>
              <a:ext uri="{FF2B5EF4-FFF2-40B4-BE49-F238E27FC236}">
                <a16:creationId xmlns:a16="http://schemas.microsoft.com/office/drawing/2014/main" id="{F5FE4A57-068D-CCE0-99A6-11734C0D8BB2}"/>
              </a:ext>
            </a:extLst>
          </p:cNvPr>
          <p:cNvCxnSpPr/>
          <p:nvPr/>
        </p:nvCxnSpPr>
        <p:spPr>
          <a:xfrm>
            <a:off x="8802734" y="374376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94A232D-CD42-25B5-D48A-D7B3EA7E9486}"/>
              </a:ext>
            </a:extLst>
          </p:cNvPr>
          <p:cNvSpPr txBox="1"/>
          <p:nvPr/>
        </p:nvSpPr>
        <p:spPr>
          <a:xfrm>
            <a:off x="6536454" y="3361919"/>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55" name="TextBox 54">
            <a:extLst>
              <a:ext uri="{FF2B5EF4-FFF2-40B4-BE49-F238E27FC236}">
                <a16:creationId xmlns:a16="http://schemas.microsoft.com/office/drawing/2014/main" id="{086F1A0C-02B6-C0E2-73DC-6B9CC1556C38}"/>
              </a:ext>
            </a:extLst>
          </p:cNvPr>
          <p:cNvSpPr txBox="1"/>
          <p:nvPr/>
        </p:nvSpPr>
        <p:spPr>
          <a:xfrm>
            <a:off x="9527760" y="3429001"/>
            <a:ext cx="2452126" cy="39262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000" dirty="0">
                <a:solidFill>
                  <a:schemeClr val="tx2"/>
                </a:solidFill>
                <a:cs typeface="Tahoma" pitchFamily="34" charset="0"/>
              </a:rPr>
              <a:t>List of Prebuilt Extractors, List of Extractors across Accounts, Create Extractors</a:t>
            </a:r>
            <a:endParaRPr lang="en-IN" sz="1000" dirty="0">
              <a:solidFill>
                <a:schemeClr val="tx2"/>
              </a:solidFill>
              <a:cs typeface="Tahoma" pitchFamily="34" charset="0"/>
            </a:endParaRPr>
          </a:p>
        </p:txBody>
      </p:sp>
      <p:sp>
        <p:nvSpPr>
          <p:cNvPr id="56" name="TextBox 55">
            <a:extLst>
              <a:ext uri="{FF2B5EF4-FFF2-40B4-BE49-F238E27FC236}">
                <a16:creationId xmlns:a16="http://schemas.microsoft.com/office/drawing/2014/main" id="{0676CB51-A39E-7734-1597-E1C3011BE92E}"/>
              </a:ext>
            </a:extLst>
          </p:cNvPr>
          <p:cNvSpPr txBox="1"/>
          <p:nvPr/>
        </p:nvSpPr>
        <p:spPr>
          <a:xfrm>
            <a:off x="7360641" y="4427058"/>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TERRA PIPELINES</a:t>
            </a:r>
            <a:endParaRPr lang="en-IN" sz="1400" dirty="0">
              <a:solidFill>
                <a:schemeClr val="tx2"/>
              </a:solidFill>
              <a:cs typeface="Tahoma" pitchFamily="34" charset="0"/>
            </a:endParaRPr>
          </a:p>
        </p:txBody>
      </p:sp>
      <p:cxnSp>
        <p:nvCxnSpPr>
          <p:cNvPr id="57" name="Straight Arrow Connector 56">
            <a:extLst>
              <a:ext uri="{FF2B5EF4-FFF2-40B4-BE49-F238E27FC236}">
                <a16:creationId xmlns:a16="http://schemas.microsoft.com/office/drawing/2014/main" id="{8859ED95-0D20-C314-B2BA-7B1C12F3019C}"/>
              </a:ext>
            </a:extLst>
          </p:cNvPr>
          <p:cNvCxnSpPr>
            <a:cxnSpLocks/>
          </p:cNvCxnSpPr>
          <p:nvPr/>
        </p:nvCxnSpPr>
        <p:spPr>
          <a:xfrm>
            <a:off x="6805524" y="458977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8" name="Graphic 57" descr="User with solid fill">
            <a:extLst>
              <a:ext uri="{FF2B5EF4-FFF2-40B4-BE49-F238E27FC236}">
                <a16:creationId xmlns:a16="http://schemas.microsoft.com/office/drawing/2014/main" id="{87C2291D-1741-341F-62F9-FB1054DBEF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0308" y="4297165"/>
            <a:ext cx="484632" cy="484632"/>
          </a:xfrm>
          <a:prstGeom prst="rect">
            <a:avLst/>
          </a:prstGeom>
        </p:spPr>
      </p:pic>
      <p:sp>
        <p:nvSpPr>
          <p:cNvPr id="60" name="TextBox 59">
            <a:extLst>
              <a:ext uri="{FF2B5EF4-FFF2-40B4-BE49-F238E27FC236}">
                <a16:creationId xmlns:a16="http://schemas.microsoft.com/office/drawing/2014/main" id="{957C6CA1-7590-253F-A445-3848678B0A97}"/>
              </a:ext>
            </a:extLst>
          </p:cNvPr>
          <p:cNvSpPr txBox="1"/>
          <p:nvPr/>
        </p:nvSpPr>
        <p:spPr>
          <a:xfrm>
            <a:off x="6158403" y="4717600"/>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61" name="Straight Arrow Connector 60">
            <a:extLst>
              <a:ext uri="{FF2B5EF4-FFF2-40B4-BE49-F238E27FC236}">
                <a16:creationId xmlns:a16="http://schemas.microsoft.com/office/drawing/2014/main" id="{1414EBF1-450F-5316-181C-713BDF770F13}"/>
              </a:ext>
            </a:extLst>
          </p:cNvPr>
          <p:cNvCxnSpPr/>
          <p:nvPr/>
        </p:nvCxnSpPr>
        <p:spPr>
          <a:xfrm>
            <a:off x="8750147" y="4703935"/>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30C5173-4BFA-7596-2EB9-A811904D802E}"/>
              </a:ext>
            </a:extLst>
          </p:cNvPr>
          <p:cNvSpPr txBox="1"/>
          <p:nvPr/>
        </p:nvSpPr>
        <p:spPr>
          <a:xfrm>
            <a:off x="6483867" y="4322088"/>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4" name="Oval 63">
            <a:extLst>
              <a:ext uri="{FF2B5EF4-FFF2-40B4-BE49-F238E27FC236}">
                <a16:creationId xmlns:a16="http://schemas.microsoft.com/office/drawing/2014/main" id="{7CF66C52-633C-52DC-2BD9-E1F8E03087EE}"/>
              </a:ext>
            </a:extLst>
          </p:cNvPr>
          <p:cNvSpPr/>
          <p:nvPr/>
        </p:nvSpPr>
        <p:spPr>
          <a:xfrm>
            <a:off x="488452" y="3431532"/>
            <a:ext cx="747654" cy="328718"/>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D1</a:t>
            </a:r>
            <a:endParaRPr lang="en-IN" sz="1600" dirty="0"/>
          </a:p>
        </p:txBody>
      </p:sp>
      <p:sp>
        <p:nvSpPr>
          <p:cNvPr id="65" name="TextBox 64">
            <a:extLst>
              <a:ext uri="{FF2B5EF4-FFF2-40B4-BE49-F238E27FC236}">
                <a16:creationId xmlns:a16="http://schemas.microsoft.com/office/drawing/2014/main" id="{6B5233FF-3B79-3735-3EEB-C4AAE535E86E}"/>
              </a:ext>
            </a:extLst>
          </p:cNvPr>
          <p:cNvSpPr txBox="1"/>
          <p:nvPr/>
        </p:nvSpPr>
        <p:spPr>
          <a:xfrm>
            <a:off x="1978126" y="5706282"/>
            <a:ext cx="2247853" cy="288402"/>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TERRA DQM</a:t>
            </a:r>
            <a:endParaRPr lang="en-IN" sz="1400" dirty="0">
              <a:solidFill>
                <a:schemeClr val="tx2"/>
              </a:solidFill>
              <a:cs typeface="Tahoma" pitchFamily="34" charset="0"/>
            </a:endParaRPr>
          </a:p>
        </p:txBody>
      </p:sp>
      <p:sp>
        <p:nvSpPr>
          <p:cNvPr id="70" name="TextBox 69">
            <a:extLst>
              <a:ext uri="{FF2B5EF4-FFF2-40B4-BE49-F238E27FC236}">
                <a16:creationId xmlns:a16="http://schemas.microsoft.com/office/drawing/2014/main" id="{1A5EBEFD-1244-948B-ABC8-8DC576BAF384}"/>
              </a:ext>
            </a:extLst>
          </p:cNvPr>
          <p:cNvSpPr txBox="1"/>
          <p:nvPr/>
        </p:nvSpPr>
        <p:spPr>
          <a:xfrm>
            <a:off x="7382740" y="5549941"/>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TERRA DQM</a:t>
            </a:r>
            <a:endParaRPr lang="en-IN" sz="1400" dirty="0">
              <a:solidFill>
                <a:schemeClr val="tx2"/>
              </a:solidFill>
              <a:cs typeface="Tahoma" pitchFamily="34" charset="0"/>
            </a:endParaRPr>
          </a:p>
        </p:txBody>
      </p:sp>
      <p:cxnSp>
        <p:nvCxnSpPr>
          <p:cNvPr id="90" name="Straight Arrow Connector 89">
            <a:extLst>
              <a:ext uri="{FF2B5EF4-FFF2-40B4-BE49-F238E27FC236}">
                <a16:creationId xmlns:a16="http://schemas.microsoft.com/office/drawing/2014/main" id="{A2E87081-0CF6-AF63-0472-37A77C502F0B}"/>
              </a:ext>
            </a:extLst>
          </p:cNvPr>
          <p:cNvCxnSpPr>
            <a:cxnSpLocks/>
          </p:cNvCxnSpPr>
          <p:nvPr/>
        </p:nvCxnSpPr>
        <p:spPr>
          <a:xfrm>
            <a:off x="6827623" y="571265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1" name="Graphic 90" descr="User with solid fill">
            <a:extLst>
              <a:ext uri="{FF2B5EF4-FFF2-40B4-BE49-F238E27FC236}">
                <a16:creationId xmlns:a16="http://schemas.microsoft.com/office/drawing/2014/main" id="{27E04374-4328-4E40-A263-7FD1C130E0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407" y="5420048"/>
            <a:ext cx="484632" cy="484632"/>
          </a:xfrm>
          <a:prstGeom prst="rect">
            <a:avLst/>
          </a:prstGeom>
        </p:spPr>
      </p:pic>
      <p:sp>
        <p:nvSpPr>
          <p:cNvPr id="92" name="TextBox 91">
            <a:extLst>
              <a:ext uri="{FF2B5EF4-FFF2-40B4-BE49-F238E27FC236}">
                <a16:creationId xmlns:a16="http://schemas.microsoft.com/office/drawing/2014/main" id="{FF6BBD0D-61CF-934F-AEDE-A84CE7222093}"/>
              </a:ext>
            </a:extLst>
          </p:cNvPr>
          <p:cNvSpPr txBox="1"/>
          <p:nvPr/>
        </p:nvSpPr>
        <p:spPr>
          <a:xfrm>
            <a:off x="6180502" y="584048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93" name="Straight Arrow Connector 92">
            <a:extLst>
              <a:ext uri="{FF2B5EF4-FFF2-40B4-BE49-F238E27FC236}">
                <a16:creationId xmlns:a16="http://schemas.microsoft.com/office/drawing/2014/main" id="{67013B6B-C3CB-3475-AC85-738B834BA1AB}"/>
              </a:ext>
            </a:extLst>
          </p:cNvPr>
          <p:cNvCxnSpPr/>
          <p:nvPr/>
        </p:nvCxnSpPr>
        <p:spPr>
          <a:xfrm>
            <a:off x="8772246" y="5826818"/>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2D3C146E-3256-869B-5AF6-4F7B6DF94674}"/>
              </a:ext>
            </a:extLst>
          </p:cNvPr>
          <p:cNvSpPr txBox="1"/>
          <p:nvPr/>
        </p:nvSpPr>
        <p:spPr>
          <a:xfrm>
            <a:off x="6505966" y="5444971"/>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95" name="TextBox 94">
            <a:extLst>
              <a:ext uri="{FF2B5EF4-FFF2-40B4-BE49-F238E27FC236}">
                <a16:creationId xmlns:a16="http://schemas.microsoft.com/office/drawing/2014/main" id="{44C96074-C185-22F8-064F-D2EF28BBA960}"/>
              </a:ext>
            </a:extLst>
          </p:cNvPr>
          <p:cNvSpPr txBox="1"/>
          <p:nvPr/>
        </p:nvSpPr>
        <p:spPr>
          <a:xfrm>
            <a:off x="9497271" y="5683867"/>
            <a:ext cx="2636531" cy="301625"/>
          </a:xfrm>
          <a:prstGeom prst="rect">
            <a:avLst/>
          </a:prstGeom>
          <a:solidFill>
            <a:schemeClr val="bg1">
              <a:lumMod val="75000"/>
            </a:schemeClr>
          </a:solidFill>
        </p:spPr>
        <p:txBody>
          <a:bodyPr wrap="square" rtlCol="0">
            <a:noAutofit/>
          </a:bodyPr>
          <a:lstStyle>
            <a:defPPr>
              <a:defRPr lang="en-US"/>
            </a:defPPr>
            <a:lvl1pPr marL="3175">
              <a:spcBef>
                <a:spcPts val="600"/>
              </a:spcBef>
              <a:spcAft>
                <a:spcPts val="600"/>
              </a:spcAft>
              <a:buClr>
                <a:srgbClr val="303030">
                  <a:lumMod val="50000"/>
                  <a:lumOff val="50000"/>
                </a:srgbClr>
              </a:buClr>
              <a:defRPr sz="1000">
                <a:solidFill>
                  <a:schemeClr val="tx2"/>
                </a:solidFill>
                <a:cs typeface="Tahoma" pitchFamily="34" charset="0"/>
              </a:defRPr>
            </a:lvl1pPr>
          </a:lstStyle>
          <a:p>
            <a:r>
              <a:rPr lang="en-US" dirty="0"/>
              <a:t>List of DQ rules, Create DQ rules</a:t>
            </a:r>
            <a:endParaRPr lang="en-IN" dirty="0"/>
          </a:p>
        </p:txBody>
      </p:sp>
      <p:cxnSp>
        <p:nvCxnSpPr>
          <p:cNvPr id="97" name="Straight Connector 96">
            <a:extLst>
              <a:ext uri="{FF2B5EF4-FFF2-40B4-BE49-F238E27FC236}">
                <a16:creationId xmlns:a16="http://schemas.microsoft.com/office/drawing/2014/main" id="{548AE54C-875E-8A90-9748-82842E9FB701}"/>
              </a:ext>
            </a:extLst>
          </p:cNvPr>
          <p:cNvCxnSpPr/>
          <p:nvPr/>
        </p:nvCxnSpPr>
        <p:spPr>
          <a:xfrm>
            <a:off x="606552" y="3362396"/>
            <a:ext cx="11373333" cy="0"/>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EC0BB09-D3F9-EAC0-0C85-FE69ED388524}"/>
              </a:ext>
            </a:extLst>
          </p:cNvPr>
          <p:cNvSpPr txBox="1"/>
          <p:nvPr/>
        </p:nvSpPr>
        <p:spPr>
          <a:xfrm>
            <a:off x="2360981" y="2190210"/>
            <a:ext cx="1655989" cy="39632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Common Data Model</a:t>
            </a:r>
            <a:endParaRPr lang="en-IN" sz="1300" dirty="0">
              <a:solidFill>
                <a:schemeClr val="tx2"/>
              </a:solidFill>
              <a:cs typeface="Tahoma" pitchFamily="34" charset="0"/>
            </a:endParaRPr>
          </a:p>
        </p:txBody>
      </p:sp>
      <p:sp>
        <p:nvSpPr>
          <p:cNvPr id="12" name="Rectangle: Rounded Corners 11">
            <a:extLst>
              <a:ext uri="{FF2B5EF4-FFF2-40B4-BE49-F238E27FC236}">
                <a16:creationId xmlns:a16="http://schemas.microsoft.com/office/drawing/2014/main" id="{839D4A6D-9AC4-2BEB-2F5D-A6E0BF6ED0E2}"/>
              </a:ext>
            </a:extLst>
          </p:cNvPr>
          <p:cNvSpPr/>
          <p:nvPr/>
        </p:nvSpPr>
        <p:spPr>
          <a:xfrm>
            <a:off x="3352168" y="1362501"/>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13" name="Table 12">
            <a:extLst>
              <a:ext uri="{FF2B5EF4-FFF2-40B4-BE49-F238E27FC236}">
                <a16:creationId xmlns:a16="http://schemas.microsoft.com/office/drawing/2014/main" id="{FD5BDBE0-F0DD-CC9C-BF2F-C12A171FDA08}"/>
              </a:ext>
            </a:extLst>
          </p:cNvPr>
          <p:cNvGraphicFramePr>
            <a:graphicFrameLocks noGrp="1"/>
          </p:cNvGraphicFramePr>
          <p:nvPr/>
        </p:nvGraphicFramePr>
        <p:xfrm>
          <a:off x="3540671" y="1432619"/>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List of Tables</a:t>
                      </a:r>
                      <a:endParaRPr lang="en-IN" sz="900" dirty="0"/>
                    </a:p>
                  </a:txBody>
                  <a:tcPr/>
                </a:tc>
                <a:extLst>
                  <a:ext uri="{0D108BD9-81ED-4DB2-BD59-A6C34878D82A}">
                    <a16:rowId xmlns:a16="http://schemas.microsoft.com/office/drawing/2014/main" val="2202397540"/>
                  </a:ext>
                </a:extLst>
              </a:tr>
              <a:tr h="169015">
                <a:tc>
                  <a:txBody>
                    <a:bodyPr/>
                    <a:lstStyle/>
                    <a:p>
                      <a:endParaRPr lang="en-IN" sz="900" dirty="0"/>
                    </a:p>
                  </a:txBody>
                  <a:tcPr/>
                </a:tc>
                <a:extLst>
                  <a:ext uri="{0D108BD9-81ED-4DB2-BD59-A6C34878D82A}">
                    <a16:rowId xmlns:a16="http://schemas.microsoft.com/office/drawing/2014/main" val="2362751832"/>
                  </a:ext>
                </a:extLst>
              </a:tr>
              <a:tr h="169015">
                <a:tc>
                  <a:txBody>
                    <a:bodyPr/>
                    <a:lstStyle/>
                    <a:p>
                      <a:endParaRPr lang="en-IN" sz="900" dirty="0"/>
                    </a:p>
                  </a:txBody>
                  <a:tcPr/>
                </a:tc>
                <a:extLst>
                  <a:ext uri="{0D108BD9-81ED-4DB2-BD59-A6C34878D82A}">
                    <a16:rowId xmlns:a16="http://schemas.microsoft.com/office/drawing/2014/main" val="4142431679"/>
                  </a:ext>
                </a:extLst>
              </a:tr>
            </a:tbl>
          </a:graphicData>
        </a:graphic>
      </p:graphicFrame>
      <p:sp>
        <p:nvSpPr>
          <p:cNvPr id="14" name="Rectangle: Rounded Corners 13">
            <a:extLst>
              <a:ext uri="{FF2B5EF4-FFF2-40B4-BE49-F238E27FC236}">
                <a16:creationId xmlns:a16="http://schemas.microsoft.com/office/drawing/2014/main" id="{299667F3-BD29-EB9C-E47C-4499A264F342}"/>
              </a:ext>
            </a:extLst>
          </p:cNvPr>
          <p:cNvSpPr/>
          <p:nvPr/>
        </p:nvSpPr>
        <p:spPr>
          <a:xfrm>
            <a:off x="2112167" y="2457417"/>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16" name="Table 15">
            <a:extLst>
              <a:ext uri="{FF2B5EF4-FFF2-40B4-BE49-F238E27FC236}">
                <a16:creationId xmlns:a16="http://schemas.microsoft.com/office/drawing/2014/main" id="{4DE968C4-7BCC-FF6A-2361-E43FA5B68BBE}"/>
              </a:ext>
            </a:extLst>
          </p:cNvPr>
          <p:cNvGraphicFramePr>
            <a:graphicFrameLocks noGrp="1"/>
          </p:cNvGraphicFramePr>
          <p:nvPr/>
        </p:nvGraphicFramePr>
        <p:xfrm>
          <a:off x="2300670" y="2527535"/>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List of Tables</a:t>
                      </a:r>
                      <a:endParaRPr lang="en-IN" sz="900" dirty="0"/>
                    </a:p>
                  </a:txBody>
                  <a:tcPr/>
                </a:tc>
                <a:extLst>
                  <a:ext uri="{0D108BD9-81ED-4DB2-BD59-A6C34878D82A}">
                    <a16:rowId xmlns:a16="http://schemas.microsoft.com/office/drawing/2014/main" val="2202397540"/>
                  </a:ext>
                </a:extLst>
              </a:tr>
              <a:tr h="169015">
                <a:tc>
                  <a:txBody>
                    <a:bodyPr/>
                    <a:lstStyle/>
                    <a:p>
                      <a:endParaRPr lang="en-IN" sz="900" dirty="0"/>
                    </a:p>
                  </a:txBody>
                  <a:tcPr/>
                </a:tc>
                <a:extLst>
                  <a:ext uri="{0D108BD9-81ED-4DB2-BD59-A6C34878D82A}">
                    <a16:rowId xmlns:a16="http://schemas.microsoft.com/office/drawing/2014/main" val="2362751832"/>
                  </a:ext>
                </a:extLst>
              </a:tr>
              <a:tr h="169015">
                <a:tc>
                  <a:txBody>
                    <a:bodyPr/>
                    <a:lstStyle/>
                    <a:p>
                      <a:endParaRPr lang="en-IN" sz="900" dirty="0"/>
                    </a:p>
                  </a:txBody>
                  <a:tcPr/>
                </a:tc>
                <a:extLst>
                  <a:ext uri="{0D108BD9-81ED-4DB2-BD59-A6C34878D82A}">
                    <a16:rowId xmlns:a16="http://schemas.microsoft.com/office/drawing/2014/main" val="4142431679"/>
                  </a:ext>
                </a:extLst>
              </a:tr>
            </a:tbl>
          </a:graphicData>
        </a:graphic>
      </p:graphicFrame>
      <p:cxnSp>
        <p:nvCxnSpPr>
          <p:cNvPr id="26" name="Connector: Elbow 25">
            <a:extLst>
              <a:ext uri="{FF2B5EF4-FFF2-40B4-BE49-F238E27FC236}">
                <a16:creationId xmlns:a16="http://schemas.microsoft.com/office/drawing/2014/main" id="{11C88DEB-964B-2630-2A99-589C66458054}"/>
              </a:ext>
            </a:extLst>
          </p:cNvPr>
          <p:cNvCxnSpPr>
            <a:cxnSpLocks/>
          </p:cNvCxnSpPr>
          <p:nvPr/>
        </p:nvCxnSpPr>
        <p:spPr>
          <a:xfrm rot="5400000">
            <a:off x="1157581" y="4468706"/>
            <a:ext cx="499488" cy="342440"/>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3C90E9CF-BA9C-3E9E-47A3-26D11F0048D3}"/>
              </a:ext>
            </a:extLst>
          </p:cNvPr>
          <p:cNvSpPr txBox="1"/>
          <p:nvPr/>
        </p:nvSpPr>
        <p:spPr>
          <a:xfrm>
            <a:off x="961436" y="4889670"/>
            <a:ext cx="803473" cy="55530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chemeClr val="tx2"/>
                </a:solidFill>
                <a:cs typeface="Tahoma" pitchFamily="34" charset="0"/>
              </a:rPr>
              <a:t>List of Prebuilt Extractors</a:t>
            </a:r>
            <a:endParaRPr lang="en-IN" sz="1100" dirty="0">
              <a:solidFill>
                <a:schemeClr val="tx2"/>
              </a:solidFill>
              <a:cs typeface="Tahoma" pitchFamily="34" charset="0"/>
            </a:endParaRPr>
          </a:p>
        </p:txBody>
      </p:sp>
      <p:cxnSp>
        <p:nvCxnSpPr>
          <p:cNvPr id="41" name="Connector: Elbow 40">
            <a:extLst>
              <a:ext uri="{FF2B5EF4-FFF2-40B4-BE49-F238E27FC236}">
                <a16:creationId xmlns:a16="http://schemas.microsoft.com/office/drawing/2014/main" id="{61DE447F-121C-43BA-3792-B11FC1E60237}"/>
              </a:ext>
            </a:extLst>
          </p:cNvPr>
          <p:cNvCxnSpPr>
            <a:cxnSpLocks/>
          </p:cNvCxnSpPr>
          <p:nvPr/>
        </p:nvCxnSpPr>
        <p:spPr>
          <a:xfrm rot="16200000" flipH="1">
            <a:off x="2847743" y="4465996"/>
            <a:ext cx="510833" cy="348972"/>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64C759C-F754-864B-E6A5-4C7D6177B14D}"/>
              </a:ext>
            </a:extLst>
          </p:cNvPr>
          <p:cNvSpPr txBox="1"/>
          <p:nvPr/>
        </p:nvSpPr>
        <p:spPr>
          <a:xfrm>
            <a:off x="2833865" y="4877402"/>
            <a:ext cx="842285" cy="37837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chemeClr val="tx2"/>
                </a:solidFill>
                <a:cs typeface="Tahoma" pitchFamily="34" charset="0"/>
              </a:rPr>
              <a:t>Create Extractors</a:t>
            </a:r>
            <a:endParaRPr lang="en-IN" sz="1100" dirty="0">
              <a:solidFill>
                <a:schemeClr val="tx2"/>
              </a:solidFill>
              <a:cs typeface="Tahoma" pitchFamily="34" charset="0"/>
            </a:endParaRPr>
          </a:p>
        </p:txBody>
      </p:sp>
      <p:cxnSp>
        <p:nvCxnSpPr>
          <p:cNvPr id="47" name="Connector: Elbow 46">
            <a:extLst>
              <a:ext uri="{FF2B5EF4-FFF2-40B4-BE49-F238E27FC236}">
                <a16:creationId xmlns:a16="http://schemas.microsoft.com/office/drawing/2014/main" id="{63FCD2BC-FEFC-1688-5D8E-A0705E164E23}"/>
              </a:ext>
            </a:extLst>
          </p:cNvPr>
          <p:cNvCxnSpPr>
            <a:cxnSpLocks/>
          </p:cNvCxnSpPr>
          <p:nvPr/>
        </p:nvCxnSpPr>
        <p:spPr>
          <a:xfrm rot="16200000" flipH="1">
            <a:off x="1948852" y="4465996"/>
            <a:ext cx="510833" cy="348972"/>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A06A1094-7FDB-6ED4-671B-ADA64BE58CE9}"/>
              </a:ext>
            </a:extLst>
          </p:cNvPr>
          <p:cNvSpPr txBox="1"/>
          <p:nvPr/>
        </p:nvSpPr>
        <p:spPr>
          <a:xfrm>
            <a:off x="1934974" y="4877402"/>
            <a:ext cx="842285" cy="70996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chemeClr val="tx2"/>
                </a:solidFill>
                <a:cs typeface="Tahoma" pitchFamily="34" charset="0"/>
              </a:rPr>
              <a:t>List of Extractors across Accts</a:t>
            </a:r>
            <a:endParaRPr lang="en-IN" sz="1100" dirty="0">
              <a:solidFill>
                <a:schemeClr val="tx2"/>
              </a:solidFill>
              <a:cs typeface="Tahoma" pitchFamily="34" charset="0"/>
            </a:endParaRPr>
          </a:p>
        </p:txBody>
      </p:sp>
      <p:sp>
        <p:nvSpPr>
          <p:cNvPr id="59" name="TextBox 58">
            <a:extLst>
              <a:ext uri="{FF2B5EF4-FFF2-40B4-BE49-F238E27FC236}">
                <a16:creationId xmlns:a16="http://schemas.microsoft.com/office/drawing/2014/main" id="{FCAD9771-8707-CD33-EAFF-9AAA07DFAA2C}"/>
              </a:ext>
            </a:extLst>
          </p:cNvPr>
          <p:cNvSpPr txBox="1"/>
          <p:nvPr/>
        </p:nvSpPr>
        <p:spPr>
          <a:xfrm>
            <a:off x="9526155" y="4476552"/>
            <a:ext cx="2452126" cy="39262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000" dirty="0">
                <a:solidFill>
                  <a:schemeClr val="tx2"/>
                </a:solidFill>
                <a:cs typeface="Tahoma" pitchFamily="34" charset="0"/>
              </a:rPr>
              <a:t>List of Pipelines across Accounts, Create Pipelines</a:t>
            </a:r>
            <a:endParaRPr lang="en-IN" sz="1000" dirty="0">
              <a:solidFill>
                <a:schemeClr val="tx2"/>
              </a:solidFill>
              <a:cs typeface="Tahoma" pitchFamily="34" charset="0"/>
            </a:endParaRPr>
          </a:p>
        </p:txBody>
      </p:sp>
    </p:spTree>
    <p:extLst>
      <p:ext uri="{BB962C8B-B14F-4D97-AF65-F5344CB8AC3E}">
        <p14:creationId xmlns:p14="http://schemas.microsoft.com/office/powerpoint/2010/main" val="2188547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385A3B-3739-F9FD-DB10-F90E8E02FDEB}"/>
              </a:ext>
            </a:extLst>
          </p:cNvPr>
          <p:cNvSpPr/>
          <p:nvPr/>
        </p:nvSpPr>
        <p:spPr>
          <a:xfrm>
            <a:off x="792677" y="516313"/>
            <a:ext cx="4841748" cy="231351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18" name="Rectangle: Rounded Corners 17">
            <a:extLst>
              <a:ext uri="{FF2B5EF4-FFF2-40B4-BE49-F238E27FC236}">
                <a16:creationId xmlns:a16="http://schemas.microsoft.com/office/drawing/2014/main" id="{7071DF86-61C6-CDE3-A076-BDE30D0B0077}"/>
              </a:ext>
            </a:extLst>
          </p:cNvPr>
          <p:cNvSpPr/>
          <p:nvPr/>
        </p:nvSpPr>
        <p:spPr>
          <a:xfrm>
            <a:off x="965398" y="1200519"/>
            <a:ext cx="2153617" cy="798402"/>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a:xfrm>
            <a:off x="609600" y="6253146"/>
            <a:ext cx="10972800" cy="301625"/>
          </a:xfrm>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5" name="TextBox 4">
            <a:extLst>
              <a:ext uri="{FF2B5EF4-FFF2-40B4-BE49-F238E27FC236}">
                <a16:creationId xmlns:a16="http://schemas.microsoft.com/office/drawing/2014/main" id="{98AC192B-3F34-8817-86DE-4C15BE7CE9DB}"/>
              </a:ext>
            </a:extLst>
          </p:cNvPr>
          <p:cNvSpPr txBox="1"/>
          <p:nvPr/>
        </p:nvSpPr>
        <p:spPr>
          <a:xfrm>
            <a:off x="2484919" y="524921"/>
            <a:ext cx="1259008" cy="304739"/>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Billing</a:t>
            </a:r>
            <a:endParaRPr lang="en-IN" sz="1600" dirty="0">
              <a:solidFill>
                <a:schemeClr val="bg1"/>
              </a:solidFill>
              <a:cs typeface="Tahoma" pitchFamily="34" charset="0"/>
            </a:endParaRPr>
          </a:p>
        </p:txBody>
      </p:sp>
      <p:sp>
        <p:nvSpPr>
          <p:cNvPr id="6" name="TextBox 5">
            <a:extLst>
              <a:ext uri="{FF2B5EF4-FFF2-40B4-BE49-F238E27FC236}">
                <a16:creationId xmlns:a16="http://schemas.microsoft.com/office/drawing/2014/main" id="{92A80422-97AB-699A-6FAA-B5BE5214ACE5}"/>
              </a:ext>
            </a:extLst>
          </p:cNvPr>
          <p:cNvSpPr txBox="1"/>
          <p:nvPr/>
        </p:nvSpPr>
        <p:spPr>
          <a:xfrm>
            <a:off x="1082884" y="903622"/>
            <a:ext cx="1477436" cy="28324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Top 3 Projects</a:t>
            </a:r>
            <a:endParaRPr lang="en-IN" sz="1400" dirty="0">
              <a:solidFill>
                <a:schemeClr val="tx2"/>
              </a:solidFill>
              <a:cs typeface="Tahoma" pitchFamily="34" charset="0"/>
            </a:endParaRPr>
          </a:p>
        </p:txBody>
      </p:sp>
      <p:sp>
        <p:nvSpPr>
          <p:cNvPr id="7" name="TextBox 6">
            <a:extLst>
              <a:ext uri="{FF2B5EF4-FFF2-40B4-BE49-F238E27FC236}">
                <a16:creationId xmlns:a16="http://schemas.microsoft.com/office/drawing/2014/main" id="{4C200395-E3D8-B210-1C20-02C3A58CF913}"/>
              </a:ext>
            </a:extLst>
          </p:cNvPr>
          <p:cNvSpPr txBox="1"/>
          <p:nvPr/>
        </p:nvSpPr>
        <p:spPr>
          <a:xfrm>
            <a:off x="3643480" y="939134"/>
            <a:ext cx="1655989" cy="868089"/>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Project wise Billing details (Includes Monthly Usage of CPU, Storage, Cost ) </a:t>
            </a:r>
            <a:endParaRPr lang="en-IN" sz="1300" dirty="0">
              <a:solidFill>
                <a:schemeClr val="tx2"/>
              </a:solidFill>
              <a:cs typeface="Tahoma" pitchFamily="34" charset="0"/>
            </a:endParaRPr>
          </a:p>
        </p:txBody>
      </p:sp>
      <p:graphicFrame>
        <p:nvGraphicFramePr>
          <p:cNvPr id="17" name="Table 16">
            <a:extLst>
              <a:ext uri="{FF2B5EF4-FFF2-40B4-BE49-F238E27FC236}">
                <a16:creationId xmlns:a16="http://schemas.microsoft.com/office/drawing/2014/main" id="{A743AFA9-4FB9-CC07-8F4B-CC0B52652099}"/>
              </a:ext>
            </a:extLst>
          </p:cNvPr>
          <p:cNvGraphicFramePr>
            <a:graphicFrameLocks noGrp="1"/>
          </p:cNvGraphicFramePr>
          <p:nvPr/>
        </p:nvGraphicFramePr>
        <p:xfrm>
          <a:off x="1153901" y="1270637"/>
          <a:ext cx="1809666" cy="685800"/>
        </p:xfrm>
        <a:graphic>
          <a:graphicData uri="http://schemas.openxmlformats.org/drawingml/2006/table">
            <a:tbl>
              <a:tblPr firstRow="1" bandRow="1">
                <a:tableStyleId>{F2DE63D5-997A-4646-A377-4702673A728D}</a:tableStyleId>
              </a:tblPr>
              <a:tblGrid>
                <a:gridCol w="1809666">
                  <a:extLst>
                    <a:ext uri="{9D8B030D-6E8A-4147-A177-3AD203B41FA5}">
                      <a16:colId xmlns:a16="http://schemas.microsoft.com/office/drawing/2014/main" val="2188964586"/>
                    </a:ext>
                  </a:extLst>
                </a:gridCol>
              </a:tblGrid>
              <a:tr h="150818">
                <a:tc>
                  <a:txBody>
                    <a:bodyPr/>
                    <a:lstStyle/>
                    <a:p>
                      <a:r>
                        <a:rPr lang="en-US" sz="900" dirty="0"/>
                        <a:t>List of Tables</a:t>
                      </a:r>
                      <a:endParaRPr lang="en-IN" sz="900" dirty="0"/>
                    </a:p>
                  </a:txBody>
                  <a:tcPr/>
                </a:tc>
                <a:extLst>
                  <a:ext uri="{0D108BD9-81ED-4DB2-BD59-A6C34878D82A}">
                    <a16:rowId xmlns:a16="http://schemas.microsoft.com/office/drawing/2014/main" val="2202397540"/>
                  </a:ext>
                </a:extLst>
              </a:tr>
              <a:tr h="169015">
                <a:tc>
                  <a:txBody>
                    <a:bodyPr/>
                    <a:lstStyle/>
                    <a:p>
                      <a:endParaRPr lang="en-IN" sz="900" dirty="0"/>
                    </a:p>
                  </a:txBody>
                  <a:tcPr/>
                </a:tc>
                <a:extLst>
                  <a:ext uri="{0D108BD9-81ED-4DB2-BD59-A6C34878D82A}">
                    <a16:rowId xmlns:a16="http://schemas.microsoft.com/office/drawing/2014/main" val="2362751832"/>
                  </a:ext>
                </a:extLst>
              </a:tr>
              <a:tr h="169015">
                <a:tc>
                  <a:txBody>
                    <a:bodyPr/>
                    <a:lstStyle/>
                    <a:p>
                      <a:endParaRPr lang="en-IN" sz="900" dirty="0"/>
                    </a:p>
                  </a:txBody>
                  <a:tcPr/>
                </a:tc>
                <a:extLst>
                  <a:ext uri="{0D108BD9-81ED-4DB2-BD59-A6C34878D82A}">
                    <a16:rowId xmlns:a16="http://schemas.microsoft.com/office/drawing/2014/main" val="4142431679"/>
                  </a:ext>
                </a:extLst>
              </a:tr>
            </a:tbl>
          </a:graphicData>
        </a:graphic>
      </p:graphicFrame>
      <p:sp>
        <p:nvSpPr>
          <p:cNvPr id="19" name="TextBox 18">
            <a:extLst>
              <a:ext uri="{FF2B5EF4-FFF2-40B4-BE49-F238E27FC236}">
                <a16:creationId xmlns:a16="http://schemas.microsoft.com/office/drawing/2014/main" id="{9626B970-88DC-FBD1-9DB4-0AEA388B5A4A}"/>
              </a:ext>
            </a:extLst>
          </p:cNvPr>
          <p:cNvSpPr txBox="1"/>
          <p:nvPr/>
        </p:nvSpPr>
        <p:spPr>
          <a:xfrm>
            <a:off x="7367101" y="1240453"/>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Acct in the list</a:t>
            </a:r>
            <a:endParaRPr lang="en-IN" sz="1400" dirty="0">
              <a:solidFill>
                <a:schemeClr val="tx2"/>
              </a:solidFill>
              <a:cs typeface="Tahoma" pitchFamily="34" charset="0"/>
            </a:endParaRPr>
          </a:p>
        </p:txBody>
      </p:sp>
      <p:cxnSp>
        <p:nvCxnSpPr>
          <p:cNvPr id="20" name="Straight Arrow Connector 19">
            <a:extLst>
              <a:ext uri="{FF2B5EF4-FFF2-40B4-BE49-F238E27FC236}">
                <a16:creationId xmlns:a16="http://schemas.microsoft.com/office/drawing/2014/main" id="{C0D1CCD1-E9F8-3AEE-B32F-7CD7E57BB190}"/>
              </a:ext>
            </a:extLst>
          </p:cNvPr>
          <p:cNvCxnSpPr>
            <a:cxnSpLocks/>
          </p:cNvCxnSpPr>
          <p:nvPr/>
        </p:nvCxnSpPr>
        <p:spPr>
          <a:xfrm>
            <a:off x="6811984" y="140316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User with solid fill">
            <a:extLst>
              <a:ext uri="{FF2B5EF4-FFF2-40B4-BE49-F238E27FC236}">
                <a16:creationId xmlns:a16="http://schemas.microsoft.com/office/drawing/2014/main" id="{A6F154C1-472E-5E1D-0940-45DBFF5094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6768" y="1110560"/>
            <a:ext cx="484632" cy="484632"/>
          </a:xfrm>
          <a:prstGeom prst="rect">
            <a:avLst/>
          </a:prstGeom>
        </p:spPr>
      </p:pic>
      <p:sp>
        <p:nvSpPr>
          <p:cNvPr id="22" name="TextBox 21">
            <a:extLst>
              <a:ext uri="{FF2B5EF4-FFF2-40B4-BE49-F238E27FC236}">
                <a16:creationId xmlns:a16="http://schemas.microsoft.com/office/drawing/2014/main" id="{5B82C5C8-BF43-6507-236A-C24A5CB12397}"/>
              </a:ext>
            </a:extLst>
          </p:cNvPr>
          <p:cNvSpPr txBox="1"/>
          <p:nvPr/>
        </p:nvSpPr>
        <p:spPr>
          <a:xfrm>
            <a:off x="6164863" y="1530995"/>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24" name="Straight Arrow Connector 23">
            <a:extLst>
              <a:ext uri="{FF2B5EF4-FFF2-40B4-BE49-F238E27FC236}">
                <a16:creationId xmlns:a16="http://schemas.microsoft.com/office/drawing/2014/main" id="{1B07CA32-306B-8024-6EC3-81A68141A6BE}"/>
              </a:ext>
            </a:extLst>
          </p:cNvPr>
          <p:cNvCxnSpPr/>
          <p:nvPr/>
        </p:nvCxnSpPr>
        <p:spPr>
          <a:xfrm>
            <a:off x="8756607" y="1517330"/>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6A8CF0-40C8-AD66-F60C-F4B19A6D2133}"/>
              </a:ext>
            </a:extLst>
          </p:cNvPr>
          <p:cNvSpPr txBox="1"/>
          <p:nvPr/>
        </p:nvSpPr>
        <p:spPr>
          <a:xfrm>
            <a:off x="6490327" y="1135483"/>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27" name="TextBox 26">
            <a:extLst>
              <a:ext uri="{FF2B5EF4-FFF2-40B4-BE49-F238E27FC236}">
                <a16:creationId xmlns:a16="http://schemas.microsoft.com/office/drawing/2014/main" id="{2CF2798B-4412-0395-9F77-A170122CAEDB}"/>
              </a:ext>
            </a:extLst>
          </p:cNvPr>
          <p:cNvSpPr txBox="1"/>
          <p:nvPr/>
        </p:nvSpPr>
        <p:spPr>
          <a:xfrm>
            <a:off x="9497271" y="1148559"/>
            <a:ext cx="2220850" cy="73036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Billing Details about that particular project will be displayed</a:t>
            </a:r>
            <a:endParaRPr lang="en-IN" sz="1400" dirty="0">
              <a:solidFill>
                <a:schemeClr val="tx2"/>
              </a:solidFill>
              <a:cs typeface="Tahoma" pitchFamily="34" charset="0"/>
            </a:endParaRPr>
          </a:p>
        </p:txBody>
      </p:sp>
      <p:sp>
        <p:nvSpPr>
          <p:cNvPr id="39" name="Oval 38">
            <a:extLst>
              <a:ext uri="{FF2B5EF4-FFF2-40B4-BE49-F238E27FC236}">
                <a16:creationId xmlns:a16="http://schemas.microsoft.com/office/drawing/2014/main" id="{FAAEB783-2DDE-42D8-E893-42C0E24F421E}"/>
              </a:ext>
            </a:extLst>
          </p:cNvPr>
          <p:cNvSpPr/>
          <p:nvPr/>
        </p:nvSpPr>
        <p:spPr>
          <a:xfrm>
            <a:off x="448057" y="264471"/>
            <a:ext cx="793374" cy="304738"/>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E1</a:t>
            </a:r>
            <a:endParaRPr lang="en-IN" sz="1600" dirty="0"/>
          </a:p>
        </p:txBody>
      </p:sp>
      <p:sp>
        <p:nvSpPr>
          <p:cNvPr id="40" name="Rectangle: Rounded Corners 39">
            <a:extLst>
              <a:ext uri="{FF2B5EF4-FFF2-40B4-BE49-F238E27FC236}">
                <a16:creationId xmlns:a16="http://schemas.microsoft.com/office/drawing/2014/main" id="{0495AA4B-B277-5AA8-AB82-66E335933841}"/>
              </a:ext>
            </a:extLst>
          </p:cNvPr>
          <p:cNvSpPr/>
          <p:nvPr/>
        </p:nvSpPr>
        <p:spPr>
          <a:xfrm>
            <a:off x="787352" y="3683373"/>
            <a:ext cx="4841748" cy="25242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43" name="TextBox 42">
            <a:extLst>
              <a:ext uri="{FF2B5EF4-FFF2-40B4-BE49-F238E27FC236}">
                <a16:creationId xmlns:a16="http://schemas.microsoft.com/office/drawing/2014/main" id="{4BCB5D7B-7524-1219-5CD5-90B27944274D}"/>
              </a:ext>
            </a:extLst>
          </p:cNvPr>
          <p:cNvSpPr txBox="1"/>
          <p:nvPr/>
        </p:nvSpPr>
        <p:spPr>
          <a:xfrm>
            <a:off x="1803721" y="3691983"/>
            <a:ext cx="2596665" cy="287195"/>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Support &amp; Ticketing</a:t>
            </a:r>
            <a:endParaRPr lang="en-IN" sz="1600" dirty="0">
              <a:solidFill>
                <a:schemeClr val="bg1"/>
              </a:solidFill>
              <a:cs typeface="Tahoma" pitchFamily="34" charset="0"/>
            </a:endParaRPr>
          </a:p>
        </p:txBody>
      </p:sp>
      <p:sp>
        <p:nvSpPr>
          <p:cNvPr id="44" name="TextBox 43">
            <a:extLst>
              <a:ext uri="{FF2B5EF4-FFF2-40B4-BE49-F238E27FC236}">
                <a16:creationId xmlns:a16="http://schemas.microsoft.com/office/drawing/2014/main" id="{9311CEA2-4ED8-C837-C9E6-63CF515ED49C}"/>
              </a:ext>
            </a:extLst>
          </p:cNvPr>
          <p:cNvSpPr txBox="1"/>
          <p:nvPr/>
        </p:nvSpPr>
        <p:spPr>
          <a:xfrm>
            <a:off x="965398" y="4116132"/>
            <a:ext cx="1744512" cy="665080"/>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List of Open Tickets for that particular Acct</a:t>
            </a:r>
            <a:endParaRPr lang="en-IN" sz="1400" dirty="0">
              <a:solidFill>
                <a:schemeClr val="tx2"/>
              </a:solidFill>
              <a:cs typeface="Tahoma" pitchFamily="34" charset="0"/>
            </a:endParaRPr>
          </a:p>
        </p:txBody>
      </p:sp>
      <p:sp>
        <p:nvSpPr>
          <p:cNvPr id="45" name="TextBox 44">
            <a:extLst>
              <a:ext uri="{FF2B5EF4-FFF2-40B4-BE49-F238E27FC236}">
                <a16:creationId xmlns:a16="http://schemas.microsoft.com/office/drawing/2014/main" id="{2590F334-CA25-DA31-D431-C91AE5073515}"/>
              </a:ext>
            </a:extLst>
          </p:cNvPr>
          <p:cNvSpPr txBox="1"/>
          <p:nvPr/>
        </p:nvSpPr>
        <p:spPr>
          <a:xfrm>
            <a:off x="4159195" y="4085445"/>
            <a:ext cx="1081910" cy="287195"/>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Escalation</a:t>
            </a:r>
            <a:endParaRPr lang="en-IN" sz="1300" dirty="0">
              <a:solidFill>
                <a:schemeClr val="tx2"/>
              </a:solidFill>
              <a:cs typeface="Tahoma" pitchFamily="34" charset="0"/>
            </a:endParaRPr>
          </a:p>
        </p:txBody>
      </p:sp>
      <p:sp>
        <p:nvSpPr>
          <p:cNvPr id="49" name="TextBox 48">
            <a:extLst>
              <a:ext uri="{FF2B5EF4-FFF2-40B4-BE49-F238E27FC236}">
                <a16:creationId xmlns:a16="http://schemas.microsoft.com/office/drawing/2014/main" id="{9A58A5EA-329B-16F3-BC7C-3E9931B7A6F3}"/>
              </a:ext>
            </a:extLst>
          </p:cNvPr>
          <p:cNvSpPr txBox="1"/>
          <p:nvPr/>
        </p:nvSpPr>
        <p:spPr>
          <a:xfrm>
            <a:off x="7413228" y="3393737"/>
            <a:ext cx="1370457" cy="71968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Any of the Open Tickets in the list</a:t>
            </a:r>
            <a:endParaRPr lang="en-IN" sz="1400" dirty="0">
              <a:solidFill>
                <a:schemeClr val="tx2"/>
              </a:solidFill>
              <a:cs typeface="Tahoma" pitchFamily="34" charset="0"/>
            </a:endParaRPr>
          </a:p>
        </p:txBody>
      </p:sp>
      <p:cxnSp>
        <p:nvCxnSpPr>
          <p:cNvPr id="50" name="Straight Arrow Connector 49">
            <a:extLst>
              <a:ext uri="{FF2B5EF4-FFF2-40B4-BE49-F238E27FC236}">
                <a16:creationId xmlns:a16="http://schemas.microsoft.com/office/drawing/2014/main" id="{65370F53-761D-726C-1904-2935C2F654ED}"/>
              </a:ext>
            </a:extLst>
          </p:cNvPr>
          <p:cNvCxnSpPr>
            <a:cxnSpLocks/>
          </p:cNvCxnSpPr>
          <p:nvPr/>
        </p:nvCxnSpPr>
        <p:spPr>
          <a:xfrm>
            <a:off x="6858111" y="3629603"/>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1" name="Graphic 50" descr="User with solid fill">
            <a:extLst>
              <a:ext uri="{FF2B5EF4-FFF2-40B4-BE49-F238E27FC236}">
                <a16:creationId xmlns:a16="http://schemas.microsoft.com/office/drawing/2014/main" id="{1FD7913F-1F2F-7DBA-8F38-4E4B8252AAB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72895" y="3336996"/>
            <a:ext cx="484632" cy="484632"/>
          </a:xfrm>
          <a:prstGeom prst="rect">
            <a:avLst/>
          </a:prstGeom>
        </p:spPr>
      </p:pic>
      <p:sp>
        <p:nvSpPr>
          <p:cNvPr id="52" name="TextBox 51">
            <a:extLst>
              <a:ext uri="{FF2B5EF4-FFF2-40B4-BE49-F238E27FC236}">
                <a16:creationId xmlns:a16="http://schemas.microsoft.com/office/drawing/2014/main" id="{DE7F6667-0422-1098-1040-806B7BF9D0EA}"/>
              </a:ext>
            </a:extLst>
          </p:cNvPr>
          <p:cNvSpPr txBox="1"/>
          <p:nvPr/>
        </p:nvSpPr>
        <p:spPr>
          <a:xfrm>
            <a:off x="6210990" y="3757431"/>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53" name="Straight Arrow Connector 52">
            <a:extLst>
              <a:ext uri="{FF2B5EF4-FFF2-40B4-BE49-F238E27FC236}">
                <a16:creationId xmlns:a16="http://schemas.microsoft.com/office/drawing/2014/main" id="{F5FE4A57-068D-CCE0-99A6-11734C0D8BB2}"/>
              </a:ext>
            </a:extLst>
          </p:cNvPr>
          <p:cNvCxnSpPr/>
          <p:nvPr/>
        </p:nvCxnSpPr>
        <p:spPr>
          <a:xfrm>
            <a:off x="8802734" y="3743766"/>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94A232D-CD42-25B5-D48A-D7B3EA7E9486}"/>
              </a:ext>
            </a:extLst>
          </p:cNvPr>
          <p:cNvSpPr txBox="1"/>
          <p:nvPr/>
        </p:nvSpPr>
        <p:spPr>
          <a:xfrm>
            <a:off x="6536454" y="3361919"/>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55" name="TextBox 54">
            <a:extLst>
              <a:ext uri="{FF2B5EF4-FFF2-40B4-BE49-F238E27FC236}">
                <a16:creationId xmlns:a16="http://schemas.microsoft.com/office/drawing/2014/main" id="{086F1A0C-02B6-C0E2-73DC-6B9CC1556C38}"/>
              </a:ext>
            </a:extLst>
          </p:cNvPr>
          <p:cNvSpPr txBox="1"/>
          <p:nvPr/>
        </p:nvSpPr>
        <p:spPr>
          <a:xfrm>
            <a:off x="9527760" y="3515346"/>
            <a:ext cx="2220850" cy="388662"/>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Ticket Details</a:t>
            </a:r>
            <a:endParaRPr lang="en-IN" sz="1400" dirty="0">
              <a:solidFill>
                <a:schemeClr val="tx2"/>
              </a:solidFill>
              <a:cs typeface="Tahoma" pitchFamily="34" charset="0"/>
            </a:endParaRPr>
          </a:p>
        </p:txBody>
      </p:sp>
      <p:sp>
        <p:nvSpPr>
          <p:cNvPr id="56" name="TextBox 55">
            <a:extLst>
              <a:ext uri="{FF2B5EF4-FFF2-40B4-BE49-F238E27FC236}">
                <a16:creationId xmlns:a16="http://schemas.microsoft.com/office/drawing/2014/main" id="{0676CB51-A39E-7734-1597-E1C3011BE92E}"/>
              </a:ext>
            </a:extLst>
          </p:cNvPr>
          <p:cNvSpPr txBox="1"/>
          <p:nvPr/>
        </p:nvSpPr>
        <p:spPr>
          <a:xfrm>
            <a:off x="7360641" y="4427058"/>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err="1">
                <a:solidFill>
                  <a:schemeClr val="tx2"/>
                </a:solidFill>
                <a:cs typeface="Tahoma" pitchFamily="34" charset="0"/>
              </a:rPr>
              <a:t>CreateTicket</a:t>
            </a:r>
            <a:endParaRPr lang="en-IN" sz="1400" dirty="0">
              <a:solidFill>
                <a:schemeClr val="tx2"/>
              </a:solidFill>
              <a:cs typeface="Tahoma" pitchFamily="34" charset="0"/>
            </a:endParaRPr>
          </a:p>
        </p:txBody>
      </p:sp>
      <p:cxnSp>
        <p:nvCxnSpPr>
          <p:cNvPr id="57" name="Straight Arrow Connector 56">
            <a:extLst>
              <a:ext uri="{FF2B5EF4-FFF2-40B4-BE49-F238E27FC236}">
                <a16:creationId xmlns:a16="http://schemas.microsoft.com/office/drawing/2014/main" id="{8859ED95-0D20-C314-B2BA-7B1C12F3019C}"/>
              </a:ext>
            </a:extLst>
          </p:cNvPr>
          <p:cNvCxnSpPr>
            <a:cxnSpLocks/>
          </p:cNvCxnSpPr>
          <p:nvPr/>
        </p:nvCxnSpPr>
        <p:spPr>
          <a:xfrm>
            <a:off x="6805524" y="4589772"/>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8" name="Graphic 57" descr="User with solid fill">
            <a:extLst>
              <a:ext uri="{FF2B5EF4-FFF2-40B4-BE49-F238E27FC236}">
                <a16:creationId xmlns:a16="http://schemas.microsoft.com/office/drawing/2014/main" id="{87C2291D-1741-341F-62F9-FB1054DBEFA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0308" y="4297165"/>
            <a:ext cx="484632" cy="484632"/>
          </a:xfrm>
          <a:prstGeom prst="rect">
            <a:avLst/>
          </a:prstGeom>
        </p:spPr>
      </p:pic>
      <p:sp>
        <p:nvSpPr>
          <p:cNvPr id="60" name="TextBox 59">
            <a:extLst>
              <a:ext uri="{FF2B5EF4-FFF2-40B4-BE49-F238E27FC236}">
                <a16:creationId xmlns:a16="http://schemas.microsoft.com/office/drawing/2014/main" id="{957C6CA1-7590-253F-A445-3848678B0A97}"/>
              </a:ext>
            </a:extLst>
          </p:cNvPr>
          <p:cNvSpPr txBox="1"/>
          <p:nvPr/>
        </p:nvSpPr>
        <p:spPr>
          <a:xfrm>
            <a:off x="6158403" y="4717600"/>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61" name="Straight Arrow Connector 60">
            <a:extLst>
              <a:ext uri="{FF2B5EF4-FFF2-40B4-BE49-F238E27FC236}">
                <a16:creationId xmlns:a16="http://schemas.microsoft.com/office/drawing/2014/main" id="{1414EBF1-450F-5316-181C-713BDF770F13}"/>
              </a:ext>
            </a:extLst>
          </p:cNvPr>
          <p:cNvCxnSpPr/>
          <p:nvPr/>
        </p:nvCxnSpPr>
        <p:spPr>
          <a:xfrm>
            <a:off x="8750147" y="4703935"/>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30C5173-4BFA-7596-2EB9-A811904D802E}"/>
              </a:ext>
            </a:extLst>
          </p:cNvPr>
          <p:cNvSpPr txBox="1"/>
          <p:nvPr/>
        </p:nvSpPr>
        <p:spPr>
          <a:xfrm>
            <a:off x="6483867" y="4322088"/>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63" name="TextBox 62">
            <a:extLst>
              <a:ext uri="{FF2B5EF4-FFF2-40B4-BE49-F238E27FC236}">
                <a16:creationId xmlns:a16="http://schemas.microsoft.com/office/drawing/2014/main" id="{6BB4496F-090D-80A9-7D64-A90AF16249C6}"/>
              </a:ext>
            </a:extLst>
          </p:cNvPr>
          <p:cNvSpPr txBox="1"/>
          <p:nvPr/>
        </p:nvSpPr>
        <p:spPr>
          <a:xfrm>
            <a:off x="9548723" y="4006815"/>
            <a:ext cx="2220850" cy="1342474"/>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It should take to the Ticket creation tab/box</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Required details to be entered and </a:t>
            </a:r>
            <a:r>
              <a:rPr lang="en-US" sz="1400" dirty="0" err="1">
                <a:solidFill>
                  <a:schemeClr val="tx2"/>
                </a:solidFill>
                <a:cs typeface="Tahoma" pitchFamily="34" charset="0"/>
              </a:rPr>
              <a:t>Tkt</a:t>
            </a:r>
            <a:r>
              <a:rPr lang="en-US" sz="1400" dirty="0">
                <a:solidFill>
                  <a:schemeClr val="tx2"/>
                </a:solidFill>
                <a:cs typeface="Tahoma" pitchFamily="34" charset="0"/>
              </a:rPr>
              <a:t> should be created</a:t>
            </a:r>
            <a:endParaRPr lang="en-IN" sz="1400" dirty="0">
              <a:solidFill>
                <a:schemeClr val="tx2"/>
              </a:solidFill>
              <a:cs typeface="Tahoma" pitchFamily="34" charset="0"/>
            </a:endParaRPr>
          </a:p>
        </p:txBody>
      </p:sp>
      <p:sp>
        <p:nvSpPr>
          <p:cNvPr id="64" name="Oval 63">
            <a:extLst>
              <a:ext uri="{FF2B5EF4-FFF2-40B4-BE49-F238E27FC236}">
                <a16:creationId xmlns:a16="http://schemas.microsoft.com/office/drawing/2014/main" id="{7CF66C52-633C-52DC-2BD9-E1F8E03087EE}"/>
              </a:ext>
            </a:extLst>
          </p:cNvPr>
          <p:cNvSpPr/>
          <p:nvPr/>
        </p:nvSpPr>
        <p:spPr>
          <a:xfrm>
            <a:off x="442732" y="3429000"/>
            <a:ext cx="793373" cy="307271"/>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F1</a:t>
            </a:r>
            <a:endParaRPr lang="en-IN" sz="1600" dirty="0"/>
          </a:p>
        </p:txBody>
      </p:sp>
      <p:sp>
        <p:nvSpPr>
          <p:cNvPr id="66" name="Rectangle: Rounded Corners 65">
            <a:extLst>
              <a:ext uri="{FF2B5EF4-FFF2-40B4-BE49-F238E27FC236}">
                <a16:creationId xmlns:a16="http://schemas.microsoft.com/office/drawing/2014/main" id="{23A2B8AF-6A61-149F-981F-72647A8BF973}"/>
              </a:ext>
            </a:extLst>
          </p:cNvPr>
          <p:cNvSpPr/>
          <p:nvPr/>
        </p:nvSpPr>
        <p:spPr>
          <a:xfrm>
            <a:off x="1000258" y="5024119"/>
            <a:ext cx="1634148" cy="790523"/>
          </a:xfrm>
          <a:prstGeom prst="roundRect">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69" name="Table 68">
            <a:extLst>
              <a:ext uri="{FF2B5EF4-FFF2-40B4-BE49-F238E27FC236}">
                <a16:creationId xmlns:a16="http://schemas.microsoft.com/office/drawing/2014/main" id="{FF2E2725-AEE8-731D-79D4-C2ACAD1E00D7}"/>
              </a:ext>
            </a:extLst>
          </p:cNvPr>
          <p:cNvGraphicFramePr>
            <a:graphicFrameLocks noGrp="1"/>
          </p:cNvGraphicFramePr>
          <p:nvPr>
            <p:extLst>
              <p:ext uri="{D42A27DB-BD31-4B8C-83A1-F6EECF244321}">
                <p14:modId xmlns:p14="http://schemas.microsoft.com/office/powerpoint/2010/main" val="1802145619"/>
              </p:ext>
            </p:extLst>
          </p:nvPr>
        </p:nvGraphicFramePr>
        <p:xfrm>
          <a:off x="1188761" y="5094237"/>
          <a:ext cx="1373160" cy="685800"/>
        </p:xfrm>
        <a:graphic>
          <a:graphicData uri="http://schemas.openxmlformats.org/drawingml/2006/table">
            <a:tbl>
              <a:tblPr firstRow="1" bandRow="1">
                <a:tableStyleId>{F2DE63D5-997A-4646-A377-4702673A728D}</a:tableStyleId>
              </a:tblPr>
              <a:tblGrid>
                <a:gridCol w="1373160">
                  <a:extLst>
                    <a:ext uri="{9D8B030D-6E8A-4147-A177-3AD203B41FA5}">
                      <a16:colId xmlns:a16="http://schemas.microsoft.com/office/drawing/2014/main" val="2188964586"/>
                    </a:ext>
                  </a:extLst>
                </a:gridCol>
              </a:tblGrid>
              <a:tr h="226344">
                <a:tc>
                  <a:txBody>
                    <a:bodyPr/>
                    <a:lstStyle/>
                    <a:p>
                      <a:r>
                        <a:rPr lang="en-US" sz="900" dirty="0"/>
                        <a:t>Open Tickets</a:t>
                      </a:r>
                      <a:endParaRPr lang="en-IN" sz="900" dirty="0"/>
                    </a:p>
                  </a:txBody>
                  <a:tcPr/>
                </a:tc>
                <a:extLst>
                  <a:ext uri="{0D108BD9-81ED-4DB2-BD59-A6C34878D82A}">
                    <a16:rowId xmlns:a16="http://schemas.microsoft.com/office/drawing/2014/main" val="2202397540"/>
                  </a:ext>
                </a:extLst>
              </a:tr>
              <a:tr h="226344">
                <a:tc>
                  <a:txBody>
                    <a:bodyPr/>
                    <a:lstStyle/>
                    <a:p>
                      <a:r>
                        <a:rPr lang="en-US" sz="900" dirty="0" err="1"/>
                        <a:t>Tkt</a:t>
                      </a:r>
                      <a:r>
                        <a:rPr lang="en-US" sz="900" dirty="0"/>
                        <a:t> Id1</a:t>
                      </a:r>
                      <a:endParaRPr lang="en-IN" sz="900" dirty="0"/>
                    </a:p>
                  </a:txBody>
                  <a:tcPr/>
                </a:tc>
                <a:extLst>
                  <a:ext uri="{0D108BD9-81ED-4DB2-BD59-A6C34878D82A}">
                    <a16:rowId xmlns:a16="http://schemas.microsoft.com/office/drawing/2014/main" val="2362751832"/>
                  </a:ext>
                </a:extLst>
              </a:tr>
              <a:tr h="226344">
                <a:tc>
                  <a:txBody>
                    <a:bodyPr/>
                    <a:lstStyle/>
                    <a:p>
                      <a:r>
                        <a:rPr lang="en-US" sz="900" dirty="0"/>
                        <a:t>….</a:t>
                      </a:r>
                      <a:endParaRPr lang="en-IN" sz="900" dirty="0"/>
                    </a:p>
                  </a:txBody>
                  <a:tcPr/>
                </a:tc>
                <a:extLst>
                  <a:ext uri="{0D108BD9-81ED-4DB2-BD59-A6C34878D82A}">
                    <a16:rowId xmlns:a16="http://schemas.microsoft.com/office/drawing/2014/main" val="4142431679"/>
                  </a:ext>
                </a:extLst>
              </a:tr>
            </a:tbl>
          </a:graphicData>
        </a:graphic>
      </p:graphicFrame>
      <p:sp>
        <p:nvSpPr>
          <p:cNvPr id="70" name="TextBox 69">
            <a:extLst>
              <a:ext uri="{FF2B5EF4-FFF2-40B4-BE49-F238E27FC236}">
                <a16:creationId xmlns:a16="http://schemas.microsoft.com/office/drawing/2014/main" id="{1A5EBEFD-1244-948B-ABC8-8DC576BAF384}"/>
              </a:ext>
            </a:extLst>
          </p:cNvPr>
          <p:cNvSpPr txBox="1"/>
          <p:nvPr/>
        </p:nvSpPr>
        <p:spPr>
          <a:xfrm>
            <a:off x="7382740" y="5549941"/>
            <a:ext cx="1370457" cy="509987"/>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Escalation</a:t>
            </a:r>
            <a:endParaRPr lang="en-IN" sz="1400" dirty="0">
              <a:solidFill>
                <a:schemeClr val="tx2"/>
              </a:solidFill>
              <a:cs typeface="Tahoma" pitchFamily="34" charset="0"/>
            </a:endParaRPr>
          </a:p>
        </p:txBody>
      </p:sp>
      <p:cxnSp>
        <p:nvCxnSpPr>
          <p:cNvPr id="90" name="Straight Arrow Connector 89">
            <a:extLst>
              <a:ext uri="{FF2B5EF4-FFF2-40B4-BE49-F238E27FC236}">
                <a16:creationId xmlns:a16="http://schemas.microsoft.com/office/drawing/2014/main" id="{A2E87081-0CF6-AF63-0472-37A77C502F0B}"/>
              </a:ext>
            </a:extLst>
          </p:cNvPr>
          <p:cNvCxnSpPr>
            <a:cxnSpLocks/>
          </p:cNvCxnSpPr>
          <p:nvPr/>
        </p:nvCxnSpPr>
        <p:spPr>
          <a:xfrm>
            <a:off x="6827623" y="5712655"/>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1" name="Graphic 90" descr="User with solid fill">
            <a:extLst>
              <a:ext uri="{FF2B5EF4-FFF2-40B4-BE49-F238E27FC236}">
                <a16:creationId xmlns:a16="http://schemas.microsoft.com/office/drawing/2014/main" id="{27E04374-4328-4E40-A263-7FD1C130E0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407" y="5420048"/>
            <a:ext cx="484632" cy="484632"/>
          </a:xfrm>
          <a:prstGeom prst="rect">
            <a:avLst/>
          </a:prstGeom>
        </p:spPr>
      </p:pic>
      <p:sp>
        <p:nvSpPr>
          <p:cNvPr id="92" name="TextBox 91">
            <a:extLst>
              <a:ext uri="{FF2B5EF4-FFF2-40B4-BE49-F238E27FC236}">
                <a16:creationId xmlns:a16="http://schemas.microsoft.com/office/drawing/2014/main" id="{FF6BBD0D-61CF-934F-AEDE-A84CE7222093}"/>
              </a:ext>
            </a:extLst>
          </p:cNvPr>
          <p:cNvSpPr txBox="1"/>
          <p:nvPr/>
        </p:nvSpPr>
        <p:spPr>
          <a:xfrm>
            <a:off x="6180502" y="5840483"/>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93" name="Straight Arrow Connector 92">
            <a:extLst>
              <a:ext uri="{FF2B5EF4-FFF2-40B4-BE49-F238E27FC236}">
                <a16:creationId xmlns:a16="http://schemas.microsoft.com/office/drawing/2014/main" id="{67013B6B-C3CB-3475-AC85-738B834BA1AB}"/>
              </a:ext>
            </a:extLst>
          </p:cNvPr>
          <p:cNvCxnSpPr/>
          <p:nvPr/>
        </p:nvCxnSpPr>
        <p:spPr>
          <a:xfrm>
            <a:off x="8772246" y="5826818"/>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2D3C146E-3256-869B-5AF6-4F7B6DF94674}"/>
              </a:ext>
            </a:extLst>
          </p:cNvPr>
          <p:cNvSpPr txBox="1"/>
          <p:nvPr/>
        </p:nvSpPr>
        <p:spPr>
          <a:xfrm>
            <a:off x="6505966" y="5444971"/>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95" name="TextBox 94">
            <a:extLst>
              <a:ext uri="{FF2B5EF4-FFF2-40B4-BE49-F238E27FC236}">
                <a16:creationId xmlns:a16="http://schemas.microsoft.com/office/drawing/2014/main" id="{44C96074-C185-22F8-064F-D2EF28BBA960}"/>
              </a:ext>
            </a:extLst>
          </p:cNvPr>
          <p:cNvSpPr txBox="1"/>
          <p:nvPr/>
        </p:nvSpPr>
        <p:spPr>
          <a:xfrm>
            <a:off x="9497272" y="5488669"/>
            <a:ext cx="2272302" cy="956373"/>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List of escalations will be displayed</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Raise an escalation</a:t>
            </a:r>
            <a:endParaRPr lang="en-IN" sz="1400" dirty="0">
              <a:solidFill>
                <a:schemeClr val="tx2"/>
              </a:solidFill>
              <a:cs typeface="Tahoma" pitchFamily="34" charset="0"/>
            </a:endParaRPr>
          </a:p>
        </p:txBody>
      </p:sp>
      <p:cxnSp>
        <p:nvCxnSpPr>
          <p:cNvPr id="97" name="Straight Connector 96">
            <a:extLst>
              <a:ext uri="{FF2B5EF4-FFF2-40B4-BE49-F238E27FC236}">
                <a16:creationId xmlns:a16="http://schemas.microsoft.com/office/drawing/2014/main" id="{548AE54C-875E-8A90-9748-82842E9FB701}"/>
              </a:ext>
            </a:extLst>
          </p:cNvPr>
          <p:cNvCxnSpPr/>
          <p:nvPr/>
        </p:nvCxnSpPr>
        <p:spPr>
          <a:xfrm>
            <a:off x="609600" y="3064012"/>
            <a:ext cx="11373333" cy="0"/>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728265F-2B82-1BC0-F16E-E43FFA43B584}"/>
              </a:ext>
            </a:extLst>
          </p:cNvPr>
          <p:cNvSpPr txBox="1"/>
          <p:nvPr/>
        </p:nvSpPr>
        <p:spPr>
          <a:xfrm>
            <a:off x="2802498" y="4116133"/>
            <a:ext cx="1264108" cy="287194"/>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400" dirty="0">
                <a:solidFill>
                  <a:schemeClr val="tx2"/>
                </a:solidFill>
                <a:cs typeface="Tahoma" pitchFamily="34" charset="0"/>
              </a:rPr>
              <a:t>Create Ticket</a:t>
            </a:r>
            <a:endParaRPr lang="en-IN" sz="1400" dirty="0">
              <a:solidFill>
                <a:schemeClr val="tx2"/>
              </a:solidFill>
              <a:cs typeface="Tahoma" pitchFamily="34" charset="0"/>
            </a:endParaRPr>
          </a:p>
        </p:txBody>
      </p:sp>
    </p:spTree>
    <p:extLst>
      <p:ext uri="{BB962C8B-B14F-4D97-AF65-F5344CB8AC3E}">
        <p14:creationId xmlns:p14="http://schemas.microsoft.com/office/powerpoint/2010/main" val="1405275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A385A3B-3739-F9FD-DB10-F90E8E02FDEB}"/>
              </a:ext>
            </a:extLst>
          </p:cNvPr>
          <p:cNvSpPr/>
          <p:nvPr/>
        </p:nvSpPr>
        <p:spPr>
          <a:xfrm>
            <a:off x="792677" y="516313"/>
            <a:ext cx="4841748" cy="2313513"/>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graphicFrame>
        <p:nvGraphicFramePr>
          <p:cNvPr id="9" name="Object 8" hidden="1">
            <a:extLst>
              <a:ext uri="{FF2B5EF4-FFF2-40B4-BE49-F238E27FC236}">
                <a16:creationId xmlns:a16="http://schemas.microsoft.com/office/drawing/2014/main" id="{CBEB0959-46B0-D85A-55D8-7F2737AF6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2" imgH="623" progId="TCLayout.ActiveDocument.1">
                  <p:embed/>
                </p:oleObj>
              </mc:Choice>
              <mc:Fallback>
                <p:oleObj name="think-cell Slide" r:id="rId4" imgW="622" imgH="623" progId="TCLayout.ActiveDocument.1">
                  <p:embed/>
                  <p:pic>
                    <p:nvPicPr>
                      <p:cNvPr id="9" name="Object 8" hidden="1">
                        <a:extLst>
                          <a:ext uri="{FF2B5EF4-FFF2-40B4-BE49-F238E27FC236}">
                            <a16:creationId xmlns:a16="http://schemas.microsoft.com/office/drawing/2014/main" id="{CBEB0959-46B0-D85A-55D8-7F2737AF6B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3BA2F93F-C876-4A6D-B4BB-CDA1410600EF}"/>
              </a:ext>
            </a:extLst>
          </p:cNvPr>
          <p:cNvSpPr>
            <a:spLocks noGrp="1"/>
          </p:cNvSpPr>
          <p:nvPr>
            <p:ph type="body" sz="quarter" idx="14"/>
          </p:nvPr>
        </p:nvSpPr>
        <p:spPr>
          <a:xfrm>
            <a:off x="609600" y="6253146"/>
            <a:ext cx="10972800" cy="301625"/>
          </a:xfrm>
        </p:spPr>
        <p:txBody>
          <a:bodyPr/>
          <a:lstStyle/>
          <a:p>
            <a:endParaRPr lang="en-US"/>
          </a:p>
        </p:txBody>
      </p:sp>
      <p:sp>
        <p:nvSpPr>
          <p:cNvPr id="8" name="TextBox 7">
            <a:extLst>
              <a:ext uri="{FF2B5EF4-FFF2-40B4-BE49-F238E27FC236}">
                <a16:creationId xmlns:a16="http://schemas.microsoft.com/office/drawing/2014/main" id="{D7990BC9-E9A2-C440-A324-AB64D5A8CCA8}"/>
              </a:ext>
            </a:extLst>
          </p:cNvPr>
          <p:cNvSpPr txBox="1"/>
          <p:nvPr/>
        </p:nvSpPr>
        <p:spPr>
          <a:xfrm>
            <a:off x="-6980" y="963261"/>
            <a:ext cx="0" cy="0"/>
          </a:xfrm>
          <a:prstGeom prst="rect">
            <a:avLst/>
          </a:prstGeom>
          <a:noFill/>
        </p:spPr>
        <p:txBody>
          <a:bodyPr wrap="none" rtlCol="0">
            <a:noAutofit/>
          </a:bodyPr>
          <a:lstStyle/>
          <a:p>
            <a:pPr marL="233363" marR="0" lvl="0" indent="-230188" algn="l" defTabSz="914400" rtl="0" eaLnBrk="1" fontAlgn="auto" latinLnBrk="0" hangingPunct="1">
              <a:lnSpc>
                <a:spcPct val="100000"/>
              </a:lnSpc>
              <a:spcBef>
                <a:spcPts val="600"/>
              </a:spcBef>
              <a:spcAft>
                <a:spcPts val="600"/>
              </a:spcAft>
              <a:buClr>
                <a:srgbClr val="303030">
                  <a:lumMod val="50000"/>
                  <a:lumOff val="50000"/>
                </a:srgbClr>
              </a:buClr>
              <a:buSzTx/>
              <a:buFont typeface="Arial" panose="020B0604020202020204" pitchFamily="34" charset="0"/>
              <a:buChar char="•"/>
              <a:tabLst/>
              <a:defRPr/>
            </a:pPr>
            <a:endParaRPr kumimoji="0" lang="en-US" sz="2000" b="0" i="0" u="none" strike="noStrike" kern="1200" cap="none" spc="0" normalizeH="0" baseline="0" noProof="0">
              <a:ln>
                <a:noFill/>
              </a:ln>
              <a:solidFill>
                <a:srgbClr val="002240"/>
              </a:solidFill>
              <a:effectLst/>
              <a:uLnTx/>
              <a:uFillTx/>
              <a:latin typeface="Calibri" panose="020F0502020204030204"/>
              <a:ea typeface="+mn-ea"/>
              <a:cs typeface="Tahoma" pitchFamily="34" charset="0"/>
            </a:endParaRPr>
          </a:p>
        </p:txBody>
      </p:sp>
      <p:sp>
        <p:nvSpPr>
          <p:cNvPr id="5" name="TextBox 4">
            <a:extLst>
              <a:ext uri="{FF2B5EF4-FFF2-40B4-BE49-F238E27FC236}">
                <a16:creationId xmlns:a16="http://schemas.microsoft.com/office/drawing/2014/main" id="{98AC192B-3F34-8817-86DE-4C15BE7CE9DB}"/>
              </a:ext>
            </a:extLst>
          </p:cNvPr>
          <p:cNvSpPr txBox="1"/>
          <p:nvPr/>
        </p:nvSpPr>
        <p:spPr>
          <a:xfrm>
            <a:off x="2484918" y="351945"/>
            <a:ext cx="1581687" cy="358843"/>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Maintenance</a:t>
            </a:r>
            <a:endParaRPr lang="en-IN" sz="1600" dirty="0">
              <a:solidFill>
                <a:schemeClr val="bg1"/>
              </a:solidFill>
              <a:cs typeface="Tahoma" pitchFamily="34" charset="0"/>
            </a:endParaRPr>
          </a:p>
        </p:txBody>
      </p:sp>
      <p:sp>
        <p:nvSpPr>
          <p:cNvPr id="6" name="TextBox 5">
            <a:extLst>
              <a:ext uri="{FF2B5EF4-FFF2-40B4-BE49-F238E27FC236}">
                <a16:creationId xmlns:a16="http://schemas.microsoft.com/office/drawing/2014/main" id="{92A80422-97AB-699A-6FAA-B5BE5214ACE5}"/>
              </a:ext>
            </a:extLst>
          </p:cNvPr>
          <p:cNvSpPr txBox="1"/>
          <p:nvPr/>
        </p:nvSpPr>
        <p:spPr>
          <a:xfrm>
            <a:off x="1079582" y="1032587"/>
            <a:ext cx="1777927" cy="320096"/>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Downtime Alerts</a:t>
            </a:r>
            <a:endParaRPr lang="en-IN" sz="1400" dirty="0">
              <a:solidFill>
                <a:schemeClr val="tx2"/>
              </a:solidFill>
              <a:cs typeface="Tahoma" pitchFamily="34" charset="0"/>
            </a:endParaRPr>
          </a:p>
        </p:txBody>
      </p:sp>
      <p:sp>
        <p:nvSpPr>
          <p:cNvPr id="7" name="TextBox 6">
            <a:extLst>
              <a:ext uri="{FF2B5EF4-FFF2-40B4-BE49-F238E27FC236}">
                <a16:creationId xmlns:a16="http://schemas.microsoft.com/office/drawing/2014/main" id="{4C200395-E3D8-B210-1C20-02C3A58CF913}"/>
              </a:ext>
            </a:extLst>
          </p:cNvPr>
          <p:cNvSpPr txBox="1"/>
          <p:nvPr/>
        </p:nvSpPr>
        <p:spPr>
          <a:xfrm>
            <a:off x="3643480" y="939134"/>
            <a:ext cx="1655989" cy="536131"/>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Software/Extension Upgrades</a:t>
            </a:r>
            <a:endParaRPr lang="en-IN" sz="1300" dirty="0">
              <a:solidFill>
                <a:schemeClr val="tx2"/>
              </a:solidFill>
              <a:cs typeface="Tahoma" pitchFamily="34" charset="0"/>
            </a:endParaRPr>
          </a:p>
        </p:txBody>
      </p:sp>
      <p:sp>
        <p:nvSpPr>
          <p:cNvPr id="19" name="TextBox 18">
            <a:extLst>
              <a:ext uri="{FF2B5EF4-FFF2-40B4-BE49-F238E27FC236}">
                <a16:creationId xmlns:a16="http://schemas.microsoft.com/office/drawing/2014/main" id="{9626B970-88DC-FBD1-9DB4-0AEA388B5A4A}"/>
              </a:ext>
            </a:extLst>
          </p:cNvPr>
          <p:cNvSpPr txBox="1"/>
          <p:nvPr/>
        </p:nvSpPr>
        <p:spPr>
          <a:xfrm>
            <a:off x="7452064" y="939134"/>
            <a:ext cx="980983" cy="998581"/>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Software/</a:t>
            </a:r>
          </a:p>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Extension Upgrade</a:t>
            </a:r>
            <a:endParaRPr lang="en-IN" sz="1400" dirty="0">
              <a:solidFill>
                <a:schemeClr val="tx2"/>
              </a:solidFill>
              <a:cs typeface="Tahoma" pitchFamily="34" charset="0"/>
            </a:endParaRPr>
          </a:p>
        </p:txBody>
      </p:sp>
      <p:cxnSp>
        <p:nvCxnSpPr>
          <p:cNvPr id="20" name="Straight Arrow Connector 19">
            <a:extLst>
              <a:ext uri="{FF2B5EF4-FFF2-40B4-BE49-F238E27FC236}">
                <a16:creationId xmlns:a16="http://schemas.microsoft.com/office/drawing/2014/main" id="{C0D1CCD1-E9F8-3AEE-B32F-7CD7E57BB190}"/>
              </a:ext>
            </a:extLst>
          </p:cNvPr>
          <p:cNvCxnSpPr>
            <a:cxnSpLocks/>
          </p:cNvCxnSpPr>
          <p:nvPr/>
        </p:nvCxnSpPr>
        <p:spPr>
          <a:xfrm>
            <a:off x="6811984" y="1403167"/>
            <a:ext cx="4846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User with solid fill">
            <a:extLst>
              <a:ext uri="{FF2B5EF4-FFF2-40B4-BE49-F238E27FC236}">
                <a16:creationId xmlns:a16="http://schemas.microsoft.com/office/drawing/2014/main" id="{A6F154C1-472E-5E1D-0940-45DBFF5094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6768" y="1110560"/>
            <a:ext cx="484632" cy="484632"/>
          </a:xfrm>
          <a:prstGeom prst="rect">
            <a:avLst/>
          </a:prstGeom>
        </p:spPr>
      </p:pic>
      <p:sp>
        <p:nvSpPr>
          <p:cNvPr id="22" name="TextBox 21">
            <a:extLst>
              <a:ext uri="{FF2B5EF4-FFF2-40B4-BE49-F238E27FC236}">
                <a16:creationId xmlns:a16="http://schemas.microsoft.com/office/drawing/2014/main" id="{5B82C5C8-BF43-6507-236A-C24A5CB12397}"/>
              </a:ext>
            </a:extLst>
          </p:cNvPr>
          <p:cNvSpPr txBox="1"/>
          <p:nvPr/>
        </p:nvSpPr>
        <p:spPr>
          <a:xfrm>
            <a:off x="6164863" y="1530995"/>
            <a:ext cx="795528" cy="219446"/>
          </a:xfrm>
          <a:prstGeom prst="rect">
            <a:avLst/>
          </a:prstGeom>
          <a:noFill/>
        </p:spPr>
        <p:txBody>
          <a:bodyPr wrap="square" rtlCol="0">
            <a:noAutofit/>
          </a:bodyPr>
          <a:lstStyle/>
          <a:p>
            <a:pPr marL="3175">
              <a:spcBef>
                <a:spcPts val="600"/>
              </a:spcBef>
              <a:spcAft>
                <a:spcPts val="600"/>
              </a:spcAft>
              <a:buClr>
                <a:srgbClr val="303030">
                  <a:lumMod val="50000"/>
                  <a:lumOff val="50000"/>
                </a:srgbClr>
              </a:buClr>
            </a:pPr>
            <a:r>
              <a:rPr lang="en-US" sz="1300" dirty="0">
                <a:solidFill>
                  <a:srgbClr val="002240"/>
                </a:solidFill>
                <a:cs typeface="Tahoma" pitchFamily="34" charset="0"/>
              </a:rPr>
              <a:t>Admin</a:t>
            </a:r>
            <a:endParaRPr lang="en-IN" sz="1300" dirty="0">
              <a:solidFill>
                <a:srgbClr val="002240"/>
              </a:solidFill>
              <a:cs typeface="Tahoma" pitchFamily="34" charset="0"/>
            </a:endParaRPr>
          </a:p>
        </p:txBody>
      </p:sp>
      <p:cxnSp>
        <p:nvCxnSpPr>
          <p:cNvPr id="24" name="Straight Arrow Connector 23">
            <a:extLst>
              <a:ext uri="{FF2B5EF4-FFF2-40B4-BE49-F238E27FC236}">
                <a16:creationId xmlns:a16="http://schemas.microsoft.com/office/drawing/2014/main" id="{1B07CA32-306B-8024-6EC3-81A68141A6BE}"/>
              </a:ext>
            </a:extLst>
          </p:cNvPr>
          <p:cNvCxnSpPr/>
          <p:nvPr/>
        </p:nvCxnSpPr>
        <p:spPr>
          <a:xfrm>
            <a:off x="8756607" y="1517330"/>
            <a:ext cx="7406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E6A8CF0-40C8-AD66-F60C-F4B19A6D2133}"/>
              </a:ext>
            </a:extLst>
          </p:cNvPr>
          <p:cNvSpPr txBox="1"/>
          <p:nvPr/>
        </p:nvSpPr>
        <p:spPr>
          <a:xfrm>
            <a:off x="6490327" y="1135483"/>
            <a:ext cx="1003742" cy="398331"/>
          </a:xfrm>
          <a:prstGeom prst="rect">
            <a:avLst/>
          </a:prstGeom>
          <a:noFill/>
        </p:spPr>
        <p:txBody>
          <a:bodyPr wrap="square" rtlCol="0">
            <a:noAutofit/>
          </a:bodyPr>
          <a:lstStyle/>
          <a:p>
            <a:pPr marL="3175" algn="ctr">
              <a:spcBef>
                <a:spcPts val="600"/>
              </a:spcBef>
              <a:spcAft>
                <a:spcPts val="600"/>
              </a:spcAft>
              <a:buClr>
                <a:srgbClr val="303030">
                  <a:lumMod val="50000"/>
                  <a:lumOff val="50000"/>
                </a:srgbClr>
              </a:buClr>
            </a:pPr>
            <a:r>
              <a:rPr lang="en-US" sz="1100" dirty="0">
                <a:solidFill>
                  <a:srgbClr val="002240"/>
                </a:solidFill>
                <a:cs typeface="Tahoma" pitchFamily="34" charset="0"/>
              </a:rPr>
              <a:t>ON Click</a:t>
            </a:r>
            <a:endParaRPr lang="en-IN" sz="1100" dirty="0">
              <a:solidFill>
                <a:srgbClr val="002240"/>
              </a:solidFill>
              <a:cs typeface="Tahoma" pitchFamily="34" charset="0"/>
            </a:endParaRPr>
          </a:p>
        </p:txBody>
      </p:sp>
      <p:sp>
        <p:nvSpPr>
          <p:cNvPr id="27" name="TextBox 26">
            <a:extLst>
              <a:ext uri="{FF2B5EF4-FFF2-40B4-BE49-F238E27FC236}">
                <a16:creationId xmlns:a16="http://schemas.microsoft.com/office/drawing/2014/main" id="{2CF2798B-4412-0395-9F77-A170122CAEDB}"/>
              </a:ext>
            </a:extLst>
          </p:cNvPr>
          <p:cNvSpPr txBox="1"/>
          <p:nvPr/>
        </p:nvSpPr>
        <p:spPr>
          <a:xfrm>
            <a:off x="9497271" y="1148559"/>
            <a:ext cx="2220850" cy="730368"/>
          </a:xfrm>
          <a:prstGeom prst="rect">
            <a:avLst/>
          </a:prstGeom>
          <a:solidFill>
            <a:schemeClr val="bg1">
              <a:lumMod val="75000"/>
            </a:schemeClr>
          </a:solidFill>
        </p:spPr>
        <p:txBody>
          <a:bodyPr wrap="square" rtlCol="0">
            <a:noAutofit/>
          </a:bodyPr>
          <a:lstStyle/>
          <a:p>
            <a:pPr marL="3175">
              <a:spcBef>
                <a:spcPts val="600"/>
              </a:spcBef>
              <a:spcAft>
                <a:spcPts val="600"/>
              </a:spcAft>
              <a:buClr>
                <a:srgbClr val="303030">
                  <a:lumMod val="50000"/>
                  <a:lumOff val="50000"/>
                </a:srgbClr>
              </a:buClr>
            </a:pPr>
            <a:r>
              <a:rPr lang="en-US" sz="1400" dirty="0">
                <a:solidFill>
                  <a:schemeClr val="tx2"/>
                </a:solidFill>
                <a:cs typeface="Tahoma" pitchFamily="34" charset="0"/>
              </a:rPr>
              <a:t>Software Upgrades available for the respective services will be displayed</a:t>
            </a:r>
            <a:endParaRPr lang="en-IN" sz="1400" dirty="0">
              <a:solidFill>
                <a:schemeClr val="tx2"/>
              </a:solidFill>
              <a:cs typeface="Tahoma" pitchFamily="34" charset="0"/>
            </a:endParaRPr>
          </a:p>
        </p:txBody>
      </p:sp>
      <p:sp>
        <p:nvSpPr>
          <p:cNvPr id="39" name="Oval 38">
            <a:extLst>
              <a:ext uri="{FF2B5EF4-FFF2-40B4-BE49-F238E27FC236}">
                <a16:creationId xmlns:a16="http://schemas.microsoft.com/office/drawing/2014/main" id="{FAAEB783-2DDE-42D8-E893-42C0E24F421E}"/>
              </a:ext>
            </a:extLst>
          </p:cNvPr>
          <p:cNvSpPr/>
          <p:nvPr/>
        </p:nvSpPr>
        <p:spPr>
          <a:xfrm>
            <a:off x="402337" y="210366"/>
            <a:ext cx="839094" cy="358843"/>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G1</a:t>
            </a:r>
            <a:endParaRPr lang="en-IN" sz="1600" dirty="0"/>
          </a:p>
        </p:txBody>
      </p:sp>
      <p:sp>
        <p:nvSpPr>
          <p:cNvPr id="40" name="Rectangle: Rounded Corners 39">
            <a:extLst>
              <a:ext uri="{FF2B5EF4-FFF2-40B4-BE49-F238E27FC236}">
                <a16:creationId xmlns:a16="http://schemas.microsoft.com/office/drawing/2014/main" id="{0495AA4B-B277-5AA8-AB82-66E335933841}"/>
              </a:ext>
            </a:extLst>
          </p:cNvPr>
          <p:cNvSpPr/>
          <p:nvPr/>
        </p:nvSpPr>
        <p:spPr>
          <a:xfrm>
            <a:off x="787352" y="3683373"/>
            <a:ext cx="4841748" cy="2524277"/>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dirty="0"/>
              <a:t> </a:t>
            </a:r>
            <a:endParaRPr lang="en-IN" sz="1200" dirty="0"/>
          </a:p>
        </p:txBody>
      </p:sp>
      <p:sp>
        <p:nvSpPr>
          <p:cNvPr id="43" name="TextBox 42">
            <a:extLst>
              <a:ext uri="{FF2B5EF4-FFF2-40B4-BE49-F238E27FC236}">
                <a16:creationId xmlns:a16="http://schemas.microsoft.com/office/drawing/2014/main" id="{4BCB5D7B-7524-1219-5CD5-90B27944274D}"/>
              </a:ext>
            </a:extLst>
          </p:cNvPr>
          <p:cNvSpPr txBox="1"/>
          <p:nvPr/>
        </p:nvSpPr>
        <p:spPr>
          <a:xfrm>
            <a:off x="1803721" y="3527391"/>
            <a:ext cx="2596665" cy="287195"/>
          </a:xfrm>
          <a:prstGeom prst="rect">
            <a:avLst/>
          </a:prstGeom>
          <a:solidFill>
            <a:schemeClr val="tx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600" dirty="0">
                <a:solidFill>
                  <a:schemeClr val="bg1"/>
                </a:solidFill>
                <a:cs typeface="Tahoma" pitchFamily="34" charset="0"/>
              </a:rPr>
              <a:t>Other Admin Activities</a:t>
            </a:r>
            <a:endParaRPr lang="en-IN" sz="1600" dirty="0">
              <a:solidFill>
                <a:schemeClr val="bg1"/>
              </a:solidFill>
              <a:cs typeface="Tahoma" pitchFamily="34" charset="0"/>
            </a:endParaRPr>
          </a:p>
        </p:txBody>
      </p:sp>
      <p:sp>
        <p:nvSpPr>
          <p:cNvPr id="64" name="Oval 63">
            <a:extLst>
              <a:ext uri="{FF2B5EF4-FFF2-40B4-BE49-F238E27FC236}">
                <a16:creationId xmlns:a16="http://schemas.microsoft.com/office/drawing/2014/main" id="{7CF66C52-633C-52DC-2BD9-E1F8E03087EE}"/>
              </a:ext>
            </a:extLst>
          </p:cNvPr>
          <p:cNvSpPr/>
          <p:nvPr/>
        </p:nvSpPr>
        <p:spPr>
          <a:xfrm>
            <a:off x="397012" y="3377428"/>
            <a:ext cx="839093" cy="358843"/>
          </a:xfrm>
          <a:prstGeom prst="ellips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t>H1</a:t>
            </a:r>
            <a:endParaRPr lang="en-IN" sz="1600" dirty="0"/>
          </a:p>
        </p:txBody>
      </p:sp>
      <p:cxnSp>
        <p:nvCxnSpPr>
          <p:cNvPr id="97" name="Straight Connector 96">
            <a:extLst>
              <a:ext uri="{FF2B5EF4-FFF2-40B4-BE49-F238E27FC236}">
                <a16:creationId xmlns:a16="http://schemas.microsoft.com/office/drawing/2014/main" id="{548AE54C-875E-8A90-9748-82842E9FB701}"/>
              </a:ext>
            </a:extLst>
          </p:cNvPr>
          <p:cNvCxnSpPr/>
          <p:nvPr/>
        </p:nvCxnSpPr>
        <p:spPr>
          <a:xfrm>
            <a:off x="609600" y="3064012"/>
            <a:ext cx="11373333" cy="0"/>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610773E-6BB1-D652-BEC7-D87C5A67077A}"/>
              </a:ext>
            </a:extLst>
          </p:cNvPr>
          <p:cNvSpPr txBox="1"/>
          <p:nvPr/>
        </p:nvSpPr>
        <p:spPr>
          <a:xfrm>
            <a:off x="2380231" y="1855127"/>
            <a:ext cx="1655989" cy="349543"/>
          </a:xfrm>
          <a:prstGeom prst="rect">
            <a:avLst/>
          </a:prstGeom>
          <a:solidFill>
            <a:schemeClr val="bg1">
              <a:lumMod val="75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sz="1300" dirty="0">
                <a:solidFill>
                  <a:schemeClr val="tx2"/>
                </a:solidFill>
                <a:cs typeface="Tahoma" pitchFamily="34" charset="0"/>
              </a:rPr>
              <a:t>Memory/Cache Clean</a:t>
            </a:r>
            <a:endParaRPr lang="en-IN" sz="1300" dirty="0">
              <a:solidFill>
                <a:schemeClr val="tx2"/>
              </a:solidFill>
              <a:cs typeface="Tahoma" pitchFamily="34" charset="0"/>
            </a:endParaRPr>
          </a:p>
        </p:txBody>
      </p:sp>
    </p:spTree>
    <p:extLst>
      <p:ext uri="{BB962C8B-B14F-4D97-AF65-F5344CB8AC3E}">
        <p14:creationId xmlns:p14="http://schemas.microsoft.com/office/powerpoint/2010/main" val="28245431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06B2C1B2-0649-4410-9A4A-E30A7482EB68}" vid="{751BB556-1AF9-4460-A212-BDD9BFC28F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Trinity Powerpoint Template" ma:contentTypeID="0x01010024647BC94BF07744B029F39B4A18F9F700E851DEE5446DF642B7FEB03AED0411B0" ma:contentTypeVersion="12" ma:contentTypeDescription="" ma:contentTypeScope="" ma:versionID="eab1cf0da9bcce8dc479ab5a0b5db3bb">
  <xsd:schema xmlns:xsd="http://www.w3.org/2001/XMLSchema" xmlns:xs="http://www.w3.org/2001/XMLSchema" xmlns:p="http://schemas.microsoft.com/office/2006/metadata/properties" xmlns:ns2="6d05a1d3-8381-4269-b97b-c59591b0fcbf" xmlns:ns3="54a53f59-c304-4886-9a17-7fc183a25b92" targetNamespace="http://schemas.microsoft.com/office/2006/metadata/properties" ma:root="true" ma:fieldsID="dceca409e748b97419b162836b3078fd" ns2:_="" ns3:_="">
    <xsd:import namespace="6d05a1d3-8381-4269-b97b-c59591b0fcbf"/>
    <xsd:import namespace="54a53f59-c304-4886-9a17-7fc183a25b9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5a1d3-8381-4269-b97b-c59591b0f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a53f59-c304-4886-9a17-7fc183a25b9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FA821CE-AEF2-44CE-A85D-AE5B456D39C4}">
  <ds:schemaRefs>
    <ds:schemaRef ds:uri="http://schemas.microsoft.com/sharepoint/v3/contenttype/forms"/>
  </ds:schemaRefs>
</ds:datastoreItem>
</file>

<file path=customXml/itemProps2.xml><?xml version="1.0" encoding="utf-8"?>
<ds:datastoreItem xmlns:ds="http://schemas.openxmlformats.org/officeDocument/2006/customXml" ds:itemID="{5A53CCE1-4657-492A-B0FE-9D895D9461F5}">
  <ds:schemaRefs>
    <ds:schemaRef ds:uri="54a53f59-c304-4886-9a17-7fc183a25b92"/>
    <ds:schemaRef ds:uri="6d05a1d3-8381-4269-b97b-c59591b0fcb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E76BEA3-4E07-476A-A775-0AF552C6166A}">
  <ds:schemaRefs>
    <ds:schemaRef ds:uri="54a53f59-c304-4886-9a17-7fc183a25b92"/>
    <ds:schemaRef ds:uri="6d05a1d3-8381-4269-b97b-c59591b0fc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blank</Template>
  <TotalTime>665</TotalTime>
  <Words>1288</Words>
  <Application>Microsoft Office PowerPoint</Application>
  <PresentationFormat>Widescreen</PresentationFormat>
  <Paragraphs>404</Paragraphs>
  <Slides>13</Slides>
  <Notes>11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9" baseType="lpstr">
      <vt:lpstr>Arial</vt:lpstr>
      <vt:lpstr>Calibri</vt:lpstr>
      <vt:lpstr>Courier New</vt:lpstr>
      <vt:lpstr>Tahoma</vt:lpstr>
      <vt:lpstr>Trinity Template 3.0</vt:lpstr>
      <vt:lpstr>think-cell Slide</vt:lpstr>
      <vt:lpstr>28 Point Title 1.2 Character Spacing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Jayaprakash</dc:creator>
  <cp:lastModifiedBy>Jayaprakash Loganathan</cp:lastModifiedBy>
  <cp:revision>8</cp:revision>
  <dcterms:created xsi:type="dcterms:W3CDTF">2024-06-05T18:19:58Z</dcterms:created>
  <dcterms:modified xsi:type="dcterms:W3CDTF">2024-06-06T18:45:25Z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0x01010024647BC94BF07744B029F39B4A18F9F700E851DEE5446DF642B7FEB03AED0411B0</vt:lpwstr>
  </property>
</Properties>
</file>