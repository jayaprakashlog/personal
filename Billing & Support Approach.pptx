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9"/>
  </p:notesMasterIdLst>
  <p:handoutMasterIdLst>
    <p:handoutMasterId r:id="rId10"/>
  </p:handoutMasterIdLst>
  <p:sldIdLst>
    <p:sldId id="256" r:id="rId5"/>
    <p:sldId id="330" r:id="rId6"/>
    <p:sldId id="329" r:id="rId7"/>
    <p:sldId id="325"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B234CE-46D3-40F3-9A8F-AA5A1D454F1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IN"/>
        </a:p>
      </dgm:t>
    </dgm:pt>
    <dgm:pt modelId="{D671CAAA-C86C-4228-9E58-E6B69AB01B5B}">
      <dgm:prSet phldrT="[Text]" custT="1"/>
      <dgm:spPr/>
      <dgm:t>
        <a:bodyPr/>
        <a:lstStyle/>
        <a:p>
          <a:r>
            <a:rPr lang="en-US" sz="1500" b="1" dirty="0"/>
            <a:t>Pricing Options</a:t>
          </a:r>
          <a:endParaRPr lang="en-IN" sz="1500" dirty="0"/>
        </a:p>
      </dgm:t>
    </dgm:pt>
    <dgm:pt modelId="{FC8D4F3F-681C-44E5-9211-4E04EF09312B}" type="parTrans" cxnId="{7E22D09F-C2CA-4836-9698-4B79330FD891}">
      <dgm:prSet/>
      <dgm:spPr/>
      <dgm:t>
        <a:bodyPr/>
        <a:lstStyle/>
        <a:p>
          <a:endParaRPr lang="en-IN"/>
        </a:p>
      </dgm:t>
    </dgm:pt>
    <dgm:pt modelId="{62A78E55-F27E-42FD-9F02-79D919209A9B}" type="sibTrans" cxnId="{7E22D09F-C2CA-4836-9698-4B79330FD891}">
      <dgm:prSet/>
      <dgm:spPr/>
      <dgm:t>
        <a:bodyPr/>
        <a:lstStyle/>
        <a:p>
          <a:endParaRPr lang="en-IN"/>
        </a:p>
      </dgm:t>
    </dgm:pt>
    <dgm:pt modelId="{0C30550D-3CF3-4336-A720-55F88219E07B}">
      <dgm:prSet phldrT="[Text]"/>
      <dgm:spPr/>
      <dgm:t>
        <a:bodyPr/>
        <a:lstStyle/>
        <a:p>
          <a:r>
            <a:rPr lang="en-US" dirty="0"/>
            <a:t>Pay as you Use</a:t>
          </a:r>
          <a:endParaRPr lang="en-IN" dirty="0"/>
        </a:p>
      </dgm:t>
    </dgm:pt>
    <dgm:pt modelId="{9D376533-7213-4861-9688-66F31EF14886}" type="parTrans" cxnId="{31BDA026-5A2A-4E74-88CA-E0E6490260FE}">
      <dgm:prSet/>
      <dgm:spPr/>
      <dgm:t>
        <a:bodyPr/>
        <a:lstStyle/>
        <a:p>
          <a:endParaRPr lang="en-IN"/>
        </a:p>
      </dgm:t>
    </dgm:pt>
    <dgm:pt modelId="{6E43B30D-0AD1-4D4D-BFE4-8A0061EEBDC8}" type="sibTrans" cxnId="{31BDA026-5A2A-4E74-88CA-E0E6490260FE}">
      <dgm:prSet/>
      <dgm:spPr/>
      <dgm:t>
        <a:bodyPr/>
        <a:lstStyle/>
        <a:p>
          <a:endParaRPr lang="en-IN"/>
        </a:p>
      </dgm:t>
    </dgm:pt>
    <dgm:pt modelId="{9CC7910F-322B-406E-8066-B6B99F2623A5}">
      <dgm:prSet phldrT="[Text]"/>
      <dgm:spPr/>
      <dgm:t>
        <a:bodyPr/>
        <a:lstStyle/>
        <a:p>
          <a:r>
            <a:rPr lang="en-US" dirty="0"/>
            <a:t>Tier Based</a:t>
          </a:r>
          <a:endParaRPr lang="en-IN" dirty="0"/>
        </a:p>
      </dgm:t>
    </dgm:pt>
    <dgm:pt modelId="{1E65B359-5683-44F6-A16E-0875F6C79356}" type="parTrans" cxnId="{4B2DE01A-8673-4644-A9BA-B78938392B7C}">
      <dgm:prSet/>
      <dgm:spPr/>
      <dgm:t>
        <a:bodyPr/>
        <a:lstStyle/>
        <a:p>
          <a:endParaRPr lang="en-IN"/>
        </a:p>
      </dgm:t>
    </dgm:pt>
    <dgm:pt modelId="{C1CA6D8F-7324-40F0-BFCD-79339A833FA5}" type="sibTrans" cxnId="{4B2DE01A-8673-4644-A9BA-B78938392B7C}">
      <dgm:prSet/>
      <dgm:spPr/>
      <dgm:t>
        <a:bodyPr/>
        <a:lstStyle/>
        <a:p>
          <a:endParaRPr lang="en-IN"/>
        </a:p>
      </dgm:t>
    </dgm:pt>
    <dgm:pt modelId="{81475376-59C8-494A-B40A-8E2001119647}">
      <dgm:prSet phldrT="[Text]"/>
      <dgm:spPr/>
      <dgm:t>
        <a:bodyPr/>
        <a:lstStyle/>
        <a:p>
          <a:r>
            <a:rPr lang="en-US" dirty="0"/>
            <a:t>Flat Price</a:t>
          </a:r>
          <a:endParaRPr lang="en-IN" dirty="0"/>
        </a:p>
      </dgm:t>
    </dgm:pt>
    <dgm:pt modelId="{94BF988A-B35D-47F7-8C68-357E3D0F4367}" type="parTrans" cxnId="{6A945E64-E5A7-4D9A-A92F-5EB5F69CF7A1}">
      <dgm:prSet/>
      <dgm:spPr/>
      <dgm:t>
        <a:bodyPr/>
        <a:lstStyle/>
        <a:p>
          <a:endParaRPr lang="en-IN"/>
        </a:p>
      </dgm:t>
    </dgm:pt>
    <dgm:pt modelId="{CACC8A3B-634A-4838-9F81-BFB39E62AF31}" type="sibTrans" cxnId="{6A945E64-E5A7-4D9A-A92F-5EB5F69CF7A1}">
      <dgm:prSet/>
      <dgm:spPr/>
      <dgm:t>
        <a:bodyPr/>
        <a:lstStyle/>
        <a:p>
          <a:endParaRPr lang="en-IN"/>
        </a:p>
      </dgm:t>
    </dgm:pt>
    <dgm:pt modelId="{2F1069E4-2BC1-4833-9E69-907311F3770B}">
      <dgm:prSet phldrT="[Text]"/>
      <dgm:spPr/>
      <dgm:t>
        <a:bodyPr/>
        <a:lstStyle/>
        <a:p>
          <a:r>
            <a:rPr lang="en-US" dirty="0"/>
            <a:t>Custom</a:t>
          </a:r>
          <a:endParaRPr lang="en-IN" dirty="0"/>
        </a:p>
      </dgm:t>
    </dgm:pt>
    <dgm:pt modelId="{C580400E-74C8-4338-B6F6-5A8877B9AF6B}" type="parTrans" cxnId="{95EF8E95-8569-400F-AA96-5E6CFAB79850}">
      <dgm:prSet/>
      <dgm:spPr/>
      <dgm:t>
        <a:bodyPr/>
        <a:lstStyle/>
        <a:p>
          <a:endParaRPr lang="en-IN"/>
        </a:p>
      </dgm:t>
    </dgm:pt>
    <dgm:pt modelId="{56DF2A79-EFAE-44FA-B324-04B9CEB0973E}" type="sibTrans" cxnId="{95EF8E95-8569-400F-AA96-5E6CFAB79850}">
      <dgm:prSet/>
      <dgm:spPr/>
      <dgm:t>
        <a:bodyPr/>
        <a:lstStyle/>
        <a:p>
          <a:endParaRPr lang="en-IN"/>
        </a:p>
      </dgm:t>
    </dgm:pt>
    <dgm:pt modelId="{DD1A7FBA-488F-4B11-BFFA-D9E6212E3060}" type="pres">
      <dgm:prSet presAssocID="{72B234CE-46D3-40F3-9A8F-AA5A1D454F1A}" presName="diagram" presStyleCnt="0">
        <dgm:presLayoutVars>
          <dgm:chPref val="1"/>
          <dgm:dir/>
          <dgm:animOne val="branch"/>
          <dgm:animLvl val="lvl"/>
          <dgm:resizeHandles/>
        </dgm:presLayoutVars>
      </dgm:prSet>
      <dgm:spPr/>
    </dgm:pt>
    <dgm:pt modelId="{0A1F13BB-1A8D-4033-BCCD-D81BC12BCC80}" type="pres">
      <dgm:prSet presAssocID="{D671CAAA-C86C-4228-9E58-E6B69AB01B5B}" presName="root" presStyleCnt="0"/>
      <dgm:spPr/>
    </dgm:pt>
    <dgm:pt modelId="{B2494472-2D42-4B4A-9820-8E8AE1BC7259}" type="pres">
      <dgm:prSet presAssocID="{D671CAAA-C86C-4228-9E58-E6B69AB01B5B}" presName="rootComposite" presStyleCnt="0"/>
      <dgm:spPr/>
    </dgm:pt>
    <dgm:pt modelId="{F5B5AD37-03F3-4D4F-8821-45A61179F195}" type="pres">
      <dgm:prSet presAssocID="{D671CAAA-C86C-4228-9E58-E6B69AB01B5B}" presName="rootText" presStyleLbl="node1" presStyleIdx="0" presStyleCnt="1" custScaleX="197429"/>
      <dgm:spPr/>
    </dgm:pt>
    <dgm:pt modelId="{B0D7698A-8D1C-47E8-8B17-1251DFD03C46}" type="pres">
      <dgm:prSet presAssocID="{D671CAAA-C86C-4228-9E58-E6B69AB01B5B}" presName="rootConnector" presStyleLbl="node1" presStyleIdx="0" presStyleCnt="1"/>
      <dgm:spPr/>
    </dgm:pt>
    <dgm:pt modelId="{FD7FA7B8-2BE0-4053-8619-842F33C5EB11}" type="pres">
      <dgm:prSet presAssocID="{D671CAAA-C86C-4228-9E58-E6B69AB01B5B}" presName="childShape" presStyleCnt="0"/>
      <dgm:spPr/>
    </dgm:pt>
    <dgm:pt modelId="{279692B6-8989-4277-9BBF-3987A165E321}" type="pres">
      <dgm:prSet presAssocID="{9D376533-7213-4861-9688-66F31EF14886}" presName="Name13" presStyleLbl="parChTrans1D2" presStyleIdx="0" presStyleCnt="4"/>
      <dgm:spPr/>
    </dgm:pt>
    <dgm:pt modelId="{E314C487-10CC-4046-9162-2B69F2CFB63C}" type="pres">
      <dgm:prSet presAssocID="{0C30550D-3CF3-4336-A720-55F88219E07B}" presName="childText" presStyleLbl="bgAcc1" presStyleIdx="0" presStyleCnt="4" custScaleX="201768">
        <dgm:presLayoutVars>
          <dgm:bulletEnabled val="1"/>
        </dgm:presLayoutVars>
      </dgm:prSet>
      <dgm:spPr/>
    </dgm:pt>
    <dgm:pt modelId="{FCC0CCC8-B235-440C-99E8-5A2AB67C2E4E}" type="pres">
      <dgm:prSet presAssocID="{1E65B359-5683-44F6-A16E-0875F6C79356}" presName="Name13" presStyleLbl="parChTrans1D2" presStyleIdx="1" presStyleCnt="4"/>
      <dgm:spPr/>
    </dgm:pt>
    <dgm:pt modelId="{705589CD-D6D4-4C82-8C90-D0276968B63B}" type="pres">
      <dgm:prSet presAssocID="{9CC7910F-322B-406E-8066-B6B99F2623A5}" presName="childText" presStyleLbl="bgAcc1" presStyleIdx="1" presStyleCnt="4" custScaleX="201769">
        <dgm:presLayoutVars>
          <dgm:bulletEnabled val="1"/>
        </dgm:presLayoutVars>
      </dgm:prSet>
      <dgm:spPr/>
    </dgm:pt>
    <dgm:pt modelId="{76E9BE57-DDCE-4042-BF85-79E8598CF449}" type="pres">
      <dgm:prSet presAssocID="{94BF988A-B35D-47F7-8C68-357E3D0F4367}" presName="Name13" presStyleLbl="parChTrans1D2" presStyleIdx="2" presStyleCnt="4"/>
      <dgm:spPr/>
    </dgm:pt>
    <dgm:pt modelId="{6CEEC90E-39F0-4B46-9419-D9C0B2AD39FE}" type="pres">
      <dgm:prSet presAssocID="{81475376-59C8-494A-B40A-8E2001119647}" presName="childText" presStyleLbl="bgAcc1" presStyleIdx="2" presStyleCnt="4" custScaleX="198293">
        <dgm:presLayoutVars>
          <dgm:bulletEnabled val="1"/>
        </dgm:presLayoutVars>
      </dgm:prSet>
      <dgm:spPr/>
    </dgm:pt>
    <dgm:pt modelId="{D4498550-5133-488E-A668-513A3330A2B5}" type="pres">
      <dgm:prSet presAssocID="{C580400E-74C8-4338-B6F6-5A8877B9AF6B}" presName="Name13" presStyleLbl="parChTrans1D2" presStyleIdx="3" presStyleCnt="4"/>
      <dgm:spPr/>
    </dgm:pt>
    <dgm:pt modelId="{7B68E6BB-588B-4286-9323-FA66CEFD5A39}" type="pres">
      <dgm:prSet presAssocID="{2F1069E4-2BC1-4833-9E69-907311F3770B}" presName="childText" presStyleLbl="bgAcc1" presStyleIdx="3" presStyleCnt="4" custScaleX="194171">
        <dgm:presLayoutVars>
          <dgm:bulletEnabled val="1"/>
        </dgm:presLayoutVars>
      </dgm:prSet>
      <dgm:spPr/>
    </dgm:pt>
  </dgm:ptLst>
  <dgm:cxnLst>
    <dgm:cxn modelId="{E9022902-D796-4B3D-85E5-B0BD952F0433}" type="presOf" srcId="{9CC7910F-322B-406E-8066-B6B99F2623A5}" destId="{705589CD-D6D4-4C82-8C90-D0276968B63B}" srcOrd="0" destOrd="0" presId="urn:microsoft.com/office/officeart/2005/8/layout/hierarchy3"/>
    <dgm:cxn modelId="{4B2DE01A-8673-4644-A9BA-B78938392B7C}" srcId="{D671CAAA-C86C-4228-9E58-E6B69AB01B5B}" destId="{9CC7910F-322B-406E-8066-B6B99F2623A5}" srcOrd="1" destOrd="0" parTransId="{1E65B359-5683-44F6-A16E-0875F6C79356}" sibTransId="{C1CA6D8F-7324-40F0-BFCD-79339A833FA5}"/>
    <dgm:cxn modelId="{31BDA026-5A2A-4E74-88CA-E0E6490260FE}" srcId="{D671CAAA-C86C-4228-9E58-E6B69AB01B5B}" destId="{0C30550D-3CF3-4336-A720-55F88219E07B}" srcOrd="0" destOrd="0" parTransId="{9D376533-7213-4861-9688-66F31EF14886}" sibTransId="{6E43B30D-0AD1-4D4D-BFE4-8A0061EEBDC8}"/>
    <dgm:cxn modelId="{885F4730-CC39-452D-BD48-D770A9DEFD52}" type="presOf" srcId="{D671CAAA-C86C-4228-9E58-E6B69AB01B5B}" destId="{F5B5AD37-03F3-4D4F-8821-45A61179F195}" srcOrd="0" destOrd="0" presId="urn:microsoft.com/office/officeart/2005/8/layout/hierarchy3"/>
    <dgm:cxn modelId="{D256035C-236F-4C31-B705-5BDFD8229D79}" type="presOf" srcId="{81475376-59C8-494A-B40A-8E2001119647}" destId="{6CEEC90E-39F0-4B46-9419-D9C0B2AD39FE}" srcOrd="0" destOrd="0" presId="urn:microsoft.com/office/officeart/2005/8/layout/hierarchy3"/>
    <dgm:cxn modelId="{6A945E64-E5A7-4D9A-A92F-5EB5F69CF7A1}" srcId="{D671CAAA-C86C-4228-9E58-E6B69AB01B5B}" destId="{81475376-59C8-494A-B40A-8E2001119647}" srcOrd="2" destOrd="0" parTransId="{94BF988A-B35D-47F7-8C68-357E3D0F4367}" sibTransId="{CACC8A3B-634A-4838-9F81-BFB39E62AF31}"/>
    <dgm:cxn modelId="{5D50C164-4A88-4AAF-937B-EA3D613EA433}" type="presOf" srcId="{1E65B359-5683-44F6-A16E-0875F6C79356}" destId="{FCC0CCC8-B235-440C-99E8-5A2AB67C2E4E}" srcOrd="0" destOrd="0" presId="urn:microsoft.com/office/officeart/2005/8/layout/hierarchy3"/>
    <dgm:cxn modelId="{0E914187-DE77-4EF6-B8B2-1E5F5004A5AA}" type="presOf" srcId="{D671CAAA-C86C-4228-9E58-E6B69AB01B5B}" destId="{B0D7698A-8D1C-47E8-8B17-1251DFD03C46}" srcOrd="1" destOrd="0" presId="urn:microsoft.com/office/officeart/2005/8/layout/hierarchy3"/>
    <dgm:cxn modelId="{8F837693-F2EC-4845-BA07-67C185CBA92D}" type="presOf" srcId="{9D376533-7213-4861-9688-66F31EF14886}" destId="{279692B6-8989-4277-9BBF-3987A165E321}" srcOrd="0" destOrd="0" presId="urn:microsoft.com/office/officeart/2005/8/layout/hierarchy3"/>
    <dgm:cxn modelId="{A57B9994-9BFD-4205-B7B8-82A02C3892F8}" type="presOf" srcId="{2F1069E4-2BC1-4833-9E69-907311F3770B}" destId="{7B68E6BB-588B-4286-9323-FA66CEFD5A39}" srcOrd="0" destOrd="0" presId="urn:microsoft.com/office/officeart/2005/8/layout/hierarchy3"/>
    <dgm:cxn modelId="{95EF8E95-8569-400F-AA96-5E6CFAB79850}" srcId="{D671CAAA-C86C-4228-9E58-E6B69AB01B5B}" destId="{2F1069E4-2BC1-4833-9E69-907311F3770B}" srcOrd="3" destOrd="0" parTransId="{C580400E-74C8-4338-B6F6-5A8877B9AF6B}" sibTransId="{56DF2A79-EFAE-44FA-B324-04B9CEB0973E}"/>
    <dgm:cxn modelId="{65A55C9A-D11A-4141-A282-247A64343197}" type="presOf" srcId="{94BF988A-B35D-47F7-8C68-357E3D0F4367}" destId="{76E9BE57-DDCE-4042-BF85-79E8598CF449}" srcOrd="0" destOrd="0" presId="urn:microsoft.com/office/officeart/2005/8/layout/hierarchy3"/>
    <dgm:cxn modelId="{7E22D09F-C2CA-4836-9698-4B79330FD891}" srcId="{72B234CE-46D3-40F3-9A8F-AA5A1D454F1A}" destId="{D671CAAA-C86C-4228-9E58-E6B69AB01B5B}" srcOrd="0" destOrd="0" parTransId="{FC8D4F3F-681C-44E5-9211-4E04EF09312B}" sibTransId="{62A78E55-F27E-42FD-9F02-79D919209A9B}"/>
    <dgm:cxn modelId="{3AA3C5C4-B2D2-4E85-9805-F75C022D46A7}" type="presOf" srcId="{C580400E-74C8-4338-B6F6-5A8877B9AF6B}" destId="{D4498550-5133-488E-A668-513A3330A2B5}" srcOrd="0" destOrd="0" presId="urn:microsoft.com/office/officeart/2005/8/layout/hierarchy3"/>
    <dgm:cxn modelId="{5BAAE2F4-3439-4C55-AB49-A79CA14131BB}" type="presOf" srcId="{72B234CE-46D3-40F3-9A8F-AA5A1D454F1A}" destId="{DD1A7FBA-488F-4B11-BFFA-D9E6212E3060}" srcOrd="0" destOrd="0" presId="urn:microsoft.com/office/officeart/2005/8/layout/hierarchy3"/>
    <dgm:cxn modelId="{3A346BFA-2F82-4254-926B-3B3D2A202FD6}" type="presOf" srcId="{0C30550D-3CF3-4336-A720-55F88219E07B}" destId="{E314C487-10CC-4046-9162-2B69F2CFB63C}" srcOrd="0" destOrd="0" presId="urn:microsoft.com/office/officeart/2005/8/layout/hierarchy3"/>
    <dgm:cxn modelId="{40D99EA3-AFD6-443E-8C61-5C9DDA5B259D}" type="presParOf" srcId="{DD1A7FBA-488F-4B11-BFFA-D9E6212E3060}" destId="{0A1F13BB-1A8D-4033-BCCD-D81BC12BCC80}" srcOrd="0" destOrd="0" presId="urn:microsoft.com/office/officeart/2005/8/layout/hierarchy3"/>
    <dgm:cxn modelId="{6985C068-97B4-477F-92FE-CEF1084C37A2}" type="presParOf" srcId="{0A1F13BB-1A8D-4033-BCCD-D81BC12BCC80}" destId="{B2494472-2D42-4B4A-9820-8E8AE1BC7259}" srcOrd="0" destOrd="0" presId="urn:microsoft.com/office/officeart/2005/8/layout/hierarchy3"/>
    <dgm:cxn modelId="{1668AAD5-D3C5-481D-8445-A78ABA98941F}" type="presParOf" srcId="{B2494472-2D42-4B4A-9820-8E8AE1BC7259}" destId="{F5B5AD37-03F3-4D4F-8821-45A61179F195}" srcOrd="0" destOrd="0" presId="urn:microsoft.com/office/officeart/2005/8/layout/hierarchy3"/>
    <dgm:cxn modelId="{3C07C8C9-9171-457F-A61D-B13116D27D5C}" type="presParOf" srcId="{B2494472-2D42-4B4A-9820-8E8AE1BC7259}" destId="{B0D7698A-8D1C-47E8-8B17-1251DFD03C46}" srcOrd="1" destOrd="0" presId="urn:microsoft.com/office/officeart/2005/8/layout/hierarchy3"/>
    <dgm:cxn modelId="{9F4B4688-870A-4E99-A2A0-6843D3E4EEC9}" type="presParOf" srcId="{0A1F13BB-1A8D-4033-BCCD-D81BC12BCC80}" destId="{FD7FA7B8-2BE0-4053-8619-842F33C5EB11}" srcOrd="1" destOrd="0" presId="urn:microsoft.com/office/officeart/2005/8/layout/hierarchy3"/>
    <dgm:cxn modelId="{DB7D0C39-03B5-4311-AEBA-E034A9E39AF8}" type="presParOf" srcId="{FD7FA7B8-2BE0-4053-8619-842F33C5EB11}" destId="{279692B6-8989-4277-9BBF-3987A165E321}" srcOrd="0" destOrd="0" presId="urn:microsoft.com/office/officeart/2005/8/layout/hierarchy3"/>
    <dgm:cxn modelId="{1FAC9E58-6048-4018-8698-5BE2B3A96727}" type="presParOf" srcId="{FD7FA7B8-2BE0-4053-8619-842F33C5EB11}" destId="{E314C487-10CC-4046-9162-2B69F2CFB63C}" srcOrd="1" destOrd="0" presId="urn:microsoft.com/office/officeart/2005/8/layout/hierarchy3"/>
    <dgm:cxn modelId="{E0EE6DB7-9A80-4CE9-B455-D87F85474F4B}" type="presParOf" srcId="{FD7FA7B8-2BE0-4053-8619-842F33C5EB11}" destId="{FCC0CCC8-B235-440C-99E8-5A2AB67C2E4E}" srcOrd="2" destOrd="0" presId="urn:microsoft.com/office/officeart/2005/8/layout/hierarchy3"/>
    <dgm:cxn modelId="{8078137E-FDE4-443B-8A78-8C093E03F2FC}" type="presParOf" srcId="{FD7FA7B8-2BE0-4053-8619-842F33C5EB11}" destId="{705589CD-D6D4-4C82-8C90-D0276968B63B}" srcOrd="3" destOrd="0" presId="urn:microsoft.com/office/officeart/2005/8/layout/hierarchy3"/>
    <dgm:cxn modelId="{3D15120A-D32E-4D48-9DAF-369F887C59F0}" type="presParOf" srcId="{FD7FA7B8-2BE0-4053-8619-842F33C5EB11}" destId="{76E9BE57-DDCE-4042-BF85-79E8598CF449}" srcOrd="4" destOrd="0" presId="urn:microsoft.com/office/officeart/2005/8/layout/hierarchy3"/>
    <dgm:cxn modelId="{B9F7AFBD-B91B-4C84-B50F-6988636396AB}" type="presParOf" srcId="{FD7FA7B8-2BE0-4053-8619-842F33C5EB11}" destId="{6CEEC90E-39F0-4B46-9419-D9C0B2AD39FE}" srcOrd="5" destOrd="0" presId="urn:microsoft.com/office/officeart/2005/8/layout/hierarchy3"/>
    <dgm:cxn modelId="{EB716CD2-A3FF-46F3-A649-CB9534EFE815}" type="presParOf" srcId="{FD7FA7B8-2BE0-4053-8619-842F33C5EB11}" destId="{D4498550-5133-488E-A668-513A3330A2B5}" srcOrd="6" destOrd="0" presId="urn:microsoft.com/office/officeart/2005/8/layout/hierarchy3"/>
    <dgm:cxn modelId="{F1E173C5-C9AF-4853-87E3-F115DC596D1E}" type="presParOf" srcId="{FD7FA7B8-2BE0-4053-8619-842F33C5EB11}" destId="{7B68E6BB-588B-4286-9323-FA66CEFD5A39}" srcOrd="7"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B5AD37-03F3-4D4F-8821-45A61179F195}">
      <dsp:nvSpPr>
        <dsp:cNvPr id="0" name=""/>
        <dsp:cNvSpPr/>
      </dsp:nvSpPr>
      <dsp:spPr>
        <a:xfrm>
          <a:off x="1068353" y="640"/>
          <a:ext cx="1782160" cy="4513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t>Pricing Options</a:t>
          </a:r>
          <a:endParaRPr lang="en-IN" sz="1500" kern="1200" dirty="0"/>
        </a:p>
      </dsp:txBody>
      <dsp:txXfrm>
        <a:off x="1081572" y="13859"/>
        <a:ext cx="1755722" cy="424904"/>
      </dsp:txXfrm>
    </dsp:sp>
    <dsp:sp modelId="{279692B6-8989-4277-9BBF-3987A165E321}">
      <dsp:nvSpPr>
        <dsp:cNvPr id="0" name=""/>
        <dsp:cNvSpPr/>
      </dsp:nvSpPr>
      <dsp:spPr>
        <a:xfrm>
          <a:off x="1246569" y="451982"/>
          <a:ext cx="178216" cy="338506"/>
        </a:xfrm>
        <a:custGeom>
          <a:avLst/>
          <a:gdLst/>
          <a:ahLst/>
          <a:cxnLst/>
          <a:rect l="0" t="0" r="0" b="0"/>
          <a:pathLst>
            <a:path>
              <a:moveTo>
                <a:pt x="0" y="0"/>
              </a:moveTo>
              <a:lnTo>
                <a:pt x="0" y="338506"/>
              </a:lnTo>
              <a:lnTo>
                <a:pt x="178216" y="3385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14C487-10CC-4046-9162-2B69F2CFB63C}">
      <dsp:nvSpPr>
        <dsp:cNvPr id="0" name=""/>
        <dsp:cNvSpPr/>
      </dsp:nvSpPr>
      <dsp:spPr>
        <a:xfrm>
          <a:off x="1424785" y="564817"/>
          <a:ext cx="1457062" cy="4513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Pay as you Use</a:t>
          </a:r>
          <a:endParaRPr lang="en-IN" sz="1700" kern="1200" dirty="0"/>
        </a:p>
      </dsp:txBody>
      <dsp:txXfrm>
        <a:off x="1438004" y="578036"/>
        <a:ext cx="1430624" cy="424904"/>
      </dsp:txXfrm>
    </dsp:sp>
    <dsp:sp modelId="{FCC0CCC8-B235-440C-99E8-5A2AB67C2E4E}">
      <dsp:nvSpPr>
        <dsp:cNvPr id="0" name=""/>
        <dsp:cNvSpPr/>
      </dsp:nvSpPr>
      <dsp:spPr>
        <a:xfrm>
          <a:off x="1246569" y="451982"/>
          <a:ext cx="178216" cy="902684"/>
        </a:xfrm>
        <a:custGeom>
          <a:avLst/>
          <a:gdLst/>
          <a:ahLst/>
          <a:cxnLst/>
          <a:rect l="0" t="0" r="0" b="0"/>
          <a:pathLst>
            <a:path>
              <a:moveTo>
                <a:pt x="0" y="0"/>
              </a:moveTo>
              <a:lnTo>
                <a:pt x="0" y="902684"/>
              </a:lnTo>
              <a:lnTo>
                <a:pt x="178216" y="9026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5589CD-D6D4-4C82-8C90-D0276968B63B}">
      <dsp:nvSpPr>
        <dsp:cNvPr id="0" name=""/>
        <dsp:cNvSpPr/>
      </dsp:nvSpPr>
      <dsp:spPr>
        <a:xfrm>
          <a:off x="1424785" y="1128995"/>
          <a:ext cx="1457069" cy="4513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Tier Based</a:t>
          </a:r>
          <a:endParaRPr lang="en-IN" sz="1700" kern="1200" dirty="0"/>
        </a:p>
      </dsp:txBody>
      <dsp:txXfrm>
        <a:off x="1438004" y="1142214"/>
        <a:ext cx="1430631" cy="424904"/>
      </dsp:txXfrm>
    </dsp:sp>
    <dsp:sp modelId="{76E9BE57-DDCE-4042-BF85-79E8598CF449}">
      <dsp:nvSpPr>
        <dsp:cNvPr id="0" name=""/>
        <dsp:cNvSpPr/>
      </dsp:nvSpPr>
      <dsp:spPr>
        <a:xfrm>
          <a:off x="1246569" y="451982"/>
          <a:ext cx="178216" cy="1466861"/>
        </a:xfrm>
        <a:custGeom>
          <a:avLst/>
          <a:gdLst/>
          <a:ahLst/>
          <a:cxnLst/>
          <a:rect l="0" t="0" r="0" b="0"/>
          <a:pathLst>
            <a:path>
              <a:moveTo>
                <a:pt x="0" y="0"/>
              </a:moveTo>
              <a:lnTo>
                <a:pt x="0" y="1466861"/>
              </a:lnTo>
              <a:lnTo>
                <a:pt x="178216" y="14668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EEC90E-39F0-4B46-9419-D9C0B2AD39FE}">
      <dsp:nvSpPr>
        <dsp:cNvPr id="0" name=""/>
        <dsp:cNvSpPr/>
      </dsp:nvSpPr>
      <dsp:spPr>
        <a:xfrm>
          <a:off x="1424785" y="1693173"/>
          <a:ext cx="1431967" cy="4513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Flat Price</a:t>
          </a:r>
          <a:endParaRPr lang="en-IN" sz="1700" kern="1200" dirty="0"/>
        </a:p>
      </dsp:txBody>
      <dsp:txXfrm>
        <a:off x="1438004" y="1706392"/>
        <a:ext cx="1405529" cy="424904"/>
      </dsp:txXfrm>
    </dsp:sp>
    <dsp:sp modelId="{D4498550-5133-488E-A668-513A3330A2B5}">
      <dsp:nvSpPr>
        <dsp:cNvPr id="0" name=""/>
        <dsp:cNvSpPr/>
      </dsp:nvSpPr>
      <dsp:spPr>
        <a:xfrm>
          <a:off x="1246569" y="451982"/>
          <a:ext cx="178216" cy="2031039"/>
        </a:xfrm>
        <a:custGeom>
          <a:avLst/>
          <a:gdLst/>
          <a:ahLst/>
          <a:cxnLst/>
          <a:rect l="0" t="0" r="0" b="0"/>
          <a:pathLst>
            <a:path>
              <a:moveTo>
                <a:pt x="0" y="0"/>
              </a:moveTo>
              <a:lnTo>
                <a:pt x="0" y="2031039"/>
              </a:lnTo>
              <a:lnTo>
                <a:pt x="178216" y="20310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68E6BB-588B-4286-9323-FA66CEFD5A39}">
      <dsp:nvSpPr>
        <dsp:cNvPr id="0" name=""/>
        <dsp:cNvSpPr/>
      </dsp:nvSpPr>
      <dsp:spPr>
        <a:xfrm>
          <a:off x="1424785" y="2257350"/>
          <a:ext cx="1402200" cy="4513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Custom</a:t>
          </a:r>
          <a:endParaRPr lang="en-IN" sz="1700" kern="1200" dirty="0"/>
        </a:p>
      </dsp:txBody>
      <dsp:txXfrm>
        <a:off x="1438004" y="2270569"/>
        <a:ext cx="1375762" cy="4249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6/14/2024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6/14/2024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oleObject" Target="../embeddings/oleObject12.bin"/><Relationship Id="rId7" Type="http://schemas.openxmlformats.org/officeDocument/2006/relationships/diagramQuickStyle" Target="../diagrams/quickStyle1.xml"/><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2.emf"/><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3" Type="http://schemas.openxmlformats.org/officeDocument/2006/relationships/oleObject" Target="../embeddings/oleObject13.bin"/><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 Type="http://schemas.openxmlformats.org/officeDocument/2006/relationships/slideLayout" Target="../slideLayouts/slideLayout3.xml"/><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tags" Target="../tags/tag15.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image" Target="../media/image22.emf"/><Relationship Id="rId9" Type="http://schemas.openxmlformats.org/officeDocument/2006/relationships/image" Target="../media/image27.png"/><Relationship Id="rId1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a:t>28 Point Title 1.2 Character Spacing</a:t>
            </a:r>
          </a:p>
        </p:txBody>
      </p:sp>
      <p:sp>
        <p:nvSpPr>
          <p:cNvPr id="3" name="Subtitle 2"/>
          <p:cNvSpPr>
            <a:spLocks noGrp="1"/>
          </p:cNvSpPr>
          <p:nvPr>
            <p:ph type="subTitle" idx="1"/>
          </p:nvPr>
        </p:nvSpPr>
        <p:spPr>
          <a:xfrm>
            <a:off x="1993392" y="4971085"/>
            <a:ext cx="8165592" cy="335280"/>
          </a:xfrm>
        </p:spPr>
        <p:txBody>
          <a:bodyPr/>
          <a:lstStyle/>
          <a:p>
            <a:r>
              <a:rPr lang="en-US"/>
              <a:t>18 Point Subtitle</a:t>
            </a:r>
          </a:p>
        </p:txBody>
      </p:sp>
      <p:sp>
        <p:nvSpPr>
          <p:cNvPr id="4" name="Text Placeholder 3"/>
          <p:cNvSpPr>
            <a:spLocks noGrp="1"/>
          </p:cNvSpPr>
          <p:nvPr>
            <p:ph type="body" sz="quarter" idx="13"/>
          </p:nvPr>
        </p:nvSpPr>
        <p:spPr>
          <a:xfrm>
            <a:off x="1993392" y="5406888"/>
            <a:ext cx="4876800" cy="304800"/>
          </a:xfrm>
        </p:spPr>
        <p:txBody>
          <a:bodyPr/>
          <a:lstStyle/>
          <a:p>
            <a:r>
              <a:rPr lang="en-US"/>
              <a:t>Month Day, Year</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rrow: Bent 14">
            <a:extLst>
              <a:ext uri="{FF2B5EF4-FFF2-40B4-BE49-F238E27FC236}">
                <a16:creationId xmlns:a16="http://schemas.microsoft.com/office/drawing/2014/main" id="{F3B13D4F-D334-9B2D-2EDF-963E72347097}"/>
              </a:ext>
            </a:extLst>
          </p:cNvPr>
          <p:cNvSpPr/>
          <p:nvPr/>
        </p:nvSpPr>
        <p:spPr>
          <a:xfrm rot="10800000">
            <a:off x="2777497" y="2605622"/>
            <a:ext cx="454155" cy="1549847"/>
          </a:xfrm>
          <a:prstGeom prst="ben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400">
              <a:solidFill>
                <a:schemeClr val="tx1"/>
              </a:solidFill>
            </a:endParaRPr>
          </a:p>
        </p:txBody>
      </p:sp>
      <p:sp>
        <p:nvSpPr>
          <p:cNvPr id="3" name="Text Placeholder 2">
            <a:extLst>
              <a:ext uri="{FF2B5EF4-FFF2-40B4-BE49-F238E27FC236}">
                <a16:creationId xmlns:a16="http://schemas.microsoft.com/office/drawing/2014/main" id="{AC5DAEFD-C4B4-F48A-7279-D3D3D5A06CF7}"/>
              </a:ext>
            </a:extLst>
          </p:cNvPr>
          <p:cNvSpPr>
            <a:spLocks noGrp="1"/>
          </p:cNvSpPr>
          <p:nvPr>
            <p:ph type="body" sz="quarter" idx="14"/>
          </p:nvPr>
        </p:nvSpPr>
        <p:spPr/>
        <p:txBody>
          <a:bodyPr/>
          <a:lstStyle/>
          <a:p>
            <a:endParaRPr lang="en-IN"/>
          </a:p>
        </p:txBody>
      </p:sp>
      <p:sp>
        <p:nvSpPr>
          <p:cNvPr id="4" name="Text Placeholder 3">
            <a:extLst>
              <a:ext uri="{FF2B5EF4-FFF2-40B4-BE49-F238E27FC236}">
                <a16:creationId xmlns:a16="http://schemas.microsoft.com/office/drawing/2014/main" id="{6A879CBE-A361-E91F-1386-53807CC5F4AC}"/>
              </a:ext>
            </a:extLst>
          </p:cNvPr>
          <p:cNvSpPr>
            <a:spLocks noGrp="1"/>
          </p:cNvSpPr>
          <p:nvPr>
            <p:ph type="body" sz="quarter" idx="15"/>
          </p:nvPr>
        </p:nvSpPr>
        <p:spPr>
          <a:xfrm>
            <a:off x="609600" y="858584"/>
            <a:ext cx="10972800" cy="5516817"/>
          </a:xfrm>
        </p:spPr>
        <p:txBody>
          <a:bodyPr/>
          <a:lstStyle/>
          <a:p>
            <a:pPr marL="3175" indent="0">
              <a:buNone/>
            </a:pPr>
            <a:r>
              <a:rPr lang="en-US" dirty="0"/>
              <a:t>Various Costs Involved in Computing the Billing to the Customer:</a:t>
            </a:r>
          </a:p>
          <a:p>
            <a:pPr marL="3175" indent="0">
              <a:buNone/>
            </a:pPr>
            <a:r>
              <a:rPr lang="en-US" dirty="0"/>
              <a:t>The two main categories of Cost are: </a:t>
            </a:r>
            <a:r>
              <a:rPr lang="en-US" b="1" dirty="0" err="1">
                <a:solidFill>
                  <a:schemeClr val="accent1"/>
                </a:solidFill>
              </a:rPr>
              <a:t>i</a:t>
            </a:r>
            <a:r>
              <a:rPr lang="en-US" b="1" dirty="0">
                <a:solidFill>
                  <a:schemeClr val="accent1"/>
                </a:solidFill>
              </a:rPr>
              <a:t>) Infra &amp; Cloud Data Platform Usage Cost ii) Development Cost</a:t>
            </a:r>
          </a:p>
          <a:p>
            <a:pPr marL="3175" indent="0">
              <a:buNone/>
            </a:pPr>
            <a:endParaRPr lang="en-US" dirty="0"/>
          </a:p>
          <a:p>
            <a:pPr marL="3175" indent="0">
              <a:buNone/>
            </a:pPr>
            <a:r>
              <a:rPr lang="en-US" dirty="0"/>
              <a:t>- </a:t>
            </a:r>
            <a:endParaRPr lang="en-IN" dirty="0"/>
          </a:p>
        </p:txBody>
      </p:sp>
      <p:sp>
        <p:nvSpPr>
          <p:cNvPr id="5" name="Title 1">
            <a:extLst>
              <a:ext uri="{FF2B5EF4-FFF2-40B4-BE49-F238E27FC236}">
                <a16:creationId xmlns:a16="http://schemas.microsoft.com/office/drawing/2014/main" id="{A91C1AA9-4414-B2A5-D2FA-F77E2D6B15E5}"/>
              </a:ext>
            </a:extLst>
          </p:cNvPr>
          <p:cNvSpPr txBox="1">
            <a:spLocks/>
          </p:cNvSpPr>
          <p:nvPr/>
        </p:nvSpPr>
        <p:spPr>
          <a:xfrm>
            <a:off x="762000" y="256815"/>
            <a:ext cx="10972800" cy="601769"/>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2600" b="0" i="0" kern="1200" spc="120" baseline="0">
                <a:solidFill>
                  <a:schemeClr val="tx1"/>
                </a:solidFill>
                <a:latin typeface="+mn-lt"/>
                <a:ea typeface="+mj-ea"/>
                <a:cs typeface="Tahoma" pitchFamily="34" charset="0"/>
              </a:defRPr>
            </a:lvl1pPr>
          </a:lstStyle>
          <a:p>
            <a:r>
              <a:rPr lang="en-US" dirty="0"/>
              <a:t>Cost Derivation Approach</a:t>
            </a:r>
          </a:p>
        </p:txBody>
      </p:sp>
      <p:sp>
        <p:nvSpPr>
          <p:cNvPr id="8" name="Rectangle: Rounded Corners 7">
            <a:extLst>
              <a:ext uri="{FF2B5EF4-FFF2-40B4-BE49-F238E27FC236}">
                <a16:creationId xmlns:a16="http://schemas.microsoft.com/office/drawing/2014/main" id="{7763C0EA-9618-A710-B97D-EDCB830C78E2}"/>
              </a:ext>
            </a:extLst>
          </p:cNvPr>
          <p:cNvSpPr/>
          <p:nvPr/>
        </p:nvSpPr>
        <p:spPr>
          <a:xfrm>
            <a:off x="1615450" y="1901536"/>
            <a:ext cx="3422904" cy="7040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  Infra &amp; Cloud Data Platform </a:t>
            </a:r>
          </a:p>
          <a:p>
            <a:pPr algn="r"/>
            <a:r>
              <a:rPr lang="en-US" dirty="0"/>
              <a:t>Usage Cost</a:t>
            </a:r>
            <a:endParaRPr lang="en-IN" dirty="0"/>
          </a:p>
        </p:txBody>
      </p:sp>
      <p:pic>
        <p:nvPicPr>
          <p:cNvPr id="10" name="Graphic 9" descr="Cloud Computing with solid fill">
            <a:extLst>
              <a:ext uri="{FF2B5EF4-FFF2-40B4-BE49-F238E27FC236}">
                <a16:creationId xmlns:a16="http://schemas.microsoft.com/office/drawing/2014/main" id="{A1B73A8C-9111-8912-CAFC-A6D56C858B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52610" y="2010312"/>
            <a:ext cx="457200" cy="457200"/>
          </a:xfrm>
          <a:prstGeom prst="rect">
            <a:avLst/>
          </a:prstGeom>
        </p:spPr>
      </p:pic>
      <p:sp>
        <p:nvSpPr>
          <p:cNvPr id="11" name="Rectangle: Rounded Corners 10">
            <a:extLst>
              <a:ext uri="{FF2B5EF4-FFF2-40B4-BE49-F238E27FC236}">
                <a16:creationId xmlns:a16="http://schemas.microsoft.com/office/drawing/2014/main" id="{06CAFF87-7BA9-71C3-34FE-4208387112CB}"/>
              </a:ext>
            </a:extLst>
          </p:cNvPr>
          <p:cNvSpPr/>
          <p:nvPr/>
        </p:nvSpPr>
        <p:spPr>
          <a:xfrm>
            <a:off x="7959650" y="1901536"/>
            <a:ext cx="2872931" cy="565976"/>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  Development Cost</a:t>
            </a:r>
            <a:endParaRPr lang="en-IN" dirty="0"/>
          </a:p>
        </p:txBody>
      </p:sp>
      <p:pic>
        <p:nvPicPr>
          <p:cNvPr id="13" name="Graphic 12" descr="Labor with solid fill">
            <a:extLst>
              <a:ext uri="{FF2B5EF4-FFF2-40B4-BE49-F238E27FC236}">
                <a16:creationId xmlns:a16="http://schemas.microsoft.com/office/drawing/2014/main" id="{5FC3ED80-F952-4AF1-C0C2-E8A3F576B3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62755" y="1949032"/>
            <a:ext cx="457200" cy="457200"/>
          </a:xfrm>
          <a:prstGeom prst="rect">
            <a:avLst/>
          </a:prstGeom>
        </p:spPr>
      </p:pic>
      <p:sp>
        <p:nvSpPr>
          <p:cNvPr id="14" name="Rectangle: Rounded Corners 13">
            <a:extLst>
              <a:ext uri="{FF2B5EF4-FFF2-40B4-BE49-F238E27FC236}">
                <a16:creationId xmlns:a16="http://schemas.microsoft.com/office/drawing/2014/main" id="{DEBB50A6-B862-FA8F-9046-32488AD2FBA8}"/>
              </a:ext>
            </a:extLst>
          </p:cNvPr>
          <p:cNvSpPr/>
          <p:nvPr/>
        </p:nvSpPr>
        <p:spPr>
          <a:xfrm>
            <a:off x="2017026" y="2857021"/>
            <a:ext cx="1350260" cy="438912"/>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sz="1400" b="1" dirty="0"/>
              <a:t>Dedicated</a:t>
            </a:r>
            <a:endParaRPr lang="en-IN" sz="1400" b="1" dirty="0"/>
          </a:p>
        </p:txBody>
      </p:sp>
      <p:sp>
        <p:nvSpPr>
          <p:cNvPr id="16" name="Arrow: Bent 15">
            <a:extLst>
              <a:ext uri="{FF2B5EF4-FFF2-40B4-BE49-F238E27FC236}">
                <a16:creationId xmlns:a16="http://schemas.microsoft.com/office/drawing/2014/main" id="{C98566BF-D998-A8C3-B763-642D4F370A22}"/>
              </a:ext>
            </a:extLst>
          </p:cNvPr>
          <p:cNvSpPr/>
          <p:nvPr/>
        </p:nvSpPr>
        <p:spPr>
          <a:xfrm rot="10800000" flipH="1">
            <a:off x="3597402" y="2605622"/>
            <a:ext cx="413009" cy="1868062"/>
          </a:xfrm>
          <a:prstGeom prst="ben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400">
              <a:solidFill>
                <a:schemeClr val="tx1"/>
              </a:solidFill>
            </a:endParaRPr>
          </a:p>
        </p:txBody>
      </p:sp>
      <p:sp>
        <p:nvSpPr>
          <p:cNvPr id="17" name="Rectangle: Rounded Corners 16">
            <a:extLst>
              <a:ext uri="{FF2B5EF4-FFF2-40B4-BE49-F238E27FC236}">
                <a16:creationId xmlns:a16="http://schemas.microsoft.com/office/drawing/2014/main" id="{621D395F-D036-5437-22DF-ECADA10014D5}"/>
              </a:ext>
            </a:extLst>
          </p:cNvPr>
          <p:cNvSpPr/>
          <p:nvPr/>
        </p:nvSpPr>
        <p:spPr>
          <a:xfrm>
            <a:off x="3478537" y="2838243"/>
            <a:ext cx="1350260" cy="438912"/>
          </a:xfrm>
          <a:prstGeom prst="roundRect">
            <a:avLst/>
          </a:prstGeom>
          <a:solidFill>
            <a:srgbClr val="00B050"/>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sz="1400" b="1" dirty="0"/>
              <a:t>Shared</a:t>
            </a:r>
            <a:endParaRPr lang="en-IN" sz="1400" b="1" dirty="0"/>
          </a:p>
        </p:txBody>
      </p:sp>
      <p:sp>
        <p:nvSpPr>
          <p:cNvPr id="18" name="Rectangle: Rounded Corners 17">
            <a:extLst>
              <a:ext uri="{FF2B5EF4-FFF2-40B4-BE49-F238E27FC236}">
                <a16:creationId xmlns:a16="http://schemas.microsoft.com/office/drawing/2014/main" id="{5881FE71-8DE3-651E-63A2-FAFF1E8B2B4D}"/>
              </a:ext>
            </a:extLst>
          </p:cNvPr>
          <p:cNvSpPr/>
          <p:nvPr/>
        </p:nvSpPr>
        <p:spPr>
          <a:xfrm>
            <a:off x="1163576" y="3841018"/>
            <a:ext cx="1612392" cy="641627"/>
          </a:xfrm>
          <a:prstGeom prst="round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solidFill>
                  <a:schemeClr val="tx2"/>
                </a:solidFill>
              </a:rPr>
              <a:t>Azure Databricks</a:t>
            </a:r>
          </a:p>
          <a:p>
            <a:pPr algn="ctr"/>
            <a:r>
              <a:rPr lang="en-US" sz="1400" dirty="0">
                <a:solidFill>
                  <a:schemeClr val="tx2"/>
                </a:solidFill>
              </a:rPr>
              <a:t>Cluster/Snowflake Cost </a:t>
            </a:r>
            <a:endParaRPr lang="en-IN" sz="1400" dirty="0">
              <a:solidFill>
                <a:schemeClr val="tx2"/>
              </a:solidFill>
            </a:endParaRPr>
          </a:p>
        </p:txBody>
      </p:sp>
      <p:pic>
        <p:nvPicPr>
          <p:cNvPr id="19" name="Graphic 18" descr="User with solid fill">
            <a:extLst>
              <a:ext uri="{FF2B5EF4-FFF2-40B4-BE49-F238E27FC236}">
                <a16:creationId xmlns:a16="http://schemas.microsoft.com/office/drawing/2014/main" id="{C23292AE-D2F8-758A-CB5C-D81221602EB0}"/>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81979" y="2904452"/>
            <a:ext cx="328240" cy="328240"/>
          </a:xfrm>
          <a:prstGeom prst="rect">
            <a:avLst/>
          </a:prstGeom>
        </p:spPr>
      </p:pic>
      <p:pic>
        <p:nvPicPr>
          <p:cNvPr id="20" name="Graphic 19" descr="Users with solid fill">
            <a:extLst>
              <a:ext uri="{FF2B5EF4-FFF2-40B4-BE49-F238E27FC236}">
                <a16:creationId xmlns:a16="http://schemas.microsoft.com/office/drawing/2014/main" id="{97B7F68B-A519-2F5B-A682-CB9B3EBA25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57301" y="2771950"/>
            <a:ext cx="571497" cy="571497"/>
          </a:xfrm>
          <a:prstGeom prst="rect">
            <a:avLst/>
          </a:prstGeom>
        </p:spPr>
      </p:pic>
      <p:sp>
        <p:nvSpPr>
          <p:cNvPr id="21" name="Rectangle: Rounded Corners 20">
            <a:extLst>
              <a:ext uri="{FF2B5EF4-FFF2-40B4-BE49-F238E27FC236}">
                <a16:creationId xmlns:a16="http://schemas.microsoft.com/office/drawing/2014/main" id="{6E7B718D-D050-FE8D-960D-CF5DE86F08D3}"/>
              </a:ext>
            </a:extLst>
          </p:cNvPr>
          <p:cNvSpPr/>
          <p:nvPr/>
        </p:nvSpPr>
        <p:spPr>
          <a:xfrm>
            <a:off x="3963169" y="3716065"/>
            <a:ext cx="2150370" cy="2586325"/>
          </a:xfrm>
          <a:prstGeom prst="round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Wingdings" panose="05000000000000000000" pitchFamily="2" charset="2"/>
              <a:buChar char="§"/>
            </a:pPr>
            <a:r>
              <a:rPr lang="en-US" sz="1400" dirty="0">
                <a:solidFill>
                  <a:schemeClr val="tx2"/>
                </a:solidFill>
              </a:rPr>
              <a:t>Azure Database for MySQL flexible server</a:t>
            </a:r>
          </a:p>
          <a:p>
            <a:pPr marL="285750" indent="-285750">
              <a:buFont typeface="Wingdings" panose="05000000000000000000" pitchFamily="2" charset="2"/>
              <a:buChar char="§"/>
            </a:pPr>
            <a:r>
              <a:rPr lang="en-US" sz="1400" dirty="0">
                <a:solidFill>
                  <a:schemeClr val="tx2"/>
                </a:solidFill>
              </a:rPr>
              <a:t>Disk</a:t>
            </a:r>
          </a:p>
          <a:p>
            <a:pPr marL="285750" indent="-285750">
              <a:buFont typeface="Wingdings" panose="05000000000000000000" pitchFamily="2" charset="2"/>
              <a:buChar char="§"/>
            </a:pPr>
            <a:r>
              <a:rPr lang="en-US" sz="1400" dirty="0">
                <a:solidFill>
                  <a:schemeClr val="tx2"/>
                </a:solidFill>
              </a:rPr>
              <a:t>NAT gateway</a:t>
            </a:r>
          </a:p>
          <a:p>
            <a:pPr marL="285750" indent="-285750">
              <a:buFont typeface="Wingdings" panose="05000000000000000000" pitchFamily="2" charset="2"/>
              <a:buChar char="§"/>
            </a:pPr>
            <a:r>
              <a:rPr lang="en-US" sz="1400" dirty="0">
                <a:solidFill>
                  <a:schemeClr val="tx2"/>
                </a:solidFill>
              </a:rPr>
              <a:t>Public IP address</a:t>
            </a:r>
          </a:p>
          <a:p>
            <a:pPr marL="285750" indent="-285750">
              <a:buFont typeface="Wingdings" panose="05000000000000000000" pitchFamily="2" charset="2"/>
              <a:buChar char="§"/>
            </a:pPr>
            <a:r>
              <a:rPr lang="en-US" sz="1400" dirty="0">
                <a:solidFill>
                  <a:schemeClr val="tx2"/>
                </a:solidFill>
              </a:rPr>
              <a:t>Storage account</a:t>
            </a:r>
          </a:p>
          <a:p>
            <a:pPr marL="285750" indent="-285750">
              <a:buFont typeface="Wingdings" panose="05000000000000000000" pitchFamily="2" charset="2"/>
              <a:buChar char="§"/>
            </a:pPr>
            <a:r>
              <a:rPr lang="en-US" sz="1400" dirty="0">
                <a:solidFill>
                  <a:schemeClr val="tx2"/>
                </a:solidFill>
              </a:rPr>
              <a:t>Virtual machine</a:t>
            </a:r>
          </a:p>
        </p:txBody>
      </p:sp>
      <p:sp>
        <p:nvSpPr>
          <p:cNvPr id="27" name="Rectangle: Rounded Corners 26">
            <a:extLst>
              <a:ext uri="{FF2B5EF4-FFF2-40B4-BE49-F238E27FC236}">
                <a16:creationId xmlns:a16="http://schemas.microsoft.com/office/drawing/2014/main" id="{75E9E054-DD66-DFB2-00FB-5EA8C0905420}"/>
              </a:ext>
            </a:extLst>
          </p:cNvPr>
          <p:cNvSpPr/>
          <p:nvPr/>
        </p:nvSpPr>
        <p:spPr>
          <a:xfrm>
            <a:off x="7480010" y="2453729"/>
            <a:ext cx="3703101" cy="565976"/>
          </a:xfrm>
          <a:prstGeom prst="round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solidFill>
                  <a:schemeClr val="tx2"/>
                </a:solidFill>
              </a:rPr>
              <a:t>Total Software Development Charges for Building the Extractors/Pipelines</a:t>
            </a:r>
          </a:p>
        </p:txBody>
      </p:sp>
      <p:cxnSp>
        <p:nvCxnSpPr>
          <p:cNvPr id="29" name="Straight Connector 28">
            <a:extLst>
              <a:ext uri="{FF2B5EF4-FFF2-40B4-BE49-F238E27FC236}">
                <a16:creationId xmlns:a16="http://schemas.microsoft.com/office/drawing/2014/main" id="{9507974E-9260-B406-C4BC-F2B5F65F5F7E}"/>
              </a:ext>
            </a:extLst>
          </p:cNvPr>
          <p:cNvCxnSpPr/>
          <p:nvPr/>
        </p:nvCxnSpPr>
        <p:spPr>
          <a:xfrm>
            <a:off x="6986016" y="1901536"/>
            <a:ext cx="0" cy="4400854"/>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75A3392D-C3AF-429C-67C9-31551AD4B008}"/>
              </a:ext>
            </a:extLst>
          </p:cNvPr>
          <p:cNvSpPr/>
          <p:nvPr/>
        </p:nvSpPr>
        <p:spPr>
          <a:xfrm>
            <a:off x="8262756" y="3094370"/>
            <a:ext cx="2681086" cy="955056"/>
          </a:xfrm>
          <a:prstGeom prst="roundRect">
            <a:avLst/>
          </a:prstGeom>
          <a:solidFill>
            <a:schemeClr val="bg1"/>
          </a:solidFill>
          <a:ln>
            <a:solidFill>
              <a:schemeClr val="tx2"/>
            </a:solidFill>
          </a:ln>
        </p:spPr>
        <p:style>
          <a:lnRef idx="0">
            <a:scrgbClr r="0" g="0" b="0"/>
          </a:lnRef>
          <a:fillRef idx="0">
            <a:scrgbClr r="0" g="0" b="0"/>
          </a:fillRef>
          <a:effectRef idx="0">
            <a:scrgbClr r="0" g="0" b="0"/>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2"/>
                </a:solidFill>
              </a:rPr>
              <a:t>Front End</a:t>
            </a:r>
          </a:p>
          <a:p>
            <a:pPr marL="171450" indent="-171450">
              <a:buFont typeface="Arial" panose="020B0604020202020204" pitchFamily="34" charset="0"/>
              <a:buChar char="•"/>
            </a:pPr>
            <a:r>
              <a:rPr lang="en-US" sz="1200" dirty="0">
                <a:solidFill>
                  <a:schemeClr val="tx2"/>
                </a:solidFill>
              </a:rPr>
              <a:t>Back End</a:t>
            </a:r>
          </a:p>
          <a:p>
            <a:pPr marL="171450" indent="-171450">
              <a:buFont typeface="Arial" panose="020B0604020202020204" pitchFamily="34" charset="0"/>
              <a:buChar char="•"/>
            </a:pPr>
            <a:r>
              <a:rPr lang="en-US" sz="1200" dirty="0">
                <a:solidFill>
                  <a:schemeClr val="tx2"/>
                </a:solidFill>
              </a:rPr>
              <a:t>Data Engineer</a:t>
            </a:r>
          </a:p>
          <a:p>
            <a:pPr marL="171450" indent="-171450">
              <a:buFont typeface="Arial" panose="020B0604020202020204" pitchFamily="34" charset="0"/>
              <a:buChar char="•"/>
            </a:pPr>
            <a:r>
              <a:rPr lang="en-US" sz="1200" dirty="0">
                <a:solidFill>
                  <a:schemeClr val="tx2"/>
                </a:solidFill>
              </a:rPr>
              <a:t>Acct Exec (1)</a:t>
            </a:r>
          </a:p>
        </p:txBody>
      </p:sp>
      <p:sp>
        <p:nvSpPr>
          <p:cNvPr id="31" name="Rectangle: Rounded Corners 30">
            <a:extLst>
              <a:ext uri="{FF2B5EF4-FFF2-40B4-BE49-F238E27FC236}">
                <a16:creationId xmlns:a16="http://schemas.microsoft.com/office/drawing/2014/main" id="{5F0681F3-8375-C552-9616-67AD88F8AA9E}"/>
              </a:ext>
            </a:extLst>
          </p:cNvPr>
          <p:cNvSpPr/>
          <p:nvPr/>
        </p:nvSpPr>
        <p:spPr>
          <a:xfrm>
            <a:off x="8254183" y="4257356"/>
            <a:ext cx="3703101" cy="1302195"/>
          </a:xfrm>
          <a:prstGeom prst="roundRect">
            <a:avLst/>
          </a:prstGeom>
          <a:solidFill>
            <a:schemeClr val="bg1"/>
          </a:solidFill>
          <a:ln>
            <a:solidFill>
              <a:schemeClr val="tx2"/>
            </a:solidFill>
          </a:ln>
        </p:spPr>
        <p:style>
          <a:lnRef idx="0">
            <a:scrgbClr r="0" g="0" b="0"/>
          </a:lnRef>
          <a:fillRef idx="0">
            <a:scrgbClr r="0" g="0" b="0"/>
          </a:fillRef>
          <a:effectRef idx="0">
            <a:scrgbClr r="0" g="0" b="0"/>
          </a:effectRef>
          <a:fontRef idx="minor">
            <a:schemeClr val="lt1"/>
          </a:fontRef>
        </p:style>
        <p:txBody>
          <a:bodyPr rtlCol="0" anchor="ctr"/>
          <a:lstStyle/>
          <a:p>
            <a:r>
              <a:rPr lang="en-US" sz="1200" b="1" dirty="0">
                <a:solidFill>
                  <a:schemeClr val="tx2"/>
                </a:solidFill>
              </a:rPr>
              <a:t>(Billing Rate of Resources * No of Resources) for all FE, BE and DE + (Billing Rate of Acc Exec*1) + Total Effort Required for Design &amp; Build including Testing</a:t>
            </a:r>
          </a:p>
        </p:txBody>
      </p:sp>
      <p:sp>
        <p:nvSpPr>
          <p:cNvPr id="32" name="Rectangle: Rounded Corners 31">
            <a:extLst>
              <a:ext uri="{FF2B5EF4-FFF2-40B4-BE49-F238E27FC236}">
                <a16:creationId xmlns:a16="http://schemas.microsoft.com/office/drawing/2014/main" id="{2735F31A-18D5-3158-A63B-7D11A7358392}"/>
              </a:ext>
            </a:extLst>
          </p:cNvPr>
          <p:cNvSpPr/>
          <p:nvPr/>
        </p:nvSpPr>
        <p:spPr>
          <a:xfrm>
            <a:off x="7316738" y="3395032"/>
            <a:ext cx="1027169" cy="477529"/>
          </a:xfrm>
          <a:prstGeom prst="round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Resources Involved</a:t>
            </a:r>
            <a:endParaRPr lang="en-IN" sz="1400" dirty="0"/>
          </a:p>
        </p:txBody>
      </p:sp>
      <p:sp>
        <p:nvSpPr>
          <p:cNvPr id="33" name="Rectangle: Rounded Corners 32">
            <a:extLst>
              <a:ext uri="{FF2B5EF4-FFF2-40B4-BE49-F238E27FC236}">
                <a16:creationId xmlns:a16="http://schemas.microsoft.com/office/drawing/2014/main" id="{2D3E9228-600B-9D4B-A209-F500E46B62E3}"/>
              </a:ext>
            </a:extLst>
          </p:cNvPr>
          <p:cNvSpPr/>
          <p:nvPr/>
        </p:nvSpPr>
        <p:spPr>
          <a:xfrm>
            <a:off x="7300740" y="4669688"/>
            <a:ext cx="1027169" cy="477529"/>
          </a:xfrm>
          <a:prstGeom prst="round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Derivation</a:t>
            </a:r>
            <a:endParaRPr lang="en-IN" sz="1400" dirty="0"/>
          </a:p>
        </p:txBody>
      </p:sp>
    </p:spTree>
    <p:extLst>
      <p:ext uri="{BB962C8B-B14F-4D97-AF65-F5344CB8AC3E}">
        <p14:creationId xmlns:p14="http://schemas.microsoft.com/office/powerpoint/2010/main" val="3347202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dirty="0"/>
              <a:t>Infra &amp; Cloud Data Platform Usage Cost Derivation Approach</a:t>
            </a:r>
          </a:p>
        </p:txBody>
      </p:sp>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graphicFrame>
        <p:nvGraphicFramePr>
          <p:cNvPr id="6" name="Table 5">
            <a:extLst>
              <a:ext uri="{FF2B5EF4-FFF2-40B4-BE49-F238E27FC236}">
                <a16:creationId xmlns:a16="http://schemas.microsoft.com/office/drawing/2014/main" id="{49148318-64DF-12E6-6E48-74A5D0005F66}"/>
              </a:ext>
            </a:extLst>
          </p:cNvPr>
          <p:cNvGraphicFramePr>
            <a:graphicFrameLocks noGrp="1"/>
          </p:cNvGraphicFramePr>
          <p:nvPr>
            <p:extLst>
              <p:ext uri="{D42A27DB-BD31-4B8C-83A1-F6EECF244321}">
                <p14:modId xmlns:p14="http://schemas.microsoft.com/office/powerpoint/2010/main" val="1133432176"/>
              </p:ext>
            </p:extLst>
          </p:nvPr>
        </p:nvGraphicFramePr>
        <p:xfrm>
          <a:off x="1060704" y="2176789"/>
          <a:ext cx="6080760" cy="4363072"/>
        </p:xfrm>
        <a:graphic>
          <a:graphicData uri="http://schemas.openxmlformats.org/drawingml/2006/table">
            <a:tbl>
              <a:tblPr firstRow="1" bandRow="1">
                <a:tableStyleId>{F2DE63D5-997A-4646-A377-4702673A728D}</a:tableStyleId>
              </a:tblPr>
              <a:tblGrid>
                <a:gridCol w="1747377">
                  <a:extLst>
                    <a:ext uri="{9D8B030D-6E8A-4147-A177-3AD203B41FA5}">
                      <a16:colId xmlns:a16="http://schemas.microsoft.com/office/drawing/2014/main" val="332354958"/>
                    </a:ext>
                  </a:extLst>
                </a:gridCol>
                <a:gridCol w="1377814">
                  <a:extLst>
                    <a:ext uri="{9D8B030D-6E8A-4147-A177-3AD203B41FA5}">
                      <a16:colId xmlns:a16="http://schemas.microsoft.com/office/drawing/2014/main" val="1200520732"/>
                    </a:ext>
                  </a:extLst>
                </a:gridCol>
                <a:gridCol w="2955569">
                  <a:extLst>
                    <a:ext uri="{9D8B030D-6E8A-4147-A177-3AD203B41FA5}">
                      <a16:colId xmlns:a16="http://schemas.microsoft.com/office/drawing/2014/main" val="2021015700"/>
                    </a:ext>
                  </a:extLst>
                </a:gridCol>
              </a:tblGrid>
              <a:tr h="302062">
                <a:tc>
                  <a:txBody>
                    <a:bodyPr/>
                    <a:lstStyle/>
                    <a:p>
                      <a:pPr algn="ctr"/>
                      <a:r>
                        <a:rPr lang="en-US" sz="1200" dirty="0"/>
                        <a:t>Cost Component</a:t>
                      </a:r>
                      <a:endParaRPr lang="en-IN" sz="1200" dirty="0"/>
                    </a:p>
                  </a:txBody>
                  <a:tcPr/>
                </a:tc>
                <a:tc>
                  <a:txBody>
                    <a:bodyPr/>
                    <a:lstStyle/>
                    <a:p>
                      <a:pPr algn="ctr"/>
                      <a:r>
                        <a:rPr lang="en-US" sz="1200" dirty="0"/>
                        <a:t>Shared/Dedicated</a:t>
                      </a:r>
                      <a:endParaRPr lang="en-IN" sz="1200" dirty="0"/>
                    </a:p>
                  </a:txBody>
                  <a:tcPr/>
                </a:tc>
                <a:tc>
                  <a:txBody>
                    <a:bodyPr/>
                    <a:lstStyle/>
                    <a:p>
                      <a:pPr algn="ctr"/>
                      <a:r>
                        <a:rPr lang="en-US" sz="1200" dirty="0"/>
                        <a:t>Derivation</a:t>
                      </a:r>
                      <a:endParaRPr lang="en-IN" sz="1200" dirty="0"/>
                    </a:p>
                  </a:txBody>
                  <a:tcPr/>
                </a:tc>
                <a:extLst>
                  <a:ext uri="{0D108BD9-81ED-4DB2-BD59-A6C34878D82A}">
                    <a16:rowId xmlns:a16="http://schemas.microsoft.com/office/drawing/2014/main" val="4031843681"/>
                  </a:ext>
                </a:extLst>
              </a:tr>
              <a:tr h="521745">
                <a:tc>
                  <a:txBody>
                    <a:bodyPr/>
                    <a:lstStyle/>
                    <a:p>
                      <a:pPr algn="ctr"/>
                      <a:r>
                        <a:rPr lang="en-US" sz="1200" b="1" dirty="0">
                          <a:solidFill>
                            <a:schemeClr val="accent1"/>
                          </a:solidFill>
                        </a:rPr>
                        <a:t>Azure Databricks Cluster/Snowflake </a:t>
                      </a:r>
                      <a:endParaRPr lang="en-IN" sz="1200" b="1" dirty="0">
                        <a:solidFill>
                          <a:schemeClr val="accent1"/>
                        </a:solidFill>
                      </a:endParaRPr>
                    </a:p>
                  </a:txBody>
                  <a:tcPr/>
                </a:tc>
                <a:tc>
                  <a:txBody>
                    <a:bodyPr/>
                    <a:lstStyle/>
                    <a:p>
                      <a:pPr algn="ctr"/>
                      <a:r>
                        <a:rPr lang="en-US" sz="1200" dirty="0"/>
                        <a:t>Dedicated</a:t>
                      </a:r>
                      <a:endParaRPr lang="en-IN" sz="1200" dirty="0"/>
                    </a:p>
                  </a:txBody>
                  <a:tcPr/>
                </a:tc>
                <a:tc>
                  <a:txBody>
                    <a:bodyPr/>
                    <a:lstStyle/>
                    <a:p>
                      <a:pPr algn="ctr"/>
                      <a:r>
                        <a:rPr lang="en-US" sz="1200" dirty="0"/>
                        <a:t>Separate Billing Tags</a:t>
                      </a:r>
                      <a:endParaRPr lang="en-IN" sz="1200" dirty="0"/>
                    </a:p>
                  </a:txBody>
                  <a:tcPr/>
                </a:tc>
                <a:extLst>
                  <a:ext uri="{0D108BD9-81ED-4DB2-BD59-A6C34878D82A}">
                    <a16:rowId xmlns:a16="http://schemas.microsoft.com/office/drawing/2014/main" val="1624965792"/>
                  </a:ext>
                </a:extLst>
              </a:tr>
              <a:tr h="445085">
                <a:tc>
                  <a:txBody>
                    <a:bodyPr/>
                    <a:lstStyle/>
                    <a:p>
                      <a:pPr marL="0" algn="ctr" defTabSz="914400" rtl="0" eaLnBrk="1" fontAlgn="b" latinLnBrk="0" hangingPunct="1"/>
                      <a:r>
                        <a:rPr lang="nb-NO" sz="1200" b="1" kern="1200" dirty="0">
                          <a:solidFill>
                            <a:schemeClr val="accent1"/>
                          </a:solidFill>
                          <a:latin typeface="+mn-lt"/>
                          <a:ea typeface="+mn-ea"/>
                          <a:cs typeface="+mn-cs"/>
                        </a:rPr>
                        <a:t>Azure Database for MySQL flexible server</a:t>
                      </a:r>
                    </a:p>
                  </a:txBody>
                  <a:tcPr marL="6350" marR="6350" marT="6350" marB="0" anchor="b"/>
                </a:tc>
                <a:tc>
                  <a:txBody>
                    <a:bodyPr/>
                    <a:lstStyle/>
                    <a:p>
                      <a:pPr algn="ctr"/>
                      <a:r>
                        <a:rPr lang="en-US" sz="1200" dirty="0"/>
                        <a:t>Shared</a:t>
                      </a:r>
                      <a:endParaRPr lang="en-IN" sz="1200" dirty="0"/>
                    </a:p>
                  </a:txBody>
                  <a:tcPr/>
                </a:tc>
                <a:tc>
                  <a:txBody>
                    <a:bodyPr/>
                    <a:lstStyle/>
                    <a:p>
                      <a:pPr algn="ctr"/>
                      <a:r>
                        <a:rPr lang="en-US" sz="1200" dirty="0"/>
                        <a:t>Cost at the subscription Level/Number of Customers</a:t>
                      </a:r>
                      <a:endParaRPr lang="en-IN" sz="1200" dirty="0"/>
                    </a:p>
                  </a:txBody>
                  <a:tcPr/>
                </a:tc>
                <a:extLst>
                  <a:ext uri="{0D108BD9-81ED-4DB2-BD59-A6C34878D82A}">
                    <a16:rowId xmlns:a16="http://schemas.microsoft.com/office/drawing/2014/main" val="3219126377"/>
                  </a:ext>
                </a:extLst>
              </a:tr>
              <a:tr h="521745">
                <a:tc>
                  <a:txBody>
                    <a:bodyPr/>
                    <a:lstStyle/>
                    <a:p>
                      <a:pPr algn="ctr" fontAlgn="b"/>
                      <a:r>
                        <a:rPr lang="en-IN" sz="1200" b="1" kern="1200" dirty="0">
                          <a:solidFill>
                            <a:schemeClr val="accent1"/>
                          </a:solidFill>
                          <a:latin typeface="+mn-lt"/>
                          <a:ea typeface="+mn-ea"/>
                          <a:cs typeface="+mn-cs"/>
                        </a:rPr>
                        <a:t>Disk</a:t>
                      </a:r>
                    </a:p>
                  </a:txBody>
                  <a:tcPr marL="6350" marR="6350" marT="635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Shared</a:t>
                      </a:r>
                      <a:endParaRPr lang="en-IN" sz="1200" dirty="0"/>
                    </a:p>
                    <a:p>
                      <a:pPr algn="ct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Cost at the subscription Level/Number of Customers</a:t>
                      </a:r>
                      <a:endParaRPr lang="en-IN" sz="1200" dirty="0"/>
                    </a:p>
                  </a:txBody>
                  <a:tcPr/>
                </a:tc>
                <a:extLst>
                  <a:ext uri="{0D108BD9-81ED-4DB2-BD59-A6C34878D82A}">
                    <a16:rowId xmlns:a16="http://schemas.microsoft.com/office/drawing/2014/main" val="2012726323"/>
                  </a:ext>
                </a:extLst>
              </a:tr>
              <a:tr h="598703">
                <a:tc>
                  <a:txBody>
                    <a:bodyPr/>
                    <a:lstStyle/>
                    <a:p>
                      <a:pPr algn="ctr" fontAlgn="b"/>
                      <a:r>
                        <a:rPr lang="en-IN" sz="1200" b="1" kern="1200" dirty="0">
                          <a:solidFill>
                            <a:schemeClr val="accent1"/>
                          </a:solidFill>
                          <a:latin typeface="+mn-lt"/>
                          <a:ea typeface="+mn-ea"/>
                          <a:cs typeface="+mn-cs"/>
                        </a:rPr>
                        <a:t>NAT gateway</a:t>
                      </a:r>
                    </a:p>
                  </a:txBody>
                  <a:tcPr marL="6350" marR="6350" marT="635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Shared</a:t>
                      </a:r>
                      <a:endParaRPr lang="en-IN" sz="1200" dirty="0"/>
                    </a:p>
                    <a:p>
                      <a:pPr algn="ct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Cost at the subscription Level/Number of Customers</a:t>
                      </a:r>
                      <a:endParaRPr lang="en-IN" sz="1200" dirty="0"/>
                    </a:p>
                    <a:p>
                      <a:pPr algn="ctr"/>
                      <a:endParaRPr lang="en-IN" sz="1200" dirty="0"/>
                    </a:p>
                  </a:txBody>
                  <a:tcPr/>
                </a:tc>
                <a:extLst>
                  <a:ext uri="{0D108BD9-81ED-4DB2-BD59-A6C34878D82A}">
                    <a16:rowId xmlns:a16="http://schemas.microsoft.com/office/drawing/2014/main" val="1466302460"/>
                  </a:ext>
                </a:extLst>
              </a:tr>
              <a:tr h="598703">
                <a:tc>
                  <a:txBody>
                    <a:bodyPr/>
                    <a:lstStyle/>
                    <a:p>
                      <a:pPr algn="ctr" fontAlgn="b"/>
                      <a:r>
                        <a:rPr lang="en-IN" sz="1200" b="1" kern="1200" dirty="0">
                          <a:solidFill>
                            <a:schemeClr val="accent1"/>
                          </a:solidFill>
                          <a:latin typeface="+mn-lt"/>
                          <a:ea typeface="+mn-ea"/>
                          <a:cs typeface="+mn-cs"/>
                        </a:rPr>
                        <a:t>Public IP address</a:t>
                      </a:r>
                    </a:p>
                  </a:txBody>
                  <a:tcPr marL="6350" marR="6350" marT="635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Shared</a:t>
                      </a:r>
                      <a:endParaRPr lang="en-IN" sz="1200" dirty="0"/>
                    </a:p>
                    <a:p>
                      <a:pPr algn="ct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Cost at the subscription Level/Number of Customers</a:t>
                      </a:r>
                      <a:endParaRPr lang="en-IN" sz="1200" dirty="0"/>
                    </a:p>
                    <a:p>
                      <a:pPr algn="ctr"/>
                      <a:endParaRPr lang="en-IN" sz="1200" dirty="0"/>
                    </a:p>
                  </a:txBody>
                  <a:tcPr/>
                </a:tc>
                <a:extLst>
                  <a:ext uri="{0D108BD9-81ED-4DB2-BD59-A6C34878D82A}">
                    <a16:rowId xmlns:a16="http://schemas.microsoft.com/office/drawing/2014/main" val="1712004670"/>
                  </a:ext>
                </a:extLst>
              </a:tr>
              <a:tr h="598703">
                <a:tc>
                  <a:txBody>
                    <a:bodyPr/>
                    <a:lstStyle/>
                    <a:p>
                      <a:pPr algn="ctr" fontAlgn="b"/>
                      <a:r>
                        <a:rPr lang="en-IN" sz="1200" b="1" kern="1200" dirty="0">
                          <a:solidFill>
                            <a:schemeClr val="accent1"/>
                          </a:solidFill>
                          <a:latin typeface="+mn-lt"/>
                          <a:ea typeface="+mn-ea"/>
                          <a:cs typeface="+mn-cs"/>
                        </a:rPr>
                        <a:t>Storage account</a:t>
                      </a:r>
                    </a:p>
                  </a:txBody>
                  <a:tcPr marL="6350" marR="6350" marT="635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Shared</a:t>
                      </a:r>
                      <a:endParaRPr lang="en-IN" sz="1200" dirty="0"/>
                    </a:p>
                    <a:p>
                      <a:pPr algn="ct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Cost at the subscription Level/Number of Customers</a:t>
                      </a:r>
                      <a:endParaRPr lang="en-IN" sz="1200" dirty="0"/>
                    </a:p>
                    <a:p>
                      <a:pPr algn="ctr"/>
                      <a:endParaRPr lang="en-IN" sz="1200" dirty="0"/>
                    </a:p>
                  </a:txBody>
                  <a:tcPr/>
                </a:tc>
                <a:extLst>
                  <a:ext uri="{0D108BD9-81ED-4DB2-BD59-A6C34878D82A}">
                    <a16:rowId xmlns:a16="http://schemas.microsoft.com/office/drawing/2014/main" val="430737484"/>
                  </a:ext>
                </a:extLst>
              </a:tr>
              <a:tr h="598703">
                <a:tc>
                  <a:txBody>
                    <a:bodyPr/>
                    <a:lstStyle/>
                    <a:p>
                      <a:pPr algn="ctr" fontAlgn="b"/>
                      <a:r>
                        <a:rPr lang="en-IN" sz="1200" b="1" kern="1200" dirty="0">
                          <a:solidFill>
                            <a:schemeClr val="accent1"/>
                          </a:solidFill>
                          <a:latin typeface="+mn-lt"/>
                          <a:ea typeface="+mn-ea"/>
                          <a:cs typeface="+mn-cs"/>
                        </a:rPr>
                        <a:t>Virtual machine</a:t>
                      </a:r>
                    </a:p>
                  </a:txBody>
                  <a:tcPr marL="6350" marR="6350" marT="635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Shared</a:t>
                      </a:r>
                      <a:endParaRPr lang="en-IN" sz="1200" dirty="0"/>
                    </a:p>
                    <a:p>
                      <a:pPr algn="ct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Cost at the subscription Level/Number of Customers</a:t>
                      </a:r>
                      <a:endParaRPr lang="en-IN" sz="1200" dirty="0"/>
                    </a:p>
                    <a:p>
                      <a:pPr algn="ctr"/>
                      <a:endParaRPr lang="en-IN" sz="1200" dirty="0"/>
                    </a:p>
                  </a:txBody>
                  <a:tcPr/>
                </a:tc>
                <a:extLst>
                  <a:ext uri="{0D108BD9-81ED-4DB2-BD59-A6C34878D82A}">
                    <a16:rowId xmlns:a16="http://schemas.microsoft.com/office/drawing/2014/main" val="3981108524"/>
                  </a:ext>
                </a:extLst>
              </a:tr>
            </a:tbl>
          </a:graphicData>
        </a:graphic>
      </p:graphicFrame>
      <p:sp>
        <p:nvSpPr>
          <p:cNvPr id="10" name="Text Placeholder 3">
            <a:extLst>
              <a:ext uri="{FF2B5EF4-FFF2-40B4-BE49-F238E27FC236}">
                <a16:creationId xmlns:a16="http://schemas.microsoft.com/office/drawing/2014/main" id="{C22CA248-E0E2-E548-4099-E3B8B3C5BF38}"/>
              </a:ext>
            </a:extLst>
          </p:cNvPr>
          <p:cNvSpPr>
            <a:spLocks noGrp="1"/>
          </p:cNvSpPr>
          <p:nvPr>
            <p:ph type="body" sz="quarter" idx="15"/>
          </p:nvPr>
        </p:nvSpPr>
        <p:spPr>
          <a:xfrm>
            <a:off x="454152" y="951317"/>
            <a:ext cx="11548872" cy="744140"/>
          </a:xfrm>
          <a:ln>
            <a:solidFill>
              <a:schemeClr val="tx2"/>
            </a:solidFill>
          </a:ln>
        </p:spPr>
        <p:txBody>
          <a:bodyPr/>
          <a:lstStyle/>
          <a:p>
            <a:pPr marL="3175" indent="0">
              <a:buNone/>
            </a:pPr>
            <a:r>
              <a:rPr lang="en-US" sz="1600" dirty="0"/>
              <a:t>When we have multiple Customers (Tenants) using the same instance, each customer can be tagged to Billing using their Project IDs.</a:t>
            </a:r>
          </a:p>
          <a:p>
            <a:pPr marL="3175" indent="0">
              <a:buNone/>
            </a:pPr>
            <a:r>
              <a:rPr lang="en-US" sz="1600" dirty="0"/>
              <a:t>Below are the various Cost components involved in arriving at the Cost Per Customer:</a:t>
            </a:r>
            <a:endParaRPr lang="en-US" sz="1600" dirty="0">
              <a:solidFill>
                <a:schemeClr val="accent6"/>
              </a:solidFill>
            </a:endParaRPr>
          </a:p>
        </p:txBody>
      </p:sp>
      <p:sp>
        <p:nvSpPr>
          <p:cNvPr id="18" name="Rectangle: Rounded Corners 17">
            <a:extLst>
              <a:ext uri="{FF2B5EF4-FFF2-40B4-BE49-F238E27FC236}">
                <a16:creationId xmlns:a16="http://schemas.microsoft.com/office/drawing/2014/main" id="{20BE886B-56A6-11AE-51A9-6099554C2F13}"/>
              </a:ext>
            </a:extLst>
          </p:cNvPr>
          <p:cNvSpPr/>
          <p:nvPr/>
        </p:nvSpPr>
        <p:spPr>
          <a:xfrm>
            <a:off x="3081528" y="1850734"/>
            <a:ext cx="1764028" cy="318734"/>
          </a:xfrm>
          <a:prstGeom prst="roundRect">
            <a:avLst/>
          </a:prstGeom>
          <a:solidFill>
            <a:srgbClr val="7FAFD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b="1" dirty="0"/>
              <a:t>Cost Derivation</a:t>
            </a:r>
            <a:endParaRPr lang="en-IN" sz="1400" b="1" dirty="0"/>
          </a:p>
        </p:txBody>
      </p:sp>
      <p:graphicFrame>
        <p:nvGraphicFramePr>
          <p:cNvPr id="20" name="Diagram 19">
            <a:extLst>
              <a:ext uri="{FF2B5EF4-FFF2-40B4-BE49-F238E27FC236}">
                <a16:creationId xmlns:a16="http://schemas.microsoft.com/office/drawing/2014/main" id="{0D4E05B4-42BC-1EB1-0C41-816E9313136E}"/>
              </a:ext>
            </a:extLst>
          </p:cNvPr>
          <p:cNvGraphicFramePr/>
          <p:nvPr>
            <p:extLst>
              <p:ext uri="{D42A27DB-BD31-4B8C-83A1-F6EECF244321}">
                <p14:modId xmlns:p14="http://schemas.microsoft.com/office/powerpoint/2010/main" val="2547695851"/>
              </p:ext>
            </p:extLst>
          </p:nvPr>
        </p:nvGraphicFramePr>
        <p:xfrm>
          <a:off x="7562088" y="2074333"/>
          <a:ext cx="3950208" cy="27093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Left Brace 20">
            <a:extLst>
              <a:ext uri="{FF2B5EF4-FFF2-40B4-BE49-F238E27FC236}">
                <a16:creationId xmlns:a16="http://schemas.microsoft.com/office/drawing/2014/main" id="{16B97814-D79E-7CC6-995E-F788F88627B4}"/>
              </a:ext>
            </a:extLst>
          </p:cNvPr>
          <p:cNvSpPr/>
          <p:nvPr/>
        </p:nvSpPr>
        <p:spPr>
          <a:xfrm>
            <a:off x="10460736" y="3182111"/>
            <a:ext cx="429768" cy="47548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2" name="TextBox 21">
            <a:extLst>
              <a:ext uri="{FF2B5EF4-FFF2-40B4-BE49-F238E27FC236}">
                <a16:creationId xmlns:a16="http://schemas.microsoft.com/office/drawing/2014/main" id="{F7CEF16E-E897-F9C6-8D13-3347802126AB}"/>
              </a:ext>
            </a:extLst>
          </p:cNvPr>
          <p:cNvSpPr txBox="1"/>
          <p:nvPr/>
        </p:nvSpPr>
        <p:spPr>
          <a:xfrm>
            <a:off x="10863072" y="2961743"/>
            <a:ext cx="1097280" cy="30162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General</a:t>
            </a:r>
            <a:endParaRPr lang="en-IN" sz="1600" dirty="0">
              <a:solidFill>
                <a:srgbClr val="002240"/>
              </a:solidFill>
              <a:cs typeface="Tahoma" pitchFamily="34" charset="0"/>
            </a:endParaRPr>
          </a:p>
        </p:txBody>
      </p:sp>
      <p:sp>
        <p:nvSpPr>
          <p:cNvPr id="23" name="TextBox 22">
            <a:extLst>
              <a:ext uri="{FF2B5EF4-FFF2-40B4-BE49-F238E27FC236}">
                <a16:creationId xmlns:a16="http://schemas.microsoft.com/office/drawing/2014/main" id="{975A98EE-B8B1-1EF1-69C7-5FC31FBDA825}"/>
              </a:ext>
            </a:extLst>
          </p:cNvPr>
          <p:cNvSpPr txBox="1"/>
          <p:nvPr/>
        </p:nvSpPr>
        <p:spPr>
          <a:xfrm>
            <a:off x="10872216" y="3480906"/>
            <a:ext cx="1097280" cy="30162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Business</a:t>
            </a:r>
            <a:endParaRPr lang="en-IN" sz="1600" dirty="0">
              <a:solidFill>
                <a:srgbClr val="002240"/>
              </a:solidFill>
              <a:cs typeface="Tahoma" pitchFamily="34" charset="0"/>
            </a:endParaRPr>
          </a:p>
        </p:txBody>
      </p:sp>
    </p:spTree>
    <p:extLst>
      <p:ext uri="{BB962C8B-B14F-4D97-AF65-F5344CB8AC3E}">
        <p14:creationId xmlns:p14="http://schemas.microsoft.com/office/powerpoint/2010/main" val="3254732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40BB2B3E-C7ED-C116-B212-0F32E7EF10BF}"/>
              </a:ext>
            </a:extLst>
          </p:cNvPr>
          <p:cNvSpPr/>
          <p:nvPr/>
        </p:nvSpPr>
        <p:spPr>
          <a:xfrm>
            <a:off x="10591801" y="3279677"/>
            <a:ext cx="1533721" cy="1390270"/>
          </a:xfrm>
          <a:prstGeom prst="rect">
            <a:avLst/>
          </a:prstGeom>
          <a:solidFill>
            <a:srgbClr val="00B050"/>
          </a:solidFill>
          <a:ln>
            <a:noFill/>
          </a:ln>
        </p:spPr>
        <p:style>
          <a:lnRef idx="0">
            <a:scrgbClr r="0" g="0" b="0"/>
          </a:lnRef>
          <a:fillRef idx="0">
            <a:scrgbClr r="0" g="0" b="0"/>
          </a:fillRef>
          <a:effectRef idx="0">
            <a:scrgbClr r="0" g="0" b="0"/>
          </a:effectRef>
          <a:fontRef idx="minor">
            <a:schemeClr val="lt1"/>
          </a:fontRef>
        </p:style>
        <p:txBody>
          <a:bodyPr rtlCol="0" anchor="ctr"/>
          <a:lstStyle/>
          <a:p>
            <a:pPr algn="r"/>
            <a:endParaRPr lang="en-IN" dirty="0"/>
          </a:p>
        </p:txBody>
      </p:sp>
      <p:sp>
        <p:nvSpPr>
          <p:cNvPr id="91" name="Rectangle: Rounded Corners 90">
            <a:extLst>
              <a:ext uri="{FF2B5EF4-FFF2-40B4-BE49-F238E27FC236}">
                <a16:creationId xmlns:a16="http://schemas.microsoft.com/office/drawing/2014/main" id="{9CBB6A8C-C2BB-5182-0242-7666CBFCBE20}"/>
              </a:ext>
            </a:extLst>
          </p:cNvPr>
          <p:cNvSpPr/>
          <p:nvPr/>
        </p:nvSpPr>
        <p:spPr>
          <a:xfrm>
            <a:off x="4477511" y="4024487"/>
            <a:ext cx="2911604" cy="3905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Ticket Management</a:t>
            </a:r>
            <a:endParaRPr lang="en-IN" dirty="0"/>
          </a:p>
        </p:txBody>
      </p:sp>
      <p:sp>
        <p:nvSpPr>
          <p:cNvPr id="22" name="Rectangle 21">
            <a:extLst>
              <a:ext uri="{FF2B5EF4-FFF2-40B4-BE49-F238E27FC236}">
                <a16:creationId xmlns:a16="http://schemas.microsoft.com/office/drawing/2014/main" id="{F7C6AD42-7B76-E8B1-E485-124465207BBD}"/>
              </a:ext>
            </a:extLst>
          </p:cNvPr>
          <p:cNvSpPr/>
          <p:nvPr/>
        </p:nvSpPr>
        <p:spPr>
          <a:xfrm>
            <a:off x="1600199" y="2935288"/>
            <a:ext cx="2359147" cy="411480"/>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Billing </a:t>
            </a:r>
            <a:endParaRPr lang="en-IN" dirty="0"/>
          </a:p>
        </p:txBody>
      </p:sp>
      <p:sp>
        <p:nvSpPr>
          <p:cNvPr id="21" name="Rectangle 20">
            <a:extLst>
              <a:ext uri="{FF2B5EF4-FFF2-40B4-BE49-F238E27FC236}">
                <a16:creationId xmlns:a16="http://schemas.microsoft.com/office/drawing/2014/main" id="{FF788F29-58D7-A5DE-1787-13D3A3FB1B7F}"/>
              </a:ext>
            </a:extLst>
          </p:cNvPr>
          <p:cNvSpPr/>
          <p:nvPr/>
        </p:nvSpPr>
        <p:spPr>
          <a:xfrm>
            <a:off x="1624584" y="1457992"/>
            <a:ext cx="2359149" cy="41148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Product/Technical</a:t>
            </a:r>
            <a:endParaRPr lang="en-IN" dirty="0"/>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11" name="Title 1">
            <a:extLst>
              <a:ext uri="{FF2B5EF4-FFF2-40B4-BE49-F238E27FC236}">
                <a16:creationId xmlns:a16="http://schemas.microsoft.com/office/drawing/2014/main" id="{68AFCC13-0C85-368F-8C9D-BD703519D479}"/>
              </a:ext>
            </a:extLst>
          </p:cNvPr>
          <p:cNvSpPr>
            <a:spLocks noGrp="1"/>
          </p:cNvSpPr>
          <p:nvPr>
            <p:ph type="title"/>
          </p:nvPr>
        </p:nvSpPr>
        <p:spPr>
          <a:xfrm>
            <a:off x="609600" y="104415"/>
            <a:ext cx="10972800" cy="654537"/>
          </a:xfrm>
        </p:spPr>
        <p:txBody>
          <a:bodyPr vert="horz"/>
          <a:lstStyle/>
          <a:p>
            <a:r>
              <a:rPr lang="en-US" dirty="0"/>
              <a:t>Support &amp; Ticketing</a:t>
            </a:r>
          </a:p>
        </p:txBody>
      </p:sp>
      <p:pic>
        <p:nvPicPr>
          <p:cNvPr id="13" name="Graphic 12" descr="Tools with solid fill">
            <a:extLst>
              <a:ext uri="{FF2B5EF4-FFF2-40B4-BE49-F238E27FC236}">
                <a16:creationId xmlns:a16="http://schemas.microsoft.com/office/drawing/2014/main" id="{E32B057E-6FC5-166D-00B2-F5C86D13D29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45043" y="1522095"/>
            <a:ext cx="301625" cy="301625"/>
          </a:xfrm>
          <a:prstGeom prst="rect">
            <a:avLst/>
          </a:prstGeom>
        </p:spPr>
      </p:pic>
      <p:pic>
        <p:nvPicPr>
          <p:cNvPr id="17" name="Graphic 16" descr="Dollar with solid fill">
            <a:extLst>
              <a:ext uri="{FF2B5EF4-FFF2-40B4-BE49-F238E27FC236}">
                <a16:creationId xmlns:a16="http://schemas.microsoft.com/office/drawing/2014/main" id="{6C1D650F-802C-6FD1-E02D-F5A6A7F308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97799" y="2935288"/>
            <a:ext cx="402272" cy="402272"/>
          </a:xfrm>
          <a:prstGeom prst="rect">
            <a:avLst/>
          </a:prstGeom>
        </p:spPr>
      </p:pic>
      <p:sp>
        <p:nvSpPr>
          <p:cNvPr id="18" name="Rectangle: Rounded Corners 17">
            <a:extLst>
              <a:ext uri="{FF2B5EF4-FFF2-40B4-BE49-F238E27FC236}">
                <a16:creationId xmlns:a16="http://schemas.microsoft.com/office/drawing/2014/main" id="{EC34BFBC-5A2A-C07D-7859-38FF7C13FED4}"/>
              </a:ext>
            </a:extLst>
          </p:cNvPr>
          <p:cNvSpPr/>
          <p:nvPr/>
        </p:nvSpPr>
        <p:spPr>
          <a:xfrm>
            <a:off x="861945" y="847328"/>
            <a:ext cx="1469776" cy="39058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Support</a:t>
            </a:r>
            <a:endParaRPr lang="en-IN" dirty="0"/>
          </a:p>
        </p:txBody>
      </p:sp>
      <p:cxnSp>
        <p:nvCxnSpPr>
          <p:cNvPr id="20" name="Straight Connector 19">
            <a:extLst>
              <a:ext uri="{FF2B5EF4-FFF2-40B4-BE49-F238E27FC236}">
                <a16:creationId xmlns:a16="http://schemas.microsoft.com/office/drawing/2014/main" id="{9174019A-2F5B-43EF-204D-43A701CDE6AF}"/>
              </a:ext>
            </a:extLst>
          </p:cNvPr>
          <p:cNvCxnSpPr>
            <a:cxnSpLocks/>
          </p:cNvCxnSpPr>
          <p:nvPr/>
        </p:nvCxnSpPr>
        <p:spPr>
          <a:xfrm>
            <a:off x="1335023" y="1216151"/>
            <a:ext cx="1" cy="194767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744794-57C9-C4C9-0BE8-55AE12453BE1}"/>
              </a:ext>
            </a:extLst>
          </p:cNvPr>
          <p:cNvCxnSpPr>
            <a:cxnSpLocks/>
          </p:cNvCxnSpPr>
          <p:nvPr/>
        </p:nvCxnSpPr>
        <p:spPr>
          <a:xfrm>
            <a:off x="1359408" y="1677543"/>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DA5AEB9-91D2-C4D3-6900-6C5A40F0060B}"/>
              </a:ext>
            </a:extLst>
          </p:cNvPr>
          <p:cNvCxnSpPr>
            <a:cxnSpLocks/>
          </p:cNvCxnSpPr>
          <p:nvPr/>
        </p:nvCxnSpPr>
        <p:spPr>
          <a:xfrm>
            <a:off x="1335024" y="3163824"/>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AFC95B7-9EA1-A59C-EE48-F5D4FFA9F377}"/>
              </a:ext>
            </a:extLst>
          </p:cNvPr>
          <p:cNvSpPr txBox="1"/>
          <p:nvPr/>
        </p:nvSpPr>
        <p:spPr>
          <a:xfrm>
            <a:off x="1624584" y="3356038"/>
            <a:ext cx="2883335" cy="30162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Acct Settings, Billing Plan and Options, Invoices, Payments</a:t>
            </a:r>
            <a:endParaRPr lang="en-IN" sz="1200" dirty="0">
              <a:solidFill>
                <a:srgbClr val="002240"/>
              </a:solidFill>
              <a:cs typeface="Tahoma" pitchFamily="34" charset="0"/>
            </a:endParaRPr>
          </a:p>
        </p:txBody>
      </p:sp>
      <p:sp>
        <p:nvSpPr>
          <p:cNvPr id="37" name="TextBox 36">
            <a:extLst>
              <a:ext uri="{FF2B5EF4-FFF2-40B4-BE49-F238E27FC236}">
                <a16:creationId xmlns:a16="http://schemas.microsoft.com/office/drawing/2014/main" id="{8A07D5C9-9935-587E-C54D-6DB916A5CF6F}"/>
              </a:ext>
            </a:extLst>
          </p:cNvPr>
          <p:cNvSpPr txBox="1"/>
          <p:nvPr/>
        </p:nvSpPr>
        <p:spPr>
          <a:xfrm>
            <a:off x="1550638" y="1853422"/>
            <a:ext cx="3141027" cy="471202"/>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Support in terms of any bug/issue when accessing or using the platform and the functionality not working as expected</a:t>
            </a:r>
            <a:endParaRPr lang="en-IN" sz="1200" dirty="0">
              <a:solidFill>
                <a:srgbClr val="002240"/>
              </a:solidFill>
              <a:cs typeface="Tahoma" pitchFamily="34" charset="0"/>
            </a:endParaRPr>
          </a:p>
        </p:txBody>
      </p:sp>
      <p:sp>
        <p:nvSpPr>
          <p:cNvPr id="40" name="Rectangle 39">
            <a:extLst>
              <a:ext uri="{FF2B5EF4-FFF2-40B4-BE49-F238E27FC236}">
                <a16:creationId xmlns:a16="http://schemas.microsoft.com/office/drawing/2014/main" id="{CDE0421C-06E7-C46D-1D00-D5C4A8C0A54D}"/>
              </a:ext>
            </a:extLst>
          </p:cNvPr>
          <p:cNvSpPr/>
          <p:nvPr/>
        </p:nvSpPr>
        <p:spPr>
          <a:xfrm>
            <a:off x="5097841" y="1993074"/>
            <a:ext cx="1745577" cy="1390270"/>
          </a:xfrm>
          <a:prstGeom prst="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Tutorials</a:t>
            </a:r>
          </a:p>
          <a:p>
            <a:pPr algn="r"/>
            <a:r>
              <a:rPr lang="en-US" dirty="0"/>
              <a:t>Kick Start Guides</a:t>
            </a:r>
          </a:p>
          <a:p>
            <a:pPr algn="r"/>
            <a:r>
              <a:rPr lang="en-US" dirty="0"/>
              <a:t>Tips</a:t>
            </a:r>
          </a:p>
          <a:p>
            <a:pPr algn="r"/>
            <a:r>
              <a:rPr lang="en-US" dirty="0"/>
              <a:t>References</a:t>
            </a:r>
            <a:endParaRPr lang="en-IN" dirty="0"/>
          </a:p>
        </p:txBody>
      </p:sp>
      <p:sp>
        <p:nvSpPr>
          <p:cNvPr id="41" name="TextBox 40">
            <a:extLst>
              <a:ext uri="{FF2B5EF4-FFF2-40B4-BE49-F238E27FC236}">
                <a16:creationId xmlns:a16="http://schemas.microsoft.com/office/drawing/2014/main" id="{E5F6A40A-0BC0-2407-650B-6BBC3F92C2E7}"/>
              </a:ext>
            </a:extLst>
          </p:cNvPr>
          <p:cNvSpPr txBox="1"/>
          <p:nvPr/>
        </p:nvSpPr>
        <p:spPr>
          <a:xfrm>
            <a:off x="5147288" y="1551459"/>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44" name="Rectangle: Rounded Corners 43">
            <a:extLst>
              <a:ext uri="{FF2B5EF4-FFF2-40B4-BE49-F238E27FC236}">
                <a16:creationId xmlns:a16="http://schemas.microsoft.com/office/drawing/2014/main" id="{A902E9FC-E364-0658-410E-1EC6774AF300}"/>
              </a:ext>
            </a:extLst>
          </p:cNvPr>
          <p:cNvSpPr/>
          <p:nvPr/>
        </p:nvSpPr>
        <p:spPr>
          <a:xfrm>
            <a:off x="4477511" y="862330"/>
            <a:ext cx="2176009" cy="3905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Documentation</a:t>
            </a:r>
            <a:endParaRPr lang="en-IN" dirty="0"/>
          </a:p>
        </p:txBody>
      </p:sp>
      <p:cxnSp>
        <p:nvCxnSpPr>
          <p:cNvPr id="45" name="Straight Connector 44">
            <a:extLst>
              <a:ext uri="{FF2B5EF4-FFF2-40B4-BE49-F238E27FC236}">
                <a16:creationId xmlns:a16="http://schemas.microsoft.com/office/drawing/2014/main" id="{168BC330-1B77-57E3-18C8-FADAE740B71A}"/>
              </a:ext>
            </a:extLst>
          </p:cNvPr>
          <p:cNvCxnSpPr>
            <a:cxnSpLocks/>
          </p:cNvCxnSpPr>
          <p:nvPr/>
        </p:nvCxnSpPr>
        <p:spPr>
          <a:xfrm flipH="1">
            <a:off x="4832666" y="1252917"/>
            <a:ext cx="2" cy="95999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C789C77-418F-E307-897B-F43A6354E684}"/>
              </a:ext>
            </a:extLst>
          </p:cNvPr>
          <p:cNvCxnSpPr>
            <a:cxnSpLocks/>
          </p:cNvCxnSpPr>
          <p:nvPr/>
        </p:nvCxnSpPr>
        <p:spPr>
          <a:xfrm>
            <a:off x="4832666" y="2212911"/>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50" name="Graphic 49" descr="Open hand with solid fill">
            <a:extLst>
              <a:ext uri="{FF2B5EF4-FFF2-40B4-BE49-F238E27FC236}">
                <a16:creationId xmlns:a16="http://schemas.microsoft.com/office/drawing/2014/main" id="{807257C3-4661-2984-7262-15C547BC11F7}"/>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9866" y="881681"/>
            <a:ext cx="390588" cy="390588"/>
          </a:xfrm>
          <a:prstGeom prst="rect">
            <a:avLst/>
          </a:prstGeom>
        </p:spPr>
      </p:pic>
      <p:pic>
        <p:nvPicPr>
          <p:cNvPr id="53" name="Graphic 52" descr="Document with solid fill">
            <a:extLst>
              <a:ext uri="{FF2B5EF4-FFF2-40B4-BE49-F238E27FC236}">
                <a16:creationId xmlns:a16="http://schemas.microsoft.com/office/drawing/2014/main" id="{136C8CA1-8078-C945-8E80-D957AFD1D76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59807" y="876482"/>
            <a:ext cx="367290" cy="367290"/>
          </a:xfrm>
          <a:prstGeom prst="rect">
            <a:avLst/>
          </a:prstGeom>
        </p:spPr>
      </p:pic>
      <p:sp>
        <p:nvSpPr>
          <p:cNvPr id="54" name="Rectangle 53">
            <a:extLst>
              <a:ext uri="{FF2B5EF4-FFF2-40B4-BE49-F238E27FC236}">
                <a16:creationId xmlns:a16="http://schemas.microsoft.com/office/drawing/2014/main" id="{490DD966-7206-2045-F302-28F7DF874AAD}"/>
              </a:ext>
            </a:extLst>
          </p:cNvPr>
          <p:cNvSpPr/>
          <p:nvPr/>
        </p:nvSpPr>
        <p:spPr>
          <a:xfrm>
            <a:off x="8384245" y="1810176"/>
            <a:ext cx="2037653" cy="1390270"/>
          </a:xfrm>
          <a:prstGeom prst="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Disruptions</a:t>
            </a:r>
          </a:p>
          <a:p>
            <a:pPr algn="r"/>
            <a:r>
              <a:rPr lang="en-US" sz="1400" dirty="0"/>
              <a:t> </a:t>
            </a:r>
            <a:r>
              <a:rPr lang="en-US" sz="1400" dirty="0" err="1"/>
              <a:t>i</a:t>
            </a:r>
            <a:r>
              <a:rPr lang="en-US" sz="1400" dirty="0"/>
              <a:t>)Project/Product/Service specific</a:t>
            </a:r>
          </a:p>
          <a:p>
            <a:pPr algn="r"/>
            <a:r>
              <a:rPr lang="en-US" sz="1400" dirty="0"/>
              <a:t>ii) General Cloud perspective</a:t>
            </a:r>
            <a:endParaRPr lang="en-IN" sz="1400" dirty="0"/>
          </a:p>
        </p:txBody>
      </p:sp>
      <p:sp>
        <p:nvSpPr>
          <p:cNvPr id="55" name="TextBox 54">
            <a:extLst>
              <a:ext uri="{FF2B5EF4-FFF2-40B4-BE49-F238E27FC236}">
                <a16:creationId xmlns:a16="http://schemas.microsoft.com/office/drawing/2014/main" id="{76D30387-9224-8291-BD7E-C0A9C062F420}"/>
              </a:ext>
            </a:extLst>
          </p:cNvPr>
          <p:cNvSpPr txBox="1"/>
          <p:nvPr/>
        </p:nvSpPr>
        <p:spPr>
          <a:xfrm>
            <a:off x="8481666" y="1514819"/>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56" name="Rectangle: Rounded Corners 55">
            <a:extLst>
              <a:ext uri="{FF2B5EF4-FFF2-40B4-BE49-F238E27FC236}">
                <a16:creationId xmlns:a16="http://schemas.microsoft.com/office/drawing/2014/main" id="{E6499A34-C211-4C11-7D79-8AF9ECF29EFD}"/>
              </a:ext>
            </a:extLst>
          </p:cNvPr>
          <p:cNvSpPr/>
          <p:nvPr/>
        </p:nvSpPr>
        <p:spPr>
          <a:xfrm>
            <a:off x="7811889" y="825690"/>
            <a:ext cx="1469769" cy="3905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Alerts</a:t>
            </a:r>
            <a:endParaRPr lang="en-IN" dirty="0"/>
          </a:p>
        </p:txBody>
      </p:sp>
      <p:cxnSp>
        <p:nvCxnSpPr>
          <p:cNvPr id="57" name="Straight Connector 56">
            <a:extLst>
              <a:ext uri="{FF2B5EF4-FFF2-40B4-BE49-F238E27FC236}">
                <a16:creationId xmlns:a16="http://schemas.microsoft.com/office/drawing/2014/main" id="{D23BBA48-1582-D8F0-39BD-AE5A181F931F}"/>
              </a:ext>
            </a:extLst>
          </p:cNvPr>
          <p:cNvCxnSpPr>
            <a:cxnSpLocks/>
          </p:cNvCxnSpPr>
          <p:nvPr/>
        </p:nvCxnSpPr>
        <p:spPr>
          <a:xfrm flipH="1">
            <a:off x="8167044" y="1216277"/>
            <a:ext cx="2" cy="95999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2B02E20-6C02-9794-4494-D7A4B3DC2332}"/>
              </a:ext>
            </a:extLst>
          </p:cNvPr>
          <p:cNvCxnSpPr>
            <a:cxnSpLocks/>
          </p:cNvCxnSpPr>
          <p:nvPr/>
        </p:nvCxnSpPr>
        <p:spPr>
          <a:xfrm>
            <a:off x="8167044" y="2176271"/>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1" name="Graphic 60" descr="Bell with solid fill">
            <a:extLst>
              <a:ext uri="{FF2B5EF4-FFF2-40B4-BE49-F238E27FC236}">
                <a16:creationId xmlns:a16="http://schemas.microsoft.com/office/drawing/2014/main" id="{B6F2E8AE-5926-1407-EA8C-F034707D76E3}"/>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89607" y="810887"/>
            <a:ext cx="390588" cy="390588"/>
          </a:xfrm>
          <a:prstGeom prst="rect">
            <a:avLst/>
          </a:prstGeom>
        </p:spPr>
      </p:pic>
      <p:pic>
        <p:nvPicPr>
          <p:cNvPr id="63" name="Graphic 62" descr="Disconnected with solid fill">
            <a:extLst>
              <a:ext uri="{FF2B5EF4-FFF2-40B4-BE49-F238E27FC236}">
                <a16:creationId xmlns:a16="http://schemas.microsoft.com/office/drawing/2014/main" id="{FAF05C9E-515C-6D5F-5B40-530CDBA4358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462382" y="1853422"/>
            <a:ext cx="457200" cy="457200"/>
          </a:xfrm>
          <a:prstGeom prst="rect">
            <a:avLst/>
          </a:prstGeom>
        </p:spPr>
      </p:pic>
      <p:sp>
        <p:nvSpPr>
          <p:cNvPr id="64" name="Rectangle 63">
            <a:extLst>
              <a:ext uri="{FF2B5EF4-FFF2-40B4-BE49-F238E27FC236}">
                <a16:creationId xmlns:a16="http://schemas.microsoft.com/office/drawing/2014/main" id="{6C25D62F-915B-5374-C4D8-A31DB6FEF577}"/>
              </a:ext>
            </a:extLst>
          </p:cNvPr>
          <p:cNvSpPr/>
          <p:nvPr/>
        </p:nvSpPr>
        <p:spPr>
          <a:xfrm>
            <a:off x="5353357" y="4804569"/>
            <a:ext cx="2068447" cy="1390270"/>
          </a:xfrm>
          <a:prstGeom prst="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sz="1400" dirty="0" err="1"/>
              <a:t>i</a:t>
            </a:r>
            <a:r>
              <a:rPr lang="en-US" sz="1400" dirty="0"/>
              <a:t>) Create a ticket assign to the respective group. This will be accepted and solved as per the SLA. </a:t>
            </a:r>
          </a:p>
          <a:p>
            <a:pPr algn="r"/>
            <a:r>
              <a:rPr lang="en-US" sz="1400" dirty="0"/>
              <a:t>ii) Track the ticket which is already created</a:t>
            </a:r>
            <a:endParaRPr lang="en-IN" sz="1400" dirty="0"/>
          </a:p>
        </p:txBody>
      </p:sp>
      <p:sp>
        <p:nvSpPr>
          <p:cNvPr id="65" name="TextBox 64">
            <a:extLst>
              <a:ext uri="{FF2B5EF4-FFF2-40B4-BE49-F238E27FC236}">
                <a16:creationId xmlns:a16="http://schemas.microsoft.com/office/drawing/2014/main" id="{E04D8F1E-B989-027F-E1D7-0F0E4DB179E5}"/>
              </a:ext>
            </a:extLst>
          </p:cNvPr>
          <p:cNvSpPr txBox="1"/>
          <p:nvPr/>
        </p:nvSpPr>
        <p:spPr>
          <a:xfrm>
            <a:off x="5406353" y="4707378"/>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cxnSp>
        <p:nvCxnSpPr>
          <p:cNvPr id="67" name="Straight Connector 66">
            <a:extLst>
              <a:ext uri="{FF2B5EF4-FFF2-40B4-BE49-F238E27FC236}">
                <a16:creationId xmlns:a16="http://schemas.microsoft.com/office/drawing/2014/main" id="{95FEEE5A-7A44-9B10-7A62-DF8B5FFCD9CC}"/>
              </a:ext>
            </a:extLst>
          </p:cNvPr>
          <p:cNvCxnSpPr>
            <a:cxnSpLocks/>
          </p:cNvCxnSpPr>
          <p:nvPr/>
        </p:nvCxnSpPr>
        <p:spPr>
          <a:xfrm flipH="1">
            <a:off x="5091731" y="4408836"/>
            <a:ext cx="2" cy="95999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55B0AF-0320-5677-5F9A-C0AADE0BD7BE}"/>
              </a:ext>
            </a:extLst>
          </p:cNvPr>
          <p:cNvCxnSpPr>
            <a:cxnSpLocks/>
          </p:cNvCxnSpPr>
          <p:nvPr/>
        </p:nvCxnSpPr>
        <p:spPr>
          <a:xfrm>
            <a:off x="5091731" y="5368830"/>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9F1AFC9-3E63-9802-CE70-A449C1DF65F4}"/>
              </a:ext>
            </a:extLst>
          </p:cNvPr>
          <p:cNvCxnSpPr/>
          <p:nvPr/>
        </p:nvCxnSpPr>
        <p:spPr>
          <a:xfrm>
            <a:off x="4325039" y="847328"/>
            <a:ext cx="0" cy="5709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EB80334-B9E5-E34B-67D2-4D5386542D05}"/>
              </a:ext>
            </a:extLst>
          </p:cNvPr>
          <p:cNvCxnSpPr/>
          <p:nvPr/>
        </p:nvCxnSpPr>
        <p:spPr>
          <a:xfrm>
            <a:off x="7613831" y="816546"/>
            <a:ext cx="0" cy="5709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95084F9-DB1A-261D-6F6E-DB5B4F0EEC54}"/>
              </a:ext>
            </a:extLst>
          </p:cNvPr>
          <p:cNvCxnSpPr>
            <a:cxnSpLocks/>
          </p:cNvCxnSpPr>
          <p:nvPr/>
        </p:nvCxnSpPr>
        <p:spPr>
          <a:xfrm flipH="1">
            <a:off x="595867" y="3845521"/>
            <a:ext cx="9995934" cy="0"/>
          </a:xfrm>
          <a:prstGeom prst="line">
            <a:avLst/>
          </a:prstGeom>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A6945065-C4C3-BF53-1BF4-D81AACB46475}"/>
              </a:ext>
            </a:extLst>
          </p:cNvPr>
          <p:cNvSpPr/>
          <p:nvPr/>
        </p:nvSpPr>
        <p:spPr>
          <a:xfrm>
            <a:off x="8433189" y="4838795"/>
            <a:ext cx="1745577" cy="1390270"/>
          </a:xfrm>
          <a:prstGeom prst="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sz="1400" dirty="0"/>
              <a:t>Escalation matrix - like Level 1, Level 2 and Highest Level of Escalation </a:t>
            </a:r>
            <a:r>
              <a:rPr lang="en-US" sz="1200" dirty="0"/>
              <a:t>for </a:t>
            </a:r>
          </a:p>
          <a:p>
            <a:pPr algn="r"/>
            <a:r>
              <a:rPr lang="en-US" sz="1200" dirty="0"/>
              <a:t>issues which is critical/or not addressed as per SLA timi</a:t>
            </a:r>
            <a:r>
              <a:rPr lang="en-US" sz="1400" dirty="0"/>
              <a:t>ngs</a:t>
            </a:r>
            <a:endParaRPr lang="en-IN" sz="1400" dirty="0"/>
          </a:p>
        </p:txBody>
      </p:sp>
      <p:sp>
        <p:nvSpPr>
          <p:cNvPr id="80" name="TextBox 79">
            <a:extLst>
              <a:ext uri="{FF2B5EF4-FFF2-40B4-BE49-F238E27FC236}">
                <a16:creationId xmlns:a16="http://schemas.microsoft.com/office/drawing/2014/main" id="{D376632C-4F67-0F1F-396A-03D7017E6E43}"/>
              </a:ext>
            </a:extLst>
          </p:cNvPr>
          <p:cNvSpPr txBox="1"/>
          <p:nvPr/>
        </p:nvSpPr>
        <p:spPr>
          <a:xfrm>
            <a:off x="8486185" y="4741604"/>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81" name="Rectangle: Rounded Corners 80">
            <a:extLst>
              <a:ext uri="{FF2B5EF4-FFF2-40B4-BE49-F238E27FC236}">
                <a16:creationId xmlns:a16="http://schemas.microsoft.com/office/drawing/2014/main" id="{B6508604-F2C2-3D8A-E284-5742BC4B3253}"/>
              </a:ext>
            </a:extLst>
          </p:cNvPr>
          <p:cNvSpPr/>
          <p:nvPr/>
        </p:nvSpPr>
        <p:spPr>
          <a:xfrm>
            <a:off x="7816408" y="4052475"/>
            <a:ext cx="2176009" cy="3905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Escalation</a:t>
            </a:r>
            <a:endParaRPr lang="en-IN" dirty="0"/>
          </a:p>
        </p:txBody>
      </p:sp>
      <p:cxnSp>
        <p:nvCxnSpPr>
          <p:cNvPr id="82" name="Straight Connector 81">
            <a:extLst>
              <a:ext uri="{FF2B5EF4-FFF2-40B4-BE49-F238E27FC236}">
                <a16:creationId xmlns:a16="http://schemas.microsoft.com/office/drawing/2014/main" id="{59892F65-DD25-A412-E74E-7759AE8A874C}"/>
              </a:ext>
            </a:extLst>
          </p:cNvPr>
          <p:cNvCxnSpPr>
            <a:cxnSpLocks/>
          </p:cNvCxnSpPr>
          <p:nvPr/>
        </p:nvCxnSpPr>
        <p:spPr>
          <a:xfrm flipH="1">
            <a:off x="8171563" y="4443062"/>
            <a:ext cx="2" cy="95999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6190B50-89B9-E438-1015-3105B5811C02}"/>
              </a:ext>
            </a:extLst>
          </p:cNvPr>
          <p:cNvCxnSpPr>
            <a:cxnSpLocks/>
          </p:cNvCxnSpPr>
          <p:nvPr/>
        </p:nvCxnSpPr>
        <p:spPr>
          <a:xfrm>
            <a:off x="8171563" y="5403056"/>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84" name="Graphic 83" descr="Escalator Up with solid fill">
            <a:extLst>
              <a:ext uri="{FF2B5EF4-FFF2-40B4-BE49-F238E27FC236}">
                <a16:creationId xmlns:a16="http://schemas.microsoft.com/office/drawing/2014/main" id="{91675E4F-2281-336E-1064-826295A13A3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75550" y="4025407"/>
            <a:ext cx="457200" cy="457200"/>
          </a:xfrm>
          <a:prstGeom prst="rect">
            <a:avLst/>
          </a:prstGeom>
        </p:spPr>
      </p:pic>
      <p:sp>
        <p:nvSpPr>
          <p:cNvPr id="85" name="Rectangle 84">
            <a:extLst>
              <a:ext uri="{FF2B5EF4-FFF2-40B4-BE49-F238E27FC236}">
                <a16:creationId xmlns:a16="http://schemas.microsoft.com/office/drawing/2014/main" id="{D9A4E6DF-1FFC-19D8-3C06-26D6BCC5B3F0}"/>
              </a:ext>
            </a:extLst>
          </p:cNvPr>
          <p:cNvSpPr/>
          <p:nvPr/>
        </p:nvSpPr>
        <p:spPr>
          <a:xfrm>
            <a:off x="1520994" y="4814531"/>
            <a:ext cx="1745577" cy="1390270"/>
          </a:xfrm>
          <a:prstGeom prst="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sz="1400" dirty="0"/>
              <a:t>Troubleshoot or Standard Procedures to resolve the problem on their own</a:t>
            </a:r>
            <a:endParaRPr lang="en-IN" sz="1400" dirty="0"/>
          </a:p>
        </p:txBody>
      </p:sp>
      <p:sp>
        <p:nvSpPr>
          <p:cNvPr id="86" name="TextBox 85">
            <a:extLst>
              <a:ext uri="{FF2B5EF4-FFF2-40B4-BE49-F238E27FC236}">
                <a16:creationId xmlns:a16="http://schemas.microsoft.com/office/drawing/2014/main" id="{1D79B5B0-94A9-812D-8E73-2176DD4ED598}"/>
              </a:ext>
            </a:extLst>
          </p:cNvPr>
          <p:cNvSpPr txBox="1"/>
          <p:nvPr/>
        </p:nvSpPr>
        <p:spPr>
          <a:xfrm>
            <a:off x="1573990" y="471734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87" name="Rectangle: Rounded Corners 86">
            <a:extLst>
              <a:ext uri="{FF2B5EF4-FFF2-40B4-BE49-F238E27FC236}">
                <a16:creationId xmlns:a16="http://schemas.microsoft.com/office/drawing/2014/main" id="{50FE5941-2632-573C-3EF4-A4CC8CBB3FAD}"/>
              </a:ext>
            </a:extLst>
          </p:cNvPr>
          <p:cNvSpPr/>
          <p:nvPr/>
        </p:nvSpPr>
        <p:spPr>
          <a:xfrm>
            <a:off x="904213" y="4028211"/>
            <a:ext cx="1912117" cy="39058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US" dirty="0"/>
              <a:t>Trouble Shoot</a:t>
            </a:r>
            <a:endParaRPr lang="en-IN" dirty="0"/>
          </a:p>
        </p:txBody>
      </p:sp>
      <p:cxnSp>
        <p:nvCxnSpPr>
          <p:cNvPr id="88" name="Straight Connector 87">
            <a:extLst>
              <a:ext uri="{FF2B5EF4-FFF2-40B4-BE49-F238E27FC236}">
                <a16:creationId xmlns:a16="http://schemas.microsoft.com/office/drawing/2014/main" id="{1B81FF4E-860B-1855-F25A-331D17EE5F93}"/>
              </a:ext>
            </a:extLst>
          </p:cNvPr>
          <p:cNvCxnSpPr>
            <a:cxnSpLocks/>
          </p:cNvCxnSpPr>
          <p:nvPr/>
        </p:nvCxnSpPr>
        <p:spPr>
          <a:xfrm flipH="1">
            <a:off x="1259368" y="4418798"/>
            <a:ext cx="2" cy="95999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BB76210-028B-FC51-14DF-A69ADAB0FB63}"/>
              </a:ext>
            </a:extLst>
          </p:cNvPr>
          <p:cNvCxnSpPr>
            <a:cxnSpLocks/>
          </p:cNvCxnSpPr>
          <p:nvPr/>
        </p:nvCxnSpPr>
        <p:spPr>
          <a:xfrm>
            <a:off x="1259368" y="5378792"/>
            <a:ext cx="265175"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94" name="Graphic 93" descr="Robot with solid fill">
            <a:extLst>
              <a:ext uri="{FF2B5EF4-FFF2-40B4-BE49-F238E27FC236}">
                <a16:creationId xmlns:a16="http://schemas.microsoft.com/office/drawing/2014/main" id="{B2D112D6-7648-B8CA-C62C-F2A675446A6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648617" y="3337560"/>
            <a:ext cx="580148" cy="580148"/>
          </a:xfrm>
          <a:prstGeom prst="rect">
            <a:avLst/>
          </a:prstGeom>
        </p:spPr>
      </p:pic>
      <p:sp>
        <p:nvSpPr>
          <p:cNvPr id="97" name="TextBox 96">
            <a:extLst>
              <a:ext uri="{FF2B5EF4-FFF2-40B4-BE49-F238E27FC236}">
                <a16:creationId xmlns:a16="http://schemas.microsoft.com/office/drawing/2014/main" id="{16DA7FED-36EB-CF6F-2C4F-FD5D149312F7}"/>
              </a:ext>
            </a:extLst>
          </p:cNvPr>
          <p:cNvSpPr txBox="1"/>
          <p:nvPr/>
        </p:nvSpPr>
        <p:spPr>
          <a:xfrm>
            <a:off x="10911259" y="3950173"/>
            <a:ext cx="1501320" cy="430132"/>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700" dirty="0">
                <a:solidFill>
                  <a:schemeClr val="bg1"/>
                </a:solidFill>
                <a:cs typeface="Tahoma" pitchFamily="34" charset="0"/>
              </a:rPr>
              <a:t>Chatbot Assistance</a:t>
            </a:r>
            <a:endParaRPr lang="en-IN" sz="1700" dirty="0">
              <a:solidFill>
                <a:schemeClr val="bg1"/>
              </a:solidFill>
              <a:cs typeface="Tahoma" pitchFamily="34" charset="0"/>
            </a:endParaRPr>
          </a:p>
        </p:txBody>
      </p:sp>
    </p:spTree>
    <p:extLst>
      <p:ext uri="{BB962C8B-B14F-4D97-AF65-F5344CB8AC3E}">
        <p14:creationId xmlns:p14="http://schemas.microsoft.com/office/powerpoint/2010/main" val="19281991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106</TotalTime>
  <Words>450</Words>
  <Application>Microsoft Office PowerPoint</Application>
  <PresentationFormat>Widescreen</PresentationFormat>
  <Paragraphs>90</Paragraphs>
  <Slides>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1" baseType="lpstr">
      <vt:lpstr>Arial</vt:lpstr>
      <vt:lpstr>Calibri</vt:lpstr>
      <vt:lpstr>Courier New</vt:lpstr>
      <vt:lpstr>Tahoma</vt:lpstr>
      <vt:lpstr>Wingdings</vt:lpstr>
      <vt:lpstr>Trinity Template 3.0</vt:lpstr>
      <vt:lpstr>think-cell Slide</vt:lpstr>
      <vt:lpstr>28 Point Title 1.2 Character Spacing</vt:lpstr>
      <vt:lpstr>PowerPoint Presentation</vt:lpstr>
      <vt:lpstr>Infra &amp; Cloud Data Platform Usage Cost Derivation Approach</vt:lpstr>
      <vt:lpstr>Support &amp; Ticketing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cp:lastModifiedBy>
  <cp:revision>3</cp:revision>
  <dcterms:created xsi:type="dcterms:W3CDTF">2024-06-14T06:59:00Z</dcterms:created>
  <dcterms:modified xsi:type="dcterms:W3CDTF">2024-06-14T08:45:24Z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