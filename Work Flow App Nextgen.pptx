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notesSlides/notesSlide10.xml" ContentType="application/vnd.openxmlformats-officedocument.presentationml.notesSlide+xml"/>
  <Override PartName="/ppt/tags/tag23.xml" ContentType="application/vnd.openxmlformats-officedocument.presentationml.tags+xml"/>
  <Override PartName="/ppt/notesSlides/notesSlide1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2.xml" ContentType="application/vnd.openxmlformats-officedocument.presentationml.notesSlide+xml"/>
  <Override PartName="/ppt/tags/tag28.xml" ContentType="application/vnd.openxmlformats-officedocument.presentationml.tags+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28"/>
  </p:notesMasterIdLst>
  <p:handoutMasterIdLst>
    <p:handoutMasterId r:id="rId29"/>
  </p:handoutMasterIdLst>
  <p:sldIdLst>
    <p:sldId id="256" r:id="rId5"/>
    <p:sldId id="337" r:id="rId6"/>
    <p:sldId id="333" r:id="rId7"/>
    <p:sldId id="334" r:id="rId8"/>
    <p:sldId id="336" r:id="rId9"/>
    <p:sldId id="338" r:id="rId10"/>
    <p:sldId id="339" r:id="rId11"/>
    <p:sldId id="335" r:id="rId12"/>
    <p:sldId id="340" r:id="rId13"/>
    <p:sldId id="341" r:id="rId14"/>
    <p:sldId id="342" r:id="rId15"/>
    <p:sldId id="343" r:id="rId16"/>
    <p:sldId id="344" r:id="rId17"/>
    <p:sldId id="326" r:id="rId18"/>
    <p:sldId id="327" r:id="rId19"/>
    <p:sldId id="328" r:id="rId20"/>
    <p:sldId id="267" r:id="rId21"/>
    <p:sldId id="325" r:id="rId22"/>
    <p:sldId id="329" r:id="rId23"/>
    <p:sldId id="332" r:id="rId24"/>
    <p:sldId id="330" r:id="rId25"/>
    <p:sldId id="331" r:id="rId26"/>
    <p:sldId id="266"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E3DFA-BCF2-4190-AA0A-EFE4F58FCC62}" v="6" dt="2023-10-12T11:54:23.687"/>
  </p1510:revLst>
</p1510:revInfo>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0" d="100"/>
          <a:sy n="70" d="100"/>
        </p:scale>
        <p:origin x="536" y="52"/>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6/6/2024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6/6/2024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3</a:t>
            </a:fld>
            <a:endParaRPr lang="en-US"/>
          </a:p>
        </p:txBody>
      </p:sp>
    </p:spTree>
    <p:extLst>
      <p:ext uri="{BB962C8B-B14F-4D97-AF65-F5344CB8AC3E}">
        <p14:creationId xmlns:p14="http://schemas.microsoft.com/office/powerpoint/2010/main" val="4186660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4</a:t>
            </a:fld>
            <a:endParaRPr lang="en-US"/>
          </a:p>
        </p:txBody>
      </p:sp>
    </p:spTree>
    <p:extLst>
      <p:ext uri="{BB962C8B-B14F-4D97-AF65-F5344CB8AC3E}">
        <p14:creationId xmlns:p14="http://schemas.microsoft.com/office/powerpoint/2010/main" val="2748371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5</a:t>
            </a:fld>
            <a:endParaRPr lang="en-US"/>
          </a:p>
        </p:txBody>
      </p:sp>
    </p:spTree>
    <p:extLst>
      <p:ext uri="{BB962C8B-B14F-4D97-AF65-F5344CB8AC3E}">
        <p14:creationId xmlns:p14="http://schemas.microsoft.com/office/powerpoint/2010/main" val="2398344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6</a:t>
            </a:fld>
            <a:endParaRPr lang="en-US"/>
          </a:p>
        </p:txBody>
      </p:sp>
    </p:spTree>
    <p:extLst>
      <p:ext uri="{BB962C8B-B14F-4D97-AF65-F5344CB8AC3E}">
        <p14:creationId xmlns:p14="http://schemas.microsoft.com/office/powerpoint/2010/main" val="1323879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7</a:t>
            </a:fld>
            <a:endParaRPr lang="en-US"/>
          </a:p>
        </p:txBody>
      </p:sp>
    </p:spTree>
    <p:extLst>
      <p:ext uri="{BB962C8B-B14F-4D97-AF65-F5344CB8AC3E}">
        <p14:creationId xmlns:p14="http://schemas.microsoft.com/office/powerpoint/2010/main" val="3842211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9</a:t>
            </a:fld>
            <a:endParaRPr lang="en-US"/>
          </a:p>
        </p:txBody>
      </p:sp>
    </p:spTree>
    <p:extLst>
      <p:ext uri="{BB962C8B-B14F-4D97-AF65-F5344CB8AC3E}">
        <p14:creationId xmlns:p14="http://schemas.microsoft.com/office/powerpoint/2010/main" val="2621849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10</a:t>
            </a:fld>
            <a:endParaRPr lang="en-US"/>
          </a:p>
        </p:txBody>
      </p:sp>
    </p:spTree>
    <p:extLst>
      <p:ext uri="{BB962C8B-B14F-4D97-AF65-F5344CB8AC3E}">
        <p14:creationId xmlns:p14="http://schemas.microsoft.com/office/powerpoint/2010/main" val="800527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11</a:t>
            </a:fld>
            <a:endParaRPr lang="en-US"/>
          </a:p>
        </p:txBody>
      </p:sp>
    </p:spTree>
    <p:extLst>
      <p:ext uri="{BB962C8B-B14F-4D97-AF65-F5344CB8AC3E}">
        <p14:creationId xmlns:p14="http://schemas.microsoft.com/office/powerpoint/2010/main" val="1832184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12</a:t>
            </a:fld>
            <a:endParaRPr lang="en-US"/>
          </a:p>
        </p:txBody>
      </p:sp>
    </p:spTree>
    <p:extLst>
      <p:ext uri="{BB962C8B-B14F-4D97-AF65-F5344CB8AC3E}">
        <p14:creationId xmlns:p14="http://schemas.microsoft.com/office/powerpoint/2010/main" val="7171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13</a:t>
            </a:fld>
            <a:endParaRPr lang="en-US"/>
          </a:p>
        </p:txBody>
      </p:sp>
    </p:spTree>
    <p:extLst>
      <p:ext uri="{BB962C8B-B14F-4D97-AF65-F5344CB8AC3E}">
        <p14:creationId xmlns:p14="http://schemas.microsoft.com/office/powerpoint/2010/main" val="3986451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19</a:t>
            </a:fld>
            <a:endParaRPr lang="en-US"/>
          </a:p>
        </p:txBody>
      </p:sp>
    </p:spTree>
    <p:extLst>
      <p:ext uri="{BB962C8B-B14F-4D97-AF65-F5344CB8AC3E}">
        <p14:creationId xmlns:p14="http://schemas.microsoft.com/office/powerpoint/2010/main" val="1417378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20</a:t>
            </a:fld>
            <a:endParaRPr lang="en-US"/>
          </a:p>
        </p:txBody>
      </p:sp>
    </p:spTree>
    <p:extLst>
      <p:ext uri="{BB962C8B-B14F-4D97-AF65-F5344CB8AC3E}">
        <p14:creationId xmlns:p14="http://schemas.microsoft.com/office/powerpoint/2010/main" val="32017605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5.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8.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9.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2.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3.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9.xml"/><Relationship Id="rId1" Type="http://schemas.openxmlformats.org/officeDocument/2006/relationships/tags" Target="../tags/tag24.xml"/><Relationship Id="rId4" Type="http://schemas.openxmlformats.org/officeDocument/2006/relationships/image" Target="../media/image13.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tags" Target="../tags/tag25.xml"/><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7.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8.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tags" Target="../tags/tag2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tags" Target="../tags/tag3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tags" Target="../tags/tag31.xml"/><Relationship Id="rId6" Type="http://schemas.openxmlformats.org/officeDocument/2006/relationships/hyperlink" Target="https://tpius.sharepoint.com/sites/kims-stratops/SitePages/PowerPoint-Resource-Hub.aspx" TargetMode="External"/><Relationship Id="rId5" Type="http://schemas.openxmlformats.org/officeDocument/2006/relationships/hyperlink" Target="https://tpius.sharepoint.com/projects/Trinity%20PowerPoint%20Resource%20Hub/SitePages/Home.aspx"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a:t>28 Point Title 1.2 Character Spacing</a:t>
            </a:r>
          </a:p>
        </p:txBody>
      </p:sp>
      <p:sp>
        <p:nvSpPr>
          <p:cNvPr id="3" name="Subtitle 2"/>
          <p:cNvSpPr>
            <a:spLocks noGrp="1"/>
          </p:cNvSpPr>
          <p:nvPr>
            <p:ph type="subTitle" idx="1"/>
          </p:nvPr>
        </p:nvSpPr>
        <p:spPr>
          <a:xfrm>
            <a:off x="1993392" y="4971085"/>
            <a:ext cx="8165592" cy="335280"/>
          </a:xfrm>
        </p:spPr>
        <p:txBody>
          <a:bodyPr/>
          <a:lstStyle/>
          <a:p>
            <a:r>
              <a:rPr lang="en-US"/>
              <a:t>18 Point Subtitle</a:t>
            </a:r>
          </a:p>
        </p:txBody>
      </p:sp>
      <p:sp>
        <p:nvSpPr>
          <p:cNvPr id="4" name="Text Placeholder 3"/>
          <p:cNvSpPr>
            <a:spLocks noGrp="1"/>
          </p:cNvSpPr>
          <p:nvPr>
            <p:ph type="body" sz="quarter" idx="13"/>
          </p:nvPr>
        </p:nvSpPr>
        <p:spPr>
          <a:xfrm>
            <a:off x="1993392" y="5406888"/>
            <a:ext cx="4876800" cy="304800"/>
          </a:xfrm>
        </p:spPr>
        <p:txBody>
          <a:bodyPr/>
          <a:lstStyle/>
          <a:p>
            <a:r>
              <a:rPr lang="en-US"/>
              <a:t>Month Day, Year</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D7DCC0-198F-FD89-C136-1C48964CADA4}"/>
              </a:ext>
            </a:extLst>
          </p:cNvPr>
          <p:cNvSpPr>
            <a:spLocks noGrp="1"/>
          </p:cNvSpPr>
          <p:nvPr>
            <p:ph type="body" sz="quarter" idx="14"/>
          </p:nvPr>
        </p:nvSpPr>
        <p:spPr/>
        <p:txBody>
          <a:bodyPr/>
          <a:lstStyle/>
          <a:p>
            <a:endParaRPr lang="en-IN"/>
          </a:p>
        </p:txBody>
      </p:sp>
      <p:sp>
        <p:nvSpPr>
          <p:cNvPr id="2" name="Text Placeholder 2">
            <a:extLst>
              <a:ext uri="{FF2B5EF4-FFF2-40B4-BE49-F238E27FC236}">
                <a16:creationId xmlns:a16="http://schemas.microsoft.com/office/drawing/2014/main" id="{6FCE9EC0-6EFA-E00E-838F-26DE8B2B13AE}"/>
              </a:ext>
            </a:extLst>
          </p:cNvPr>
          <p:cNvSpPr txBox="1">
            <a:spLocks/>
          </p:cNvSpPr>
          <p:nvPr/>
        </p:nvSpPr>
        <p:spPr>
          <a:xfrm>
            <a:off x="3907858" y="2480075"/>
            <a:ext cx="3965608" cy="677011"/>
          </a:xfrm>
          <a:prstGeom prst="rect">
            <a:avLst/>
          </a:prstGeom>
        </p:spPr>
        <p:txBody>
          <a:bodyPr/>
          <a:lst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algn="ctr">
              <a:buNone/>
            </a:pPr>
            <a:r>
              <a:rPr lang="en-US" sz="3000" b="1" dirty="0"/>
              <a:t>PLATFORM ADMIN</a:t>
            </a:r>
            <a:endParaRPr lang="en-US" sz="3000" dirty="0"/>
          </a:p>
        </p:txBody>
      </p:sp>
    </p:spTree>
    <p:extLst>
      <p:ext uri="{BB962C8B-B14F-4D97-AF65-F5344CB8AC3E}">
        <p14:creationId xmlns:p14="http://schemas.microsoft.com/office/powerpoint/2010/main" val="2792775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772343"/>
            <a:ext cx="4841748" cy="3408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2453416"/>
            <a:ext cx="4368547" cy="1507498"/>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124462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chemeClr val="tx2"/>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74973" y="249539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7182" y="1366063"/>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120878" y="18506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81806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4" name="TextBox 3">
            <a:extLst>
              <a:ext uri="{FF2B5EF4-FFF2-40B4-BE49-F238E27FC236}">
                <a16:creationId xmlns:a16="http://schemas.microsoft.com/office/drawing/2014/main" id="{277F1FD8-7C3E-337D-EEEF-5FE28C9C97D7}"/>
              </a:ext>
            </a:extLst>
          </p:cNvPr>
          <p:cNvSpPr txBox="1"/>
          <p:nvPr/>
        </p:nvSpPr>
        <p:spPr>
          <a:xfrm>
            <a:off x="1950197" y="1313015"/>
            <a:ext cx="1101650" cy="28573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Accts</a:t>
            </a:r>
            <a:endParaRPr lang="en-IN" sz="1400" dirty="0">
              <a:solidFill>
                <a:schemeClr val="tx2"/>
              </a:solidFill>
              <a:cs typeface="Tahoma" pitchFamily="34" charset="0"/>
            </a:endParaRPr>
          </a:p>
        </p:txBody>
      </p:sp>
      <p:sp>
        <p:nvSpPr>
          <p:cNvPr id="5" name="TextBox 4">
            <a:extLst>
              <a:ext uri="{FF2B5EF4-FFF2-40B4-BE49-F238E27FC236}">
                <a16:creationId xmlns:a16="http://schemas.microsoft.com/office/drawing/2014/main" id="{25E5E917-F4CC-06B2-7F70-AE31453ABE99}"/>
              </a:ext>
            </a:extLst>
          </p:cNvPr>
          <p:cNvSpPr txBox="1"/>
          <p:nvPr/>
        </p:nvSpPr>
        <p:spPr>
          <a:xfrm>
            <a:off x="3870991" y="1366063"/>
            <a:ext cx="1822508" cy="2349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Acct/User management</a:t>
            </a:r>
            <a:endParaRPr lang="en-IN" sz="1300" dirty="0">
              <a:solidFill>
                <a:schemeClr val="tx2"/>
              </a:solidFill>
              <a:cs typeface="Tahoma" pitchFamily="34" charset="0"/>
            </a:endParaRPr>
          </a:p>
        </p:txBody>
      </p:sp>
      <p:sp>
        <p:nvSpPr>
          <p:cNvPr id="6" name="TextBox 5">
            <a:extLst>
              <a:ext uri="{FF2B5EF4-FFF2-40B4-BE49-F238E27FC236}">
                <a16:creationId xmlns:a16="http://schemas.microsoft.com/office/drawing/2014/main" id="{CC5DDED8-2C0C-5819-6338-4D19D224ECD0}"/>
              </a:ext>
            </a:extLst>
          </p:cNvPr>
          <p:cNvSpPr txBox="1"/>
          <p:nvPr/>
        </p:nvSpPr>
        <p:spPr>
          <a:xfrm>
            <a:off x="2912368" y="2123927"/>
            <a:ext cx="1636969" cy="22981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Other Admin Activities</a:t>
            </a:r>
            <a:endParaRPr lang="en-IN" sz="1200" dirty="0">
              <a:solidFill>
                <a:schemeClr val="tx2"/>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314788" y="2453416"/>
            <a:ext cx="2984682" cy="36966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Account Wise health Statistics</a:t>
            </a:r>
            <a:endParaRPr lang="en-IN" sz="1600" dirty="0">
              <a:cs typeface="Tahoma" pitchFamily="34" charset="0"/>
            </a:endParaRPr>
          </a:p>
        </p:txBody>
      </p:sp>
      <p:sp>
        <p:nvSpPr>
          <p:cNvPr id="13" name="TextBox 12">
            <a:extLst>
              <a:ext uri="{FF2B5EF4-FFF2-40B4-BE49-F238E27FC236}">
                <a16:creationId xmlns:a16="http://schemas.microsoft.com/office/drawing/2014/main" id="{D3422962-8E9A-1A37-E9E1-11024CB8C23E}"/>
              </a:ext>
            </a:extLst>
          </p:cNvPr>
          <p:cNvSpPr txBox="1">
            <a:spLocks noGrp="1" noRot="1" noMove="1" noResize="1" noEditPoints="1" noAdjustHandles="1" noChangeArrowheads="1" noChangeShapeType="1"/>
          </p:cNvSpPr>
          <p:nvPr/>
        </p:nvSpPr>
        <p:spPr>
          <a:xfrm>
            <a:off x="7867847" y="512681"/>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Accounts</a:t>
            </a:r>
            <a:endParaRPr lang="en-IN" sz="1400" dirty="0">
              <a:solidFill>
                <a:schemeClr val="tx2"/>
              </a:solidFill>
              <a:cs typeface="Tahoma" pitchFamily="34" charset="0"/>
            </a:endParaRPr>
          </a:p>
        </p:txBody>
      </p:sp>
      <p:cxnSp>
        <p:nvCxnSpPr>
          <p:cNvPr id="15" name="Straight Arrow Connector 14">
            <a:extLst>
              <a:ext uri="{FF2B5EF4-FFF2-40B4-BE49-F238E27FC236}">
                <a16:creationId xmlns:a16="http://schemas.microsoft.com/office/drawing/2014/main" id="{D8906AE6-5DE6-8A92-487F-5F627FBCD5BB}"/>
              </a:ext>
            </a:extLst>
          </p:cNvPr>
          <p:cNvCxnSpPr>
            <a:cxnSpLocks/>
          </p:cNvCxnSpPr>
          <p:nvPr/>
        </p:nvCxnSpPr>
        <p:spPr>
          <a:xfrm>
            <a:off x="7312730" y="67539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 with solid fill">
            <a:extLst>
              <a:ext uri="{FF2B5EF4-FFF2-40B4-BE49-F238E27FC236}">
                <a16:creationId xmlns:a16="http://schemas.microsoft.com/office/drawing/2014/main" id="{64505726-C6E1-0FB8-5A5C-9002574094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514" y="382788"/>
            <a:ext cx="484632" cy="484632"/>
          </a:xfrm>
          <a:prstGeom prst="rect">
            <a:avLst/>
          </a:prstGeom>
        </p:spPr>
      </p:pic>
      <p:sp>
        <p:nvSpPr>
          <p:cNvPr id="28" name="TextBox 27">
            <a:extLst>
              <a:ext uri="{FF2B5EF4-FFF2-40B4-BE49-F238E27FC236}">
                <a16:creationId xmlns:a16="http://schemas.microsoft.com/office/drawing/2014/main" id="{5B5A5EB0-A030-2C7B-BC38-2719784CDCC7}"/>
              </a:ext>
            </a:extLst>
          </p:cNvPr>
          <p:cNvSpPr txBox="1"/>
          <p:nvPr/>
        </p:nvSpPr>
        <p:spPr>
          <a:xfrm>
            <a:off x="6665609" y="80322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sp>
        <p:nvSpPr>
          <p:cNvPr id="43" name="TextBox 42">
            <a:extLst>
              <a:ext uri="{FF2B5EF4-FFF2-40B4-BE49-F238E27FC236}">
                <a16:creationId xmlns:a16="http://schemas.microsoft.com/office/drawing/2014/main" id="{829BD638-4BAD-5F86-28C9-B3912110D37F}"/>
              </a:ext>
            </a:extLst>
          </p:cNvPr>
          <p:cNvSpPr txBox="1"/>
          <p:nvPr/>
        </p:nvSpPr>
        <p:spPr>
          <a:xfrm>
            <a:off x="9998017" y="343734"/>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45" name="TextBox 44">
            <a:extLst>
              <a:ext uri="{FF2B5EF4-FFF2-40B4-BE49-F238E27FC236}">
                <a16:creationId xmlns:a16="http://schemas.microsoft.com/office/drawing/2014/main" id="{7A3528CB-7AC7-BB69-54E9-0EA6A60990F1}"/>
              </a:ext>
            </a:extLst>
          </p:cNvPr>
          <p:cNvSpPr txBox="1"/>
          <p:nvPr/>
        </p:nvSpPr>
        <p:spPr>
          <a:xfrm>
            <a:off x="7862132" y="1298505"/>
            <a:ext cx="1451796" cy="484149"/>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Acct/User Management </a:t>
            </a:r>
            <a:endParaRPr lang="en-IN" sz="1400" dirty="0">
              <a:solidFill>
                <a:schemeClr val="tx2"/>
              </a:solidFill>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307015" y="146121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F9888D9-590F-4281-3F7D-83BA98B99C8A}"/>
              </a:ext>
            </a:extLst>
          </p:cNvPr>
          <p:cNvSpPr txBox="1"/>
          <p:nvPr/>
        </p:nvSpPr>
        <p:spPr>
          <a:xfrm>
            <a:off x="6581210" y="151121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119256"/>
            <a:ext cx="484632" cy="484632"/>
          </a:xfrm>
          <a:prstGeom prst="rect">
            <a:avLst/>
          </a:prstGeom>
        </p:spPr>
      </p:pic>
      <p:sp>
        <p:nvSpPr>
          <p:cNvPr id="22" name="TextBox 21">
            <a:extLst>
              <a:ext uri="{FF2B5EF4-FFF2-40B4-BE49-F238E27FC236}">
                <a16:creationId xmlns:a16="http://schemas.microsoft.com/office/drawing/2014/main" id="{B1A36FEA-9FFB-C0B6-73F8-4EABDC8B2A4C}"/>
              </a:ext>
            </a:extLst>
          </p:cNvPr>
          <p:cNvSpPr txBox="1"/>
          <p:nvPr/>
        </p:nvSpPr>
        <p:spPr>
          <a:xfrm>
            <a:off x="7862132" y="2041327"/>
            <a:ext cx="1440561" cy="537063"/>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7307015" y="220404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FF0C0E8-A7C0-E661-0E8D-0790DB69F071}"/>
              </a:ext>
            </a:extLst>
          </p:cNvPr>
          <p:cNvSpPr txBox="1"/>
          <p:nvPr/>
        </p:nvSpPr>
        <p:spPr>
          <a:xfrm>
            <a:off x="6581210" y="225403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862079"/>
            <a:ext cx="484632" cy="484632"/>
          </a:xfrm>
          <a:prstGeom prst="rect">
            <a:avLst/>
          </a:prstGeom>
        </p:spPr>
      </p:pic>
      <p:sp>
        <p:nvSpPr>
          <p:cNvPr id="41" name="TextBox 40">
            <a:extLst>
              <a:ext uri="{FF2B5EF4-FFF2-40B4-BE49-F238E27FC236}">
                <a16:creationId xmlns:a16="http://schemas.microsoft.com/office/drawing/2014/main" id="{3ADD4479-394D-5284-333D-15EC1496C3E5}"/>
              </a:ext>
            </a:extLst>
          </p:cNvPr>
          <p:cNvSpPr txBox="1"/>
          <p:nvPr/>
        </p:nvSpPr>
        <p:spPr>
          <a:xfrm>
            <a:off x="3937369" y="1755708"/>
            <a:ext cx="844876" cy="2349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sp>
        <p:nvSpPr>
          <p:cNvPr id="42" name="TextBox 41">
            <a:extLst>
              <a:ext uri="{FF2B5EF4-FFF2-40B4-BE49-F238E27FC236}">
                <a16:creationId xmlns:a16="http://schemas.microsoft.com/office/drawing/2014/main" id="{BF31B888-450F-C926-4B96-189E01B5B219}"/>
              </a:ext>
            </a:extLst>
          </p:cNvPr>
          <p:cNvSpPr txBox="1"/>
          <p:nvPr/>
        </p:nvSpPr>
        <p:spPr>
          <a:xfrm>
            <a:off x="7911759" y="3504192"/>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cxnSp>
        <p:nvCxnSpPr>
          <p:cNvPr id="54" name="Straight Arrow Connector 53">
            <a:extLst>
              <a:ext uri="{FF2B5EF4-FFF2-40B4-BE49-F238E27FC236}">
                <a16:creationId xmlns:a16="http://schemas.microsoft.com/office/drawing/2014/main" id="{20FB60AD-0C66-EB8E-7A9E-2BF9284E2D08}"/>
              </a:ext>
            </a:extLst>
          </p:cNvPr>
          <p:cNvCxnSpPr>
            <a:cxnSpLocks/>
          </p:cNvCxnSpPr>
          <p:nvPr/>
        </p:nvCxnSpPr>
        <p:spPr>
          <a:xfrm>
            <a:off x="7356642" y="366690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D265D12-3CE6-E937-8C01-D85728FBE291}"/>
              </a:ext>
            </a:extLst>
          </p:cNvPr>
          <p:cNvSpPr txBox="1"/>
          <p:nvPr/>
        </p:nvSpPr>
        <p:spPr>
          <a:xfrm>
            <a:off x="6630837" y="371690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61" name="Graphic 60" descr="User with solid fill">
            <a:extLst>
              <a:ext uri="{FF2B5EF4-FFF2-40B4-BE49-F238E27FC236}">
                <a16:creationId xmlns:a16="http://schemas.microsoft.com/office/drawing/2014/main" id="{99EA1871-2D31-C0A0-6E1E-E75CAAA707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3324944"/>
            <a:ext cx="484632" cy="484632"/>
          </a:xfrm>
          <a:prstGeom prst="rect">
            <a:avLst/>
          </a:prstGeom>
        </p:spPr>
      </p:pic>
      <p:sp>
        <p:nvSpPr>
          <p:cNvPr id="64" name="TextBox 63">
            <a:extLst>
              <a:ext uri="{FF2B5EF4-FFF2-40B4-BE49-F238E27FC236}">
                <a16:creationId xmlns:a16="http://schemas.microsoft.com/office/drawing/2014/main" id="{61D1590E-961E-412C-9956-BFFE63270D05}"/>
              </a:ext>
            </a:extLst>
          </p:cNvPr>
          <p:cNvSpPr txBox="1"/>
          <p:nvPr/>
        </p:nvSpPr>
        <p:spPr>
          <a:xfrm>
            <a:off x="1992927" y="1755708"/>
            <a:ext cx="1134497" cy="25805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69" name="Straight Arrow Connector 68">
            <a:extLst>
              <a:ext uri="{FF2B5EF4-FFF2-40B4-BE49-F238E27FC236}">
                <a16:creationId xmlns:a16="http://schemas.microsoft.com/office/drawing/2014/main" id="{C2B81905-993A-8839-EE2E-EC57A745F7B6}"/>
              </a:ext>
            </a:extLst>
          </p:cNvPr>
          <p:cNvCxnSpPr/>
          <p:nvPr/>
        </p:nvCxnSpPr>
        <p:spPr>
          <a:xfrm>
            <a:off x="9247829" y="6113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Flowchart: Connector 34">
            <a:extLst>
              <a:ext uri="{FF2B5EF4-FFF2-40B4-BE49-F238E27FC236}">
                <a16:creationId xmlns:a16="http://schemas.microsoft.com/office/drawing/2014/main" id="{22BA387A-D3D6-7F34-E5E8-E0D173D0D287}"/>
              </a:ext>
            </a:extLst>
          </p:cNvPr>
          <p:cNvSpPr/>
          <p:nvPr/>
        </p:nvSpPr>
        <p:spPr>
          <a:xfrm>
            <a:off x="168336" y="2111838"/>
            <a:ext cx="718361" cy="759277"/>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Log In</a:t>
            </a:r>
            <a:endParaRPr lang="en-IN" sz="1400" dirty="0"/>
          </a:p>
        </p:txBody>
      </p:sp>
      <p:sp>
        <p:nvSpPr>
          <p:cNvPr id="36" name="TextBox 35">
            <a:extLst>
              <a:ext uri="{FF2B5EF4-FFF2-40B4-BE49-F238E27FC236}">
                <a16:creationId xmlns:a16="http://schemas.microsoft.com/office/drawing/2014/main" id="{5E999FEB-0FB8-6668-0089-963F80DB81A4}"/>
              </a:ext>
            </a:extLst>
          </p:cNvPr>
          <p:cNvSpPr txBox="1"/>
          <p:nvPr/>
        </p:nvSpPr>
        <p:spPr>
          <a:xfrm>
            <a:off x="475123" y="282489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Authenticate using SSO</a:t>
            </a:r>
            <a:endParaRPr lang="en-IN" sz="1100" dirty="0">
              <a:solidFill>
                <a:srgbClr val="002240"/>
              </a:solidFill>
              <a:cs typeface="Tahoma" pitchFamily="34" charset="0"/>
            </a:endParaRPr>
          </a:p>
        </p:txBody>
      </p:sp>
      <p:sp>
        <p:nvSpPr>
          <p:cNvPr id="37" name="TextBox 36">
            <a:extLst>
              <a:ext uri="{FF2B5EF4-FFF2-40B4-BE49-F238E27FC236}">
                <a16:creationId xmlns:a16="http://schemas.microsoft.com/office/drawing/2014/main" id="{D8D9D4AE-2C64-C2DE-D661-05C889B3398C}"/>
              </a:ext>
            </a:extLst>
          </p:cNvPr>
          <p:cNvSpPr txBox="1"/>
          <p:nvPr/>
        </p:nvSpPr>
        <p:spPr>
          <a:xfrm>
            <a:off x="1444424" y="2124069"/>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Support &amp; Ticketing</a:t>
            </a:r>
            <a:endParaRPr lang="en-IN" sz="1200" dirty="0">
              <a:solidFill>
                <a:schemeClr val="tx2"/>
              </a:solidFill>
              <a:cs typeface="Tahoma" pitchFamily="34" charset="0"/>
            </a:endParaRPr>
          </a:p>
        </p:txBody>
      </p:sp>
      <p:graphicFrame>
        <p:nvGraphicFramePr>
          <p:cNvPr id="38" name="Table 37">
            <a:extLst>
              <a:ext uri="{FF2B5EF4-FFF2-40B4-BE49-F238E27FC236}">
                <a16:creationId xmlns:a16="http://schemas.microsoft.com/office/drawing/2014/main" id="{EA87390C-EC25-CBBC-3FA5-0BE3B34AF851}"/>
              </a:ext>
            </a:extLst>
          </p:cNvPr>
          <p:cNvGraphicFramePr>
            <a:graphicFrameLocks noGrp="1"/>
          </p:cNvGraphicFramePr>
          <p:nvPr>
            <p:extLst>
              <p:ext uri="{D42A27DB-BD31-4B8C-83A1-F6EECF244321}">
                <p14:modId xmlns:p14="http://schemas.microsoft.com/office/powerpoint/2010/main" val="1590152168"/>
              </p:ext>
            </p:extLst>
          </p:nvPr>
        </p:nvGraphicFramePr>
        <p:xfrm>
          <a:off x="1740341" y="2922749"/>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Acct </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err="1"/>
                        <a:t>Sobi</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a:t>Ironshore</a:t>
                      </a:r>
                      <a:endParaRPr lang="en-IN" sz="900" dirty="0"/>
                    </a:p>
                  </a:txBody>
                  <a:tcPr/>
                </a:tc>
                <a:tc>
                  <a:txBody>
                    <a:bodyPr/>
                    <a:lstStyle/>
                    <a:p>
                      <a:endParaRPr lang="en-IN" sz="90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59" name="TextBox 58">
            <a:extLst>
              <a:ext uri="{FF2B5EF4-FFF2-40B4-BE49-F238E27FC236}">
                <a16:creationId xmlns:a16="http://schemas.microsoft.com/office/drawing/2014/main" id="{571173C4-6602-FBCC-7D18-42DDF960CA5B}"/>
              </a:ext>
            </a:extLst>
          </p:cNvPr>
          <p:cNvSpPr txBox="1"/>
          <p:nvPr/>
        </p:nvSpPr>
        <p:spPr>
          <a:xfrm>
            <a:off x="6991073" y="40771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7" name="TextBox 66">
            <a:extLst>
              <a:ext uri="{FF2B5EF4-FFF2-40B4-BE49-F238E27FC236}">
                <a16:creationId xmlns:a16="http://schemas.microsoft.com/office/drawing/2014/main" id="{13431147-0B90-958D-ACE5-90E08ADA0DD4}"/>
              </a:ext>
            </a:extLst>
          </p:cNvPr>
          <p:cNvSpPr txBox="1"/>
          <p:nvPr/>
        </p:nvSpPr>
        <p:spPr>
          <a:xfrm>
            <a:off x="7127750" y="1941336"/>
            <a:ext cx="784009"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8" name="TextBox 67">
            <a:extLst>
              <a:ext uri="{FF2B5EF4-FFF2-40B4-BE49-F238E27FC236}">
                <a16:creationId xmlns:a16="http://schemas.microsoft.com/office/drawing/2014/main" id="{0ABDD660-B89C-DFCE-BE9E-DC8D069091E6}"/>
              </a:ext>
            </a:extLst>
          </p:cNvPr>
          <p:cNvSpPr txBox="1"/>
          <p:nvPr/>
        </p:nvSpPr>
        <p:spPr>
          <a:xfrm>
            <a:off x="6996225" y="116885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1" name="TextBox 70">
            <a:extLst>
              <a:ext uri="{FF2B5EF4-FFF2-40B4-BE49-F238E27FC236}">
                <a16:creationId xmlns:a16="http://schemas.microsoft.com/office/drawing/2014/main" id="{BEF3AF14-944D-E952-7DBB-5E38CA2E2853}"/>
              </a:ext>
            </a:extLst>
          </p:cNvPr>
          <p:cNvSpPr txBox="1"/>
          <p:nvPr/>
        </p:nvSpPr>
        <p:spPr>
          <a:xfrm>
            <a:off x="7082613" y="3364577"/>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8" name="Oval 77">
            <a:extLst>
              <a:ext uri="{FF2B5EF4-FFF2-40B4-BE49-F238E27FC236}">
                <a16:creationId xmlns:a16="http://schemas.microsoft.com/office/drawing/2014/main" id="{259372F9-1F90-1C00-8748-CCF889299BBE}"/>
              </a:ext>
            </a:extLst>
          </p:cNvPr>
          <p:cNvSpPr/>
          <p:nvPr/>
        </p:nvSpPr>
        <p:spPr>
          <a:xfrm>
            <a:off x="11332467" y="512681"/>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A</a:t>
            </a:r>
            <a:endParaRPr lang="en-IN" sz="1600" dirty="0">
              <a:solidFill>
                <a:schemeClr val="tx2"/>
              </a:solidFill>
            </a:endParaRPr>
          </a:p>
        </p:txBody>
      </p:sp>
      <p:sp>
        <p:nvSpPr>
          <p:cNvPr id="81" name="Oval 80">
            <a:extLst>
              <a:ext uri="{FF2B5EF4-FFF2-40B4-BE49-F238E27FC236}">
                <a16:creationId xmlns:a16="http://schemas.microsoft.com/office/drawing/2014/main" id="{5096BA02-55A5-B758-10B9-5031A0EB6F03}"/>
              </a:ext>
            </a:extLst>
          </p:cNvPr>
          <p:cNvSpPr/>
          <p:nvPr/>
        </p:nvSpPr>
        <p:spPr>
          <a:xfrm>
            <a:off x="11340169" y="1402140"/>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B</a:t>
            </a:r>
            <a:endParaRPr lang="en-IN" sz="1600" dirty="0">
              <a:solidFill>
                <a:schemeClr val="tx2"/>
              </a:solidFill>
            </a:endParaRPr>
          </a:p>
        </p:txBody>
      </p:sp>
      <p:sp>
        <p:nvSpPr>
          <p:cNvPr id="84" name="Oval 83">
            <a:extLst>
              <a:ext uri="{FF2B5EF4-FFF2-40B4-BE49-F238E27FC236}">
                <a16:creationId xmlns:a16="http://schemas.microsoft.com/office/drawing/2014/main" id="{E294A983-2792-241B-D4FA-D0E3165AD2DD}"/>
              </a:ext>
            </a:extLst>
          </p:cNvPr>
          <p:cNvSpPr/>
          <p:nvPr/>
        </p:nvSpPr>
        <p:spPr>
          <a:xfrm>
            <a:off x="11337797" y="2123927"/>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C</a:t>
            </a:r>
            <a:endParaRPr lang="en-IN" sz="1600" dirty="0">
              <a:solidFill>
                <a:schemeClr val="tx2"/>
              </a:solidFill>
            </a:endParaRPr>
          </a:p>
        </p:txBody>
      </p:sp>
      <p:sp>
        <p:nvSpPr>
          <p:cNvPr id="86" name="Oval 85">
            <a:extLst>
              <a:ext uri="{FF2B5EF4-FFF2-40B4-BE49-F238E27FC236}">
                <a16:creationId xmlns:a16="http://schemas.microsoft.com/office/drawing/2014/main" id="{43A103CA-F52C-3191-ABC3-46F39C70DEEF}"/>
              </a:ext>
            </a:extLst>
          </p:cNvPr>
          <p:cNvSpPr/>
          <p:nvPr/>
        </p:nvSpPr>
        <p:spPr>
          <a:xfrm>
            <a:off x="11390664" y="3517199"/>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E</a:t>
            </a:r>
            <a:endParaRPr lang="en-IN" sz="1600" dirty="0">
              <a:solidFill>
                <a:schemeClr val="tx2"/>
              </a:solidFill>
            </a:endParaRPr>
          </a:p>
        </p:txBody>
      </p:sp>
      <p:sp>
        <p:nvSpPr>
          <p:cNvPr id="87" name="TextBox 86">
            <a:extLst>
              <a:ext uri="{FF2B5EF4-FFF2-40B4-BE49-F238E27FC236}">
                <a16:creationId xmlns:a16="http://schemas.microsoft.com/office/drawing/2014/main" id="{700F0097-2074-50D0-F678-B108474FB804}"/>
              </a:ext>
            </a:extLst>
          </p:cNvPr>
          <p:cNvSpPr txBox="1"/>
          <p:nvPr/>
        </p:nvSpPr>
        <p:spPr>
          <a:xfrm>
            <a:off x="10052881" y="1318366"/>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88" name="Straight Arrow Connector 87">
            <a:extLst>
              <a:ext uri="{FF2B5EF4-FFF2-40B4-BE49-F238E27FC236}">
                <a16:creationId xmlns:a16="http://schemas.microsoft.com/office/drawing/2014/main" id="{95933508-DF41-2A1F-A623-9FE0F02473CC}"/>
              </a:ext>
            </a:extLst>
          </p:cNvPr>
          <p:cNvCxnSpPr/>
          <p:nvPr/>
        </p:nvCxnSpPr>
        <p:spPr>
          <a:xfrm>
            <a:off x="9302693" y="15585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AD7BB89-E6C1-89B2-48CF-A18DBBB3B226}"/>
              </a:ext>
            </a:extLst>
          </p:cNvPr>
          <p:cNvSpPr txBox="1"/>
          <p:nvPr/>
        </p:nvSpPr>
        <p:spPr>
          <a:xfrm>
            <a:off x="10022021" y="2049170"/>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52678C88-F64B-4A91-B61A-071A92D58F97}"/>
              </a:ext>
            </a:extLst>
          </p:cNvPr>
          <p:cNvCxnSpPr/>
          <p:nvPr/>
        </p:nvCxnSpPr>
        <p:spPr>
          <a:xfrm>
            <a:off x="9271833" y="228939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9E606C5-0904-2853-4CA8-DFD8CE6F6668}"/>
              </a:ext>
            </a:extLst>
          </p:cNvPr>
          <p:cNvSpPr txBox="1"/>
          <p:nvPr/>
        </p:nvSpPr>
        <p:spPr>
          <a:xfrm>
            <a:off x="10059456" y="3382818"/>
            <a:ext cx="127224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2" name="Straight Arrow Connector 91">
            <a:extLst>
              <a:ext uri="{FF2B5EF4-FFF2-40B4-BE49-F238E27FC236}">
                <a16:creationId xmlns:a16="http://schemas.microsoft.com/office/drawing/2014/main" id="{14F2176E-B85C-1CCD-1866-E1D520C407B6}"/>
              </a:ext>
            </a:extLst>
          </p:cNvPr>
          <p:cNvCxnSpPr/>
          <p:nvPr/>
        </p:nvCxnSpPr>
        <p:spPr>
          <a:xfrm>
            <a:off x="9309268" y="362303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6D969C4-30BA-F63B-E904-37E4B1C6D053}"/>
              </a:ext>
            </a:extLst>
          </p:cNvPr>
          <p:cNvSpPr txBox="1"/>
          <p:nvPr/>
        </p:nvSpPr>
        <p:spPr>
          <a:xfrm>
            <a:off x="4600970" y="2113356"/>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Maintenance</a:t>
            </a:r>
            <a:endParaRPr lang="en-IN" sz="1200" dirty="0">
              <a:solidFill>
                <a:schemeClr val="tx2"/>
              </a:solidFill>
              <a:cs typeface="Tahoma" pitchFamily="34" charset="0"/>
            </a:endParaRPr>
          </a:p>
        </p:txBody>
      </p:sp>
      <p:sp>
        <p:nvSpPr>
          <p:cNvPr id="94" name="TextBox 93">
            <a:extLst>
              <a:ext uri="{FF2B5EF4-FFF2-40B4-BE49-F238E27FC236}">
                <a16:creationId xmlns:a16="http://schemas.microsoft.com/office/drawing/2014/main" id="{6643518C-293F-3476-DE06-2ED8F6AA84DE}"/>
              </a:ext>
            </a:extLst>
          </p:cNvPr>
          <p:cNvSpPr txBox="1"/>
          <p:nvPr/>
        </p:nvSpPr>
        <p:spPr>
          <a:xfrm>
            <a:off x="7946912" y="4287545"/>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Support &amp; Ticketing</a:t>
            </a:r>
            <a:endParaRPr lang="en-IN" sz="1400" dirty="0">
              <a:solidFill>
                <a:schemeClr val="tx2"/>
              </a:solidFill>
              <a:cs typeface="Tahoma" pitchFamily="34" charset="0"/>
            </a:endParaRPr>
          </a:p>
        </p:txBody>
      </p:sp>
      <p:cxnSp>
        <p:nvCxnSpPr>
          <p:cNvPr id="95" name="Straight Arrow Connector 94">
            <a:extLst>
              <a:ext uri="{FF2B5EF4-FFF2-40B4-BE49-F238E27FC236}">
                <a16:creationId xmlns:a16="http://schemas.microsoft.com/office/drawing/2014/main" id="{71E5DF06-31A3-F9B9-9595-3C654A26CC19}"/>
              </a:ext>
            </a:extLst>
          </p:cNvPr>
          <p:cNvCxnSpPr>
            <a:cxnSpLocks/>
          </p:cNvCxnSpPr>
          <p:nvPr/>
        </p:nvCxnSpPr>
        <p:spPr>
          <a:xfrm>
            <a:off x="7391795" y="4450260"/>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AF9C1A9C-5F9B-BC17-8670-47401EF7351A}"/>
              </a:ext>
            </a:extLst>
          </p:cNvPr>
          <p:cNvSpPr txBox="1"/>
          <p:nvPr/>
        </p:nvSpPr>
        <p:spPr>
          <a:xfrm>
            <a:off x="6665990" y="4500254"/>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97" name="Graphic 96" descr="User with solid fill">
            <a:extLst>
              <a:ext uri="{FF2B5EF4-FFF2-40B4-BE49-F238E27FC236}">
                <a16:creationId xmlns:a16="http://schemas.microsoft.com/office/drawing/2014/main" id="{FD6AE21F-FEB6-537D-BEF6-9FD928A076F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22772" y="4108297"/>
            <a:ext cx="484632" cy="484632"/>
          </a:xfrm>
          <a:prstGeom prst="rect">
            <a:avLst/>
          </a:prstGeom>
        </p:spPr>
      </p:pic>
      <p:sp>
        <p:nvSpPr>
          <p:cNvPr id="98" name="TextBox 97">
            <a:extLst>
              <a:ext uri="{FF2B5EF4-FFF2-40B4-BE49-F238E27FC236}">
                <a16:creationId xmlns:a16="http://schemas.microsoft.com/office/drawing/2014/main" id="{0C370B3A-81F2-8C74-FC87-5AB748A00753}"/>
              </a:ext>
            </a:extLst>
          </p:cNvPr>
          <p:cNvSpPr txBox="1"/>
          <p:nvPr/>
        </p:nvSpPr>
        <p:spPr>
          <a:xfrm>
            <a:off x="7117766" y="4147930"/>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9" name="Oval 98">
            <a:extLst>
              <a:ext uri="{FF2B5EF4-FFF2-40B4-BE49-F238E27FC236}">
                <a16:creationId xmlns:a16="http://schemas.microsoft.com/office/drawing/2014/main" id="{84A3C77E-CA3C-5AA8-4E36-6B2DAAEDAE9B}"/>
              </a:ext>
            </a:extLst>
          </p:cNvPr>
          <p:cNvSpPr/>
          <p:nvPr/>
        </p:nvSpPr>
        <p:spPr>
          <a:xfrm>
            <a:off x="11462442" y="5769898"/>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H</a:t>
            </a:r>
            <a:endParaRPr lang="en-IN" sz="1600" dirty="0">
              <a:solidFill>
                <a:schemeClr val="tx2"/>
              </a:solidFill>
            </a:endParaRPr>
          </a:p>
        </p:txBody>
      </p:sp>
      <p:sp>
        <p:nvSpPr>
          <p:cNvPr id="100" name="TextBox 99">
            <a:extLst>
              <a:ext uri="{FF2B5EF4-FFF2-40B4-BE49-F238E27FC236}">
                <a16:creationId xmlns:a16="http://schemas.microsoft.com/office/drawing/2014/main" id="{4EDEDBF4-23A8-E95F-3879-6D3C604D45D0}"/>
              </a:ext>
            </a:extLst>
          </p:cNvPr>
          <p:cNvSpPr txBox="1"/>
          <p:nvPr/>
        </p:nvSpPr>
        <p:spPr>
          <a:xfrm>
            <a:off x="10094609" y="4166171"/>
            <a:ext cx="121395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01" name="Straight Arrow Connector 100">
            <a:extLst>
              <a:ext uri="{FF2B5EF4-FFF2-40B4-BE49-F238E27FC236}">
                <a16:creationId xmlns:a16="http://schemas.microsoft.com/office/drawing/2014/main" id="{12E85064-BAB8-E615-7EF4-7E671D3758E3}"/>
              </a:ext>
            </a:extLst>
          </p:cNvPr>
          <p:cNvCxnSpPr/>
          <p:nvPr/>
        </p:nvCxnSpPr>
        <p:spPr>
          <a:xfrm>
            <a:off x="9344421" y="44063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ECF59E8-F029-3AA1-770A-8347C21908DB}"/>
              </a:ext>
            </a:extLst>
          </p:cNvPr>
          <p:cNvSpPr txBox="1"/>
          <p:nvPr/>
        </p:nvSpPr>
        <p:spPr>
          <a:xfrm>
            <a:off x="7956436" y="5749616"/>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Other Admin Activities</a:t>
            </a:r>
            <a:endParaRPr lang="en-IN" sz="1400" dirty="0">
              <a:solidFill>
                <a:schemeClr val="tx2"/>
              </a:solidFill>
              <a:cs typeface="Tahoma" pitchFamily="34" charset="0"/>
            </a:endParaRPr>
          </a:p>
        </p:txBody>
      </p:sp>
      <p:cxnSp>
        <p:nvCxnSpPr>
          <p:cNvPr id="106" name="Straight Arrow Connector 105">
            <a:extLst>
              <a:ext uri="{FF2B5EF4-FFF2-40B4-BE49-F238E27FC236}">
                <a16:creationId xmlns:a16="http://schemas.microsoft.com/office/drawing/2014/main" id="{ACB6EA28-3429-19EE-845E-A61233C12EA7}"/>
              </a:ext>
            </a:extLst>
          </p:cNvPr>
          <p:cNvCxnSpPr>
            <a:cxnSpLocks/>
          </p:cNvCxnSpPr>
          <p:nvPr/>
        </p:nvCxnSpPr>
        <p:spPr>
          <a:xfrm>
            <a:off x="7356642" y="51381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6C303958-BDB6-6BC8-9E4A-18DB3EF205D7}"/>
              </a:ext>
            </a:extLst>
          </p:cNvPr>
          <p:cNvSpPr txBox="1"/>
          <p:nvPr/>
        </p:nvSpPr>
        <p:spPr>
          <a:xfrm>
            <a:off x="6630837" y="518816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08" name="Graphic 107" descr="User with solid fill">
            <a:extLst>
              <a:ext uri="{FF2B5EF4-FFF2-40B4-BE49-F238E27FC236}">
                <a16:creationId xmlns:a16="http://schemas.microsoft.com/office/drawing/2014/main" id="{5142C2CC-0DA4-0793-D3C2-3B88B947A9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4796209"/>
            <a:ext cx="484632" cy="484632"/>
          </a:xfrm>
          <a:prstGeom prst="rect">
            <a:avLst/>
          </a:prstGeom>
        </p:spPr>
      </p:pic>
      <p:sp>
        <p:nvSpPr>
          <p:cNvPr id="109" name="TextBox 108">
            <a:extLst>
              <a:ext uri="{FF2B5EF4-FFF2-40B4-BE49-F238E27FC236}">
                <a16:creationId xmlns:a16="http://schemas.microsoft.com/office/drawing/2014/main" id="{E5CD4D8A-9CDE-DA6A-3D99-707D90D21C0B}"/>
              </a:ext>
            </a:extLst>
          </p:cNvPr>
          <p:cNvSpPr txBox="1"/>
          <p:nvPr/>
        </p:nvSpPr>
        <p:spPr>
          <a:xfrm>
            <a:off x="7082613" y="483584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0" name="Oval 109">
            <a:extLst>
              <a:ext uri="{FF2B5EF4-FFF2-40B4-BE49-F238E27FC236}">
                <a16:creationId xmlns:a16="http://schemas.microsoft.com/office/drawing/2014/main" id="{642C61EA-CFF9-A101-95A3-8D651807BCDE}"/>
              </a:ext>
            </a:extLst>
          </p:cNvPr>
          <p:cNvSpPr/>
          <p:nvPr/>
        </p:nvSpPr>
        <p:spPr>
          <a:xfrm>
            <a:off x="11402658" y="4238052"/>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F</a:t>
            </a:r>
            <a:endParaRPr lang="en-IN" sz="1600" dirty="0">
              <a:solidFill>
                <a:schemeClr val="tx2"/>
              </a:solidFill>
            </a:endParaRPr>
          </a:p>
        </p:txBody>
      </p:sp>
      <p:cxnSp>
        <p:nvCxnSpPr>
          <p:cNvPr id="111" name="Straight Arrow Connector 110">
            <a:extLst>
              <a:ext uri="{FF2B5EF4-FFF2-40B4-BE49-F238E27FC236}">
                <a16:creationId xmlns:a16="http://schemas.microsoft.com/office/drawing/2014/main" id="{6EBDC17F-B16A-323C-986B-6DA9AA42D0BF}"/>
              </a:ext>
            </a:extLst>
          </p:cNvPr>
          <p:cNvCxnSpPr/>
          <p:nvPr/>
        </p:nvCxnSpPr>
        <p:spPr>
          <a:xfrm>
            <a:off x="9309268" y="509430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E6C44626-9A02-DC69-832D-13DB187E6F96}"/>
              </a:ext>
            </a:extLst>
          </p:cNvPr>
          <p:cNvSpPr txBox="1"/>
          <p:nvPr/>
        </p:nvSpPr>
        <p:spPr>
          <a:xfrm>
            <a:off x="7936907" y="4937330"/>
            <a:ext cx="1387985" cy="29056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Maintenance</a:t>
            </a:r>
            <a:endParaRPr lang="en-IN" sz="1400" dirty="0">
              <a:solidFill>
                <a:schemeClr val="tx2"/>
              </a:solidFill>
              <a:cs typeface="Tahoma" pitchFamily="34" charset="0"/>
            </a:endParaRPr>
          </a:p>
        </p:txBody>
      </p:sp>
      <p:cxnSp>
        <p:nvCxnSpPr>
          <p:cNvPr id="113" name="Straight Arrow Connector 112">
            <a:extLst>
              <a:ext uri="{FF2B5EF4-FFF2-40B4-BE49-F238E27FC236}">
                <a16:creationId xmlns:a16="http://schemas.microsoft.com/office/drawing/2014/main" id="{412B624F-5451-E836-2A14-FD6F122EEA94}"/>
              </a:ext>
            </a:extLst>
          </p:cNvPr>
          <p:cNvCxnSpPr>
            <a:cxnSpLocks/>
          </p:cNvCxnSpPr>
          <p:nvPr/>
        </p:nvCxnSpPr>
        <p:spPr>
          <a:xfrm>
            <a:off x="7344450" y="606781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F0A32E51-E728-1B1D-EB9A-8E9CB22CEAD4}"/>
              </a:ext>
            </a:extLst>
          </p:cNvPr>
          <p:cNvSpPr txBox="1"/>
          <p:nvPr/>
        </p:nvSpPr>
        <p:spPr>
          <a:xfrm>
            <a:off x="6618645" y="611780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15" name="Graphic 114" descr="User with solid fill">
            <a:extLst>
              <a:ext uri="{FF2B5EF4-FFF2-40B4-BE49-F238E27FC236}">
                <a16:creationId xmlns:a16="http://schemas.microsoft.com/office/drawing/2014/main" id="{431792C1-8091-9D58-2F3B-ED66DBD64B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5427" y="5725849"/>
            <a:ext cx="484632" cy="484632"/>
          </a:xfrm>
          <a:prstGeom prst="rect">
            <a:avLst/>
          </a:prstGeom>
        </p:spPr>
      </p:pic>
      <p:sp>
        <p:nvSpPr>
          <p:cNvPr id="116" name="TextBox 115">
            <a:extLst>
              <a:ext uri="{FF2B5EF4-FFF2-40B4-BE49-F238E27FC236}">
                <a16:creationId xmlns:a16="http://schemas.microsoft.com/office/drawing/2014/main" id="{9FF529DD-AA45-E688-EF41-324BA505A1B5}"/>
              </a:ext>
            </a:extLst>
          </p:cNvPr>
          <p:cNvSpPr txBox="1"/>
          <p:nvPr/>
        </p:nvSpPr>
        <p:spPr>
          <a:xfrm>
            <a:off x="7070421" y="576548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7" name="Oval 116">
            <a:extLst>
              <a:ext uri="{FF2B5EF4-FFF2-40B4-BE49-F238E27FC236}">
                <a16:creationId xmlns:a16="http://schemas.microsoft.com/office/drawing/2014/main" id="{2FDCCC99-3040-F266-E685-E0F98A47DFD3}"/>
              </a:ext>
            </a:extLst>
          </p:cNvPr>
          <p:cNvSpPr/>
          <p:nvPr/>
        </p:nvSpPr>
        <p:spPr>
          <a:xfrm>
            <a:off x="11437582" y="4938694"/>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G</a:t>
            </a:r>
            <a:endParaRPr lang="en-IN" sz="1600" dirty="0">
              <a:solidFill>
                <a:schemeClr val="tx2"/>
              </a:solidFill>
            </a:endParaRPr>
          </a:p>
        </p:txBody>
      </p:sp>
      <p:cxnSp>
        <p:nvCxnSpPr>
          <p:cNvPr id="118" name="Straight Arrow Connector 117">
            <a:extLst>
              <a:ext uri="{FF2B5EF4-FFF2-40B4-BE49-F238E27FC236}">
                <a16:creationId xmlns:a16="http://schemas.microsoft.com/office/drawing/2014/main" id="{089E52F5-D2C0-FECE-F058-2ABBBFF4AB54}"/>
              </a:ext>
            </a:extLst>
          </p:cNvPr>
          <p:cNvCxnSpPr/>
          <p:nvPr/>
        </p:nvCxnSpPr>
        <p:spPr>
          <a:xfrm>
            <a:off x="9297076" y="602394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85EFBA5D-E2B3-D005-B91E-E304413416D5}"/>
              </a:ext>
            </a:extLst>
          </p:cNvPr>
          <p:cNvSpPr txBox="1"/>
          <p:nvPr/>
        </p:nvSpPr>
        <p:spPr>
          <a:xfrm>
            <a:off x="10145565" y="4801463"/>
            <a:ext cx="1247859" cy="606148"/>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0" name="TextBox 119">
            <a:extLst>
              <a:ext uri="{FF2B5EF4-FFF2-40B4-BE49-F238E27FC236}">
                <a16:creationId xmlns:a16="http://schemas.microsoft.com/office/drawing/2014/main" id="{BD35983A-E479-63A5-1E3A-CE29DF4A389C}"/>
              </a:ext>
            </a:extLst>
          </p:cNvPr>
          <p:cNvSpPr txBox="1"/>
          <p:nvPr/>
        </p:nvSpPr>
        <p:spPr>
          <a:xfrm>
            <a:off x="10145567" y="5765169"/>
            <a:ext cx="1247858"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1" name="TextBox 120">
            <a:extLst>
              <a:ext uri="{FF2B5EF4-FFF2-40B4-BE49-F238E27FC236}">
                <a16:creationId xmlns:a16="http://schemas.microsoft.com/office/drawing/2014/main" id="{87FD90F3-7ACF-D8E0-86C6-C35F58A372A9}"/>
              </a:ext>
            </a:extLst>
          </p:cNvPr>
          <p:cNvSpPr txBox="1"/>
          <p:nvPr/>
        </p:nvSpPr>
        <p:spPr>
          <a:xfrm>
            <a:off x="7919780" y="2819194"/>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Product Services</a:t>
            </a:r>
            <a:endParaRPr lang="en-IN" sz="1400" dirty="0">
              <a:solidFill>
                <a:schemeClr val="tx2"/>
              </a:solidFill>
              <a:cs typeface="Tahoma" pitchFamily="34" charset="0"/>
            </a:endParaRPr>
          </a:p>
        </p:txBody>
      </p:sp>
      <p:cxnSp>
        <p:nvCxnSpPr>
          <p:cNvPr id="122" name="Straight Arrow Connector 121">
            <a:extLst>
              <a:ext uri="{FF2B5EF4-FFF2-40B4-BE49-F238E27FC236}">
                <a16:creationId xmlns:a16="http://schemas.microsoft.com/office/drawing/2014/main" id="{1ECA79A7-9612-8BB3-C631-63683C243E5A}"/>
              </a:ext>
            </a:extLst>
          </p:cNvPr>
          <p:cNvCxnSpPr>
            <a:cxnSpLocks/>
          </p:cNvCxnSpPr>
          <p:nvPr/>
        </p:nvCxnSpPr>
        <p:spPr>
          <a:xfrm>
            <a:off x="7364663" y="298190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FA143B52-3C5D-7F68-E948-E27600E8996D}"/>
              </a:ext>
            </a:extLst>
          </p:cNvPr>
          <p:cNvSpPr txBox="1"/>
          <p:nvPr/>
        </p:nvSpPr>
        <p:spPr>
          <a:xfrm>
            <a:off x="6638858" y="303190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24" name="Graphic 123" descr="User with solid fill">
            <a:extLst>
              <a:ext uri="{FF2B5EF4-FFF2-40B4-BE49-F238E27FC236}">
                <a16:creationId xmlns:a16="http://schemas.microsoft.com/office/drawing/2014/main" id="{4703261E-39E2-73EA-F4C4-980552AEE2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5640" y="2639946"/>
            <a:ext cx="484632" cy="484632"/>
          </a:xfrm>
          <a:prstGeom prst="rect">
            <a:avLst/>
          </a:prstGeom>
        </p:spPr>
      </p:pic>
      <p:sp>
        <p:nvSpPr>
          <p:cNvPr id="125" name="TextBox 124">
            <a:extLst>
              <a:ext uri="{FF2B5EF4-FFF2-40B4-BE49-F238E27FC236}">
                <a16:creationId xmlns:a16="http://schemas.microsoft.com/office/drawing/2014/main" id="{75DD41FA-7FFC-1EFE-D7C7-206A2609D7DE}"/>
              </a:ext>
            </a:extLst>
          </p:cNvPr>
          <p:cNvSpPr txBox="1"/>
          <p:nvPr/>
        </p:nvSpPr>
        <p:spPr>
          <a:xfrm>
            <a:off x="7090634" y="267957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26" name="Oval 125">
            <a:extLst>
              <a:ext uri="{FF2B5EF4-FFF2-40B4-BE49-F238E27FC236}">
                <a16:creationId xmlns:a16="http://schemas.microsoft.com/office/drawing/2014/main" id="{0C576A6B-BD96-EA40-F261-C8E4DEE32014}"/>
              </a:ext>
            </a:extLst>
          </p:cNvPr>
          <p:cNvSpPr/>
          <p:nvPr/>
        </p:nvSpPr>
        <p:spPr>
          <a:xfrm>
            <a:off x="11398685" y="2832201"/>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D</a:t>
            </a:r>
            <a:endParaRPr lang="en-IN" sz="1600" dirty="0">
              <a:solidFill>
                <a:schemeClr val="tx2"/>
              </a:solidFill>
            </a:endParaRPr>
          </a:p>
        </p:txBody>
      </p:sp>
      <p:sp>
        <p:nvSpPr>
          <p:cNvPr id="127" name="TextBox 126">
            <a:extLst>
              <a:ext uri="{FF2B5EF4-FFF2-40B4-BE49-F238E27FC236}">
                <a16:creationId xmlns:a16="http://schemas.microsoft.com/office/drawing/2014/main" id="{DBE0C912-10C1-4543-74DC-FEF581EA2AED}"/>
              </a:ext>
            </a:extLst>
          </p:cNvPr>
          <p:cNvSpPr txBox="1"/>
          <p:nvPr/>
        </p:nvSpPr>
        <p:spPr>
          <a:xfrm>
            <a:off x="10067477" y="2697820"/>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28" name="Straight Arrow Connector 127">
            <a:extLst>
              <a:ext uri="{FF2B5EF4-FFF2-40B4-BE49-F238E27FC236}">
                <a16:creationId xmlns:a16="http://schemas.microsoft.com/office/drawing/2014/main" id="{6BCB3FC1-107E-AF6C-428F-47DCFBC3B417}"/>
              </a:ext>
            </a:extLst>
          </p:cNvPr>
          <p:cNvCxnSpPr/>
          <p:nvPr/>
        </p:nvCxnSpPr>
        <p:spPr>
          <a:xfrm>
            <a:off x="9317289" y="293804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54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1054609" y="1219095"/>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4" name="Rectangle: Rounded Corners 3">
            <a:extLst>
              <a:ext uri="{FF2B5EF4-FFF2-40B4-BE49-F238E27FC236}">
                <a16:creationId xmlns:a16="http://schemas.microsoft.com/office/drawing/2014/main" id="{823D7279-91B9-875E-EBC5-73922B9CECE6}"/>
              </a:ext>
            </a:extLst>
          </p:cNvPr>
          <p:cNvSpPr/>
          <p:nvPr/>
        </p:nvSpPr>
        <p:spPr>
          <a:xfrm>
            <a:off x="1020133" y="2078513"/>
            <a:ext cx="4368547" cy="1125474"/>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List of Accts</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172095" y="922198"/>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Shows the List of Accts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732691" y="1110030"/>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Create/Delete Acct</a:t>
            </a:r>
            <a:endParaRPr lang="en-IN" sz="1300" dirty="0">
              <a:solidFill>
                <a:schemeClr val="tx2"/>
              </a:solidFill>
              <a:cs typeface="Tahoma" pitchFamily="34" charset="0"/>
            </a:endParaRPr>
          </a:p>
        </p:txBody>
      </p:sp>
      <p:sp>
        <p:nvSpPr>
          <p:cNvPr id="11" name="TextBox 10">
            <a:extLst>
              <a:ext uri="{FF2B5EF4-FFF2-40B4-BE49-F238E27FC236}">
                <a16:creationId xmlns:a16="http://schemas.microsoft.com/office/drawing/2014/main" id="{E9EB9C84-E308-4A31-F8E2-D75C9304B08E}"/>
              </a:ext>
            </a:extLst>
          </p:cNvPr>
          <p:cNvSpPr txBox="1"/>
          <p:nvPr/>
        </p:nvSpPr>
        <p:spPr>
          <a:xfrm>
            <a:off x="1803721" y="2040128"/>
            <a:ext cx="2984682" cy="25265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health Statistics</a:t>
            </a:r>
            <a:endParaRPr lang="en-IN" sz="1600" dirty="0">
              <a:cs typeface="Tahoma" pitchFamily="34" charset="0"/>
            </a:endParaRPr>
          </a:p>
        </p:txBody>
      </p:sp>
      <p:graphicFrame>
        <p:nvGraphicFramePr>
          <p:cNvPr id="15" name="Table 14">
            <a:extLst>
              <a:ext uri="{FF2B5EF4-FFF2-40B4-BE49-F238E27FC236}">
                <a16:creationId xmlns:a16="http://schemas.microsoft.com/office/drawing/2014/main" id="{F0C6364C-381F-2990-06F4-C43B8E5DAC81}"/>
              </a:ext>
            </a:extLst>
          </p:cNvPr>
          <p:cNvGraphicFramePr>
            <a:graphicFrameLocks noGrp="1"/>
          </p:cNvGraphicFramePr>
          <p:nvPr>
            <p:extLst>
              <p:ext uri="{D42A27DB-BD31-4B8C-83A1-F6EECF244321}">
                <p14:modId xmlns:p14="http://schemas.microsoft.com/office/powerpoint/2010/main" val="1745611481"/>
              </p:ext>
            </p:extLst>
          </p:nvPr>
        </p:nvGraphicFramePr>
        <p:xfrm>
          <a:off x="1193385" y="2391415"/>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Project</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a:t>Project 1</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a:t>Project 2</a:t>
                      </a:r>
                      <a:endParaRPr lang="en-IN" sz="900" dirty="0"/>
                    </a:p>
                  </a:txBody>
                  <a:tcPr/>
                </a:tc>
                <a:tc>
                  <a:txBody>
                    <a:bodyPr/>
                    <a:lstStyle/>
                    <a:p>
                      <a:endParaRPr lang="en-IN" sz="900" dirty="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extLst>
              <p:ext uri="{D42A27DB-BD31-4B8C-83A1-F6EECF244321}">
                <p14:modId xmlns:p14="http://schemas.microsoft.com/office/powerpoint/2010/main" val="4046122309"/>
              </p:ext>
            </p:extLst>
          </p:nvPr>
        </p:nvGraphicFramePr>
        <p:xfrm>
          <a:off x="1243112" y="1289213"/>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Acct </a:t>
                      </a:r>
                      <a:endParaRPr lang="en-IN" sz="900" dirty="0"/>
                    </a:p>
                  </a:txBody>
                  <a:tcPr/>
                </a:tc>
                <a:extLst>
                  <a:ext uri="{0D108BD9-81ED-4DB2-BD59-A6C34878D82A}">
                    <a16:rowId xmlns:a16="http://schemas.microsoft.com/office/drawing/2014/main" val="2202397540"/>
                  </a:ext>
                </a:extLst>
              </a:tr>
              <a:tr h="169015">
                <a:tc>
                  <a:txBody>
                    <a:bodyPr/>
                    <a:lstStyle/>
                    <a:p>
                      <a:r>
                        <a:rPr lang="en-US" sz="900" dirty="0" err="1"/>
                        <a:t>Sobi</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Ironshore</a:t>
                      </a:r>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476465" y="616815"/>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Accts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921348" y="77952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6132" y="486922"/>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274227" y="90735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865971" y="8936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599691" y="51184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606635" y="524921"/>
            <a:ext cx="2220850" cy="85946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Projects under that acct with details gets displayed in the bottom grid</a:t>
            </a:r>
            <a:endParaRPr lang="en-IN" sz="1400" dirty="0">
              <a:solidFill>
                <a:schemeClr val="tx2"/>
              </a:solidFill>
              <a:cs typeface="Tahoma" pitchFamily="34" charset="0"/>
            </a:endParaRPr>
          </a:p>
        </p:txBody>
      </p:sp>
      <p:sp>
        <p:nvSpPr>
          <p:cNvPr id="28" name="TextBox 27">
            <a:extLst>
              <a:ext uri="{FF2B5EF4-FFF2-40B4-BE49-F238E27FC236}">
                <a16:creationId xmlns:a16="http://schemas.microsoft.com/office/drawing/2014/main" id="{2EDBC459-B19D-9FB4-008B-1AF5A2E1D832}"/>
              </a:ext>
            </a:extLst>
          </p:cNvPr>
          <p:cNvSpPr txBox="1"/>
          <p:nvPr/>
        </p:nvSpPr>
        <p:spPr>
          <a:xfrm>
            <a:off x="7418553" y="1957935"/>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Acct</a:t>
            </a:r>
            <a:endParaRPr lang="en-IN" sz="1400" dirty="0">
              <a:solidFill>
                <a:schemeClr val="tx2"/>
              </a:solidFill>
              <a:cs typeface="Tahoma" pitchFamily="34" charset="0"/>
            </a:endParaRPr>
          </a:p>
        </p:txBody>
      </p:sp>
      <p:cxnSp>
        <p:nvCxnSpPr>
          <p:cNvPr id="29" name="Straight Arrow Connector 28">
            <a:extLst>
              <a:ext uri="{FF2B5EF4-FFF2-40B4-BE49-F238E27FC236}">
                <a16:creationId xmlns:a16="http://schemas.microsoft.com/office/drawing/2014/main" id="{E51B655D-8096-0A66-E722-B5250380BFCD}"/>
              </a:ext>
            </a:extLst>
          </p:cNvPr>
          <p:cNvCxnSpPr>
            <a:cxnSpLocks/>
          </p:cNvCxnSpPr>
          <p:nvPr/>
        </p:nvCxnSpPr>
        <p:spPr>
          <a:xfrm>
            <a:off x="6863436" y="212064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User with solid fill">
            <a:extLst>
              <a:ext uri="{FF2B5EF4-FFF2-40B4-BE49-F238E27FC236}">
                <a16:creationId xmlns:a16="http://schemas.microsoft.com/office/drawing/2014/main" id="{4E7ADF6F-1CD8-3E74-44AC-550CD3AD31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8220" y="1828042"/>
            <a:ext cx="484632" cy="484632"/>
          </a:xfrm>
          <a:prstGeom prst="rect">
            <a:avLst/>
          </a:prstGeom>
        </p:spPr>
      </p:pic>
      <p:sp>
        <p:nvSpPr>
          <p:cNvPr id="31" name="TextBox 30">
            <a:extLst>
              <a:ext uri="{FF2B5EF4-FFF2-40B4-BE49-F238E27FC236}">
                <a16:creationId xmlns:a16="http://schemas.microsoft.com/office/drawing/2014/main" id="{DD13A458-1523-BC78-934A-5DB738193232}"/>
              </a:ext>
            </a:extLst>
          </p:cNvPr>
          <p:cNvSpPr txBox="1"/>
          <p:nvPr/>
        </p:nvSpPr>
        <p:spPr>
          <a:xfrm>
            <a:off x="6216315" y="224847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32" name="Straight Arrow Connector 31">
            <a:extLst>
              <a:ext uri="{FF2B5EF4-FFF2-40B4-BE49-F238E27FC236}">
                <a16:creationId xmlns:a16="http://schemas.microsoft.com/office/drawing/2014/main" id="{815B187D-5143-606C-C7D2-25EDC701CCDB}"/>
              </a:ext>
            </a:extLst>
          </p:cNvPr>
          <p:cNvCxnSpPr/>
          <p:nvPr/>
        </p:nvCxnSpPr>
        <p:spPr>
          <a:xfrm>
            <a:off x="8808059" y="223481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C8A95F2-ECB5-2C76-CD92-C2B59570AD70}"/>
              </a:ext>
            </a:extLst>
          </p:cNvPr>
          <p:cNvSpPr txBox="1"/>
          <p:nvPr/>
        </p:nvSpPr>
        <p:spPr>
          <a:xfrm>
            <a:off x="6541779" y="185296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34" name="TextBox 33">
            <a:extLst>
              <a:ext uri="{FF2B5EF4-FFF2-40B4-BE49-F238E27FC236}">
                <a16:creationId xmlns:a16="http://schemas.microsoft.com/office/drawing/2014/main" id="{C55E69B7-C290-8341-D389-8B0291AFA9ED}"/>
              </a:ext>
            </a:extLst>
          </p:cNvPr>
          <p:cNvSpPr txBox="1"/>
          <p:nvPr/>
        </p:nvSpPr>
        <p:spPr>
          <a:xfrm>
            <a:off x="9606635" y="1610844"/>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Acct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acct should be created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A</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Acct User management</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User Access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Users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44663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Modify Users/Access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79967"/>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User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User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B</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166770" y="4751204"/>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Users &amp; Details</a:t>
            </a:r>
            <a:endParaRPr lang="en-IN" sz="1400" dirty="0">
              <a:solidFill>
                <a:schemeClr val="tx2"/>
              </a:solidFill>
              <a:cs typeface="Tahoma" pitchFamily="34" charset="0"/>
            </a:endParaRPr>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176874" y="5130480"/>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extLst>
              <p:ext uri="{D42A27DB-BD31-4B8C-83A1-F6EECF244321}">
                <p14:modId xmlns:p14="http://schemas.microsoft.com/office/powerpoint/2010/main" val="581830959"/>
              </p:ext>
            </p:extLst>
          </p:nvPr>
        </p:nvGraphicFramePr>
        <p:xfrm>
          <a:off x="1365377" y="5200598"/>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Users </a:t>
                      </a:r>
                      <a:endParaRPr lang="en-IN" sz="900" dirty="0"/>
                    </a:p>
                  </a:txBody>
                  <a:tcPr/>
                </a:tc>
                <a:extLst>
                  <a:ext uri="{0D108BD9-81ED-4DB2-BD59-A6C34878D82A}">
                    <a16:rowId xmlns:a16="http://schemas.microsoft.com/office/drawing/2014/main" val="2202397540"/>
                  </a:ext>
                </a:extLst>
              </a:tr>
              <a:tr h="169015">
                <a:tc>
                  <a:txBody>
                    <a:bodyPr/>
                    <a:lstStyle/>
                    <a:p>
                      <a:r>
                        <a:rPr lang="en-US" sz="900" dirty="0"/>
                        <a:t>User 1</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User 2</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User Access</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598397"/>
            <a:ext cx="2636531" cy="65474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Selection of Services</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Grant/Revoke Access </a:t>
            </a:r>
          </a:p>
          <a:p>
            <a:pPr marL="3175">
              <a:spcBef>
                <a:spcPts val="600"/>
              </a:spcBef>
              <a:spcAft>
                <a:spcPts val="600"/>
              </a:spcAft>
              <a:buClr>
                <a:srgbClr val="303030">
                  <a:lumMod val="50000"/>
                  <a:lumOff val="50000"/>
                </a:srgbClr>
              </a:buClr>
            </a:pPr>
            <a:r>
              <a:rPr lang="en-IN" sz="1400" dirty="0">
                <a:solidFill>
                  <a:schemeClr val="tx2"/>
                </a:solidFill>
                <a:cs typeface="Tahoma" pitchFamily="34" charset="0"/>
              </a:rPr>
              <a:t>To the respective services</a:t>
            </a: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70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Datamart</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Raw Layer Tables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5"/>
            <a:ext cx="1655989" cy="50081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Semi Curated Layer Tables</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extLst>
              <p:ext uri="{D42A27DB-BD31-4B8C-83A1-F6EECF244321}">
                <p14:modId xmlns:p14="http://schemas.microsoft.com/office/powerpoint/2010/main" val="874853719"/>
              </p:ext>
            </p:extLst>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Tables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60147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Table structure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C</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Product Services</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TERRA </a:t>
            </a:r>
            <a:r>
              <a:rPr lang="en-US" sz="1300" dirty="0" err="1">
                <a:solidFill>
                  <a:schemeClr val="tx2"/>
                </a:solidFill>
                <a:cs typeface="Tahoma" pitchFamily="34" charset="0"/>
              </a:rPr>
              <a:t>PIpelines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 </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429001"/>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Prebuilt Extractors, List of Extractors across Accounts, Create Extractors</a:t>
            </a:r>
            <a:endParaRPr lang="en-IN" sz="10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PIPELINES</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D</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978126" y="5706282"/>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683867"/>
            <a:ext cx="2636531" cy="301625"/>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000">
                <a:solidFill>
                  <a:schemeClr val="tx2"/>
                </a:solidFill>
                <a:cs typeface="Tahoma" pitchFamily="34" charset="0"/>
              </a:defRPr>
            </a:lvl1pPr>
          </a:lstStyle>
          <a:p>
            <a:r>
              <a:rPr lang="en-US" dirty="0"/>
              <a:t>List of DQ rules, Create DQ rules</a:t>
            </a:r>
            <a:endParaRPr lang="en-IN"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C0BB09-D3F9-EAC0-0C85-FE69ED388524}"/>
              </a:ext>
            </a:extLst>
          </p:cNvPr>
          <p:cNvSpPr txBox="1"/>
          <p:nvPr/>
        </p:nvSpPr>
        <p:spPr>
          <a:xfrm>
            <a:off x="2360981" y="2190210"/>
            <a:ext cx="1655989" cy="39632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Common Data Model</a:t>
            </a:r>
            <a:endParaRPr lang="en-IN" sz="1300" dirty="0">
              <a:solidFill>
                <a:schemeClr val="tx2"/>
              </a:solidFill>
              <a:cs typeface="Tahoma" pitchFamily="34" charset="0"/>
            </a:endParaRPr>
          </a:p>
        </p:txBody>
      </p:sp>
      <p:sp>
        <p:nvSpPr>
          <p:cNvPr id="12" name="Rectangle: Rounded Corners 11">
            <a:extLst>
              <a:ext uri="{FF2B5EF4-FFF2-40B4-BE49-F238E27FC236}">
                <a16:creationId xmlns:a16="http://schemas.microsoft.com/office/drawing/2014/main" id="{839D4A6D-9AC4-2BEB-2F5D-A6E0BF6ED0E2}"/>
              </a:ext>
            </a:extLst>
          </p:cNvPr>
          <p:cNvSpPr/>
          <p:nvPr/>
        </p:nvSpPr>
        <p:spPr>
          <a:xfrm>
            <a:off x="3352168" y="1362501"/>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3" name="Table 12">
            <a:extLst>
              <a:ext uri="{FF2B5EF4-FFF2-40B4-BE49-F238E27FC236}">
                <a16:creationId xmlns:a16="http://schemas.microsoft.com/office/drawing/2014/main" id="{FD5BDBE0-F0DD-CC9C-BF2F-C12A171FDA08}"/>
              </a:ext>
            </a:extLst>
          </p:cNvPr>
          <p:cNvGraphicFramePr>
            <a:graphicFrameLocks noGrp="1"/>
          </p:cNvGraphicFramePr>
          <p:nvPr>
            <p:extLst>
              <p:ext uri="{D42A27DB-BD31-4B8C-83A1-F6EECF244321}">
                <p14:modId xmlns:p14="http://schemas.microsoft.com/office/powerpoint/2010/main" val="1827703140"/>
              </p:ext>
            </p:extLst>
          </p:nvPr>
        </p:nvGraphicFramePr>
        <p:xfrm>
          <a:off x="3540671" y="1432619"/>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4" name="Rectangle: Rounded Corners 13">
            <a:extLst>
              <a:ext uri="{FF2B5EF4-FFF2-40B4-BE49-F238E27FC236}">
                <a16:creationId xmlns:a16="http://schemas.microsoft.com/office/drawing/2014/main" id="{299667F3-BD29-EB9C-E47C-4499A264F342}"/>
              </a:ext>
            </a:extLst>
          </p:cNvPr>
          <p:cNvSpPr/>
          <p:nvPr/>
        </p:nvSpPr>
        <p:spPr>
          <a:xfrm>
            <a:off x="2112167" y="2457417"/>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6" name="Table 15">
            <a:extLst>
              <a:ext uri="{FF2B5EF4-FFF2-40B4-BE49-F238E27FC236}">
                <a16:creationId xmlns:a16="http://schemas.microsoft.com/office/drawing/2014/main" id="{4DE968C4-7BCC-FF6A-2361-E43FA5B68BBE}"/>
              </a:ext>
            </a:extLst>
          </p:cNvPr>
          <p:cNvGraphicFramePr>
            <a:graphicFrameLocks noGrp="1"/>
          </p:cNvGraphicFramePr>
          <p:nvPr>
            <p:extLst>
              <p:ext uri="{D42A27DB-BD31-4B8C-83A1-F6EECF244321}">
                <p14:modId xmlns:p14="http://schemas.microsoft.com/office/powerpoint/2010/main" val="708052024"/>
              </p:ext>
            </p:extLst>
          </p:nvPr>
        </p:nvGraphicFramePr>
        <p:xfrm>
          <a:off x="2300670" y="2527535"/>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cxnSp>
        <p:nvCxnSpPr>
          <p:cNvPr id="26" name="Connector: Elbow 25">
            <a:extLst>
              <a:ext uri="{FF2B5EF4-FFF2-40B4-BE49-F238E27FC236}">
                <a16:creationId xmlns:a16="http://schemas.microsoft.com/office/drawing/2014/main" id="{11C88DEB-964B-2630-2A99-589C66458054}"/>
              </a:ext>
            </a:extLst>
          </p:cNvPr>
          <p:cNvCxnSpPr>
            <a:cxnSpLocks/>
          </p:cNvCxnSpPr>
          <p:nvPr/>
        </p:nvCxnSpPr>
        <p:spPr>
          <a:xfrm rot="5400000">
            <a:off x="1157581" y="4468706"/>
            <a:ext cx="499488" cy="34244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C90E9CF-BA9C-3E9E-47A3-26D11F0048D3}"/>
              </a:ext>
            </a:extLst>
          </p:cNvPr>
          <p:cNvSpPr txBox="1"/>
          <p:nvPr/>
        </p:nvSpPr>
        <p:spPr>
          <a:xfrm>
            <a:off x="961436" y="4889670"/>
            <a:ext cx="803473" cy="55530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Prebuilt Extractors</a:t>
            </a:r>
            <a:endParaRPr lang="en-IN" sz="1100" dirty="0">
              <a:solidFill>
                <a:schemeClr val="tx2"/>
              </a:solidFill>
              <a:cs typeface="Tahoma" pitchFamily="34" charset="0"/>
            </a:endParaRPr>
          </a:p>
        </p:txBody>
      </p:sp>
      <p:cxnSp>
        <p:nvCxnSpPr>
          <p:cNvPr id="41" name="Connector: Elbow 40">
            <a:extLst>
              <a:ext uri="{FF2B5EF4-FFF2-40B4-BE49-F238E27FC236}">
                <a16:creationId xmlns:a16="http://schemas.microsoft.com/office/drawing/2014/main" id="{61DE447F-121C-43BA-3792-B11FC1E60237}"/>
              </a:ext>
            </a:extLst>
          </p:cNvPr>
          <p:cNvCxnSpPr>
            <a:cxnSpLocks/>
          </p:cNvCxnSpPr>
          <p:nvPr/>
        </p:nvCxnSpPr>
        <p:spPr>
          <a:xfrm rot="16200000" flipH="1">
            <a:off x="2847743"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64C759C-F754-864B-E6A5-4C7D6177B14D}"/>
              </a:ext>
            </a:extLst>
          </p:cNvPr>
          <p:cNvSpPr txBox="1"/>
          <p:nvPr/>
        </p:nvSpPr>
        <p:spPr>
          <a:xfrm>
            <a:off x="2833865" y="4877402"/>
            <a:ext cx="842285" cy="37837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Create Extractors</a:t>
            </a:r>
            <a:endParaRPr lang="en-IN" sz="1100" dirty="0">
              <a:solidFill>
                <a:schemeClr val="tx2"/>
              </a:solidFill>
              <a:cs typeface="Tahoma" pitchFamily="34" charset="0"/>
            </a:endParaRPr>
          </a:p>
        </p:txBody>
      </p:sp>
      <p:cxnSp>
        <p:nvCxnSpPr>
          <p:cNvPr id="47" name="Connector: Elbow 46">
            <a:extLst>
              <a:ext uri="{FF2B5EF4-FFF2-40B4-BE49-F238E27FC236}">
                <a16:creationId xmlns:a16="http://schemas.microsoft.com/office/drawing/2014/main" id="{63FCD2BC-FEFC-1688-5D8E-A0705E164E23}"/>
              </a:ext>
            </a:extLst>
          </p:cNvPr>
          <p:cNvCxnSpPr>
            <a:cxnSpLocks/>
          </p:cNvCxnSpPr>
          <p:nvPr/>
        </p:nvCxnSpPr>
        <p:spPr>
          <a:xfrm rot="16200000" flipH="1">
            <a:off x="1948852"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06A1094-7FDB-6ED4-671B-ADA64BE58CE9}"/>
              </a:ext>
            </a:extLst>
          </p:cNvPr>
          <p:cNvSpPr txBox="1"/>
          <p:nvPr/>
        </p:nvSpPr>
        <p:spPr>
          <a:xfrm>
            <a:off x="1934974" y="4877402"/>
            <a:ext cx="842285" cy="70996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Extractors across Accts</a:t>
            </a:r>
            <a:endParaRPr lang="en-IN" sz="1100" dirty="0">
              <a:solidFill>
                <a:schemeClr val="tx2"/>
              </a:solidFill>
              <a:cs typeface="Tahoma" pitchFamily="34" charset="0"/>
            </a:endParaRPr>
          </a:p>
        </p:txBody>
      </p:sp>
      <p:sp>
        <p:nvSpPr>
          <p:cNvPr id="59" name="TextBox 58">
            <a:extLst>
              <a:ext uri="{FF2B5EF4-FFF2-40B4-BE49-F238E27FC236}">
                <a16:creationId xmlns:a16="http://schemas.microsoft.com/office/drawing/2014/main" id="{FCAD9771-8707-CD33-EAFF-9AAA07DFAA2C}"/>
              </a:ext>
            </a:extLst>
          </p:cNvPr>
          <p:cNvSpPr txBox="1"/>
          <p:nvPr/>
        </p:nvSpPr>
        <p:spPr>
          <a:xfrm>
            <a:off x="9526155" y="4476552"/>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Pipelines across Accounts, Create Pipelines</a:t>
            </a:r>
            <a:endParaRPr lang="en-IN" sz="1000" dirty="0">
              <a:solidFill>
                <a:schemeClr val="tx2"/>
              </a:solidFill>
              <a:cs typeface="Tahoma" pitchFamily="34" charset="0"/>
            </a:endParaRPr>
          </a:p>
        </p:txBody>
      </p:sp>
    </p:spTree>
    <p:extLst>
      <p:ext uri="{BB962C8B-B14F-4D97-AF65-F5344CB8AC3E}">
        <p14:creationId xmlns:p14="http://schemas.microsoft.com/office/powerpoint/2010/main" val="158917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Billing</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477436" cy="28324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Top 3 Accts </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86808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Acct wise Billing details (Includes Monthly Usage of CPU, Storage, Cost ) </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Acct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Billing Details about that particular acct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E</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Support &amp; Ticketing</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057562" y="4116133"/>
            <a:ext cx="1652348" cy="23282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Open Tickets</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4159195" y="4085445"/>
            <a:ext cx="1081910" cy="287195"/>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Escalation</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393737"/>
            <a:ext cx="1370457" cy="71968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Open Tickets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38866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Ticket Details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err="1">
                <a:solidFill>
                  <a:schemeClr val="tx2"/>
                </a:solidFill>
                <a:cs typeface="Tahoma" pitchFamily="34" charset="0"/>
              </a:rPr>
              <a:t>CreateTicket</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06815"/>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Ticket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a:t>
            </a:r>
            <a:r>
              <a:rPr lang="en-US" sz="1400" dirty="0" err="1">
                <a:solidFill>
                  <a:schemeClr val="tx2"/>
                </a:solidFill>
                <a:cs typeface="Tahoma" pitchFamily="34" charset="0"/>
              </a:rPr>
              <a:t>Tkt</a:t>
            </a:r>
            <a:r>
              <a:rPr lang="en-US" sz="1400" dirty="0">
                <a:solidFill>
                  <a:schemeClr val="tx2"/>
                </a:solidFill>
                <a:cs typeface="Tahoma" pitchFamily="34" charset="0"/>
              </a:rPr>
              <a:t>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F</a:t>
            </a:r>
            <a:endParaRPr lang="en-IN" sz="1600" dirty="0"/>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000258" y="4438903"/>
            <a:ext cx="1634148" cy="790523"/>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extLst>
              <p:ext uri="{D42A27DB-BD31-4B8C-83A1-F6EECF244321}">
                <p14:modId xmlns:p14="http://schemas.microsoft.com/office/powerpoint/2010/main" val="1140251953"/>
              </p:ext>
            </p:extLst>
          </p:nvPr>
        </p:nvGraphicFramePr>
        <p:xfrm>
          <a:off x="1188761" y="4509021"/>
          <a:ext cx="1373160" cy="685800"/>
        </p:xfrm>
        <a:graphic>
          <a:graphicData uri="http://schemas.openxmlformats.org/drawingml/2006/table">
            <a:tbl>
              <a:tblPr firstRow="1" bandRow="1">
                <a:tableStyleId>{F2DE63D5-997A-4646-A377-4702673A728D}</a:tableStyleId>
              </a:tblPr>
              <a:tblGrid>
                <a:gridCol w="1373160">
                  <a:extLst>
                    <a:ext uri="{9D8B030D-6E8A-4147-A177-3AD203B41FA5}">
                      <a16:colId xmlns:a16="http://schemas.microsoft.com/office/drawing/2014/main" val="2188964586"/>
                    </a:ext>
                  </a:extLst>
                </a:gridCol>
              </a:tblGrid>
              <a:tr h="226344">
                <a:tc>
                  <a:txBody>
                    <a:bodyPr/>
                    <a:lstStyle/>
                    <a:p>
                      <a:r>
                        <a:rPr lang="en-US" sz="900" dirty="0"/>
                        <a:t>Open Tickets</a:t>
                      </a:r>
                      <a:endParaRPr lang="en-IN" sz="900" dirty="0"/>
                    </a:p>
                  </a:txBody>
                  <a:tcPr/>
                </a:tc>
                <a:extLst>
                  <a:ext uri="{0D108BD9-81ED-4DB2-BD59-A6C34878D82A}">
                    <a16:rowId xmlns:a16="http://schemas.microsoft.com/office/drawing/2014/main" val="2202397540"/>
                  </a:ext>
                </a:extLst>
              </a:tr>
              <a:tr h="226344">
                <a:tc>
                  <a:txBody>
                    <a:bodyPr/>
                    <a:lstStyle/>
                    <a:p>
                      <a:r>
                        <a:rPr lang="en-US" sz="900" dirty="0" err="1"/>
                        <a:t>Tkt</a:t>
                      </a:r>
                      <a:r>
                        <a:rPr lang="en-US" sz="900" dirty="0"/>
                        <a:t> Id1</a:t>
                      </a:r>
                      <a:endParaRPr lang="en-IN" sz="900" dirty="0"/>
                    </a:p>
                  </a:txBody>
                  <a:tcPr/>
                </a:tc>
                <a:extLst>
                  <a:ext uri="{0D108BD9-81ED-4DB2-BD59-A6C34878D82A}">
                    <a16:rowId xmlns:a16="http://schemas.microsoft.com/office/drawing/2014/main" val="2362751832"/>
                  </a:ext>
                </a:extLst>
              </a:tr>
              <a:tr h="226344">
                <a:tc>
                  <a:txBody>
                    <a:bodyPr/>
                    <a:lstStyle/>
                    <a:p>
                      <a:r>
                        <a:rPr lang="en-US" sz="900" dirty="0"/>
                        <a:t>….</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Escalation</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2" y="5488669"/>
            <a:ext cx="2272302" cy="95637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escalations will be displayed</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Raise an escalation</a:t>
            </a:r>
            <a:endParaRPr lang="en-IN" sz="1400" dirty="0">
              <a:solidFill>
                <a:schemeClr val="tx2"/>
              </a:solidFill>
              <a:cs typeface="Tahoma" pitchFamily="34" charset="0"/>
            </a:endParaRP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10773E-6BB1-D652-BEC7-D87C5A67077A}"/>
              </a:ext>
            </a:extLst>
          </p:cNvPr>
          <p:cNvSpPr txBox="1"/>
          <p:nvPr/>
        </p:nvSpPr>
        <p:spPr>
          <a:xfrm>
            <a:off x="3651258" y="2034716"/>
            <a:ext cx="1655989" cy="39766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Plan Change</a:t>
            </a:r>
            <a:endParaRPr lang="en-IN" sz="1300" dirty="0">
              <a:solidFill>
                <a:schemeClr val="tx2"/>
              </a:solidFill>
              <a:cs typeface="Tahoma" pitchFamily="34" charset="0"/>
            </a:endParaRPr>
          </a:p>
        </p:txBody>
      </p:sp>
      <p:sp>
        <p:nvSpPr>
          <p:cNvPr id="15" name="TextBox 14">
            <a:extLst>
              <a:ext uri="{FF2B5EF4-FFF2-40B4-BE49-F238E27FC236}">
                <a16:creationId xmlns:a16="http://schemas.microsoft.com/office/drawing/2014/main" id="{2728265F-2B82-1BC0-F16E-E43FFA43B584}"/>
              </a:ext>
            </a:extLst>
          </p:cNvPr>
          <p:cNvSpPr txBox="1"/>
          <p:nvPr/>
        </p:nvSpPr>
        <p:spPr>
          <a:xfrm>
            <a:off x="2802498" y="4116133"/>
            <a:ext cx="1264108" cy="287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 Ticket</a:t>
            </a:r>
            <a:endParaRPr lang="en-IN" sz="1400" dirty="0">
              <a:solidFill>
                <a:schemeClr val="tx2"/>
              </a:solidFill>
              <a:cs typeface="Tahoma" pitchFamily="34" charset="0"/>
            </a:endParaRPr>
          </a:p>
        </p:txBody>
      </p:sp>
    </p:spTree>
    <p:extLst>
      <p:ext uri="{BB962C8B-B14F-4D97-AF65-F5344CB8AC3E}">
        <p14:creationId xmlns:p14="http://schemas.microsoft.com/office/powerpoint/2010/main" val="180160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8" y="351945"/>
            <a:ext cx="1581687" cy="358843"/>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Maintenance</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79582" y="1032587"/>
            <a:ext cx="1777927" cy="32009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Downtime Alerts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5361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Software/Extension Upgrades</a:t>
            </a:r>
            <a:endParaRPr lang="en-IN" sz="1300" dirty="0">
              <a:solidFill>
                <a:schemeClr val="tx2"/>
              </a:solidFill>
              <a:cs typeface="Tahoma" pitchFamily="34" charset="0"/>
            </a:endParaRPr>
          </a:p>
        </p:txBody>
      </p:sp>
      <p:sp>
        <p:nvSpPr>
          <p:cNvPr id="19" name="TextBox 18">
            <a:extLst>
              <a:ext uri="{FF2B5EF4-FFF2-40B4-BE49-F238E27FC236}">
                <a16:creationId xmlns:a16="http://schemas.microsoft.com/office/drawing/2014/main" id="{9626B970-88DC-FBD1-9DB4-0AEA388B5A4A}"/>
              </a:ext>
            </a:extLst>
          </p:cNvPr>
          <p:cNvSpPr txBox="1"/>
          <p:nvPr/>
        </p:nvSpPr>
        <p:spPr>
          <a:xfrm>
            <a:off x="7452064" y="939134"/>
            <a:ext cx="980983" cy="998581"/>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Software/</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Extension Upgrade</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Billing Details about that particular acct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G</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527391"/>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Other Admin Activities</a:t>
            </a:r>
            <a:endParaRPr lang="en-IN" sz="1600" dirty="0">
              <a:solidFill>
                <a:schemeClr val="bg1"/>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H</a:t>
            </a:r>
            <a:endParaRPr lang="en-IN" sz="1600"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10773E-6BB1-D652-BEC7-D87C5A67077A}"/>
              </a:ext>
            </a:extLst>
          </p:cNvPr>
          <p:cNvSpPr txBox="1"/>
          <p:nvPr/>
        </p:nvSpPr>
        <p:spPr>
          <a:xfrm>
            <a:off x="2380231" y="1855127"/>
            <a:ext cx="1655989" cy="349543"/>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Memory/Cache Clean</a:t>
            </a:r>
            <a:endParaRPr lang="en-IN" sz="1300" dirty="0">
              <a:solidFill>
                <a:schemeClr val="tx2"/>
              </a:solidFill>
              <a:cs typeface="Tahoma" pitchFamily="34" charset="0"/>
            </a:endParaRPr>
          </a:p>
        </p:txBody>
      </p:sp>
    </p:spTree>
    <p:extLst>
      <p:ext uri="{BB962C8B-B14F-4D97-AF65-F5344CB8AC3E}">
        <p14:creationId xmlns:p14="http://schemas.microsoft.com/office/powerpoint/2010/main" val="1464949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D7DCC0-198F-FD89-C136-1C48964CADA4}"/>
              </a:ext>
            </a:extLst>
          </p:cNvPr>
          <p:cNvSpPr>
            <a:spLocks noGrp="1"/>
          </p:cNvSpPr>
          <p:nvPr>
            <p:ph type="body" sz="quarter" idx="14"/>
          </p:nvPr>
        </p:nvSpPr>
        <p:spPr/>
        <p:txBody>
          <a:bodyPr/>
          <a:lstStyle/>
          <a:p>
            <a:endParaRPr lang="en-IN"/>
          </a:p>
        </p:txBody>
      </p:sp>
      <p:sp>
        <p:nvSpPr>
          <p:cNvPr id="5" name="Text Placeholder 2">
            <a:extLst>
              <a:ext uri="{FF2B5EF4-FFF2-40B4-BE49-F238E27FC236}">
                <a16:creationId xmlns:a16="http://schemas.microsoft.com/office/drawing/2014/main" id="{33B33C7B-5B47-8914-F25C-198D05C6346D}"/>
              </a:ext>
            </a:extLst>
          </p:cNvPr>
          <p:cNvSpPr txBox="1">
            <a:spLocks/>
          </p:cNvSpPr>
          <p:nvPr/>
        </p:nvSpPr>
        <p:spPr>
          <a:xfrm>
            <a:off x="3907858" y="2451200"/>
            <a:ext cx="3965608" cy="677011"/>
          </a:xfrm>
          <a:prstGeom prst="rect">
            <a:avLst/>
          </a:prstGeom>
        </p:spPr>
        <p:txBody>
          <a:bodyPr/>
          <a:lst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algn="ctr">
              <a:buNone/>
            </a:pPr>
            <a:r>
              <a:rPr lang="en-US" sz="3000" b="1" dirty="0"/>
              <a:t>TENANT ADMIN</a:t>
            </a:r>
            <a:endParaRPr lang="en-US" sz="3000" dirty="0"/>
          </a:p>
        </p:txBody>
      </p:sp>
    </p:spTree>
    <p:extLst>
      <p:ext uri="{BB962C8B-B14F-4D97-AF65-F5344CB8AC3E}">
        <p14:creationId xmlns:p14="http://schemas.microsoft.com/office/powerpoint/2010/main" val="249013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772343"/>
            <a:ext cx="4841748" cy="3408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2453416"/>
            <a:ext cx="4368547" cy="1507498"/>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124462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chemeClr val="tx2"/>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74973" y="249539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7182" y="1366063"/>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1" y="1782654"/>
            <a:ext cx="1393506" cy="36062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Tenant Admin</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81806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4" name="TextBox 3">
            <a:extLst>
              <a:ext uri="{FF2B5EF4-FFF2-40B4-BE49-F238E27FC236}">
                <a16:creationId xmlns:a16="http://schemas.microsoft.com/office/drawing/2014/main" id="{277F1FD8-7C3E-337D-EEEF-5FE28C9C97D7}"/>
              </a:ext>
            </a:extLst>
          </p:cNvPr>
          <p:cNvSpPr txBox="1"/>
          <p:nvPr/>
        </p:nvSpPr>
        <p:spPr>
          <a:xfrm>
            <a:off x="1950197" y="1313015"/>
            <a:ext cx="1321476" cy="27857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Projects</a:t>
            </a:r>
            <a:endParaRPr lang="en-IN" sz="1400" dirty="0">
              <a:solidFill>
                <a:schemeClr val="tx2"/>
              </a:solidFill>
              <a:cs typeface="Tahoma" pitchFamily="34" charset="0"/>
            </a:endParaRPr>
          </a:p>
        </p:txBody>
      </p:sp>
      <p:sp>
        <p:nvSpPr>
          <p:cNvPr id="5" name="TextBox 4">
            <a:extLst>
              <a:ext uri="{FF2B5EF4-FFF2-40B4-BE49-F238E27FC236}">
                <a16:creationId xmlns:a16="http://schemas.microsoft.com/office/drawing/2014/main" id="{25E5E917-F4CC-06B2-7F70-AE31453ABE99}"/>
              </a:ext>
            </a:extLst>
          </p:cNvPr>
          <p:cNvSpPr txBox="1"/>
          <p:nvPr/>
        </p:nvSpPr>
        <p:spPr>
          <a:xfrm>
            <a:off x="3425787" y="1366063"/>
            <a:ext cx="2267712" cy="23268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Tenant User management</a:t>
            </a:r>
            <a:endParaRPr lang="en-IN" sz="1300" dirty="0">
              <a:solidFill>
                <a:schemeClr val="tx2"/>
              </a:solidFill>
              <a:cs typeface="Tahoma" pitchFamily="34" charset="0"/>
            </a:endParaRPr>
          </a:p>
        </p:txBody>
      </p:sp>
      <p:sp>
        <p:nvSpPr>
          <p:cNvPr id="6" name="TextBox 5">
            <a:extLst>
              <a:ext uri="{FF2B5EF4-FFF2-40B4-BE49-F238E27FC236}">
                <a16:creationId xmlns:a16="http://schemas.microsoft.com/office/drawing/2014/main" id="{CC5DDED8-2C0C-5819-6338-4D19D224ECD0}"/>
              </a:ext>
            </a:extLst>
          </p:cNvPr>
          <p:cNvSpPr txBox="1"/>
          <p:nvPr/>
        </p:nvSpPr>
        <p:spPr>
          <a:xfrm>
            <a:off x="2912368" y="2123927"/>
            <a:ext cx="1636969" cy="22981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Other Admin Activities</a:t>
            </a:r>
            <a:endParaRPr lang="en-IN" sz="1200" dirty="0">
              <a:solidFill>
                <a:schemeClr val="tx2"/>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314788" y="2453416"/>
            <a:ext cx="2984682" cy="36966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health Statistics</a:t>
            </a:r>
            <a:endParaRPr lang="en-IN" sz="1600" dirty="0">
              <a:cs typeface="Tahoma" pitchFamily="34" charset="0"/>
            </a:endParaRPr>
          </a:p>
        </p:txBody>
      </p:sp>
      <p:sp>
        <p:nvSpPr>
          <p:cNvPr id="13" name="TextBox 12">
            <a:extLst>
              <a:ext uri="{FF2B5EF4-FFF2-40B4-BE49-F238E27FC236}">
                <a16:creationId xmlns:a16="http://schemas.microsoft.com/office/drawing/2014/main" id="{D3422962-8E9A-1A37-E9E1-11024CB8C23E}"/>
              </a:ext>
            </a:extLst>
          </p:cNvPr>
          <p:cNvSpPr txBox="1">
            <a:spLocks noGrp="1" noRot="1" noMove="1" noResize="1" noEditPoints="1" noAdjustHandles="1" noChangeArrowheads="1" noChangeShapeType="1"/>
          </p:cNvSpPr>
          <p:nvPr/>
        </p:nvSpPr>
        <p:spPr>
          <a:xfrm>
            <a:off x="7867847" y="512681"/>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projects</a:t>
            </a:r>
            <a:endParaRPr lang="en-IN" sz="1400" dirty="0">
              <a:solidFill>
                <a:schemeClr val="tx2"/>
              </a:solidFill>
              <a:cs typeface="Tahoma" pitchFamily="34" charset="0"/>
            </a:endParaRPr>
          </a:p>
        </p:txBody>
      </p:sp>
      <p:cxnSp>
        <p:nvCxnSpPr>
          <p:cNvPr id="15" name="Straight Arrow Connector 14">
            <a:extLst>
              <a:ext uri="{FF2B5EF4-FFF2-40B4-BE49-F238E27FC236}">
                <a16:creationId xmlns:a16="http://schemas.microsoft.com/office/drawing/2014/main" id="{D8906AE6-5DE6-8A92-487F-5F627FBCD5BB}"/>
              </a:ext>
            </a:extLst>
          </p:cNvPr>
          <p:cNvCxnSpPr>
            <a:cxnSpLocks/>
          </p:cNvCxnSpPr>
          <p:nvPr/>
        </p:nvCxnSpPr>
        <p:spPr>
          <a:xfrm>
            <a:off x="7312730" y="67539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 with solid fill">
            <a:extLst>
              <a:ext uri="{FF2B5EF4-FFF2-40B4-BE49-F238E27FC236}">
                <a16:creationId xmlns:a16="http://schemas.microsoft.com/office/drawing/2014/main" id="{64505726-C6E1-0FB8-5A5C-9002574094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514" y="382788"/>
            <a:ext cx="484632" cy="484632"/>
          </a:xfrm>
          <a:prstGeom prst="rect">
            <a:avLst/>
          </a:prstGeom>
        </p:spPr>
      </p:pic>
      <p:sp>
        <p:nvSpPr>
          <p:cNvPr id="28" name="TextBox 27">
            <a:extLst>
              <a:ext uri="{FF2B5EF4-FFF2-40B4-BE49-F238E27FC236}">
                <a16:creationId xmlns:a16="http://schemas.microsoft.com/office/drawing/2014/main" id="{5B5A5EB0-A030-2C7B-BC38-2719784CDCC7}"/>
              </a:ext>
            </a:extLst>
          </p:cNvPr>
          <p:cNvSpPr txBox="1"/>
          <p:nvPr/>
        </p:nvSpPr>
        <p:spPr>
          <a:xfrm>
            <a:off x="6665609" y="80322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sp>
        <p:nvSpPr>
          <p:cNvPr id="43" name="TextBox 42">
            <a:extLst>
              <a:ext uri="{FF2B5EF4-FFF2-40B4-BE49-F238E27FC236}">
                <a16:creationId xmlns:a16="http://schemas.microsoft.com/office/drawing/2014/main" id="{829BD638-4BAD-5F86-28C9-B3912110D37F}"/>
              </a:ext>
            </a:extLst>
          </p:cNvPr>
          <p:cNvSpPr txBox="1"/>
          <p:nvPr/>
        </p:nvSpPr>
        <p:spPr>
          <a:xfrm>
            <a:off x="9998017" y="343734"/>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45" name="TextBox 44">
            <a:extLst>
              <a:ext uri="{FF2B5EF4-FFF2-40B4-BE49-F238E27FC236}">
                <a16:creationId xmlns:a16="http://schemas.microsoft.com/office/drawing/2014/main" id="{7A3528CB-7AC7-BB69-54E9-0EA6A60990F1}"/>
              </a:ext>
            </a:extLst>
          </p:cNvPr>
          <p:cNvSpPr txBox="1"/>
          <p:nvPr/>
        </p:nvSpPr>
        <p:spPr>
          <a:xfrm>
            <a:off x="7862132" y="1298505"/>
            <a:ext cx="1451796" cy="484149"/>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Project/User Management </a:t>
            </a:r>
            <a:endParaRPr lang="en-IN" sz="1400" dirty="0">
              <a:solidFill>
                <a:schemeClr val="tx2"/>
              </a:solidFill>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307015" y="146121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F9888D9-590F-4281-3F7D-83BA98B99C8A}"/>
              </a:ext>
            </a:extLst>
          </p:cNvPr>
          <p:cNvSpPr txBox="1"/>
          <p:nvPr/>
        </p:nvSpPr>
        <p:spPr>
          <a:xfrm>
            <a:off x="6581210" y="151121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119256"/>
            <a:ext cx="484632" cy="484632"/>
          </a:xfrm>
          <a:prstGeom prst="rect">
            <a:avLst/>
          </a:prstGeom>
        </p:spPr>
      </p:pic>
      <p:sp>
        <p:nvSpPr>
          <p:cNvPr id="22" name="TextBox 21">
            <a:extLst>
              <a:ext uri="{FF2B5EF4-FFF2-40B4-BE49-F238E27FC236}">
                <a16:creationId xmlns:a16="http://schemas.microsoft.com/office/drawing/2014/main" id="{B1A36FEA-9FFB-C0B6-73F8-4EABDC8B2A4C}"/>
              </a:ext>
            </a:extLst>
          </p:cNvPr>
          <p:cNvSpPr txBox="1"/>
          <p:nvPr/>
        </p:nvSpPr>
        <p:spPr>
          <a:xfrm>
            <a:off x="7956436" y="2068760"/>
            <a:ext cx="1300537" cy="2965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7307015" y="220404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FF0C0E8-A7C0-E661-0E8D-0790DB69F071}"/>
              </a:ext>
            </a:extLst>
          </p:cNvPr>
          <p:cNvSpPr txBox="1"/>
          <p:nvPr/>
        </p:nvSpPr>
        <p:spPr>
          <a:xfrm>
            <a:off x="6581210" y="225403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862079"/>
            <a:ext cx="484632" cy="484632"/>
          </a:xfrm>
          <a:prstGeom prst="rect">
            <a:avLst/>
          </a:prstGeom>
        </p:spPr>
      </p:pic>
      <p:sp>
        <p:nvSpPr>
          <p:cNvPr id="41" name="TextBox 40">
            <a:extLst>
              <a:ext uri="{FF2B5EF4-FFF2-40B4-BE49-F238E27FC236}">
                <a16:creationId xmlns:a16="http://schemas.microsoft.com/office/drawing/2014/main" id="{3ADD4479-394D-5284-333D-15EC1496C3E5}"/>
              </a:ext>
            </a:extLst>
          </p:cNvPr>
          <p:cNvSpPr txBox="1"/>
          <p:nvPr/>
        </p:nvSpPr>
        <p:spPr>
          <a:xfrm>
            <a:off x="3937369" y="1755708"/>
            <a:ext cx="844876" cy="2349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sp>
        <p:nvSpPr>
          <p:cNvPr id="42" name="TextBox 41">
            <a:extLst>
              <a:ext uri="{FF2B5EF4-FFF2-40B4-BE49-F238E27FC236}">
                <a16:creationId xmlns:a16="http://schemas.microsoft.com/office/drawing/2014/main" id="{BF31B888-450F-C926-4B96-189E01B5B219}"/>
              </a:ext>
            </a:extLst>
          </p:cNvPr>
          <p:cNvSpPr txBox="1"/>
          <p:nvPr/>
        </p:nvSpPr>
        <p:spPr>
          <a:xfrm>
            <a:off x="7911759" y="3504192"/>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cxnSp>
        <p:nvCxnSpPr>
          <p:cNvPr id="54" name="Straight Arrow Connector 53">
            <a:extLst>
              <a:ext uri="{FF2B5EF4-FFF2-40B4-BE49-F238E27FC236}">
                <a16:creationId xmlns:a16="http://schemas.microsoft.com/office/drawing/2014/main" id="{20FB60AD-0C66-EB8E-7A9E-2BF9284E2D08}"/>
              </a:ext>
            </a:extLst>
          </p:cNvPr>
          <p:cNvCxnSpPr>
            <a:cxnSpLocks/>
          </p:cNvCxnSpPr>
          <p:nvPr/>
        </p:nvCxnSpPr>
        <p:spPr>
          <a:xfrm>
            <a:off x="7356642" y="366690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D265D12-3CE6-E937-8C01-D85728FBE291}"/>
              </a:ext>
            </a:extLst>
          </p:cNvPr>
          <p:cNvSpPr txBox="1"/>
          <p:nvPr/>
        </p:nvSpPr>
        <p:spPr>
          <a:xfrm>
            <a:off x="6630837" y="371690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61" name="Graphic 60" descr="User with solid fill">
            <a:extLst>
              <a:ext uri="{FF2B5EF4-FFF2-40B4-BE49-F238E27FC236}">
                <a16:creationId xmlns:a16="http://schemas.microsoft.com/office/drawing/2014/main" id="{99EA1871-2D31-C0A0-6E1E-E75CAAA707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3324944"/>
            <a:ext cx="484632" cy="484632"/>
          </a:xfrm>
          <a:prstGeom prst="rect">
            <a:avLst/>
          </a:prstGeom>
        </p:spPr>
      </p:pic>
      <p:sp>
        <p:nvSpPr>
          <p:cNvPr id="64" name="TextBox 63">
            <a:extLst>
              <a:ext uri="{FF2B5EF4-FFF2-40B4-BE49-F238E27FC236}">
                <a16:creationId xmlns:a16="http://schemas.microsoft.com/office/drawing/2014/main" id="{61D1590E-961E-412C-9956-BFFE63270D05}"/>
              </a:ext>
            </a:extLst>
          </p:cNvPr>
          <p:cNvSpPr txBox="1"/>
          <p:nvPr/>
        </p:nvSpPr>
        <p:spPr>
          <a:xfrm>
            <a:off x="1992927" y="1755708"/>
            <a:ext cx="1134497" cy="25805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69" name="Straight Arrow Connector 68">
            <a:extLst>
              <a:ext uri="{FF2B5EF4-FFF2-40B4-BE49-F238E27FC236}">
                <a16:creationId xmlns:a16="http://schemas.microsoft.com/office/drawing/2014/main" id="{C2B81905-993A-8839-EE2E-EC57A745F7B6}"/>
              </a:ext>
            </a:extLst>
          </p:cNvPr>
          <p:cNvCxnSpPr/>
          <p:nvPr/>
        </p:nvCxnSpPr>
        <p:spPr>
          <a:xfrm>
            <a:off x="9247829" y="6113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Flowchart: Connector 34">
            <a:extLst>
              <a:ext uri="{FF2B5EF4-FFF2-40B4-BE49-F238E27FC236}">
                <a16:creationId xmlns:a16="http://schemas.microsoft.com/office/drawing/2014/main" id="{22BA387A-D3D6-7F34-E5E8-E0D173D0D287}"/>
              </a:ext>
            </a:extLst>
          </p:cNvPr>
          <p:cNvSpPr/>
          <p:nvPr/>
        </p:nvSpPr>
        <p:spPr>
          <a:xfrm>
            <a:off x="168336" y="2111838"/>
            <a:ext cx="718361" cy="759277"/>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Log In</a:t>
            </a:r>
            <a:endParaRPr lang="en-IN" sz="1400" dirty="0"/>
          </a:p>
        </p:txBody>
      </p:sp>
      <p:sp>
        <p:nvSpPr>
          <p:cNvPr id="36" name="TextBox 35">
            <a:extLst>
              <a:ext uri="{FF2B5EF4-FFF2-40B4-BE49-F238E27FC236}">
                <a16:creationId xmlns:a16="http://schemas.microsoft.com/office/drawing/2014/main" id="{5E999FEB-0FB8-6668-0089-963F80DB81A4}"/>
              </a:ext>
            </a:extLst>
          </p:cNvPr>
          <p:cNvSpPr txBox="1"/>
          <p:nvPr/>
        </p:nvSpPr>
        <p:spPr>
          <a:xfrm>
            <a:off x="475123" y="282489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Authenticate using SSO</a:t>
            </a:r>
            <a:endParaRPr lang="en-IN" sz="1100" dirty="0">
              <a:solidFill>
                <a:srgbClr val="002240"/>
              </a:solidFill>
              <a:cs typeface="Tahoma" pitchFamily="34" charset="0"/>
            </a:endParaRPr>
          </a:p>
        </p:txBody>
      </p:sp>
      <p:sp>
        <p:nvSpPr>
          <p:cNvPr id="37" name="TextBox 36">
            <a:extLst>
              <a:ext uri="{FF2B5EF4-FFF2-40B4-BE49-F238E27FC236}">
                <a16:creationId xmlns:a16="http://schemas.microsoft.com/office/drawing/2014/main" id="{D8D9D4AE-2C64-C2DE-D661-05C889B3398C}"/>
              </a:ext>
            </a:extLst>
          </p:cNvPr>
          <p:cNvSpPr txBox="1"/>
          <p:nvPr/>
        </p:nvSpPr>
        <p:spPr>
          <a:xfrm>
            <a:off x="1444424" y="2124069"/>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Support &amp; Ticketing</a:t>
            </a:r>
            <a:endParaRPr lang="en-IN" sz="1200" dirty="0">
              <a:solidFill>
                <a:schemeClr val="tx2"/>
              </a:solidFill>
              <a:cs typeface="Tahoma" pitchFamily="34" charset="0"/>
            </a:endParaRPr>
          </a:p>
        </p:txBody>
      </p:sp>
      <p:graphicFrame>
        <p:nvGraphicFramePr>
          <p:cNvPr id="38" name="Table 37">
            <a:extLst>
              <a:ext uri="{FF2B5EF4-FFF2-40B4-BE49-F238E27FC236}">
                <a16:creationId xmlns:a16="http://schemas.microsoft.com/office/drawing/2014/main" id="{EA87390C-EC25-CBBC-3FA5-0BE3B34AF851}"/>
              </a:ext>
            </a:extLst>
          </p:cNvPr>
          <p:cNvGraphicFramePr>
            <a:graphicFrameLocks noGrp="1"/>
          </p:cNvGraphicFramePr>
          <p:nvPr>
            <p:extLst>
              <p:ext uri="{D42A27DB-BD31-4B8C-83A1-F6EECF244321}">
                <p14:modId xmlns:p14="http://schemas.microsoft.com/office/powerpoint/2010/main" val="1110996929"/>
              </p:ext>
            </p:extLst>
          </p:nvPr>
        </p:nvGraphicFramePr>
        <p:xfrm>
          <a:off x="1740341" y="2922749"/>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Project</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err="1"/>
                        <a:t>Sobi</a:t>
                      </a:r>
                      <a:r>
                        <a:rPr lang="en-US" sz="900" dirty="0"/>
                        <a:t> </a:t>
                      </a:r>
                      <a:r>
                        <a:rPr lang="en-US" sz="900" dirty="0" err="1"/>
                        <a:t>Proj</a:t>
                      </a:r>
                      <a:r>
                        <a:rPr lang="en-US" sz="900" dirty="0"/>
                        <a:t> 1</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err="1"/>
                        <a:t>Sobi</a:t>
                      </a:r>
                      <a:r>
                        <a:rPr lang="en-US" sz="900" dirty="0"/>
                        <a:t> </a:t>
                      </a:r>
                      <a:r>
                        <a:rPr lang="en-US" sz="900" dirty="0" err="1"/>
                        <a:t>Proj</a:t>
                      </a:r>
                      <a:r>
                        <a:rPr lang="en-US" sz="900" dirty="0"/>
                        <a:t> 2</a:t>
                      </a:r>
                      <a:endParaRPr lang="en-IN" sz="900" dirty="0"/>
                    </a:p>
                  </a:txBody>
                  <a:tcPr/>
                </a:tc>
                <a:tc>
                  <a:txBody>
                    <a:bodyPr/>
                    <a:lstStyle/>
                    <a:p>
                      <a:endParaRPr lang="en-IN" sz="90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59" name="TextBox 58">
            <a:extLst>
              <a:ext uri="{FF2B5EF4-FFF2-40B4-BE49-F238E27FC236}">
                <a16:creationId xmlns:a16="http://schemas.microsoft.com/office/drawing/2014/main" id="{571173C4-6602-FBCC-7D18-42DDF960CA5B}"/>
              </a:ext>
            </a:extLst>
          </p:cNvPr>
          <p:cNvSpPr txBox="1"/>
          <p:nvPr/>
        </p:nvSpPr>
        <p:spPr>
          <a:xfrm>
            <a:off x="6991073" y="40771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7" name="TextBox 66">
            <a:extLst>
              <a:ext uri="{FF2B5EF4-FFF2-40B4-BE49-F238E27FC236}">
                <a16:creationId xmlns:a16="http://schemas.microsoft.com/office/drawing/2014/main" id="{13431147-0B90-958D-ACE5-90E08ADA0DD4}"/>
              </a:ext>
            </a:extLst>
          </p:cNvPr>
          <p:cNvSpPr txBox="1"/>
          <p:nvPr/>
        </p:nvSpPr>
        <p:spPr>
          <a:xfrm>
            <a:off x="7127750" y="1941336"/>
            <a:ext cx="784009"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8" name="TextBox 67">
            <a:extLst>
              <a:ext uri="{FF2B5EF4-FFF2-40B4-BE49-F238E27FC236}">
                <a16:creationId xmlns:a16="http://schemas.microsoft.com/office/drawing/2014/main" id="{0ABDD660-B89C-DFCE-BE9E-DC8D069091E6}"/>
              </a:ext>
            </a:extLst>
          </p:cNvPr>
          <p:cNvSpPr txBox="1"/>
          <p:nvPr/>
        </p:nvSpPr>
        <p:spPr>
          <a:xfrm>
            <a:off x="6996225" y="116885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1" name="TextBox 70">
            <a:extLst>
              <a:ext uri="{FF2B5EF4-FFF2-40B4-BE49-F238E27FC236}">
                <a16:creationId xmlns:a16="http://schemas.microsoft.com/office/drawing/2014/main" id="{BEF3AF14-944D-E952-7DBB-5E38CA2E2853}"/>
              </a:ext>
            </a:extLst>
          </p:cNvPr>
          <p:cNvSpPr txBox="1"/>
          <p:nvPr/>
        </p:nvSpPr>
        <p:spPr>
          <a:xfrm>
            <a:off x="7082613" y="3364577"/>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8" name="Oval 77">
            <a:extLst>
              <a:ext uri="{FF2B5EF4-FFF2-40B4-BE49-F238E27FC236}">
                <a16:creationId xmlns:a16="http://schemas.microsoft.com/office/drawing/2014/main" id="{259372F9-1F90-1C00-8748-CCF889299BBE}"/>
              </a:ext>
            </a:extLst>
          </p:cNvPr>
          <p:cNvSpPr/>
          <p:nvPr/>
        </p:nvSpPr>
        <p:spPr>
          <a:xfrm>
            <a:off x="11332467" y="512681"/>
            <a:ext cx="659228" cy="365360"/>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A 1</a:t>
            </a:r>
            <a:endParaRPr lang="en-IN" sz="1600" dirty="0">
              <a:solidFill>
                <a:schemeClr val="tx2"/>
              </a:solidFill>
            </a:endParaRPr>
          </a:p>
        </p:txBody>
      </p:sp>
      <p:sp>
        <p:nvSpPr>
          <p:cNvPr id="81" name="Oval 80">
            <a:extLst>
              <a:ext uri="{FF2B5EF4-FFF2-40B4-BE49-F238E27FC236}">
                <a16:creationId xmlns:a16="http://schemas.microsoft.com/office/drawing/2014/main" id="{5096BA02-55A5-B758-10B9-5031A0EB6F03}"/>
              </a:ext>
            </a:extLst>
          </p:cNvPr>
          <p:cNvSpPr/>
          <p:nvPr/>
        </p:nvSpPr>
        <p:spPr>
          <a:xfrm>
            <a:off x="11312737" y="1338132"/>
            <a:ext cx="659228" cy="350014"/>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B1</a:t>
            </a:r>
            <a:endParaRPr lang="en-IN" sz="1600" dirty="0">
              <a:solidFill>
                <a:schemeClr val="tx2"/>
              </a:solidFill>
            </a:endParaRPr>
          </a:p>
        </p:txBody>
      </p:sp>
      <p:sp>
        <p:nvSpPr>
          <p:cNvPr id="84" name="Oval 83">
            <a:extLst>
              <a:ext uri="{FF2B5EF4-FFF2-40B4-BE49-F238E27FC236}">
                <a16:creationId xmlns:a16="http://schemas.microsoft.com/office/drawing/2014/main" id="{E294A983-2792-241B-D4FA-D0E3165AD2DD}"/>
              </a:ext>
            </a:extLst>
          </p:cNvPr>
          <p:cNvSpPr/>
          <p:nvPr/>
        </p:nvSpPr>
        <p:spPr>
          <a:xfrm>
            <a:off x="11337797" y="2123927"/>
            <a:ext cx="685867" cy="28450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C1</a:t>
            </a:r>
            <a:endParaRPr lang="en-IN" sz="1600" dirty="0">
              <a:solidFill>
                <a:schemeClr val="tx2"/>
              </a:solidFill>
            </a:endParaRPr>
          </a:p>
        </p:txBody>
      </p:sp>
      <p:sp>
        <p:nvSpPr>
          <p:cNvPr id="86" name="Oval 85">
            <a:extLst>
              <a:ext uri="{FF2B5EF4-FFF2-40B4-BE49-F238E27FC236}">
                <a16:creationId xmlns:a16="http://schemas.microsoft.com/office/drawing/2014/main" id="{43A103CA-F52C-3191-ABC3-46F39C70DEEF}"/>
              </a:ext>
            </a:extLst>
          </p:cNvPr>
          <p:cNvSpPr/>
          <p:nvPr/>
        </p:nvSpPr>
        <p:spPr>
          <a:xfrm>
            <a:off x="11390664" y="3517199"/>
            <a:ext cx="632369"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E1</a:t>
            </a:r>
            <a:endParaRPr lang="en-IN" sz="1600" dirty="0">
              <a:solidFill>
                <a:schemeClr val="tx2"/>
              </a:solidFill>
            </a:endParaRPr>
          </a:p>
        </p:txBody>
      </p:sp>
      <p:sp>
        <p:nvSpPr>
          <p:cNvPr id="87" name="TextBox 86">
            <a:extLst>
              <a:ext uri="{FF2B5EF4-FFF2-40B4-BE49-F238E27FC236}">
                <a16:creationId xmlns:a16="http://schemas.microsoft.com/office/drawing/2014/main" id="{700F0097-2074-50D0-F678-B108474FB804}"/>
              </a:ext>
            </a:extLst>
          </p:cNvPr>
          <p:cNvSpPr txBox="1"/>
          <p:nvPr/>
        </p:nvSpPr>
        <p:spPr>
          <a:xfrm>
            <a:off x="10052881" y="1318366"/>
            <a:ext cx="1409561"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88" name="Straight Arrow Connector 87">
            <a:extLst>
              <a:ext uri="{FF2B5EF4-FFF2-40B4-BE49-F238E27FC236}">
                <a16:creationId xmlns:a16="http://schemas.microsoft.com/office/drawing/2014/main" id="{95933508-DF41-2A1F-A623-9FE0F02473CC}"/>
              </a:ext>
            </a:extLst>
          </p:cNvPr>
          <p:cNvCxnSpPr/>
          <p:nvPr/>
        </p:nvCxnSpPr>
        <p:spPr>
          <a:xfrm>
            <a:off x="9302693" y="15585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AD7BB89-E6C1-89B2-48CF-A18DBBB3B226}"/>
              </a:ext>
            </a:extLst>
          </p:cNvPr>
          <p:cNvSpPr txBox="1"/>
          <p:nvPr/>
        </p:nvSpPr>
        <p:spPr>
          <a:xfrm>
            <a:off x="10022021" y="2020966"/>
            <a:ext cx="1440421" cy="478737"/>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52678C88-F64B-4A91-B61A-071A92D58F97}"/>
              </a:ext>
            </a:extLst>
          </p:cNvPr>
          <p:cNvCxnSpPr/>
          <p:nvPr/>
        </p:nvCxnSpPr>
        <p:spPr>
          <a:xfrm>
            <a:off x="9271833" y="228939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9E606C5-0904-2853-4CA8-DFD8CE6F6668}"/>
              </a:ext>
            </a:extLst>
          </p:cNvPr>
          <p:cNvSpPr txBox="1"/>
          <p:nvPr/>
        </p:nvSpPr>
        <p:spPr>
          <a:xfrm>
            <a:off x="10059456" y="3382818"/>
            <a:ext cx="127224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2" name="Straight Arrow Connector 91">
            <a:extLst>
              <a:ext uri="{FF2B5EF4-FFF2-40B4-BE49-F238E27FC236}">
                <a16:creationId xmlns:a16="http://schemas.microsoft.com/office/drawing/2014/main" id="{14F2176E-B85C-1CCD-1866-E1D520C407B6}"/>
              </a:ext>
            </a:extLst>
          </p:cNvPr>
          <p:cNvCxnSpPr/>
          <p:nvPr/>
        </p:nvCxnSpPr>
        <p:spPr>
          <a:xfrm>
            <a:off x="9309268" y="362303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6D969C4-30BA-F63B-E904-37E4B1C6D053}"/>
              </a:ext>
            </a:extLst>
          </p:cNvPr>
          <p:cNvSpPr txBox="1"/>
          <p:nvPr/>
        </p:nvSpPr>
        <p:spPr>
          <a:xfrm>
            <a:off x="4600970" y="2113356"/>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Maintenance</a:t>
            </a:r>
            <a:endParaRPr lang="en-IN" sz="1200" dirty="0">
              <a:solidFill>
                <a:schemeClr val="tx2"/>
              </a:solidFill>
              <a:cs typeface="Tahoma" pitchFamily="34" charset="0"/>
            </a:endParaRPr>
          </a:p>
        </p:txBody>
      </p:sp>
      <p:sp>
        <p:nvSpPr>
          <p:cNvPr id="94" name="TextBox 93">
            <a:extLst>
              <a:ext uri="{FF2B5EF4-FFF2-40B4-BE49-F238E27FC236}">
                <a16:creationId xmlns:a16="http://schemas.microsoft.com/office/drawing/2014/main" id="{6643518C-293F-3476-DE06-2ED8F6AA84DE}"/>
              </a:ext>
            </a:extLst>
          </p:cNvPr>
          <p:cNvSpPr txBox="1"/>
          <p:nvPr/>
        </p:nvSpPr>
        <p:spPr>
          <a:xfrm>
            <a:off x="7946912" y="4287545"/>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Support &amp; Ticketing</a:t>
            </a:r>
            <a:endParaRPr lang="en-IN" sz="1400" dirty="0">
              <a:solidFill>
                <a:schemeClr val="tx2"/>
              </a:solidFill>
              <a:cs typeface="Tahoma" pitchFamily="34" charset="0"/>
            </a:endParaRPr>
          </a:p>
        </p:txBody>
      </p:sp>
      <p:cxnSp>
        <p:nvCxnSpPr>
          <p:cNvPr id="95" name="Straight Arrow Connector 94">
            <a:extLst>
              <a:ext uri="{FF2B5EF4-FFF2-40B4-BE49-F238E27FC236}">
                <a16:creationId xmlns:a16="http://schemas.microsoft.com/office/drawing/2014/main" id="{71E5DF06-31A3-F9B9-9595-3C654A26CC19}"/>
              </a:ext>
            </a:extLst>
          </p:cNvPr>
          <p:cNvCxnSpPr>
            <a:cxnSpLocks/>
          </p:cNvCxnSpPr>
          <p:nvPr/>
        </p:nvCxnSpPr>
        <p:spPr>
          <a:xfrm>
            <a:off x="7391795" y="4450260"/>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AF9C1A9C-5F9B-BC17-8670-47401EF7351A}"/>
              </a:ext>
            </a:extLst>
          </p:cNvPr>
          <p:cNvSpPr txBox="1"/>
          <p:nvPr/>
        </p:nvSpPr>
        <p:spPr>
          <a:xfrm>
            <a:off x="6665990" y="4500254"/>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97" name="Graphic 96" descr="User with solid fill">
            <a:extLst>
              <a:ext uri="{FF2B5EF4-FFF2-40B4-BE49-F238E27FC236}">
                <a16:creationId xmlns:a16="http://schemas.microsoft.com/office/drawing/2014/main" id="{FD6AE21F-FEB6-537D-BEF6-9FD928A076F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22772" y="4108297"/>
            <a:ext cx="484632" cy="484632"/>
          </a:xfrm>
          <a:prstGeom prst="rect">
            <a:avLst/>
          </a:prstGeom>
        </p:spPr>
      </p:pic>
      <p:sp>
        <p:nvSpPr>
          <p:cNvPr id="98" name="TextBox 97">
            <a:extLst>
              <a:ext uri="{FF2B5EF4-FFF2-40B4-BE49-F238E27FC236}">
                <a16:creationId xmlns:a16="http://schemas.microsoft.com/office/drawing/2014/main" id="{0C370B3A-81F2-8C74-FC87-5AB748A00753}"/>
              </a:ext>
            </a:extLst>
          </p:cNvPr>
          <p:cNvSpPr txBox="1"/>
          <p:nvPr/>
        </p:nvSpPr>
        <p:spPr>
          <a:xfrm>
            <a:off x="7117766" y="4147930"/>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9" name="Oval 98">
            <a:extLst>
              <a:ext uri="{FF2B5EF4-FFF2-40B4-BE49-F238E27FC236}">
                <a16:creationId xmlns:a16="http://schemas.microsoft.com/office/drawing/2014/main" id="{84A3C77E-CA3C-5AA8-4E36-6B2DAAEDAE9B}"/>
              </a:ext>
            </a:extLst>
          </p:cNvPr>
          <p:cNvSpPr/>
          <p:nvPr/>
        </p:nvSpPr>
        <p:spPr>
          <a:xfrm>
            <a:off x="11398434" y="5769898"/>
            <a:ext cx="632369" cy="28403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H1</a:t>
            </a:r>
            <a:endParaRPr lang="en-IN" sz="1600" dirty="0">
              <a:solidFill>
                <a:schemeClr val="tx2"/>
              </a:solidFill>
            </a:endParaRPr>
          </a:p>
        </p:txBody>
      </p:sp>
      <p:sp>
        <p:nvSpPr>
          <p:cNvPr id="100" name="TextBox 99">
            <a:extLst>
              <a:ext uri="{FF2B5EF4-FFF2-40B4-BE49-F238E27FC236}">
                <a16:creationId xmlns:a16="http://schemas.microsoft.com/office/drawing/2014/main" id="{4EDEDBF4-23A8-E95F-3879-6D3C604D45D0}"/>
              </a:ext>
            </a:extLst>
          </p:cNvPr>
          <p:cNvSpPr txBox="1"/>
          <p:nvPr/>
        </p:nvSpPr>
        <p:spPr>
          <a:xfrm>
            <a:off x="10094609" y="4166171"/>
            <a:ext cx="121395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01" name="Straight Arrow Connector 100">
            <a:extLst>
              <a:ext uri="{FF2B5EF4-FFF2-40B4-BE49-F238E27FC236}">
                <a16:creationId xmlns:a16="http://schemas.microsoft.com/office/drawing/2014/main" id="{12E85064-BAB8-E615-7EF4-7E671D3758E3}"/>
              </a:ext>
            </a:extLst>
          </p:cNvPr>
          <p:cNvCxnSpPr/>
          <p:nvPr/>
        </p:nvCxnSpPr>
        <p:spPr>
          <a:xfrm>
            <a:off x="9344421" y="44063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ECF59E8-F029-3AA1-770A-8347C21908DB}"/>
              </a:ext>
            </a:extLst>
          </p:cNvPr>
          <p:cNvSpPr txBox="1"/>
          <p:nvPr/>
        </p:nvSpPr>
        <p:spPr>
          <a:xfrm>
            <a:off x="7956436" y="5749616"/>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Other Admin Activities</a:t>
            </a:r>
            <a:endParaRPr lang="en-IN" sz="1400" dirty="0">
              <a:solidFill>
                <a:schemeClr val="tx2"/>
              </a:solidFill>
              <a:cs typeface="Tahoma" pitchFamily="34" charset="0"/>
            </a:endParaRPr>
          </a:p>
        </p:txBody>
      </p:sp>
      <p:cxnSp>
        <p:nvCxnSpPr>
          <p:cNvPr id="106" name="Straight Arrow Connector 105">
            <a:extLst>
              <a:ext uri="{FF2B5EF4-FFF2-40B4-BE49-F238E27FC236}">
                <a16:creationId xmlns:a16="http://schemas.microsoft.com/office/drawing/2014/main" id="{ACB6EA28-3429-19EE-845E-A61233C12EA7}"/>
              </a:ext>
            </a:extLst>
          </p:cNvPr>
          <p:cNvCxnSpPr>
            <a:cxnSpLocks/>
          </p:cNvCxnSpPr>
          <p:nvPr/>
        </p:nvCxnSpPr>
        <p:spPr>
          <a:xfrm>
            <a:off x="7356642" y="51381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6C303958-BDB6-6BC8-9E4A-18DB3EF205D7}"/>
              </a:ext>
            </a:extLst>
          </p:cNvPr>
          <p:cNvSpPr txBox="1"/>
          <p:nvPr/>
        </p:nvSpPr>
        <p:spPr>
          <a:xfrm>
            <a:off x="6630837" y="518816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08" name="Graphic 107" descr="User with solid fill">
            <a:extLst>
              <a:ext uri="{FF2B5EF4-FFF2-40B4-BE49-F238E27FC236}">
                <a16:creationId xmlns:a16="http://schemas.microsoft.com/office/drawing/2014/main" id="{5142C2CC-0DA4-0793-D3C2-3B88B947A9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4796209"/>
            <a:ext cx="484632" cy="484632"/>
          </a:xfrm>
          <a:prstGeom prst="rect">
            <a:avLst/>
          </a:prstGeom>
        </p:spPr>
      </p:pic>
      <p:sp>
        <p:nvSpPr>
          <p:cNvPr id="109" name="TextBox 108">
            <a:extLst>
              <a:ext uri="{FF2B5EF4-FFF2-40B4-BE49-F238E27FC236}">
                <a16:creationId xmlns:a16="http://schemas.microsoft.com/office/drawing/2014/main" id="{E5CD4D8A-9CDE-DA6A-3D99-707D90D21C0B}"/>
              </a:ext>
            </a:extLst>
          </p:cNvPr>
          <p:cNvSpPr txBox="1"/>
          <p:nvPr/>
        </p:nvSpPr>
        <p:spPr>
          <a:xfrm>
            <a:off x="7082613" y="483584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0" name="Oval 109">
            <a:extLst>
              <a:ext uri="{FF2B5EF4-FFF2-40B4-BE49-F238E27FC236}">
                <a16:creationId xmlns:a16="http://schemas.microsoft.com/office/drawing/2014/main" id="{642C61EA-CFF9-A101-95A3-8D651807BCDE}"/>
              </a:ext>
            </a:extLst>
          </p:cNvPr>
          <p:cNvSpPr/>
          <p:nvPr/>
        </p:nvSpPr>
        <p:spPr>
          <a:xfrm>
            <a:off x="11402658" y="4238052"/>
            <a:ext cx="620375" cy="30820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F1</a:t>
            </a:r>
            <a:endParaRPr lang="en-IN" sz="1600" dirty="0">
              <a:solidFill>
                <a:schemeClr val="tx2"/>
              </a:solidFill>
            </a:endParaRPr>
          </a:p>
        </p:txBody>
      </p:sp>
      <p:cxnSp>
        <p:nvCxnSpPr>
          <p:cNvPr id="111" name="Straight Arrow Connector 110">
            <a:extLst>
              <a:ext uri="{FF2B5EF4-FFF2-40B4-BE49-F238E27FC236}">
                <a16:creationId xmlns:a16="http://schemas.microsoft.com/office/drawing/2014/main" id="{6EBDC17F-B16A-323C-986B-6DA9AA42D0BF}"/>
              </a:ext>
            </a:extLst>
          </p:cNvPr>
          <p:cNvCxnSpPr/>
          <p:nvPr/>
        </p:nvCxnSpPr>
        <p:spPr>
          <a:xfrm>
            <a:off x="9309268" y="509430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E6C44626-9A02-DC69-832D-13DB187E6F96}"/>
              </a:ext>
            </a:extLst>
          </p:cNvPr>
          <p:cNvSpPr txBox="1"/>
          <p:nvPr/>
        </p:nvSpPr>
        <p:spPr>
          <a:xfrm>
            <a:off x="7936907" y="4937330"/>
            <a:ext cx="1387985" cy="29056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Maintenance</a:t>
            </a:r>
            <a:endParaRPr lang="en-IN" sz="1400" dirty="0">
              <a:solidFill>
                <a:schemeClr val="tx2"/>
              </a:solidFill>
              <a:cs typeface="Tahoma" pitchFamily="34" charset="0"/>
            </a:endParaRPr>
          </a:p>
        </p:txBody>
      </p:sp>
      <p:cxnSp>
        <p:nvCxnSpPr>
          <p:cNvPr id="113" name="Straight Arrow Connector 112">
            <a:extLst>
              <a:ext uri="{FF2B5EF4-FFF2-40B4-BE49-F238E27FC236}">
                <a16:creationId xmlns:a16="http://schemas.microsoft.com/office/drawing/2014/main" id="{412B624F-5451-E836-2A14-FD6F122EEA94}"/>
              </a:ext>
            </a:extLst>
          </p:cNvPr>
          <p:cNvCxnSpPr>
            <a:cxnSpLocks/>
          </p:cNvCxnSpPr>
          <p:nvPr/>
        </p:nvCxnSpPr>
        <p:spPr>
          <a:xfrm>
            <a:off x="7344450" y="606781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F0A32E51-E728-1B1D-EB9A-8E9CB22CEAD4}"/>
              </a:ext>
            </a:extLst>
          </p:cNvPr>
          <p:cNvSpPr txBox="1"/>
          <p:nvPr/>
        </p:nvSpPr>
        <p:spPr>
          <a:xfrm>
            <a:off x="6618645" y="611780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15" name="Graphic 114" descr="User with solid fill">
            <a:extLst>
              <a:ext uri="{FF2B5EF4-FFF2-40B4-BE49-F238E27FC236}">
                <a16:creationId xmlns:a16="http://schemas.microsoft.com/office/drawing/2014/main" id="{431792C1-8091-9D58-2F3B-ED66DBD64B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5427" y="5725849"/>
            <a:ext cx="484632" cy="484632"/>
          </a:xfrm>
          <a:prstGeom prst="rect">
            <a:avLst/>
          </a:prstGeom>
        </p:spPr>
      </p:pic>
      <p:sp>
        <p:nvSpPr>
          <p:cNvPr id="116" name="TextBox 115">
            <a:extLst>
              <a:ext uri="{FF2B5EF4-FFF2-40B4-BE49-F238E27FC236}">
                <a16:creationId xmlns:a16="http://schemas.microsoft.com/office/drawing/2014/main" id="{9FF529DD-AA45-E688-EF41-324BA505A1B5}"/>
              </a:ext>
            </a:extLst>
          </p:cNvPr>
          <p:cNvSpPr txBox="1"/>
          <p:nvPr/>
        </p:nvSpPr>
        <p:spPr>
          <a:xfrm>
            <a:off x="7070421" y="576548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7" name="Oval 116">
            <a:extLst>
              <a:ext uri="{FF2B5EF4-FFF2-40B4-BE49-F238E27FC236}">
                <a16:creationId xmlns:a16="http://schemas.microsoft.com/office/drawing/2014/main" id="{2FDCCC99-3040-F266-E685-E0F98A47DFD3}"/>
              </a:ext>
            </a:extLst>
          </p:cNvPr>
          <p:cNvSpPr/>
          <p:nvPr/>
        </p:nvSpPr>
        <p:spPr>
          <a:xfrm>
            <a:off x="11437582" y="4938694"/>
            <a:ext cx="632369" cy="284034"/>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G1</a:t>
            </a:r>
            <a:endParaRPr lang="en-IN" sz="1600" dirty="0">
              <a:solidFill>
                <a:schemeClr val="tx2"/>
              </a:solidFill>
            </a:endParaRPr>
          </a:p>
        </p:txBody>
      </p:sp>
      <p:cxnSp>
        <p:nvCxnSpPr>
          <p:cNvPr id="118" name="Straight Arrow Connector 117">
            <a:extLst>
              <a:ext uri="{FF2B5EF4-FFF2-40B4-BE49-F238E27FC236}">
                <a16:creationId xmlns:a16="http://schemas.microsoft.com/office/drawing/2014/main" id="{089E52F5-D2C0-FECE-F058-2ABBBFF4AB54}"/>
              </a:ext>
            </a:extLst>
          </p:cNvPr>
          <p:cNvCxnSpPr/>
          <p:nvPr/>
        </p:nvCxnSpPr>
        <p:spPr>
          <a:xfrm>
            <a:off x="9297076" y="602394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85EFBA5D-E2B3-D005-B91E-E304413416D5}"/>
              </a:ext>
            </a:extLst>
          </p:cNvPr>
          <p:cNvSpPr txBox="1"/>
          <p:nvPr/>
        </p:nvSpPr>
        <p:spPr>
          <a:xfrm>
            <a:off x="10145565" y="4801463"/>
            <a:ext cx="1247859" cy="606148"/>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0" name="TextBox 119">
            <a:extLst>
              <a:ext uri="{FF2B5EF4-FFF2-40B4-BE49-F238E27FC236}">
                <a16:creationId xmlns:a16="http://schemas.microsoft.com/office/drawing/2014/main" id="{BD35983A-E479-63A5-1E3A-CE29DF4A389C}"/>
              </a:ext>
            </a:extLst>
          </p:cNvPr>
          <p:cNvSpPr txBox="1"/>
          <p:nvPr/>
        </p:nvSpPr>
        <p:spPr>
          <a:xfrm>
            <a:off x="10145567" y="5765169"/>
            <a:ext cx="1247858"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1" name="TextBox 120">
            <a:extLst>
              <a:ext uri="{FF2B5EF4-FFF2-40B4-BE49-F238E27FC236}">
                <a16:creationId xmlns:a16="http://schemas.microsoft.com/office/drawing/2014/main" id="{87FD90F3-7ACF-D8E0-86C6-C35F58A372A9}"/>
              </a:ext>
            </a:extLst>
          </p:cNvPr>
          <p:cNvSpPr txBox="1"/>
          <p:nvPr/>
        </p:nvSpPr>
        <p:spPr>
          <a:xfrm>
            <a:off x="7919780" y="2819194"/>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Product Services</a:t>
            </a:r>
            <a:endParaRPr lang="en-IN" sz="1400" dirty="0">
              <a:solidFill>
                <a:schemeClr val="tx2"/>
              </a:solidFill>
              <a:cs typeface="Tahoma" pitchFamily="34" charset="0"/>
            </a:endParaRPr>
          </a:p>
        </p:txBody>
      </p:sp>
      <p:cxnSp>
        <p:nvCxnSpPr>
          <p:cNvPr id="122" name="Straight Arrow Connector 121">
            <a:extLst>
              <a:ext uri="{FF2B5EF4-FFF2-40B4-BE49-F238E27FC236}">
                <a16:creationId xmlns:a16="http://schemas.microsoft.com/office/drawing/2014/main" id="{1ECA79A7-9612-8BB3-C631-63683C243E5A}"/>
              </a:ext>
            </a:extLst>
          </p:cNvPr>
          <p:cNvCxnSpPr>
            <a:cxnSpLocks/>
          </p:cNvCxnSpPr>
          <p:nvPr/>
        </p:nvCxnSpPr>
        <p:spPr>
          <a:xfrm>
            <a:off x="7364663" y="298190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FA143B52-3C5D-7F68-E948-E27600E8996D}"/>
              </a:ext>
            </a:extLst>
          </p:cNvPr>
          <p:cNvSpPr txBox="1"/>
          <p:nvPr/>
        </p:nvSpPr>
        <p:spPr>
          <a:xfrm>
            <a:off x="6638858" y="303190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24" name="Graphic 123" descr="User with solid fill">
            <a:extLst>
              <a:ext uri="{FF2B5EF4-FFF2-40B4-BE49-F238E27FC236}">
                <a16:creationId xmlns:a16="http://schemas.microsoft.com/office/drawing/2014/main" id="{4703261E-39E2-73EA-F4C4-980552AEE2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5640" y="2639946"/>
            <a:ext cx="484632" cy="484632"/>
          </a:xfrm>
          <a:prstGeom prst="rect">
            <a:avLst/>
          </a:prstGeom>
        </p:spPr>
      </p:pic>
      <p:sp>
        <p:nvSpPr>
          <p:cNvPr id="125" name="TextBox 124">
            <a:extLst>
              <a:ext uri="{FF2B5EF4-FFF2-40B4-BE49-F238E27FC236}">
                <a16:creationId xmlns:a16="http://schemas.microsoft.com/office/drawing/2014/main" id="{75DD41FA-7FFC-1EFE-D7C7-206A2609D7DE}"/>
              </a:ext>
            </a:extLst>
          </p:cNvPr>
          <p:cNvSpPr txBox="1"/>
          <p:nvPr/>
        </p:nvSpPr>
        <p:spPr>
          <a:xfrm>
            <a:off x="7090634" y="267957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26" name="Oval 125">
            <a:extLst>
              <a:ext uri="{FF2B5EF4-FFF2-40B4-BE49-F238E27FC236}">
                <a16:creationId xmlns:a16="http://schemas.microsoft.com/office/drawing/2014/main" id="{0C576A6B-BD96-EA40-F261-C8E4DEE32014}"/>
              </a:ext>
            </a:extLst>
          </p:cNvPr>
          <p:cNvSpPr/>
          <p:nvPr/>
        </p:nvSpPr>
        <p:spPr>
          <a:xfrm>
            <a:off x="11398685" y="2832201"/>
            <a:ext cx="624979"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D1</a:t>
            </a:r>
            <a:endParaRPr lang="en-IN" sz="1600" dirty="0">
              <a:solidFill>
                <a:schemeClr val="tx2"/>
              </a:solidFill>
            </a:endParaRPr>
          </a:p>
        </p:txBody>
      </p:sp>
      <p:sp>
        <p:nvSpPr>
          <p:cNvPr id="127" name="TextBox 126">
            <a:extLst>
              <a:ext uri="{FF2B5EF4-FFF2-40B4-BE49-F238E27FC236}">
                <a16:creationId xmlns:a16="http://schemas.microsoft.com/office/drawing/2014/main" id="{DBE0C912-10C1-4543-74DC-FEF581EA2AED}"/>
              </a:ext>
            </a:extLst>
          </p:cNvPr>
          <p:cNvSpPr txBox="1"/>
          <p:nvPr/>
        </p:nvSpPr>
        <p:spPr>
          <a:xfrm>
            <a:off x="10067477" y="2697820"/>
            <a:ext cx="139496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28" name="Straight Arrow Connector 127">
            <a:extLst>
              <a:ext uri="{FF2B5EF4-FFF2-40B4-BE49-F238E27FC236}">
                <a16:creationId xmlns:a16="http://schemas.microsoft.com/office/drawing/2014/main" id="{6BCB3FC1-107E-AF6C-428F-47DCFBC3B417}"/>
              </a:ext>
            </a:extLst>
          </p:cNvPr>
          <p:cNvCxnSpPr/>
          <p:nvPr/>
        </p:nvCxnSpPr>
        <p:spPr>
          <a:xfrm>
            <a:off x="9317289" y="293804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1134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1054609" y="1219095"/>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4" name="Rectangle: Rounded Corners 3">
            <a:extLst>
              <a:ext uri="{FF2B5EF4-FFF2-40B4-BE49-F238E27FC236}">
                <a16:creationId xmlns:a16="http://schemas.microsoft.com/office/drawing/2014/main" id="{823D7279-91B9-875E-EBC5-73922B9CECE6}"/>
              </a:ext>
            </a:extLst>
          </p:cNvPr>
          <p:cNvSpPr/>
          <p:nvPr/>
        </p:nvSpPr>
        <p:spPr>
          <a:xfrm>
            <a:off x="1020133" y="2078513"/>
            <a:ext cx="4368547" cy="1125474"/>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8AC192B-3F34-8817-86DE-4C15BE7CE9DB}"/>
              </a:ext>
            </a:extLst>
          </p:cNvPr>
          <p:cNvSpPr txBox="1"/>
          <p:nvPr/>
        </p:nvSpPr>
        <p:spPr>
          <a:xfrm>
            <a:off x="2484918" y="524921"/>
            <a:ext cx="1620737" cy="264133"/>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List of Projects</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172095" y="922198"/>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Shows the List of Accts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732690" y="1110030"/>
            <a:ext cx="1655989" cy="34487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Create/Delete Project</a:t>
            </a:r>
            <a:endParaRPr lang="en-IN" sz="1300" dirty="0">
              <a:solidFill>
                <a:schemeClr val="tx2"/>
              </a:solidFill>
              <a:cs typeface="Tahoma" pitchFamily="34" charset="0"/>
            </a:endParaRPr>
          </a:p>
        </p:txBody>
      </p:sp>
      <p:sp>
        <p:nvSpPr>
          <p:cNvPr id="11" name="TextBox 10">
            <a:extLst>
              <a:ext uri="{FF2B5EF4-FFF2-40B4-BE49-F238E27FC236}">
                <a16:creationId xmlns:a16="http://schemas.microsoft.com/office/drawing/2014/main" id="{E9EB9C84-E308-4A31-F8E2-D75C9304B08E}"/>
              </a:ext>
            </a:extLst>
          </p:cNvPr>
          <p:cNvSpPr txBox="1"/>
          <p:nvPr/>
        </p:nvSpPr>
        <p:spPr>
          <a:xfrm>
            <a:off x="1803721" y="2040128"/>
            <a:ext cx="2984682" cy="25265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health Statistics</a:t>
            </a:r>
            <a:endParaRPr lang="en-IN" sz="1600" dirty="0">
              <a:cs typeface="Tahoma" pitchFamily="34" charset="0"/>
            </a:endParaRPr>
          </a:p>
        </p:txBody>
      </p:sp>
      <p:graphicFrame>
        <p:nvGraphicFramePr>
          <p:cNvPr id="15" name="Table 14">
            <a:extLst>
              <a:ext uri="{FF2B5EF4-FFF2-40B4-BE49-F238E27FC236}">
                <a16:creationId xmlns:a16="http://schemas.microsoft.com/office/drawing/2014/main" id="{F0C6364C-381F-2990-06F4-C43B8E5DAC81}"/>
              </a:ext>
            </a:extLst>
          </p:cNvPr>
          <p:cNvGraphicFramePr>
            <a:graphicFrameLocks noGrp="1"/>
          </p:cNvGraphicFramePr>
          <p:nvPr/>
        </p:nvGraphicFramePr>
        <p:xfrm>
          <a:off x="1193385" y="2391415"/>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Project</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a:t>Project 1</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a:t>Project 2</a:t>
                      </a:r>
                      <a:endParaRPr lang="en-IN" sz="900" dirty="0"/>
                    </a:p>
                  </a:txBody>
                  <a:tcPr/>
                </a:tc>
                <a:tc>
                  <a:txBody>
                    <a:bodyPr/>
                    <a:lstStyle/>
                    <a:p>
                      <a:endParaRPr lang="en-IN" sz="900" dirty="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243112" y="1289213"/>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Acct </a:t>
                      </a:r>
                      <a:endParaRPr lang="en-IN" sz="900" dirty="0"/>
                    </a:p>
                  </a:txBody>
                  <a:tcPr/>
                </a:tc>
                <a:extLst>
                  <a:ext uri="{0D108BD9-81ED-4DB2-BD59-A6C34878D82A}">
                    <a16:rowId xmlns:a16="http://schemas.microsoft.com/office/drawing/2014/main" val="2202397540"/>
                  </a:ext>
                </a:extLst>
              </a:tr>
              <a:tr h="169015">
                <a:tc>
                  <a:txBody>
                    <a:bodyPr/>
                    <a:lstStyle/>
                    <a:p>
                      <a:r>
                        <a:rPr lang="en-US" sz="900" dirty="0" err="1"/>
                        <a:t>Sobi</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Ironshore</a:t>
                      </a:r>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458177" y="507087"/>
            <a:ext cx="1389506" cy="72822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Projects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921348" y="77952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6132" y="486922"/>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274227" y="90735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865971" y="8936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599691" y="51184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606635" y="524921"/>
            <a:ext cx="2220850" cy="85946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Projects under that acct with details gets displayed in the bottom grid</a:t>
            </a:r>
            <a:endParaRPr lang="en-IN" sz="1400" dirty="0">
              <a:solidFill>
                <a:schemeClr val="tx2"/>
              </a:solidFill>
              <a:cs typeface="Tahoma" pitchFamily="34" charset="0"/>
            </a:endParaRPr>
          </a:p>
        </p:txBody>
      </p:sp>
      <p:sp>
        <p:nvSpPr>
          <p:cNvPr id="28" name="TextBox 27">
            <a:extLst>
              <a:ext uri="{FF2B5EF4-FFF2-40B4-BE49-F238E27FC236}">
                <a16:creationId xmlns:a16="http://schemas.microsoft.com/office/drawing/2014/main" id="{2EDBC459-B19D-9FB4-008B-1AF5A2E1D832}"/>
              </a:ext>
            </a:extLst>
          </p:cNvPr>
          <p:cNvSpPr txBox="1"/>
          <p:nvPr/>
        </p:nvSpPr>
        <p:spPr>
          <a:xfrm>
            <a:off x="7418553" y="1957935"/>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Project</a:t>
            </a:r>
            <a:endParaRPr lang="en-IN" sz="1400" dirty="0">
              <a:solidFill>
                <a:schemeClr val="tx2"/>
              </a:solidFill>
              <a:cs typeface="Tahoma" pitchFamily="34" charset="0"/>
            </a:endParaRPr>
          </a:p>
        </p:txBody>
      </p:sp>
      <p:cxnSp>
        <p:nvCxnSpPr>
          <p:cNvPr id="29" name="Straight Arrow Connector 28">
            <a:extLst>
              <a:ext uri="{FF2B5EF4-FFF2-40B4-BE49-F238E27FC236}">
                <a16:creationId xmlns:a16="http://schemas.microsoft.com/office/drawing/2014/main" id="{E51B655D-8096-0A66-E722-B5250380BFCD}"/>
              </a:ext>
            </a:extLst>
          </p:cNvPr>
          <p:cNvCxnSpPr>
            <a:cxnSpLocks/>
          </p:cNvCxnSpPr>
          <p:nvPr/>
        </p:nvCxnSpPr>
        <p:spPr>
          <a:xfrm>
            <a:off x="6863436" y="212064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User with solid fill">
            <a:extLst>
              <a:ext uri="{FF2B5EF4-FFF2-40B4-BE49-F238E27FC236}">
                <a16:creationId xmlns:a16="http://schemas.microsoft.com/office/drawing/2014/main" id="{4E7ADF6F-1CD8-3E74-44AC-550CD3AD31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8220" y="1828042"/>
            <a:ext cx="484632" cy="484632"/>
          </a:xfrm>
          <a:prstGeom prst="rect">
            <a:avLst/>
          </a:prstGeom>
        </p:spPr>
      </p:pic>
      <p:sp>
        <p:nvSpPr>
          <p:cNvPr id="31" name="TextBox 30">
            <a:extLst>
              <a:ext uri="{FF2B5EF4-FFF2-40B4-BE49-F238E27FC236}">
                <a16:creationId xmlns:a16="http://schemas.microsoft.com/office/drawing/2014/main" id="{DD13A458-1523-BC78-934A-5DB738193232}"/>
              </a:ext>
            </a:extLst>
          </p:cNvPr>
          <p:cNvSpPr txBox="1"/>
          <p:nvPr/>
        </p:nvSpPr>
        <p:spPr>
          <a:xfrm>
            <a:off x="6216315" y="224847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32" name="Straight Arrow Connector 31">
            <a:extLst>
              <a:ext uri="{FF2B5EF4-FFF2-40B4-BE49-F238E27FC236}">
                <a16:creationId xmlns:a16="http://schemas.microsoft.com/office/drawing/2014/main" id="{815B187D-5143-606C-C7D2-25EDC701CCDB}"/>
              </a:ext>
            </a:extLst>
          </p:cNvPr>
          <p:cNvCxnSpPr/>
          <p:nvPr/>
        </p:nvCxnSpPr>
        <p:spPr>
          <a:xfrm>
            <a:off x="8808059" y="223481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C8A95F2-ECB5-2C76-CD92-C2B59570AD70}"/>
              </a:ext>
            </a:extLst>
          </p:cNvPr>
          <p:cNvSpPr txBox="1"/>
          <p:nvPr/>
        </p:nvSpPr>
        <p:spPr>
          <a:xfrm>
            <a:off x="6541779" y="185296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34" name="TextBox 33">
            <a:extLst>
              <a:ext uri="{FF2B5EF4-FFF2-40B4-BE49-F238E27FC236}">
                <a16:creationId xmlns:a16="http://schemas.microsoft.com/office/drawing/2014/main" id="{C55E69B7-C290-8341-D389-8B0291AFA9ED}"/>
              </a:ext>
            </a:extLst>
          </p:cNvPr>
          <p:cNvSpPr txBox="1"/>
          <p:nvPr/>
        </p:nvSpPr>
        <p:spPr>
          <a:xfrm>
            <a:off x="9606635" y="1610844"/>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Project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Project should be created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543687" y="264470"/>
            <a:ext cx="697744" cy="336746"/>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A1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Project User management</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User Access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Users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44663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Modify Users/Access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79967"/>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User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User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538362" y="3431532"/>
            <a:ext cx="697744" cy="319681"/>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B1</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166770" y="4751204"/>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Users &amp; Details</a:t>
            </a:r>
            <a:endParaRPr lang="en-IN" sz="1400" dirty="0">
              <a:solidFill>
                <a:schemeClr val="tx2"/>
              </a:solidFill>
              <a:cs typeface="Tahoma" pitchFamily="34" charset="0"/>
            </a:endParaRPr>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176874" y="5130480"/>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nvGraphicFramePr>
        <p:xfrm>
          <a:off x="1365377" y="5200598"/>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Users </a:t>
                      </a:r>
                      <a:endParaRPr lang="en-IN" sz="900" dirty="0"/>
                    </a:p>
                  </a:txBody>
                  <a:tcPr/>
                </a:tc>
                <a:extLst>
                  <a:ext uri="{0D108BD9-81ED-4DB2-BD59-A6C34878D82A}">
                    <a16:rowId xmlns:a16="http://schemas.microsoft.com/office/drawing/2014/main" val="2202397540"/>
                  </a:ext>
                </a:extLst>
              </a:tr>
              <a:tr h="169015">
                <a:tc>
                  <a:txBody>
                    <a:bodyPr/>
                    <a:lstStyle/>
                    <a:p>
                      <a:r>
                        <a:rPr lang="en-US" sz="900" dirty="0"/>
                        <a:t>User 1</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User 2</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User Access</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598397"/>
            <a:ext cx="2636531" cy="65474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Selection of Services</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Grant/Revoke Access </a:t>
            </a:r>
          </a:p>
          <a:p>
            <a:pPr marL="3175">
              <a:spcBef>
                <a:spcPts val="600"/>
              </a:spcBef>
              <a:spcAft>
                <a:spcPts val="600"/>
              </a:spcAft>
              <a:buClr>
                <a:srgbClr val="303030">
                  <a:lumMod val="50000"/>
                  <a:lumOff val="50000"/>
                </a:srgbClr>
              </a:buClr>
            </a:pPr>
            <a:r>
              <a:rPr lang="en-IN" sz="1400" dirty="0">
                <a:solidFill>
                  <a:schemeClr val="tx2"/>
                </a:solidFill>
                <a:cs typeface="Tahoma" pitchFamily="34" charset="0"/>
              </a:rPr>
              <a:t>To the respective services</a:t>
            </a: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728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Datamart</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Raw Layer Tables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5"/>
            <a:ext cx="1655989" cy="50081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Semi Curated Layer Tables</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Tables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60147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Table structure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493777" y="249106"/>
            <a:ext cx="747654" cy="32010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C1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Product Services</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TERRA </a:t>
            </a:r>
            <a:r>
              <a:rPr lang="en-US" sz="1300" dirty="0" err="1">
                <a:solidFill>
                  <a:schemeClr val="tx2"/>
                </a:solidFill>
                <a:cs typeface="Tahoma" pitchFamily="34" charset="0"/>
              </a:rPr>
              <a:t>PIpelines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 </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429001"/>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Prebuilt Extractors, List of Extractors across Accounts, Create Extractors</a:t>
            </a:r>
            <a:endParaRPr lang="en-IN" sz="10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PIPELINES</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488452" y="3431532"/>
            <a:ext cx="747654" cy="32871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D1</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978126" y="5706282"/>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683867"/>
            <a:ext cx="2636531" cy="301625"/>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000">
                <a:solidFill>
                  <a:schemeClr val="tx2"/>
                </a:solidFill>
                <a:cs typeface="Tahoma" pitchFamily="34" charset="0"/>
              </a:defRPr>
            </a:lvl1pPr>
          </a:lstStyle>
          <a:p>
            <a:r>
              <a:rPr lang="en-US" dirty="0"/>
              <a:t>List of DQ rules, Create DQ rules</a:t>
            </a:r>
            <a:endParaRPr lang="en-IN"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C0BB09-D3F9-EAC0-0C85-FE69ED388524}"/>
              </a:ext>
            </a:extLst>
          </p:cNvPr>
          <p:cNvSpPr txBox="1"/>
          <p:nvPr/>
        </p:nvSpPr>
        <p:spPr>
          <a:xfrm>
            <a:off x="2360981" y="2190210"/>
            <a:ext cx="1655989" cy="39632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Common Data Model</a:t>
            </a:r>
            <a:endParaRPr lang="en-IN" sz="1300" dirty="0">
              <a:solidFill>
                <a:schemeClr val="tx2"/>
              </a:solidFill>
              <a:cs typeface="Tahoma" pitchFamily="34" charset="0"/>
            </a:endParaRPr>
          </a:p>
        </p:txBody>
      </p:sp>
      <p:sp>
        <p:nvSpPr>
          <p:cNvPr id="12" name="Rectangle: Rounded Corners 11">
            <a:extLst>
              <a:ext uri="{FF2B5EF4-FFF2-40B4-BE49-F238E27FC236}">
                <a16:creationId xmlns:a16="http://schemas.microsoft.com/office/drawing/2014/main" id="{839D4A6D-9AC4-2BEB-2F5D-A6E0BF6ED0E2}"/>
              </a:ext>
            </a:extLst>
          </p:cNvPr>
          <p:cNvSpPr/>
          <p:nvPr/>
        </p:nvSpPr>
        <p:spPr>
          <a:xfrm>
            <a:off x="3352168" y="1362501"/>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3" name="Table 12">
            <a:extLst>
              <a:ext uri="{FF2B5EF4-FFF2-40B4-BE49-F238E27FC236}">
                <a16:creationId xmlns:a16="http://schemas.microsoft.com/office/drawing/2014/main" id="{FD5BDBE0-F0DD-CC9C-BF2F-C12A171FDA08}"/>
              </a:ext>
            </a:extLst>
          </p:cNvPr>
          <p:cNvGraphicFramePr>
            <a:graphicFrameLocks noGrp="1"/>
          </p:cNvGraphicFramePr>
          <p:nvPr/>
        </p:nvGraphicFramePr>
        <p:xfrm>
          <a:off x="3540671" y="1432619"/>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4" name="Rectangle: Rounded Corners 13">
            <a:extLst>
              <a:ext uri="{FF2B5EF4-FFF2-40B4-BE49-F238E27FC236}">
                <a16:creationId xmlns:a16="http://schemas.microsoft.com/office/drawing/2014/main" id="{299667F3-BD29-EB9C-E47C-4499A264F342}"/>
              </a:ext>
            </a:extLst>
          </p:cNvPr>
          <p:cNvSpPr/>
          <p:nvPr/>
        </p:nvSpPr>
        <p:spPr>
          <a:xfrm>
            <a:off x="2112167" y="2457417"/>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6" name="Table 15">
            <a:extLst>
              <a:ext uri="{FF2B5EF4-FFF2-40B4-BE49-F238E27FC236}">
                <a16:creationId xmlns:a16="http://schemas.microsoft.com/office/drawing/2014/main" id="{4DE968C4-7BCC-FF6A-2361-E43FA5B68BBE}"/>
              </a:ext>
            </a:extLst>
          </p:cNvPr>
          <p:cNvGraphicFramePr>
            <a:graphicFrameLocks noGrp="1"/>
          </p:cNvGraphicFramePr>
          <p:nvPr/>
        </p:nvGraphicFramePr>
        <p:xfrm>
          <a:off x="2300670" y="2527535"/>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cxnSp>
        <p:nvCxnSpPr>
          <p:cNvPr id="26" name="Connector: Elbow 25">
            <a:extLst>
              <a:ext uri="{FF2B5EF4-FFF2-40B4-BE49-F238E27FC236}">
                <a16:creationId xmlns:a16="http://schemas.microsoft.com/office/drawing/2014/main" id="{11C88DEB-964B-2630-2A99-589C66458054}"/>
              </a:ext>
            </a:extLst>
          </p:cNvPr>
          <p:cNvCxnSpPr>
            <a:cxnSpLocks/>
          </p:cNvCxnSpPr>
          <p:nvPr/>
        </p:nvCxnSpPr>
        <p:spPr>
          <a:xfrm rot="5400000">
            <a:off x="1157581" y="4468706"/>
            <a:ext cx="499488" cy="34244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C90E9CF-BA9C-3E9E-47A3-26D11F0048D3}"/>
              </a:ext>
            </a:extLst>
          </p:cNvPr>
          <p:cNvSpPr txBox="1"/>
          <p:nvPr/>
        </p:nvSpPr>
        <p:spPr>
          <a:xfrm>
            <a:off x="961436" y="4889670"/>
            <a:ext cx="803473" cy="55530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Prebuilt Extractors</a:t>
            </a:r>
            <a:endParaRPr lang="en-IN" sz="1100" dirty="0">
              <a:solidFill>
                <a:schemeClr val="tx2"/>
              </a:solidFill>
              <a:cs typeface="Tahoma" pitchFamily="34" charset="0"/>
            </a:endParaRPr>
          </a:p>
        </p:txBody>
      </p:sp>
      <p:cxnSp>
        <p:nvCxnSpPr>
          <p:cNvPr id="41" name="Connector: Elbow 40">
            <a:extLst>
              <a:ext uri="{FF2B5EF4-FFF2-40B4-BE49-F238E27FC236}">
                <a16:creationId xmlns:a16="http://schemas.microsoft.com/office/drawing/2014/main" id="{61DE447F-121C-43BA-3792-B11FC1E60237}"/>
              </a:ext>
            </a:extLst>
          </p:cNvPr>
          <p:cNvCxnSpPr>
            <a:cxnSpLocks/>
          </p:cNvCxnSpPr>
          <p:nvPr/>
        </p:nvCxnSpPr>
        <p:spPr>
          <a:xfrm rot="16200000" flipH="1">
            <a:off x="2847743"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64C759C-F754-864B-E6A5-4C7D6177B14D}"/>
              </a:ext>
            </a:extLst>
          </p:cNvPr>
          <p:cNvSpPr txBox="1"/>
          <p:nvPr/>
        </p:nvSpPr>
        <p:spPr>
          <a:xfrm>
            <a:off x="2833865" y="4877402"/>
            <a:ext cx="842285" cy="37837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Create Extractors</a:t>
            </a:r>
            <a:endParaRPr lang="en-IN" sz="1100" dirty="0">
              <a:solidFill>
                <a:schemeClr val="tx2"/>
              </a:solidFill>
              <a:cs typeface="Tahoma" pitchFamily="34" charset="0"/>
            </a:endParaRPr>
          </a:p>
        </p:txBody>
      </p:sp>
      <p:cxnSp>
        <p:nvCxnSpPr>
          <p:cNvPr id="47" name="Connector: Elbow 46">
            <a:extLst>
              <a:ext uri="{FF2B5EF4-FFF2-40B4-BE49-F238E27FC236}">
                <a16:creationId xmlns:a16="http://schemas.microsoft.com/office/drawing/2014/main" id="{63FCD2BC-FEFC-1688-5D8E-A0705E164E23}"/>
              </a:ext>
            </a:extLst>
          </p:cNvPr>
          <p:cNvCxnSpPr>
            <a:cxnSpLocks/>
          </p:cNvCxnSpPr>
          <p:nvPr/>
        </p:nvCxnSpPr>
        <p:spPr>
          <a:xfrm rot="16200000" flipH="1">
            <a:off x="1948852"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06A1094-7FDB-6ED4-671B-ADA64BE58CE9}"/>
              </a:ext>
            </a:extLst>
          </p:cNvPr>
          <p:cNvSpPr txBox="1"/>
          <p:nvPr/>
        </p:nvSpPr>
        <p:spPr>
          <a:xfrm>
            <a:off x="1934974" y="4877402"/>
            <a:ext cx="842285" cy="70996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Extractors across Accts</a:t>
            </a:r>
            <a:endParaRPr lang="en-IN" sz="1100" dirty="0">
              <a:solidFill>
                <a:schemeClr val="tx2"/>
              </a:solidFill>
              <a:cs typeface="Tahoma" pitchFamily="34" charset="0"/>
            </a:endParaRPr>
          </a:p>
        </p:txBody>
      </p:sp>
      <p:sp>
        <p:nvSpPr>
          <p:cNvPr id="59" name="TextBox 58">
            <a:extLst>
              <a:ext uri="{FF2B5EF4-FFF2-40B4-BE49-F238E27FC236}">
                <a16:creationId xmlns:a16="http://schemas.microsoft.com/office/drawing/2014/main" id="{FCAD9771-8707-CD33-EAFF-9AAA07DFAA2C}"/>
              </a:ext>
            </a:extLst>
          </p:cNvPr>
          <p:cNvSpPr txBox="1"/>
          <p:nvPr/>
        </p:nvSpPr>
        <p:spPr>
          <a:xfrm>
            <a:off x="9526155" y="4476552"/>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Pipelines across Accounts, Create Pipelines</a:t>
            </a:r>
            <a:endParaRPr lang="en-IN" sz="1000" dirty="0">
              <a:solidFill>
                <a:schemeClr val="tx2"/>
              </a:solidFill>
              <a:cs typeface="Tahoma" pitchFamily="34" charset="0"/>
            </a:endParaRPr>
          </a:p>
        </p:txBody>
      </p:sp>
    </p:spTree>
    <p:extLst>
      <p:ext uri="{BB962C8B-B14F-4D97-AF65-F5344CB8AC3E}">
        <p14:creationId xmlns:p14="http://schemas.microsoft.com/office/powerpoint/2010/main" val="218854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Billing</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477436" cy="28324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Top 3 Projects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86808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Project wise Billing details (Includes Monthly Usage of CPU, Storage, Cost ) </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Acct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Billing Details about that particular project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448057" y="264471"/>
            <a:ext cx="793374" cy="30473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E1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Support &amp; Ticketing</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965398" y="4116132"/>
            <a:ext cx="1744512" cy="665080"/>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Open Tickets for that particular Acct</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4159195" y="4085445"/>
            <a:ext cx="1081910" cy="287195"/>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Escalation</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393737"/>
            <a:ext cx="1370457" cy="71968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Open Tickets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38866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Ticket Details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err="1">
                <a:solidFill>
                  <a:schemeClr val="tx2"/>
                </a:solidFill>
                <a:cs typeface="Tahoma" pitchFamily="34" charset="0"/>
              </a:rPr>
              <a:t>CreateTicket</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06815"/>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Ticket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a:t>
            </a:r>
            <a:r>
              <a:rPr lang="en-US" sz="1400" dirty="0" err="1">
                <a:solidFill>
                  <a:schemeClr val="tx2"/>
                </a:solidFill>
                <a:cs typeface="Tahoma" pitchFamily="34" charset="0"/>
              </a:rPr>
              <a:t>Tkt</a:t>
            </a:r>
            <a:r>
              <a:rPr lang="en-US" sz="1400" dirty="0">
                <a:solidFill>
                  <a:schemeClr val="tx2"/>
                </a:solidFill>
                <a:cs typeface="Tahoma" pitchFamily="34" charset="0"/>
              </a:rPr>
              <a:t>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442732" y="3429000"/>
            <a:ext cx="793373" cy="307271"/>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F1</a:t>
            </a:r>
            <a:endParaRPr lang="en-IN" sz="1600" dirty="0"/>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000258" y="5024119"/>
            <a:ext cx="1634148" cy="790523"/>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extLst>
              <p:ext uri="{D42A27DB-BD31-4B8C-83A1-F6EECF244321}">
                <p14:modId xmlns:p14="http://schemas.microsoft.com/office/powerpoint/2010/main" val="1802145619"/>
              </p:ext>
            </p:extLst>
          </p:nvPr>
        </p:nvGraphicFramePr>
        <p:xfrm>
          <a:off x="1188761" y="5094237"/>
          <a:ext cx="1373160" cy="685800"/>
        </p:xfrm>
        <a:graphic>
          <a:graphicData uri="http://schemas.openxmlformats.org/drawingml/2006/table">
            <a:tbl>
              <a:tblPr firstRow="1" bandRow="1">
                <a:tableStyleId>{F2DE63D5-997A-4646-A377-4702673A728D}</a:tableStyleId>
              </a:tblPr>
              <a:tblGrid>
                <a:gridCol w="1373160">
                  <a:extLst>
                    <a:ext uri="{9D8B030D-6E8A-4147-A177-3AD203B41FA5}">
                      <a16:colId xmlns:a16="http://schemas.microsoft.com/office/drawing/2014/main" val="2188964586"/>
                    </a:ext>
                  </a:extLst>
                </a:gridCol>
              </a:tblGrid>
              <a:tr h="226344">
                <a:tc>
                  <a:txBody>
                    <a:bodyPr/>
                    <a:lstStyle/>
                    <a:p>
                      <a:r>
                        <a:rPr lang="en-US" sz="900" dirty="0"/>
                        <a:t>Open Tickets</a:t>
                      </a:r>
                      <a:endParaRPr lang="en-IN" sz="900" dirty="0"/>
                    </a:p>
                  </a:txBody>
                  <a:tcPr/>
                </a:tc>
                <a:extLst>
                  <a:ext uri="{0D108BD9-81ED-4DB2-BD59-A6C34878D82A}">
                    <a16:rowId xmlns:a16="http://schemas.microsoft.com/office/drawing/2014/main" val="2202397540"/>
                  </a:ext>
                </a:extLst>
              </a:tr>
              <a:tr h="226344">
                <a:tc>
                  <a:txBody>
                    <a:bodyPr/>
                    <a:lstStyle/>
                    <a:p>
                      <a:r>
                        <a:rPr lang="en-US" sz="900" dirty="0" err="1"/>
                        <a:t>Tkt</a:t>
                      </a:r>
                      <a:r>
                        <a:rPr lang="en-US" sz="900" dirty="0"/>
                        <a:t> Id1</a:t>
                      </a:r>
                      <a:endParaRPr lang="en-IN" sz="900" dirty="0"/>
                    </a:p>
                  </a:txBody>
                  <a:tcPr/>
                </a:tc>
                <a:extLst>
                  <a:ext uri="{0D108BD9-81ED-4DB2-BD59-A6C34878D82A}">
                    <a16:rowId xmlns:a16="http://schemas.microsoft.com/office/drawing/2014/main" val="2362751832"/>
                  </a:ext>
                </a:extLst>
              </a:tr>
              <a:tr h="226344">
                <a:tc>
                  <a:txBody>
                    <a:bodyPr/>
                    <a:lstStyle/>
                    <a:p>
                      <a:r>
                        <a:rPr lang="en-US" sz="900" dirty="0"/>
                        <a:t>….</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Escalation</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2" y="5488669"/>
            <a:ext cx="2272302" cy="95637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escalations will be displayed</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Raise an escalation</a:t>
            </a:r>
            <a:endParaRPr lang="en-IN" sz="1400" dirty="0">
              <a:solidFill>
                <a:schemeClr val="tx2"/>
              </a:solidFill>
              <a:cs typeface="Tahoma" pitchFamily="34" charset="0"/>
            </a:endParaRP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728265F-2B82-1BC0-F16E-E43FFA43B584}"/>
              </a:ext>
            </a:extLst>
          </p:cNvPr>
          <p:cNvSpPr txBox="1"/>
          <p:nvPr/>
        </p:nvSpPr>
        <p:spPr>
          <a:xfrm>
            <a:off x="2802498" y="4116133"/>
            <a:ext cx="1264108" cy="287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 Ticket</a:t>
            </a:r>
            <a:endParaRPr lang="en-IN" sz="1400" dirty="0">
              <a:solidFill>
                <a:schemeClr val="tx2"/>
              </a:solidFill>
              <a:cs typeface="Tahoma" pitchFamily="34" charset="0"/>
            </a:endParaRPr>
          </a:p>
        </p:txBody>
      </p:sp>
    </p:spTree>
    <p:extLst>
      <p:ext uri="{BB962C8B-B14F-4D97-AF65-F5344CB8AC3E}">
        <p14:creationId xmlns:p14="http://schemas.microsoft.com/office/powerpoint/2010/main" val="1405275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8" y="351945"/>
            <a:ext cx="1581687" cy="358843"/>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Maintenance</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79582" y="1032587"/>
            <a:ext cx="1777927" cy="32009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Downtime Alerts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5361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Software/Extension Upgrades</a:t>
            </a:r>
            <a:endParaRPr lang="en-IN" sz="1300" dirty="0">
              <a:solidFill>
                <a:schemeClr val="tx2"/>
              </a:solidFill>
              <a:cs typeface="Tahoma" pitchFamily="34" charset="0"/>
            </a:endParaRPr>
          </a:p>
        </p:txBody>
      </p:sp>
      <p:sp>
        <p:nvSpPr>
          <p:cNvPr id="19" name="TextBox 18">
            <a:extLst>
              <a:ext uri="{FF2B5EF4-FFF2-40B4-BE49-F238E27FC236}">
                <a16:creationId xmlns:a16="http://schemas.microsoft.com/office/drawing/2014/main" id="{9626B970-88DC-FBD1-9DB4-0AEA388B5A4A}"/>
              </a:ext>
            </a:extLst>
          </p:cNvPr>
          <p:cNvSpPr txBox="1"/>
          <p:nvPr/>
        </p:nvSpPr>
        <p:spPr>
          <a:xfrm>
            <a:off x="7452064" y="939134"/>
            <a:ext cx="980983" cy="998581"/>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Software/</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Extension Upgrade</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Software Upgrades available for the respective services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402337" y="210366"/>
            <a:ext cx="839094" cy="35884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G1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527391"/>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Other Admin Activities</a:t>
            </a:r>
            <a:endParaRPr lang="en-IN" sz="1600" dirty="0">
              <a:solidFill>
                <a:schemeClr val="bg1"/>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397012" y="3377428"/>
            <a:ext cx="839093" cy="35884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H1</a:t>
            </a:r>
            <a:endParaRPr lang="en-IN" sz="1600"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10773E-6BB1-D652-BEC7-D87C5A67077A}"/>
              </a:ext>
            </a:extLst>
          </p:cNvPr>
          <p:cNvSpPr txBox="1"/>
          <p:nvPr/>
        </p:nvSpPr>
        <p:spPr>
          <a:xfrm>
            <a:off x="2380231" y="1855127"/>
            <a:ext cx="1655989" cy="349543"/>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Memory/Cache Clean</a:t>
            </a:r>
            <a:endParaRPr lang="en-IN" sz="1300" dirty="0">
              <a:solidFill>
                <a:schemeClr val="tx2"/>
              </a:solidFill>
              <a:cs typeface="Tahoma" pitchFamily="34" charset="0"/>
            </a:endParaRPr>
          </a:p>
        </p:txBody>
      </p:sp>
    </p:spTree>
    <p:extLst>
      <p:ext uri="{BB962C8B-B14F-4D97-AF65-F5344CB8AC3E}">
        <p14:creationId xmlns:p14="http://schemas.microsoft.com/office/powerpoint/2010/main" val="2824543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26 point title with 1.2 point character spacing</a:t>
            </a:r>
            <a:br>
              <a:rPr lang="en-US"/>
            </a:br>
            <a:r>
              <a:rPr lang="en-US" sz="1600">
                <a:solidFill>
                  <a:schemeClr val="accent1"/>
                </a:solidFill>
              </a:rPr>
              <a:t>16 point takeaway with 1.2 point character spacing in Blue, allows for title and takeaway format and 2-line takeaways</a:t>
            </a:r>
          </a:p>
        </p:txBody>
      </p:sp>
      <p:sp>
        <p:nvSpPr>
          <p:cNvPr id="3" name="Text Placeholder 2">
            <a:extLst>
              <a:ext uri="{FF2B5EF4-FFF2-40B4-BE49-F238E27FC236}">
                <a16:creationId xmlns:a16="http://schemas.microsoft.com/office/drawing/2014/main" id="{9E874020-07D6-45A8-8ECF-8D10E54BE566}"/>
              </a:ext>
            </a:extLst>
          </p:cNvPr>
          <p:cNvSpPr>
            <a:spLocks noGrp="1"/>
          </p:cNvSpPr>
          <p:nvPr>
            <p:ph type="body" sz="quarter" idx="14"/>
          </p:nvPr>
        </p:nvSpPr>
        <p:spPr/>
        <p:txBody>
          <a:bodyPr/>
          <a:lstStyle/>
          <a:p>
            <a:endParaRPr lang="en-US"/>
          </a:p>
        </p:txBody>
      </p:sp>
      <p:sp>
        <p:nvSpPr>
          <p:cNvPr id="4" name="Text Placeholder 3"/>
          <p:cNvSpPr>
            <a:spLocks noGrp="1"/>
          </p:cNvSpPr>
          <p:nvPr>
            <p:ph type="body" sz="quarter" idx="15"/>
          </p:nvPr>
        </p:nvSpPr>
        <p:spPr/>
        <p:txBody>
          <a:bodyPr/>
          <a:lstStyle/>
          <a:p>
            <a:r>
              <a:rPr lang="en-US"/>
              <a:t>Main bullet type in </a:t>
            </a:r>
            <a:r>
              <a:rPr lang="en-US" b="1"/>
              <a:t>Trinity Navy</a:t>
            </a:r>
          </a:p>
          <a:p>
            <a:pPr lvl="1"/>
            <a:r>
              <a:rPr lang="en-US"/>
              <a:t>Sub-bullet type in </a:t>
            </a:r>
            <a:r>
              <a:rPr lang="en-US" altLang="zh-CN" b="1"/>
              <a:t>Dark</a:t>
            </a:r>
            <a:r>
              <a:rPr lang="zh-CN" altLang="en-US"/>
              <a:t> </a:t>
            </a:r>
            <a:r>
              <a:rPr lang="en-US" b="1"/>
              <a:t>Blue</a:t>
            </a:r>
            <a:r>
              <a:rPr lang="en-US"/>
              <a:t> and one font size smaller to de-emphasize sub-bullet content</a:t>
            </a:r>
          </a:p>
          <a:p>
            <a:pPr lvl="2"/>
            <a:r>
              <a:rPr lang="en-US"/>
              <a:t>Second sub-bullet </a:t>
            </a:r>
            <a:r>
              <a:rPr lang="en-US" b="1"/>
              <a:t>Dark Grey, Lighter 25% </a:t>
            </a:r>
            <a:r>
              <a:rPr lang="en-US"/>
              <a:t>and two font sizes smaller to further de-emphasize sub-bullet content</a:t>
            </a:r>
          </a:p>
          <a:p>
            <a:pPr lvl="2"/>
            <a:r>
              <a:rPr lang="en-US"/>
              <a:t>Apply the accent color to highlight a word or number</a:t>
            </a:r>
          </a:p>
          <a:p>
            <a:pPr lvl="3"/>
            <a:r>
              <a:rPr lang="en-US"/>
              <a:t>Positive Color: </a:t>
            </a:r>
            <a:r>
              <a:rPr lang="en-US" altLang="zh-CN">
                <a:solidFill>
                  <a:schemeClr val="accent3"/>
                </a:solidFill>
              </a:rPr>
              <a:t>Teal</a:t>
            </a:r>
            <a:r>
              <a:rPr lang="zh-CN" altLang="en-US">
                <a:solidFill>
                  <a:schemeClr val="accent3"/>
                </a:solidFill>
              </a:rPr>
              <a:t> </a:t>
            </a:r>
            <a:r>
              <a:rPr lang="en-US" altLang="zh-CN"/>
              <a:t>and</a:t>
            </a:r>
            <a:r>
              <a:rPr lang="zh-CN" altLang="en-US">
                <a:solidFill>
                  <a:schemeClr val="accent3"/>
                </a:solidFill>
              </a:rPr>
              <a:t> </a:t>
            </a:r>
            <a:r>
              <a:rPr lang="en-US" altLang="zh-CN">
                <a:solidFill>
                  <a:schemeClr val="accent4"/>
                </a:solidFill>
              </a:rPr>
              <a:t>Green</a:t>
            </a:r>
            <a:endParaRPr lang="en-US">
              <a:solidFill>
                <a:schemeClr val="accent4"/>
              </a:solidFill>
            </a:endParaRPr>
          </a:p>
          <a:p>
            <a:pPr lvl="3"/>
            <a:r>
              <a:rPr lang="en-US"/>
              <a:t>Negative Color: </a:t>
            </a:r>
            <a:r>
              <a:rPr lang="en-US">
                <a:solidFill>
                  <a:schemeClr val="accent5"/>
                </a:solidFill>
              </a:rPr>
              <a:t>Red</a:t>
            </a:r>
            <a:r>
              <a:rPr lang="zh-CN" altLang="en-US">
                <a:solidFill>
                  <a:schemeClr val="accent5"/>
                </a:solidFill>
              </a:rPr>
              <a:t> </a:t>
            </a:r>
            <a:r>
              <a:rPr lang="en-US" altLang="zh-CN"/>
              <a:t>and</a:t>
            </a:r>
            <a:r>
              <a:rPr lang="zh-CN" altLang="en-US">
                <a:solidFill>
                  <a:schemeClr val="accent5"/>
                </a:solidFill>
              </a:rPr>
              <a:t> </a:t>
            </a:r>
            <a:r>
              <a:rPr lang="en-US" altLang="zh-CN">
                <a:solidFill>
                  <a:schemeClr val="accent6"/>
                </a:solidFill>
              </a:rPr>
              <a:t>Darker</a:t>
            </a:r>
            <a:r>
              <a:rPr lang="zh-CN" altLang="en-US">
                <a:solidFill>
                  <a:schemeClr val="accent6"/>
                </a:solidFill>
              </a:rPr>
              <a:t> </a:t>
            </a:r>
            <a:r>
              <a:rPr lang="en-US" altLang="zh-CN">
                <a:solidFill>
                  <a:schemeClr val="accent6"/>
                </a:solidFill>
              </a:rPr>
              <a:t>Red</a:t>
            </a:r>
            <a:endParaRPr lang="en-US">
              <a:solidFill>
                <a:schemeClr val="accent6"/>
              </a:solidFill>
            </a:endParaRPr>
          </a:p>
        </p:txBody>
      </p:sp>
      <p:sp>
        <p:nvSpPr>
          <p:cNvPr id="5" name="Speech Bubble: Rectangle 4"/>
          <p:cNvSpPr/>
          <p:nvPr/>
        </p:nvSpPr>
        <p:spPr>
          <a:xfrm>
            <a:off x="6251276" y="1040306"/>
            <a:ext cx="3959525" cy="400308"/>
          </a:xfrm>
          <a:prstGeom prst="wedgeRectCallout">
            <a:avLst>
              <a:gd name="adj1" fmla="val -33866"/>
              <a:gd name="adj2" fmla="val -9355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Use  </a:t>
            </a:r>
            <a:r>
              <a:rPr kumimoji="0" lang="en-US" sz="1000" b="0" i="0" u="none" strike="noStrike" kern="1200" cap="none" spc="120" normalizeH="0" baseline="0" noProof="0">
                <a:ln>
                  <a:noFill/>
                </a:ln>
                <a:solidFill>
                  <a:srgbClr val="346393"/>
                </a:solidFill>
                <a:effectLst/>
                <a:uLnTx/>
                <a:uFillTx/>
                <a:latin typeface="Calibri" panose="020F0502020204030204"/>
                <a:ea typeface="+mn-ea"/>
                <a:cs typeface="+mn-cs"/>
              </a:rPr>
              <a:t>16 point blue, non-bolded, non-italicized 1.2 point character spacing</a:t>
            </a:r>
            <a:r>
              <a:rPr kumimoji="0" lang="en-US" sz="1000" b="0" i="0" u="none" strike="noStrike" kern="1200" cap="none" spc="120" normalizeH="0" baseline="0" noProof="0">
                <a:ln>
                  <a:noFill/>
                </a:ln>
                <a:solidFill>
                  <a:srgbClr val="199B9B"/>
                </a:solidFill>
                <a:effectLst/>
                <a:uLnTx/>
                <a:uFillTx/>
                <a:latin typeface="Calibri" panose="020F0502020204030204"/>
                <a:ea typeface="+mn-ea"/>
                <a:cs typeface="+mn-cs"/>
              </a:rPr>
              <a:t> </a:t>
            </a: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for 2</a:t>
            </a:r>
            <a:r>
              <a:rPr kumimoji="0" lang="en-US" sz="1000" b="0" i="1" u="none" strike="noStrike" kern="1200" cap="none" spc="0" normalizeH="0" baseline="30000" noProof="0">
                <a:ln>
                  <a:noFill/>
                </a:ln>
                <a:solidFill>
                  <a:srgbClr val="304659"/>
                </a:solidFill>
                <a:effectLst/>
                <a:uLnTx/>
                <a:uFillTx/>
                <a:latin typeface="Calibri" panose="020F0502020204030204"/>
                <a:ea typeface="+mn-ea"/>
                <a:cs typeface="+mn-cs"/>
              </a:rPr>
              <a:t>nd</a:t>
            </a: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 line takeaway after 1</a:t>
            </a:r>
            <a:r>
              <a:rPr kumimoji="0" lang="en-US" sz="1000" b="0" i="1" u="none" strike="noStrike" kern="1200" cap="none" spc="0" normalizeH="0" baseline="30000" noProof="0">
                <a:ln>
                  <a:noFill/>
                </a:ln>
                <a:solidFill>
                  <a:srgbClr val="304659"/>
                </a:solidFill>
                <a:effectLst/>
                <a:uLnTx/>
                <a:uFillTx/>
                <a:latin typeface="Calibri" panose="020F0502020204030204"/>
                <a:ea typeface="+mn-ea"/>
                <a:cs typeface="+mn-cs"/>
              </a:rPr>
              <a:t>st</a:t>
            </a: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 line title</a:t>
            </a:r>
          </a:p>
        </p:txBody>
      </p:sp>
    </p:spTree>
    <p:extLst>
      <p:ext uri="{BB962C8B-B14F-4D97-AF65-F5344CB8AC3E}">
        <p14:creationId xmlns:p14="http://schemas.microsoft.com/office/powerpoint/2010/main" val="209949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D79626-A4E3-B241-A51C-FDA1C09B28DC}"/>
              </a:ext>
            </a:extLst>
          </p:cNvPr>
          <p:cNvSpPr>
            <a:spLocks noGrp="1"/>
          </p:cNvSpPr>
          <p:nvPr>
            <p:ph type="body" sz="quarter" idx="10"/>
          </p:nvPr>
        </p:nvSpPr>
        <p:spPr/>
        <p:txBody>
          <a:bodyPr/>
          <a:lstStyle/>
          <a:p>
            <a:pPr marL="190500" indent="-187325"/>
            <a:r>
              <a:rPr lang="en-US" b="1" dirty="0"/>
              <a:t>Relevant section bolded, aligned with tracker</a:t>
            </a:r>
          </a:p>
          <a:p>
            <a:pPr marL="190500" indent="-187325"/>
            <a:r>
              <a:rPr lang="en-US" dirty="0"/>
              <a:t>Other section in standard text, 12 point spacing default</a:t>
            </a:r>
          </a:p>
          <a:p>
            <a:pPr marL="190500" indent="-187325"/>
            <a:r>
              <a:rPr lang="en-US" dirty="0"/>
              <a:t>Other section in standard text</a:t>
            </a:r>
          </a:p>
          <a:p>
            <a:pPr lvl="1"/>
            <a:r>
              <a:rPr lang="en-US" dirty="0"/>
              <a:t>Sub-section in Blue, 6 pt. spacing default</a:t>
            </a:r>
          </a:p>
          <a:p>
            <a:pPr lvl="1"/>
            <a:r>
              <a:rPr lang="en-US" dirty="0"/>
              <a:t>Sub-section in Blue</a:t>
            </a:r>
          </a:p>
        </p:txBody>
      </p:sp>
      <p:sp>
        <p:nvSpPr>
          <p:cNvPr id="8" name="Text Placeholder 25">
            <a:extLst>
              <a:ext uri="{FF2B5EF4-FFF2-40B4-BE49-F238E27FC236}">
                <a16:creationId xmlns:a16="http://schemas.microsoft.com/office/drawing/2014/main" id="{5D850EDB-7D16-4FA6-B82B-6229C6DF6E21}"/>
              </a:ext>
            </a:extLst>
          </p:cNvPr>
          <p:cNvSpPr>
            <a:spLocks noGrp="1"/>
          </p:cNvSpPr>
          <p:nvPr>
            <p:ph type="body" sz="quarter" idx="12" hasCustomPrompt="1"/>
          </p:nvPr>
        </p:nvSpPr>
        <p:spPr>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a:extLst>
              <a:ext uri="{FF2B5EF4-FFF2-40B4-BE49-F238E27FC236}">
                <a16:creationId xmlns:a16="http://schemas.microsoft.com/office/drawing/2014/main" id="{F187D034-BA85-4840-B2F0-40B1A4799CEB}"/>
              </a:ext>
            </a:extLst>
          </p:cNvPr>
          <p:cNvSpPr>
            <a:spLocks noGrp="1"/>
          </p:cNvSpPr>
          <p:nvPr>
            <p:ph type="title"/>
          </p:nvPr>
        </p:nvSpPr>
        <p:spPr/>
        <p:txBody>
          <a:bodyPr/>
          <a:lstStyle/>
          <a:p>
            <a:r>
              <a:rPr lang="en-US" altLang="zh-CN"/>
              <a:t>Agenda</a:t>
            </a:r>
            <a:r>
              <a:rPr lang="zh-CN" altLang="en-US"/>
              <a:t> </a:t>
            </a:r>
            <a:r>
              <a:rPr lang="en-US" altLang="zh-CN"/>
              <a:t>Slide</a:t>
            </a:r>
            <a:endParaRPr lang="en-US"/>
          </a:p>
        </p:txBody>
      </p:sp>
      <p:sp>
        <p:nvSpPr>
          <p:cNvPr id="4" name="Speech Bubble: Rectangle with Corners Rounded 7">
            <a:extLst>
              <a:ext uri="{FF2B5EF4-FFF2-40B4-BE49-F238E27FC236}">
                <a16:creationId xmlns:a16="http://schemas.microsoft.com/office/drawing/2014/main" id="{328699D1-444F-6646-835E-8D11DDEBB3CB}"/>
              </a:ext>
            </a:extLst>
          </p:cNvPr>
          <p:cNvSpPr/>
          <p:nvPr/>
        </p:nvSpPr>
        <p:spPr>
          <a:xfrm>
            <a:off x="1038062" y="908172"/>
            <a:ext cx="3588258" cy="444929"/>
          </a:xfrm>
          <a:prstGeom prst="wedgeRectCallout">
            <a:avLst>
              <a:gd name="adj1" fmla="val -55147"/>
              <a:gd name="adj2" fmla="val 42152"/>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Agenda tracker, move down as sections progress – dotted line disappears in presentation mode</a:t>
            </a:r>
          </a:p>
        </p:txBody>
      </p:sp>
      <p:sp>
        <p:nvSpPr>
          <p:cNvPr id="5" name="Speech Bubble: Rectangle with Corners Rounded 8">
            <a:extLst>
              <a:ext uri="{FF2B5EF4-FFF2-40B4-BE49-F238E27FC236}">
                <a16:creationId xmlns:a16="http://schemas.microsoft.com/office/drawing/2014/main" id="{C7C61E03-4BBC-0F43-B740-3DA27E5A3E1A}"/>
              </a:ext>
            </a:extLst>
          </p:cNvPr>
          <p:cNvSpPr/>
          <p:nvPr/>
        </p:nvSpPr>
        <p:spPr>
          <a:xfrm>
            <a:off x="5880348" y="1603400"/>
            <a:ext cx="1232358" cy="332763"/>
          </a:xfrm>
          <a:prstGeom prst="wedgeRectCallout">
            <a:avLst>
              <a:gd name="adj1" fmla="val -61973"/>
              <a:gd name="adj2" fmla="val -38166"/>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20 point, bold current section</a:t>
            </a:r>
          </a:p>
        </p:txBody>
      </p:sp>
    </p:spTree>
    <p:extLst>
      <p:ext uri="{BB962C8B-B14F-4D97-AF65-F5344CB8AC3E}">
        <p14:creationId xmlns:p14="http://schemas.microsoft.com/office/powerpoint/2010/main" val="241222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Object 34" hidden="1">
            <a:extLst>
              <a:ext uri="{FF2B5EF4-FFF2-40B4-BE49-F238E27FC236}">
                <a16:creationId xmlns:a16="http://schemas.microsoft.com/office/drawing/2014/main" id="{A905EB70-1E07-4984-82FE-6BF4FCF602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35" name="Object 34" hidden="1">
                        <a:extLst>
                          <a:ext uri="{FF2B5EF4-FFF2-40B4-BE49-F238E27FC236}">
                            <a16:creationId xmlns:a16="http://schemas.microsoft.com/office/drawing/2014/main" id="{A905EB70-1E07-4984-82FE-6BF4FCF602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6" name="Title 35">
            <a:extLst>
              <a:ext uri="{FF2B5EF4-FFF2-40B4-BE49-F238E27FC236}">
                <a16:creationId xmlns:a16="http://schemas.microsoft.com/office/drawing/2014/main" id="{CAEEB663-79A6-40BD-A30F-74A2E796DA7C}"/>
              </a:ext>
            </a:extLst>
          </p:cNvPr>
          <p:cNvSpPr>
            <a:spLocks noGrp="1"/>
          </p:cNvSpPr>
          <p:nvPr>
            <p:ph type="ctrTitle"/>
          </p:nvPr>
        </p:nvSpPr>
        <p:spPr/>
        <p:txBody>
          <a:bodyPr/>
          <a:lstStyle/>
          <a:p>
            <a:endParaRPr lang="en-US"/>
          </a:p>
        </p:txBody>
      </p:sp>
      <p:sp>
        <p:nvSpPr>
          <p:cNvPr id="37" name="Text Placeholder 36">
            <a:extLst>
              <a:ext uri="{FF2B5EF4-FFF2-40B4-BE49-F238E27FC236}">
                <a16:creationId xmlns:a16="http://schemas.microsoft.com/office/drawing/2014/main" id="{D31A43BE-C58C-4822-A78A-13925960BB6F}"/>
              </a:ext>
            </a:extLst>
          </p:cNvPr>
          <p:cNvSpPr>
            <a:spLocks noGrp="1"/>
          </p:cNvSpPr>
          <p:nvPr>
            <p:ph type="body" sz="quarter" idx="10"/>
          </p:nvPr>
        </p:nvSpPr>
        <p:spPr/>
        <p:txBody>
          <a:bodyPr/>
          <a:lstStyle/>
          <a:p>
            <a:endParaRPr lang="en-US"/>
          </a:p>
        </p:txBody>
      </p:sp>
      <p:sp>
        <p:nvSpPr>
          <p:cNvPr id="38" name="Text Placeholder 37">
            <a:extLst>
              <a:ext uri="{FF2B5EF4-FFF2-40B4-BE49-F238E27FC236}">
                <a16:creationId xmlns:a16="http://schemas.microsoft.com/office/drawing/2014/main" id="{EC4A45C3-44F1-4E69-B6C4-6470A7BBC05F}"/>
              </a:ext>
            </a:extLst>
          </p:cNvPr>
          <p:cNvSpPr>
            <a:spLocks noGrp="1"/>
          </p:cNvSpPr>
          <p:nvPr>
            <p:ph type="body" sz="quarter" idx="11"/>
          </p:nvPr>
        </p:nvSpPr>
        <p:spPr/>
        <p:txBody>
          <a:bodyPr/>
          <a:lstStyle/>
          <a:p>
            <a:endParaRPr lang="en-US"/>
          </a:p>
        </p:txBody>
      </p:sp>
      <p:sp>
        <p:nvSpPr>
          <p:cNvPr id="39" name="Text Placeholder 38">
            <a:extLst>
              <a:ext uri="{FF2B5EF4-FFF2-40B4-BE49-F238E27FC236}">
                <a16:creationId xmlns:a16="http://schemas.microsoft.com/office/drawing/2014/main" id="{DCC39D0E-3099-4138-A492-1BE7347D6BED}"/>
              </a:ext>
            </a:extLst>
          </p:cNvPr>
          <p:cNvSpPr>
            <a:spLocks noGrp="1"/>
          </p:cNvSpPr>
          <p:nvPr>
            <p:ph type="body" sz="quarter" idx="12"/>
          </p:nvPr>
        </p:nvSpPr>
        <p:spPr/>
        <p:txBody>
          <a:bodyPr/>
          <a:lstStyle/>
          <a:p>
            <a:endParaRPr lang="en-US"/>
          </a:p>
        </p:txBody>
      </p:sp>
      <p:sp>
        <p:nvSpPr>
          <p:cNvPr id="42" name="Text Placeholder 41">
            <a:extLst>
              <a:ext uri="{FF2B5EF4-FFF2-40B4-BE49-F238E27FC236}">
                <a16:creationId xmlns:a16="http://schemas.microsoft.com/office/drawing/2014/main" id="{F2F1D971-71E6-44BA-8B51-7DC086AEB3C2}"/>
              </a:ext>
            </a:extLst>
          </p:cNvPr>
          <p:cNvSpPr>
            <a:spLocks noGrp="1"/>
          </p:cNvSpPr>
          <p:nvPr>
            <p:ph type="body" sz="quarter" idx="26"/>
          </p:nvPr>
        </p:nvSpPr>
        <p:spPr/>
        <p:txBody>
          <a:bodyPr/>
          <a:lstStyle/>
          <a:p>
            <a:endParaRPr lang="en-US"/>
          </a:p>
        </p:txBody>
      </p:sp>
      <p:sp>
        <p:nvSpPr>
          <p:cNvPr id="40" name="Text Placeholder 39">
            <a:extLst>
              <a:ext uri="{FF2B5EF4-FFF2-40B4-BE49-F238E27FC236}">
                <a16:creationId xmlns:a16="http://schemas.microsoft.com/office/drawing/2014/main" id="{AA50EE52-69AF-49AC-AE8E-636C41D29B17}"/>
              </a:ext>
            </a:extLst>
          </p:cNvPr>
          <p:cNvSpPr>
            <a:spLocks noGrp="1"/>
          </p:cNvSpPr>
          <p:nvPr>
            <p:ph type="body" sz="quarter" idx="15"/>
          </p:nvPr>
        </p:nvSpPr>
        <p:spPr/>
        <p:txBody>
          <a:bodyPr/>
          <a:lstStyle/>
          <a:p>
            <a:endParaRPr lang="en-US"/>
          </a:p>
        </p:txBody>
      </p:sp>
      <p:sp>
        <p:nvSpPr>
          <p:cNvPr id="41" name="Text Placeholder 40">
            <a:extLst>
              <a:ext uri="{FF2B5EF4-FFF2-40B4-BE49-F238E27FC236}">
                <a16:creationId xmlns:a16="http://schemas.microsoft.com/office/drawing/2014/main" id="{71BC9728-701E-4278-AC26-BAD5BD728BF4}"/>
              </a:ext>
            </a:extLst>
          </p:cNvPr>
          <p:cNvSpPr>
            <a:spLocks noGrp="1"/>
          </p:cNvSpPr>
          <p:nvPr>
            <p:ph type="body" sz="quarter" idx="16"/>
          </p:nvPr>
        </p:nvSpPr>
        <p:spPr/>
        <p:txBody>
          <a:bodyPr/>
          <a:lstStyle/>
          <a:p>
            <a:endParaRPr lang="en-US"/>
          </a:p>
        </p:txBody>
      </p:sp>
      <p:sp>
        <p:nvSpPr>
          <p:cNvPr id="43" name="Text Placeholder 42">
            <a:extLst>
              <a:ext uri="{FF2B5EF4-FFF2-40B4-BE49-F238E27FC236}">
                <a16:creationId xmlns:a16="http://schemas.microsoft.com/office/drawing/2014/main" id="{0FABB63E-5C6A-49E7-9B3F-7B03FE6A758F}"/>
              </a:ext>
            </a:extLst>
          </p:cNvPr>
          <p:cNvSpPr>
            <a:spLocks noGrp="1"/>
          </p:cNvSpPr>
          <p:nvPr>
            <p:ph type="body" sz="quarter" idx="27"/>
          </p:nvPr>
        </p:nvSpPr>
        <p:spPr/>
        <p:txBody>
          <a:bodyPr/>
          <a:lstStyle/>
          <a:p>
            <a:endParaRPr lang="en-US"/>
          </a:p>
        </p:txBody>
      </p:sp>
      <p:sp>
        <p:nvSpPr>
          <p:cNvPr id="44" name="Text Placeholder 43">
            <a:extLst>
              <a:ext uri="{FF2B5EF4-FFF2-40B4-BE49-F238E27FC236}">
                <a16:creationId xmlns:a16="http://schemas.microsoft.com/office/drawing/2014/main" id="{83B1E5D2-06F2-42E7-8726-E91B0C500CF6}"/>
              </a:ext>
            </a:extLst>
          </p:cNvPr>
          <p:cNvSpPr>
            <a:spLocks noGrp="1"/>
          </p:cNvSpPr>
          <p:nvPr>
            <p:ph type="body" sz="quarter" idx="28"/>
          </p:nvPr>
        </p:nvSpPr>
        <p:spPr/>
        <p:txBody>
          <a:bodyPr/>
          <a:lstStyle/>
          <a:p>
            <a:endParaRPr lang="en-US"/>
          </a:p>
        </p:txBody>
      </p:sp>
      <p:sp>
        <p:nvSpPr>
          <p:cNvPr id="45" name="Text Placeholder 44">
            <a:extLst>
              <a:ext uri="{FF2B5EF4-FFF2-40B4-BE49-F238E27FC236}">
                <a16:creationId xmlns:a16="http://schemas.microsoft.com/office/drawing/2014/main" id="{EC0392BF-3060-4E6D-AE7A-C116ADC7F87A}"/>
              </a:ext>
            </a:extLst>
          </p:cNvPr>
          <p:cNvSpPr>
            <a:spLocks noGrp="1"/>
          </p:cNvSpPr>
          <p:nvPr>
            <p:ph type="body" sz="quarter" idx="29"/>
          </p:nvPr>
        </p:nvSpPr>
        <p:spPr/>
        <p:txBody>
          <a:bodyPr/>
          <a:lstStyle/>
          <a:p>
            <a:endParaRPr lang="en-US"/>
          </a:p>
        </p:txBody>
      </p:sp>
      <p:sp>
        <p:nvSpPr>
          <p:cNvPr id="46" name="Text Placeholder 45">
            <a:extLst>
              <a:ext uri="{FF2B5EF4-FFF2-40B4-BE49-F238E27FC236}">
                <a16:creationId xmlns:a16="http://schemas.microsoft.com/office/drawing/2014/main" id="{E29B86CF-A331-437B-85A9-CE7021C90326}"/>
              </a:ext>
            </a:extLst>
          </p:cNvPr>
          <p:cNvSpPr>
            <a:spLocks noGrp="1"/>
          </p:cNvSpPr>
          <p:nvPr>
            <p:ph type="body" sz="quarter" idx="30"/>
          </p:nvPr>
        </p:nvSpPr>
        <p:spPr/>
        <p:txBody>
          <a:bodyPr/>
          <a:lstStyle/>
          <a:p>
            <a:endParaRPr lang="en-US"/>
          </a:p>
        </p:txBody>
      </p:sp>
      <p:sp>
        <p:nvSpPr>
          <p:cNvPr id="47" name="Text Placeholder 46">
            <a:extLst>
              <a:ext uri="{FF2B5EF4-FFF2-40B4-BE49-F238E27FC236}">
                <a16:creationId xmlns:a16="http://schemas.microsoft.com/office/drawing/2014/main" id="{B1844787-C15C-4AF9-AE28-8ED28F6F8EFB}"/>
              </a:ext>
            </a:extLst>
          </p:cNvPr>
          <p:cNvSpPr>
            <a:spLocks noGrp="1"/>
          </p:cNvSpPr>
          <p:nvPr>
            <p:ph type="body" sz="quarter" idx="31"/>
          </p:nvPr>
        </p:nvSpPr>
        <p:spPr/>
        <p:txBody>
          <a:bodyPr/>
          <a:lstStyle/>
          <a:p>
            <a:endParaRPr lang="en-US"/>
          </a:p>
        </p:txBody>
      </p:sp>
      <p:sp>
        <p:nvSpPr>
          <p:cNvPr id="48" name="Text Placeholder 47">
            <a:extLst>
              <a:ext uri="{FF2B5EF4-FFF2-40B4-BE49-F238E27FC236}">
                <a16:creationId xmlns:a16="http://schemas.microsoft.com/office/drawing/2014/main" id="{DFD19922-5AAB-4262-A20E-72CFEB66D783}"/>
              </a:ext>
            </a:extLst>
          </p:cNvPr>
          <p:cNvSpPr>
            <a:spLocks noGrp="1"/>
          </p:cNvSpPr>
          <p:nvPr>
            <p:ph type="body" sz="quarter" idx="32"/>
          </p:nvPr>
        </p:nvSpPr>
        <p:spPr/>
        <p:txBody>
          <a:bodyPr/>
          <a:lstStyle/>
          <a:p>
            <a:endParaRPr lang="en-US"/>
          </a:p>
        </p:txBody>
      </p:sp>
      <p:sp>
        <p:nvSpPr>
          <p:cNvPr id="49" name="Text Placeholder 48">
            <a:extLst>
              <a:ext uri="{FF2B5EF4-FFF2-40B4-BE49-F238E27FC236}">
                <a16:creationId xmlns:a16="http://schemas.microsoft.com/office/drawing/2014/main" id="{F88F4050-44EB-4EF8-8712-8ACBDEC5B460}"/>
              </a:ext>
            </a:extLst>
          </p:cNvPr>
          <p:cNvSpPr>
            <a:spLocks noGrp="1"/>
          </p:cNvSpPr>
          <p:nvPr>
            <p:ph type="body" sz="quarter" idx="33"/>
          </p:nvPr>
        </p:nvSpPr>
        <p:spPr/>
        <p:txBody>
          <a:bodyPr/>
          <a:lstStyle/>
          <a:p>
            <a:endParaRPr lang="en-US"/>
          </a:p>
        </p:txBody>
      </p:sp>
      <p:sp>
        <p:nvSpPr>
          <p:cNvPr id="50" name="Text Placeholder 49">
            <a:extLst>
              <a:ext uri="{FF2B5EF4-FFF2-40B4-BE49-F238E27FC236}">
                <a16:creationId xmlns:a16="http://schemas.microsoft.com/office/drawing/2014/main" id="{7F21E908-3993-4142-AFBB-F6B3CCC14980}"/>
              </a:ext>
            </a:extLst>
          </p:cNvPr>
          <p:cNvSpPr>
            <a:spLocks noGrp="1"/>
          </p:cNvSpPr>
          <p:nvPr>
            <p:ph type="body" sz="quarter" idx="34"/>
          </p:nvPr>
        </p:nvSpPr>
        <p:spPr/>
        <p:txBody>
          <a:bodyPr/>
          <a:lstStyle/>
          <a:p>
            <a:endParaRPr lang="en-US"/>
          </a:p>
        </p:txBody>
      </p:sp>
      <p:sp>
        <p:nvSpPr>
          <p:cNvPr id="51" name="Text Placeholder 50">
            <a:extLst>
              <a:ext uri="{FF2B5EF4-FFF2-40B4-BE49-F238E27FC236}">
                <a16:creationId xmlns:a16="http://schemas.microsoft.com/office/drawing/2014/main" id="{172006B8-F7D8-43FA-A3A6-6FC57B355D45}"/>
              </a:ext>
            </a:extLst>
          </p:cNvPr>
          <p:cNvSpPr>
            <a:spLocks noGrp="1"/>
          </p:cNvSpPr>
          <p:nvPr>
            <p:ph type="body" sz="quarter" idx="35"/>
          </p:nvPr>
        </p:nvSpPr>
        <p:spPr/>
        <p:txBody>
          <a:bodyPr/>
          <a:lstStyle/>
          <a:p>
            <a:endParaRPr lang="en-US"/>
          </a:p>
        </p:txBody>
      </p:sp>
      <p:sp>
        <p:nvSpPr>
          <p:cNvPr id="21" name="Speech Bubble: Rectangle 20"/>
          <p:cNvSpPr/>
          <p:nvPr/>
        </p:nvSpPr>
        <p:spPr>
          <a:xfrm>
            <a:off x="9364785" y="1444986"/>
            <a:ext cx="1727783" cy="467945"/>
          </a:xfrm>
          <a:prstGeom prst="wedgeRectCallout">
            <a:avLst>
              <a:gd name="adj1" fmla="val -35505"/>
              <a:gd name="adj2" fmla="val 79913"/>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04659"/>
                </a:solidFill>
                <a:effectLst/>
                <a:uLnTx/>
                <a:uFillTx/>
                <a:latin typeface="Calibri" panose="020F0502020204030204"/>
                <a:ea typeface="+mn-ea"/>
                <a:cs typeface="+mn-cs"/>
              </a:rPr>
              <a:t>Fill in left to right, top to bottom</a:t>
            </a:r>
          </a:p>
        </p:txBody>
      </p:sp>
    </p:spTree>
    <p:extLst>
      <p:ext uri="{BB962C8B-B14F-4D97-AF65-F5344CB8AC3E}">
        <p14:creationId xmlns:p14="http://schemas.microsoft.com/office/powerpoint/2010/main" val="1715629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9E75DC82-28E6-EFD8-9BD0-D6E87462296D}"/>
              </a:ext>
            </a:extLst>
          </p:cNvPr>
          <p:cNvGraphicFramePr>
            <a:graphicFrameLocks noChangeAspect="1"/>
          </p:cNvGraphicFramePr>
          <p:nvPr>
            <p:custDataLst>
              <p:tags r:id="rId1"/>
            </p:custDataLst>
            <p:extLst>
              <p:ext uri="{D42A27DB-BD31-4B8C-83A1-F6EECF244321}">
                <p14:modId xmlns:p14="http://schemas.microsoft.com/office/powerpoint/2010/main" val="22146886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12" name="Object 11" hidden="1">
                        <a:extLst>
                          <a:ext uri="{FF2B5EF4-FFF2-40B4-BE49-F238E27FC236}">
                            <a16:creationId xmlns:a16="http://schemas.microsoft.com/office/drawing/2014/main" id="{9E75DC82-28E6-EFD8-9BD0-D6E8746229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7FC88D0-F96D-4607-BE71-72E28825081B}"/>
              </a:ext>
            </a:extLst>
          </p:cNvPr>
          <p:cNvSpPr>
            <a:spLocks noGrp="1"/>
          </p:cNvSpPr>
          <p:nvPr>
            <p:ph type="title"/>
          </p:nvPr>
        </p:nvSpPr>
        <p:spPr/>
        <p:txBody>
          <a:bodyPr vert="horz"/>
          <a:lstStyle/>
          <a:p>
            <a:r>
              <a:rPr lang="en-US"/>
              <a:t>Guidance for Proposal Terms</a:t>
            </a:r>
            <a:br>
              <a:rPr lang="en-US"/>
            </a:br>
            <a:r>
              <a:rPr lang="en-US" sz="1600">
                <a:solidFill>
                  <a:schemeClr val="accent1"/>
                </a:solidFill>
              </a:rPr>
              <a:t>These terms should be included in all proposals going forward</a:t>
            </a:r>
          </a:p>
        </p:txBody>
      </p:sp>
      <p:sp>
        <p:nvSpPr>
          <p:cNvPr id="19" name="Text Placeholder 18">
            <a:extLst>
              <a:ext uri="{FF2B5EF4-FFF2-40B4-BE49-F238E27FC236}">
                <a16:creationId xmlns:a16="http://schemas.microsoft.com/office/drawing/2014/main" id="{3F1B4E56-740A-EF1D-6800-5D30715814BA}"/>
              </a:ext>
            </a:extLst>
          </p:cNvPr>
          <p:cNvSpPr>
            <a:spLocks noGrp="1"/>
          </p:cNvSpPr>
          <p:nvPr>
            <p:ph type="body" sz="quarter" idx="14"/>
          </p:nvPr>
        </p:nvSpPr>
        <p:spPr/>
        <p:txBody>
          <a:bodyPr/>
          <a:lstStyle/>
          <a:p>
            <a:endParaRPr lang="en-IN"/>
          </a:p>
        </p:txBody>
      </p:sp>
      <p:sp>
        <p:nvSpPr>
          <p:cNvPr id="15" name="Text Placeholder 14">
            <a:extLst>
              <a:ext uri="{FF2B5EF4-FFF2-40B4-BE49-F238E27FC236}">
                <a16:creationId xmlns:a16="http://schemas.microsoft.com/office/drawing/2014/main" id="{96261E27-8E52-DFCE-27DB-C403F0D13471}"/>
              </a:ext>
            </a:extLst>
          </p:cNvPr>
          <p:cNvSpPr>
            <a:spLocks noGrp="1"/>
          </p:cNvSpPr>
          <p:nvPr>
            <p:ph type="body" sz="quarter" idx="15"/>
          </p:nvPr>
        </p:nvSpPr>
        <p:spPr/>
        <p:txBody>
          <a:bodyPr/>
          <a:lstStyle/>
          <a:p>
            <a:r>
              <a:rPr lang="en-US" sz="1200"/>
              <a:t>The professional fees are based on the scope, deliverables, and other elements outlined in this proposal. If there are material changes in any aspect of the project, a change order or statement of work modification will be executed.  </a:t>
            </a:r>
          </a:p>
          <a:p>
            <a:r>
              <a:rPr lang="en-US" sz="1200"/>
              <a:t>Trinity will invoice each project using the following: </a:t>
            </a:r>
            <a:r>
              <a:rPr lang="en-US" sz="1200">
                <a:solidFill>
                  <a:srgbClr val="FF0000"/>
                </a:solidFill>
              </a:rPr>
              <a:t>(default to 1/3, 1/3, 1/3 but modify for client needs; always 100% OOPs upfront)</a:t>
            </a:r>
          </a:p>
          <a:p>
            <a:pPr lvl="1"/>
            <a:r>
              <a:rPr lang="en-US" sz="1100"/>
              <a:t>At the beginning of each project, Trinity will bill 33% of project fees and 100% of any Out of Pocket Fees to ensure timely recruitment and remuneration of all respondents</a:t>
            </a:r>
          </a:p>
          <a:p>
            <a:pPr lvl="1"/>
            <a:r>
              <a:rPr lang="en-US" sz="1100"/>
              <a:t>At the midpoint of the project, Trinity will bill 33% of project fees</a:t>
            </a:r>
          </a:p>
          <a:p>
            <a:pPr lvl="1"/>
            <a:r>
              <a:rPr lang="en-US" sz="1100"/>
              <a:t>At the end of each project, Trinity will bill remaining 34% of project fees</a:t>
            </a:r>
          </a:p>
          <a:p>
            <a:r>
              <a:rPr lang="en-US" sz="1200"/>
              <a:t>This proposal allows for the following:</a:t>
            </a:r>
          </a:p>
          <a:p>
            <a:pPr lvl="1"/>
            <a:r>
              <a:rPr lang="en-US" sz="1100"/>
              <a:t>Ten (10) business days aggregate of interruption or delay due to circumstances such as: Client non-responsiveness or unavailability for meetings (requiring meeting reschedules, duplicate web based meetings, etc.), delays in decision making, providing required information (e.g. data), and/or  reviewing and comments on milestones / deliverables. Delays beyond 10 business days will impact timelines and project budget (may require a Change Order). </a:t>
            </a:r>
          </a:p>
          <a:p>
            <a:pPr lvl="1"/>
            <a:r>
              <a:rPr lang="en-US" sz="1100"/>
              <a:t>In the event Client puts engagement “on hold”, Trinity will invoice for Services through the start of the “hold” period and will redeploy the engagement team. Restarting the engagement is subject to team availability and will impact timelines and project budget (may require a Change Order). </a:t>
            </a:r>
          </a:p>
          <a:p>
            <a:pPr lvl="1"/>
            <a:r>
              <a:rPr lang="en-US" sz="1100"/>
              <a:t>Maximum of three (3) iterations of any document or deliverable (e.g. discussion documents, surveys, interim or final PowerPoint presentations, models, etc.) for editing or reformatting (explicitly excludes additional analysis and content out of scope of the engagement). Additional iterations or additional content will impact project budget (may require a Change Order). </a:t>
            </a:r>
          </a:p>
          <a:p>
            <a:pPr lvl="1"/>
            <a:r>
              <a:rPr lang="en-US" sz="1100"/>
              <a:t>Trinity will provide all the deliverables outlined in this proposal within the timelines and participate in all specified meetings; incremental requests for additional documents, analyses, or meetings will impact timelines and project budgets (may require a Change Order). </a:t>
            </a:r>
          </a:p>
          <a:p>
            <a:r>
              <a:rPr lang="en-US" sz="1200"/>
              <a:t>This proposal submission is reflective of the information provided to TRINITY and is valid for 30 days. The contents and pricing contained in the proposal will be subject to change as a result of new information provided by client: expanded / contracted Scope, or information discovered by Trinity during any information gathering effort. In no event shall either party be liable to the other for special, indirect, incidental, punitive, exemplary or consequential damages (including, but not limited to, loss of profits, loss of data or loss of use damages) even if such party has been advised of the possibility of such damages or losses. The entire liability of either party to the other in connection with this proposal or any agreement between the parties relating thereto (whether based on breach of contract, breach of warranty, negligence or any other legal theory) shall not exceed, in the aggregate, the total amount of fees paid or becoming due for the services provided for under this proposal. </a:t>
            </a:r>
          </a:p>
        </p:txBody>
      </p:sp>
      <p:sp>
        <p:nvSpPr>
          <p:cNvPr id="7" name="Speech Bubble: Rectangle 6">
            <a:extLst>
              <a:ext uri="{FF2B5EF4-FFF2-40B4-BE49-F238E27FC236}">
                <a16:creationId xmlns:a16="http://schemas.microsoft.com/office/drawing/2014/main" id="{77C34961-4ECC-439A-B695-6079C3AFADCA}"/>
              </a:ext>
            </a:extLst>
          </p:cNvPr>
          <p:cNvSpPr/>
          <p:nvPr/>
        </p:nvSpPr>
        <p:spPr>
          <a:xfrm>
            <a:off x="6894304" y="2273659"/>
            <a:ext cx="4087759" cy="710801"/>
          </a:xfrm>
          <a:prstGeom prst="wedgeRectCallout">
            <a:avLst>
              <a:gd name="adj1" fmla="val -123698"/>
              <a:gd name="adj2" fmla="val 4559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i="1">
                <a:solidFill>
                  <a:schemeClr val="tx1"/>
                </a:solidFill>
              </a:rPr>
              <a:t>This means that clearly defining the following </a:t>
            </a:r>
            <a:r>
              <a:rPr lang="en-US" sz="1000" i="1" u="sng">
                <a:solidFill>
                  <a:schemeClr val="tx1"/>
                </a:solidFill>
              </a:rPr>
              <a:t>in the body of the proposal</a:t>
            </a:r>
            <a:r>
              <a:rPr lang="en-US" sz="1000" i="1">
                <a:solidFill>
                  <a:schemeClr val="tx1"/>
                </a:solidFill>
              </a:rPr>
              <a:t> will be critical: 1) Specific # and type of meetings, 2) Specific deliverables, including content and format (e.g. Summary of </a:t>
            </a:r>
            <a:r>
              <a:rPr lang="en-US" sz="1000" i="1" err="1">
                <a:solidFill>
                  <a:schemeClr val="tx1"/>
                </a:solidFill>
              </a:rPr>
              <a:t>Qual</a:t>
            </a:r>
            <a:r>
              <a:rPr lang="en-US" sz="1000" i="1">
                <a:solidFill>
                  <a:schemeClr val="tx1"/>
                </a:solidFill>
              </a:rPr>
              <a:t> Findings at Executive Summary level – PPT)</a:t>
            </a:r>
          </a:p>
        </p:txBody>
      </p:sp>
    </p:spTree>
    <p:extLst>
      <p:ext uri="{BB962C8B-B14F-4D97-AF65-F5344CB8AC3E}">
        <p14:creationId xmlns:p14="http://schemas.microsoft.com/office/powerpoint/2010/main" val="1259690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649643" y="1427705"/>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1362456" y="1248036"/>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C177A2AF-B2A3-728B-4D35-DD6F29E5A781}"/>
              </a:ext>
            </a:extLst>
          </p:cNvPr>
          <p:cNvSpPr/>
          <p:nvPr/>
        </p:nvSpPr>
        <p:spPr>
          <a:xfrm>
            <a:off x="1860804" y="1001149"/>
            <a:ext cx="2226564"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Master Account </a:t>
            </a:r>
          </a:p>
          <a:p>
            <a:pPr algn="ctr"/>
            <a:r>
              <a:rPr lang="en-US" sz="1200" dirty="0"/>
              <a:t>(Account Creation/Deactivation) </a:t>
            </a:r>
            <a:endParaRPr lang="en-IN" sz="1200" dirty="0"/>
          </a:p>
        </p:txBody>
      </p: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7240" y="955429"/>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630936" y="144006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cxnSp>
        <p:nvCxnSpPr>
          <p:cNvPr id="20" name="Straight Arrow Connector 19">
            <a:extLst>
              <a:ext uri="{FF2B5EF4-FFF2-40B4-BE49-F238E27FC236}">
                <a16:creationId xmlns:a16="http://schemas.microsoft.com/office/drawing/2014/main" id="{26C21A0D-C9D4-7B6A-2F58-D2900D524739}"/>
              </a:ext>
            </a:extLst>
          </p:cNvPr>
          <p:cNvCxnSpPr>
            <a:cxnSpLocks/>
          </p:cNvCxnSpPr>
          <p:nvPr/>
        </p:nvCxnSpPr>
        <p:spPr>
          <a:xfrm>
            <a:off x="1353312" y="2594954"/>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DC1D36FF-A4F0-F6A4-4573-ED18D1BBF5CB}"/>
              </a:ext>
            </a:extLst>
          </p:cNvPr>
          <p:cNvSpPr/>
          <p:nvPr/>
        </p:nvSpPr>
        <p:spPr>
          <a:xfrm>
            <a:off x="1860804" y="2375497"/>
            <a:ext cx="2226564"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Tenant Account  </a:t>
            </a:r>
          </a:p>
          <a:p>
            <a:pPr algn="ctr"/>
            <a:r>
              <a:rPr lang="en-US" sz="1200" dirty="0"/>
              <a:t>(Account Creation/Deactivation) </a:t>
            </a:r>
            <a:endParaRPr lang="en-IN" sz="1200" dirty="0"/>
          </a:p>
        </p:txBody>
      </p:sp>
      <p:pic>
        <p:nvPicPr>
          <p:cNvPr id="22" name="Graphic 21" descr="User with solid fill">
            <a:extLst>
              <a:ext uri="{FF2B5EF4-FFF2-40B4-BE49-F238E27FC236}">
                <a16:creationId xmlns:a16="http://schemas.microsoft.com/office/drawing/2014/main" id="{BE8290F7-4CD9-F0D6-D685-474EB10369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8096" y="2302347"/>
            <a:ext cx="484632" cy="484632"/>
          </a:xfrm>
          <a:prstGeom prst="rect">
            <a:avLst/>
          </a:prstGeom>
        </p:spPr>
      </p:pic>
      <p:sp>
        <p:nvSpPr>
          <p:cNvPr id="23" name="TextBox 22">
            <a:extLst>
              <a:ext uri="{FF2B5EF4-FFF2-40B4-BE49-F238E27FC236}">
                <a16:creationId xmlns:a16="http://schemas.microsoft.com/office/drawing/2014/main" id="{002EE34F-5CEF-9B2E-050D-8FC22F39188E}"/>
              </a:ext>
            </a:extLst>
          </p:cNvPr>
          <p:cNvSpPr txBox="1"/>
          <p:nvPr/>
        </p:nvSpPr>
        <p:spPr>
          <a:xfrm>
            <a:off x="356616" y="2786978"/>
            <a:ext cx="1380744" cy="30162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Acct Manager</a:t>
            </a:r>
            <a:endParaRPr lang="en-IN" sz="1600" dirty="0">
              <a:solidFill>
                <a:srgbClr val="002240"/>
              </a:solidFill>
              <a:cs typeface="Tahoma" pitchFamily="34" charset="0"/>
            </a:endParaRPr>
          </a:p>
        </p:txBody>
      </p:sp>
      <p:pic>
        <p:nvPicPr>
          <p:cNvPr id="24" name="Graphic 23" descr="User with solid fill">
            <a:extLst>
              <a:ext uri="{FF2B5EF4-FFF2-40B4-BE49-F238E27FC236}">
                <a16:creationId xmlns:a16="http://schemas.microsoft.com/office/drawing/2014/main" id="{D452717F-DD5B-C24D-2DD4-72A6B2E56F7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7428" y="3661468"/>
            <a:ext cx="484632" cy="484632"/>
          </a:xfrm>
          <a:prstGeom prst="rect">
            <a:avLst/>
          </a:prstGeom>
        </p:spPr>
      </p:pic>
      <p:sp>
        <p:nvSpPr>
          <p:cNvPr id="25" name="TextBox 24">
            <a:extLst>
              <a:ext uri="{FF2B5EF4-FFF2-40B4-BE49-F238E27FC236}">
                <a16:creationId xmlns:a16="http://schemas.microsoft.com/office/drawing/2014/main" id="{601195A5-E4B6-A565-1E0B-1C3D811D4A62}"/>
              </a:ext>
            </a:extLst>
          </p:cNvPr>
          <p:cNvSpPr txBox="1"/>
          <p:nvPr/>
        </p:nvSpPr>
        <p:spPr>
          <a:xfrm>
            <a:off x="617220" y="4146098"/>
            <a:ext cx="1039368" cy="30161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Tenant (Project Level)</a:t>
            </a:r>
            <a:endParaRPr lang="en-IN" sz="1600" dirty="0">
              <a:solidFill>
                <a:srgbClr val="002240"/>
              </a:solidFill>
              <a:cs typeface="Tahoma" pitchFamily="34" charset="0"/>
            </a:endParaRPr>
          </a:p>
        </p:txBody>
      </p:sp>
      <p:cxnSp>
        <p:nvCxnSpPr>
          <p:cNvPr id="26" name="Straight Arrow Connector 25">
            <a:extLst>
              <a:ext uri="{FF2B5EF4-FFF2-40B4-BE49-F238E27FC236}">
                <a16:creationId xmlns:a16="http://schemas.microsoft.com/office/drawing/2014/main" id="{CA9AE74A-2526-3D5C-F614-A88D1F57657C}"/>
              </a:ext>
            </a:extLst>
          </p:cNvPr>
          <p:cNvCxnSpPr>
            <a:cxnSpLocks/>
          </p:cNvCxnSpPr>
          <p:nvPr/>
        </p:nvCxnSpPr>
        <p:spPr>
          <a:xfrm>
            <a:off x="4114800" y="123889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38D15E7E-169C-AABA-3E8E-04AA5CDC27FF}"/>
              </a:ext>
            </a:extLst>
          </p:cNvPr>
          <p:cNvSpPr/>
          <p:nvPr/>
        </p:nvSpPr>
        <p:spPr>
          <a:xfrm>
            <a:off x="4649724" y="987435"/>
            <a:ext cx="2226564"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Master Account </a:t>
            </a:r>
          </a:p>
          <a:p>
            <a:pPr algn="ctr"/>
            <a:r>
              <a:rPr lang="en-US" sz="1200" dirty="0"/>
              <a:t>(Account Creation/Deactivation) </a:t>
            </a:r>
            <a:endParaRPr lang="en-IN" sz="1200" dirty="0"/>
          </a:p>
        </p:txBody>
      </p:sp>
      <p:cxnSp>
        <p:nvCxnSpPr>
          <p:cNvPr id="29" name="Straight Arrow Connector 28">
            <a:extLst>
              <a:ext uri="{FF2B5EF4-FFF2-40B4-BE49-F238E27FC236}">
                <a16:creationId xmlns:a16="http://schemas.microsoft.com/office/drawing/2014/main" id="{AF7C948A-139F-0687-0AA0-B1B06A345FAD}"/>
              </a:ext>
            </a:extLst>
          </p:cNvPr>
          <p:cNvCxnSpPr>
            <a:cxnSpLocks/>
          </p:cNvCxnSpPr>
          <p:nvPr/>
        </p:nvCxnSpPr>
        <p:spPr>
          <a:xfrm flipV="1">
            <a:off x="4357116" y="2226524"/>
            <a:ext cx="1405890" cy="368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134E45A-B5E5-032A-5124-EFCA815EE028}"/>
              </a:ext>
            </a:extLst>
          </p:cNvPr>
          <p:cNvCxnSpPr>
            <a:cxnSpLocks/>
          </p:cNvCxnSpPr>
          <p:nvPr/>
        </p:nvCxnSpPr>
        <p:spPr>
          <a:xfrm>
            <a:off x="4357116" y="2797104"/>
            <a:ext cx="1485900" cy="438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89D6ADD4-28F0-940E-5840-9D9793F69D50}"/>
              </a:ext>
            </a:extLst>
          </p:cNvPr>
          <p:cNvSpPr/>
          <p:nvPr/>
        </p:nvSpPr>
        <p:spPr>
          <a:xfrm>
            <a:off x="5843016" y="1969092"/>
            <a:ext cx="2788920"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Project1 Level Account </a:t>
            </a:r>
          </a:p>
          <a:p>
            <a:pPr algn="ctr"/>
            <a:r>
              <a:rPr lang="en-US" sz="1200" dirty="0"/>
              <a:t>(Account Creation/Deactivation) </a:t>
            </a:r>
            <a:endParaRPr lang="en-IN" sz="1200" dirty="0"/>
          </a:p>
        </p:txBody>
      </p:sp>
      <p:sp>
        <p:nvSpPr>
          <p:cNvPr id="35" name="Rectangle: Rounded Corners 34">
            <a:extLst>
              <a:ext uri="{FF2B5EF4-FFF2-40B4-BE49-F238E27FC236}">
                <a16:creationId xmlns:a16="http://schemas.microsoft.com/office/drawing/2014/main" id="{5BD0CC4C-327F-06D9-06AF-B6DA89C31CCA}"/>
              </a:ext>
            </a:extLst>
          </p:cNvPr>
          <p:cNvSpPr/>
          <p:nvPr/>
        </p:nvSpPr>
        <p:spPr>
          <a:xfrm>
            <a:off x="5871972" y="2956723"/>
            <a:ext cx="2788920"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Project2 Level Account </a:t>
            </a:r>
          </a:p>
          <a:p>
            <a:pPr algn="ctr"/>
            <a:r>
              <a:rPr lang="en-US" sz="1200" dirty="0"/>
              <a:t>(Account Creation/Deactivation) </a:t>
            </a:r>
            <a:endParaRPr lang="en-IN" sz="1200" dirty="0"/>
          </a:p>
        </p:txBody>
      </p:sp>
      <p:sp>
        <p:nvSpPr>
          <p:cNvPr id="36" name="Rectangle: Rounded Corners 35">
            <a:extLst>
              <a:ext uri="{FF2B5EF4-FFF2-40B4-BE49-F238E27FC236}">
                <a16:creationId xmlns:a16="http://schemas.microsoft.com/office/drawing/2014/main" id="{479E3FBB-FAB1-6E46-CCEA-889EC8786774}"/>
              </a:ext>
            </a:extLst>
          </p:cNvPr>
          <p:cNvSpPr/>
          <p:nvPr/>
        </p:nvSpPr>
        <p:spPr>
          <a:xfrm>
            <a:off x="1847088" y="3846111"/>
            <a:ext cx="2788920"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Project1 Level Account </a:t>
            </a:r>
          </a:p>
          <a:p>
            <a:pPr algn="ctr"/>
            <a:r>
              <a:rPr lang="en-US" sz="1200" dirty="0"/>
              <a:t>(Account Creation/Deactivation) </a:t>
            </a:r>
            <a:endParaRPr lang="en-IN" sz="1200" dirty="0"/>
          </a:p>
        </p:txBody>
      </p:sp>
      <p:cxnSp>
        <p:nvCxnSpPr>
          <p:cNvPr id="37" name="Straight Arrow Connector 36">
            <a:extLst>
              <a:ext uri="{FF2B5EF4-FFF2-40B4-BE49-F238E27FC236}">
                <a16:creationId xmlns:a16="http://schemas.microsoft.com/office/drawing/2014/main" id="{C54BD1EF-2659-EE4B-99C7-AB06293349F5}"/>
              </a:ext>
            </a:extLst>
          </p:cNvPr>
          <p:cNvCxnSpPr>
            <a:cxnSpLocks/>
          </p:cNvCxnSpPr>
          <p:nvPr/>
        </p:nvCxnSpPr>
        <p:spPr>
          <a:xfrm>
            <a:off x="1348740" y="407428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Graphic 1" descr="User with solid fill">
            <a:extLst>
              <a:ext uri="{FF2B5EF4-FFF2-40B4-BE49-F238E27FC236}">
                <a16:creationId xmlns:a16="http://schemas.microsoft.com/office/drawing/2014/main" id="{278BAC2D-BB1C-BFB1-27C4-2D6480F1B17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8576" y="5078255"/>
            <a:ext cx="484632" cy="484632"/>
          </a:xfrm>
          <a:prstGeom prst="rect">
            <a:avLst/>
          </a:prstGeom>
        </p:spPr>
      </p:pic>
      <p:sp>
        <p:nvSpPr>
          <p:cNvPr id="4" name="TextBox 3">
            <a:extLst>
              <a:ext uri="{FF2B5EF4-FFF2-40B4-BE49-F238E27FC236}">
                <a16:creationId xmlns:a16="http://schemas.microsoft.com/office/drawing/2014/main" id="{5515CD1A-0702-DAC0-F910-54A7DD746398}"/>
              </a:ext>
            </a:extLst>
          </p:cNvPr>
          <p:cNvSpPr txBox="1"/>
          <p:nvPr/>
        </p:nvSpPr>
        <p:spPr>
          <a:xfrm>
            <a:off x="658368" y="5562885"/>
            <a:ext cx="1039368" cy="30161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Developer (Project Level)</a:t>
            </a:r>
            <a:endParaRPr lang="en-IN" sz="1600" dirty="0">
              <a:solidFill>
                <a:srgbClr val="002240"/>
              </a:solidFill>
              <a:cs typeface="Tahoma" pitchFamily="34" charset="0"/>
            </a:endParaRPr>
          </a:p>
        </p:txBody>
      </p:sp>
      <p:sp>
        <p:nvSpPr>
          <p:cNvPr id="5" name="Rectangle: Rounded Corners 4">
            <a:extLst>
              <a:ext uri="{FF2B5EF4-FFF2-40B4-BE49-F238E27FC236}">
                <a16:creationId xmlns:a16="http://schemas.microsoft.com/office/drawing/2014/main" id="{1731E5A5-6F30-51BC-8B09-BBE9C36AD688}"/>
              </a:ext>
            </a:extLst>
          </p:cNvPr>
          <p:cNvSpPr/>
          <p:nvPr/>
        </p:nvSpPr>
        <p:spPr>
          <a:xfrm>
            <a:off x="1888236" y="5262898"/>
            <a:ext cx="3983736" cy="48462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Utilization of Services to develop the extractors/pipelines </a:t>
            </a:r>
            <a:r>
              <a:rPr lang="en-US" dirty="0" err="1"/>
              <a:t>etc</a:t>
            </a:r>
            <a:endParaRPr lang="en-IN" sz="1200" dirty="0"/>
          </a:p>
        </p:txBody>
      </p:sp>
      <p:cxnSp>
        <p:nvCxnSpPr>
          <p:cNvPr id="6" name="Straight Arrow Connector 5">
            <a:extLst>
              <a:ext uri="{FF2B5EF4-FFF2-40B4-BE49-F238E27FC236}">
                <a16:creationId xmlns:a16="http://schemas.microsoft.com/office/drawing/2014/main" id="{48CF097D-5C52-B160-F59B-A5BCBB6FBDDF}"/>
              </a:ext>
            </a:extLst>
          </p:cNvPr>
          <p:cNvCxnSpPr>
            <a:cxnSpLocks/>
          </p:cNvCxnSpPr>
          <p:nvPr/>
        </p:nvCxnSpPr>
        <p:spPr>
          <a:xfrm>
            <a:off x="1389888" y="5491076"/>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460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772344"/>
            <a:ext cx="4841748" cy="303135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2294446"/>
            <a:ext cx="4368547" cy="126265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124462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98976" y="106495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3760" y="772344"/>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167456" y="125697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81806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4" name="TextBox 3">
            <a:extLst>
              <a:ext uri="{FF2B5EF4-FFF2-40B4-BE49-F238E27FC236}">
                <a16:creationId xmlns:a16="http://schemas.microsoft.com/office/drawing/2014/main" id="{277F1FD8-7C3E-337D-EEEF-5FE28C9C97D7}"/>
              </a:ext>
            </a:extLst>
          </p:cNvPr>
          <p:cNvSpPr txBox="1"/>
          <p:nvPr/>
        </p:nvSpPr>
        <p:spPr>
          <a:xfrm>
            <a:off x="1587061" y="1362007"/>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Master Account </a:t>
            </a:r>
            <a:endParaRPr lang="en-IN" sz="1400" dirty="0">
              <a:solidFill>
                <a:schemeClr val="bg1"/>
              </a:solidFill>
              <a:cs typeface="Tahoma" pitchFamily="34" charset="0"/>
            </a:endParaRPr>
          </a:p>
        </p:txBody>
      </p:sp>
      <p:sp>
        <p:nvSpPr>
          <p:cNvPr id="5" name="TextBox 4">
            <a:extLst>
              <a:ext uri="{FF2B5EF4-FFF2-40B4-BE49-F238E27FC236}">
                <a16:creationId xmlns:a16="http://schemas.microsoft.com/office/drawing/2014/main" id="{25E5E917-F4CC-06B2-7F70-AE31453ABE99}"/>
              </a:ext>
            </a:extLst>
          </p:cNvPr>
          <p:cNvSpPr txBox="1"/>
          <p:nvPr/>
        </p:nvSpPr>
        <p:spPr>
          <a:xfrm>
            <a:off x="3120967" y="1390501"/>
            <a:ext cx="1370457" cy="30538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Tenant Account </a:t>
            </a:r>
            <a:endParaRPr lang="en-IN" sz="1400" dirty="0">
              <a:solidFill>
                <a:schemeClr val="bg1"/>
              </a:solidFill>
              <a:cs typeface="Tahoma" pitchFamily="34" charset="0"/>
            </a:endParaRPr>
          </a:p>
        </p:txBody>
      </p:sp>
      <p:sp>
        <p:nvSpPr>
          <p:cNvPr id="6" name="TextBox 5">
            <a:extLst>
              <a:ext uri="{FF2B5EF4-FFF2-40B4-BE49-F238E27FC236}">
                <a16:creationId xmlns:a16="http://schemas.microsoft.com/office/drawing/2014/main" id="{CC5DDED8-2C0C-5819-6338-4D19D224ECD0}"/>
              </a:ext>
            </a:extLst>
          </p:cNvPr>
          <p:cNvSpPr txBox="1"/>
          <p:nvPr/>
        </p:nvSpPr>
        <p:spPr>
          <a:xfrm>
            <a:off x="4642301" y="1399400"/>
            <a:ext cx="1533906" cy="474915"/>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Other Admin Activities</a:t>
            </a:r>
            <a:endParaRPr lang="en-IN" sz="1400" dirty="0">
              <a:solidFill>
                <a:schemeClr val="bg1"/>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750065" y="2314354"/>
            <a:ext cx="2300859" cy="33387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Account Wise Statistics</a:t>
            </a:r>
            <a:endParaRPr lang="en-IN" sz="1600" dirty="0">
              <a:cs typeface="Tahoma" pitchFamily="34" charset="0"/>
            </a:endParaRPr>
          </a:p>
        </p:txBody>
      </p:sp>
      <p:sp>
        <p:nvSpPr>
          <p:cNvPr id="13" name="TextBox 12">
            <a:extLst>
              <a:ext uri="{FF2B5EF4-FFF2-40B4-BE49-F238E27FC236}">
                <a16:creationId xmlns:a16="http://schemas.microsoft.com/office/drawing/2014/main" id="{D3422962-8E9A-1A37-E9E1-11024CB8C23E}"/>
              </a:ext>
            </a:extLst>
          </p:cNvPr>
          <p:cNvSpPr txBox="1"/>
          <p:nvPr/>
        </p:nvSpPr>
        <p:spPr>
          <a:xfrm>
            <a:off x="7867847" y="512681"/>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Master Account </a:t>
            </a:r>
            <a:endParaRPr lang="en-IN" sz="1400" dirty="0">
              <a:solidFill>
                <a:schemeClr val="bg1"/>
              </a:solidFill>
              <a:cs typeface="Tahoma" pitchFamily="34" charset="0"/>
            </a:endParaRPr>
          </a:p>
        </p:txBody>
      </p:sp>
      <p:cxnSp>
        <p:nvCxnSpPr>
          <p:cNvPr id="15" name="Straight Arrow Connector 14">
            <a:extLst>
              <a:ext uri="{FF2B5EF4-FFF2-40B4-BE49-F238E27FC236}">
                <a16:creationId xmlns:a16="http://schemas.microsoft.com/office/drawing/2014/main" id="{D8906AE6-5DE6-8A92-487F-5F627FBCD5BB}"/>
              </a:ext>
            </a:extLst>
          </p:cNvPr>
          <p:cNvCxnSpPr>
            <a:cxnSpLocks/>
          </p:cNvCxnSpPr>
          <p:nvPr/>
        </p:nvCxnSpPr>
        <p:spPr>
          <a:xfrm>
            <a:off x="7312730" y="67539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 with solid fill">
            <a:extLst>
              <a:ext uri="{FF2B5EF4-FFF2-40B4-BE49-F238E27FC236}">
                <a16:creationId xmlns:a16="http://schemas.microsoft.com/office/drawing/2014/main" id="{64505726-C6E1-0FB8-5A5C-9002574094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514" y="382788"/>
            <a:ext cx="484632" cy="484632"/>
          </a:xfrm>
          <a:prstGeom prst="rect">
            <a:avLst/>
          </a:prstGeom>
        </p:spPr>
      </p:pic>
      <p:sp>
        <p:nvSpPr>
          <p:cNvPr id="28" name="TextBox 27">
            <a:extLst>
              <a:ext uri="{FF2B5EF4-FFF2-40B4-BE49-F238E27FC236}">
                <a16:creationId xmlns:a16="http://schemas.microsoft.com/office/drawing/2014/main" id="{5B5A5EB0-A030-2C7B-BC38-2719784CDCC7}"/>
              </a:ext>
            </a:extLst>
          </p:cNvPr>
          <p:cNvSpPr txBox="1"/>
          <p:nvPr/>
        </p:nvSpPr>
        <p:spPr>
          <a:xfrm>
            <a:off x="6581210" y="86742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cxnSp>
        <p:nvCxnSpPr>
          <p:cNvPr id="32" name="Straight Arrow Connector 31">
            <a:extLst>
              <a:ext uri="{FF2B5EF4-FFF2-40B4-BE49-F238E27FC236}">
                <a16:creationId xmlns:a16="http://schemas.microsoft.com/office/drawing/2014/main" id="{999FC199-FB3F-7598-2C7F-51496D98E797}"/>
              </a:ext>
            </a:extLst>
          </p:cNvPr>
          <p:cNvCxnSpPr/>
          <p:nvPr/>
        </p:nvCxnSpPr>
        <p:spPr>
          <a:xfrm>
            <a:off x="9473762" y="42128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4F52362-F02C-9E74-E8C6-32015FD63DCC}"/>
              </a:ext>
            </a:extLst>
          </p:cNvPr>
          <p:cNvCxnSpPr/>
          <p:nvPr/>
        </p:nvCxnSpPr>
        <p:spPr>
          <a:xfrm>
            <a:off x="9473762" y="88458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D7E6764-2812-0034-0C03-9D4F192DF1CB}"/>
              </a:ext>
            </a:extLst>
          </p:cNvPr>
          <p:cNvCxnSpPr>
            <a:cxnSpLocks/>
            <a:stCxn id="13" idx="3"/>
          </p:cNvCxnSpPr>
          <p:nvPr/>
        </p:nvCxnSpPr>
        <p:spPr>
          <a:xfrm flipV="1">
            <a:off x="9238304" y="658779"/>
            <a:ext cx="244983" cy="65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7422B8-8E68-99FA-B286-5C09F7926924}"/>
              </a:ext>
            </a:extLst>
          </p:cNvPr>
          <p:cNvCxnSpPr>
            <a:cxnSpLocks/>
          </p:cNvCxnSpPr>
          <p:nvPr/>
        </p:nvCxnSpPr>
        <p:spPr>
          <a:xfrm flipV="1">
            <a:off x="9473762" y="419612"/>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29BD638-4BAD-5F86-28C9-B3912110D37F}"/>
              </a:ext>
            </a:extLst>
          </p:cNvPr>
          <p:cNvSpPr txBox="1"/>
          <p:nvPr/>
        </p:nvSpPr>
        <p:spPr>
          <a:xfrm>
            <a:off x="10186993" y="253512"/>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a:t>
            </a:r>
            <a:endParaRPr lang="en-IN" sz="1200" dirty="0">
              <a:solidFill>
                <a:srgbClr val="002240"/>
              </a:solidFill>
              <a:cs typeface="Tahoma" pitchFamily="34" charset="0"/>
            </a:endParaRPr>
          </a:p>
        </p:txBody>
      </p:sp>
      <p:sp>
        <p:nvSpPr>
          <p:cNvPr id="44" name="TextBox 43">
            <a:extLst>
              <a:ext uri="{FF2B5EF4-FFF2-40B4-BE49-F238E27FC236}">
                <a16:creationId xmlns:a16="http://schemas.microsoft.com/office/drawing/2014/main" id="{363C94F5-79EB-C25B-A064-7046D16DF0CA}"/>
              </a:ext>
            </a:extLst>
          </p:cNvPr>
          <p:cNvSpPr txBox="1"/>
          <p:nvPr/>
        </p:nvSpPr>
        <p:spPr>
          <a:xfrm>
            <a:off x="10162609" y="811453"/>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Subscription/Access</a:t>
            </a:r>
            <a:endParaRPr lang="en-IN" sz="1200" dirty="0">
              <a:solidFill>
                <a:srgbClr val="002240"/>
              </a:solidFill>
              <a:cs typeface="Tahoma" pitchFamily="34" charset="0"/>
            </a:endParaRPr>
          </a:p>
        </p:txBody>
      </p:sp>
      <p:sp>
        <p:nvSpPr>
          <p:cNvPr id="45" name="TextBox 44">
            <a:extLst>
              <a:ext uri="{FF2B5EF4-FFF2-40B4-BE49-F238E27FC236}">
                <a16:creationId xmlns:a16="http://schemas.microsoft.com/office/drawing/2014/main" id="{7A3528CB-7AC7-BB69-54E9-0EA6A60990F1}"/>
              </a:ext>
            </a:extLst>
          </p:cNvPr>
          <p:cNvSpPr txBox="1"/>
          <p:nvPr/>
        </p:nvSpPr>
        <p:spPr>
          <a:xfrm>
            <a:off x="7862132" y="1627689"/>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Tenant Account </a:t>
            </a:r>
            <a:endParaRPr lang="en-IN" sz="1400" dirty="0">
              <a:solidFill>
                <a:schemeClr val="bg1"/>
              </a:solidFill>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307015" y="17904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A39DE47-E4C7-A5CB-D7BA-C45999AB251A}"/>
              </a:ext>
            </a:extLst>
          </p:cNvPr>
          <p:cNvCxnSpPr/>
          <p:nvPr/>
        </p:nvCxnSpPr>
        <p:spPr>
          <a:xfrm>
            <a:off x="9473762" y="175654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0636AA2-6F53-3A56-074D-83AD4964B716}"/>
              </a:ext>
            </a:extLst>
          </p:cNvPr>
          <p:cNvCxnSpPr/>
          <p:nvPr/>
        </p:nvCxnSpPr>
        <p:spPr>
          <a:xfrm>
            <a:off x="9468047" y="201787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4E77D04-AA2B-9C15-C95A-320377583BA4}"/>
              </a:ext>
            </a:extLst>
          </p:cNvPr>
          <p:cNvCxnSpPr>
            <a:cxnSpLocks/>
            <a:stCxn id="45" idx="3"/>
          </p:cNvCxnSpPr>
          <p:nvPr/>
        </p:nvCxnSpPr>
        <p:spPr>
          <a:xfrm>
            <a:off x="9232589" y="1780381"/>
            <a:ext cx="2354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0694299-0104-0931-56FF-D69BB06E5DD8}"/>
              </a:ext>
            </a:extLst>
          </p:cNvPr>
          <p:cNvCxnSpPr>
            <a:cxnSpLocks/>
          </p:cNvCxnSpPr>
          <p:nvPr/>
        </p:nvCxnSpPr>
        <p:spPr>
          <a:xfrm flipV="1">
            <a:off x="9468047" y="1534620"/>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5FA625B-DD26-4AFA-16C9-E30DCD9B46C9}"/>
              </a:ext>
            </a:extLst>
          </p:cNvPr>
          <p:cNvSpPr txBox="1"/>
          <p:nvPr/>
        </p:nvSpPr>
        <p:spPr>
          <a:xfrm>
            <a:off x="10186993" y="1588770"/>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a:t>
            </a:r>
            <a:endParaRPr lang="en-IN" sz="1200" dirty="0">
              <a:solidFill>
                <a:srgbClr val="002240"/>
              </a:solidFill>
              <a:cs typeface="Tahoma" pitchFamily="34" charset="0"/>
            </a:endParaRPr>
          </a:p>
        </p:txBody>
      </p:sp>
      <p:sp>
        <p:nvSpPr>
          <p:cNvPr id="52" name="TextBox 51">
            <a:extLst>
              <a:ext uri="{FF2B5EF4-FFF2-40B4-BE49-F238E27FC236}">
                <a16:creationId xmlns:a16="http://schemas.microsoft.com/office/drawing/2014/main" id="{99B141DC-2C1F-0B62-175F-2D95DD15BCD5}"/>
              </a:ext>
            </a:extLst>
          </p:cNvPr>
          <p:cNvSpPr txBox="1"/>
          <p:nvPr/>
        </p:nvSpPr>
        <p:spPr>
          <a:xfrm>
            <a:off x="10175182" y="1844165"/>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Activation/Deactivation</a:t>
            </a:r>
            <a:endParaRPr lang="en-IN" sz="1200" dirty="0">
              <a:solidFill>
                <a:srgbClr val="002240"/>
              </a:solidFill>
              <a:cs typeface="Tahoma" pitchFamily="34" charset="0"/>
            </a:endParaRPr>
          </a:p>
        </p:txBody>
      </p:sp>
      <p:sp>
        <p:nvSpPr>
          <p:cNvPr id="53" name="TextBox 52">
            <a:extLst>
              <a:ext uri="{FF2B5EF4-FFF2-40B4-BE49-F238E27FC236}">
                <a16:creationId xmlns:a16="http://schemas.microsoft.com/office/drawing/2014/main" id="{8C58ED42-29A7-5FA4-BFAF-B7977276492D}"/>
              </a:ext>
            </a:extLst>
          </p:cNvPr>
          <p:cNvSpPr txBox="1"/>
          <p:nvPr/>
        </p:nvSpPr>
        <p:spPr>
          <a:xfrm>
            <a:off x="10150420" y="507196"/>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Activation/Deactivation</a:t>
            </a:r>
            <a:endParaRPr lang="en-IN" sz="1200" dirty="0">
              <a:solidFill>
                <a:srgbClr val="002240"/>
              </a:solidFill>
              <a:cs typeface="Tahoma" pitchFamily="34" charset="0"/>
            </a:endParaRPr>
          </a:p>
        </p:txBody>
      </p:sp>
      <p:sp>
        <p:nvSpPr>
          <p:cNvPr id="12" name="TextBox 11">
            <a:extLst>
              <a:ext uri="{FF2B5EF4-FFF2-40B4-BE49-F238E27FC236}">
                <a16:creationId xmlns:a16="http://schemas.microsoft.com/office/drawing/2014/main" id="{2F9888D9-590F-4281-3F7D-83BA98B99C8A}"/>
              </a:ext>
            </a:extLst>
          </p:cNvPr>
          <p:cNvSpPr txBox="1"/>
          <p:nvPr/>
        </p:nvSpPr>
        <p:spPr>
          <a:xfrm>
            <a:off x="6581210" y="184039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448440"/>
            <a:ext cx="484632" cy="484632"/>
          </a:xfrm>
          <a:prstGeom prst="rect">
            <a:avLst/>
          </a:prstGeom>
        </p:spPr>
      </p:pic>
      <p:cxnSp>
        <p:nvCxnSpPr>
          <p:cNvPr id="21" name="Straight Arrow Connector 20">
            <a:extLst>
              <a:ext uri="{FF2B5EF4-FFF2-40B4-BE49-F238E27FC236}">
                <a16:creationId xmlns:a16="http://schemas.microsoft.com/office/drawing/2014/main" id="{264DE8B2-E19C-F2A7-A14D-25FFA81981CF}"/>
              </a:ext>
            </a:extLst>
          </p:cNvPr>
          <p:cNvCxnSpPr/>
          <p:nvPr/>
        </p:nvCxnSpPr>
        <p:spPr>
          <a:xfrm>
            <a:off x="9470714" y="66207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1A36FEA-9FFB-C0B6-73F8-4EABDC8B2A4C}"/>
              </a:ext>
            </a:extLst>
          </p:cNvPr>
          <p:cNvSpPr txBox="1"/>
          <p:nvPr/>
        </p:nvSpPr>
        <p:spPr>
          <a:xfrm>
            <a:off x="7862132" y="2589967"/>
            <a:ext cx="1370457" cy="51808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Other Admin Activities</a:t>
            </a:r>
            <a:endParaRPr lang="en-IN" sz="1400" dirty="0">
              <a:solidFill>
                <a:schemeClr val="bg1"/>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7307015" y="275268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91E3175-AFC7-CB52-B406-3031E88E133A}"/>
              </a:ext>
            </a:extLst>
          </p:cNvPr>
          <p:cNvCxnSpPr/>
          <p:nvPr/>
        </p:nvCxnSpPr>
        <p:spPr>
          <a:xfrm>
            <a:off x="9468047" y="2663163"/>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A7C8169-E535-CD43-3088-F9890A8F5672}"/>
              </a:ext>
            </a:extLst>
          </p:cNvPr>
          <p:cNvCxnSpPr/>
          <p:nvPr/>
        </p:nvCxnSpPr>
        <p:spPr>
          <a:xfrm>
            <a:off x="9468047" y="312645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7572FC4-0D0C-CAF3-4748-B3A5E633E0FE}"/>
              </a:ext>
            </a:extLst>
          </p:cNvPr>
          <p:cNvCxnSpPr>
            <a:cxnSpLocks/>
          </p:cNvCxnSpPr>
          <p:nvPr/>
        </p:nvCxnSpPr>
        <p:spPr>
          <a:xfrm flipV="1">
            <a:off x="9232589" y="2922162"/>
            <a:ext cx="25374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CEC4C03-0D61-CAEF-209B-27240A36DF0A}"/>
              </a:ext>
            </a:extLst>
          </p:cNvPr>
          <p:cNvCxnSpPr>
            <a:cxnSpLocks/>
          </p:cNvCxnSpPr>
          <p:nvPr/>
        </p:nvCxnSpPr>
        <p:spPr>
          <a:xfrm flipV="1">
            <a:off x="9468047" y="2661491"/>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53DEF3D-1E5A-9965-DD01-C0042DC07D82}"/>
              </a:ext>
            </a:extLst>
          </p:cNvPr>
          <p:cNvSpPr txBox="1"/>
          <p:nvPr/>
        </p:nvSpPr>
        <p:spPr>
          <a:xfrm>
            <a:off x="10181278" y="2495391"/>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Access (Role based)</a:t>
            </a:r>
            <a:endParaRPr lang="en-IN" sz="1200" dirty="0">
              <a:solidFill>
                <a:srgbClr val="002240"/>
              </a:solidFill>
              <a:cs typeface="Tahoma" pitchFamily="34" charset="0"/>
            </a:endParaRPr>
          </a:p>
        </p:txBody>
      </p:sp>
      <p:sp>
        <p:nvSpPr>
          <p:cNvPr id="30" name="TextBox 29">
            <a:extLst>
              <a:ext uri="{FF2B5EF4-FFF2-40B4-BE49-F238E27FC236}">
                <a16:creationId xmlns:a16="http://schemas.microsoft.com/office/drawing/2014/main" id="{39E4D5FE-70E1-2320-1D14-9CF3133DCFF5}"/>
              </a:ext>
            </a:extLst>
          </p:cNvPr>
          <p:cNvSpPr txBox="1"/>
          <p:nvPr/>
        </p:nvSpPr>
        <p:spPr>
          <a:xfrm>
            <a:off x="10175182" y="3025900"/>
            <a:ext cx="1987860" cy="38305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Cloud Services </a:t>
            </a:r>
            <a:r>
              <a:rPr lang="en-US" sz="1200" dirty="0" err="1">
                <a:solidFill>
                  <a:srgbClr val="002240"/>
                </a:solidFill>
                <a:cs typeface="Tahoma" pitchFamily="34" charset="0"/>
              </a:rPr>
              <a:t>SetUp</a:t>
            </a:r>
            <a:r>
              <a:rPr lang="en-US" sz="1200" dirty="0">
                <a:solidFill>
                  <a:srgbClr val="002240"/>
                </a:solidFill>
                <a:cs typeface="Tahoma" pitchFamily="34" charset="0"/>
              </a:rPr>
              <a:t>/Access</a:t>
            </a:r>
            <a:endParaRPr lang="en-IN" sz="1200" dirty="0">
              <a:solidFill>
                <a:srgbClr val="002240"/>
              </a:solidFill>
              <a:cs typeface="Tahoma" pitchFamily="34" charset="0"/>
            </a:endParaRPr>
          </a:p>
        </p:txBody>
      </p:sp>
      <p:sp>
        <p:nvSpPr>
          <p:cNvPr id="31" name="TextBox 30">
            <a:extLst>
              <a:ext uri="{FF2B5EF4-FFF2-40B4-BE49-F238E27FC236}">
                <a16:creationId xmlns:a16="http://schemas.microsoft.com/office/drawing/2014/main" id="{DFF0C0E8-A7C0-E661-0E8D-0790DB69F071}"/>
              </a:ext>
            </a:extLst>
          </p:cNvPr>
          <p:cNvSpPr txBox="1"/>
          <p:nvPr/>
        </p:nvSpPr>
        <p:spPr>
          <a:xfrm>
            <a:off x="6581210" y="280267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2410719"/>
            <a:ext cx="484632" cy="484632"/>
          </a:xfrm>
          <a:prstGeom prst="rect">
            <a:avLst/>
          </a:prstGeom>
        </p:spPr>
      </p:pic>
      <p:sp>
        <p:nvSpPr>
          <p:cNvPr id="41" name="TextBox 40">
            <a:extLst>
              <a:ext uri="{FF2B5EF4-FFF2-40B4-BE49-F238E27FC236}">
                <a16:creationId xmlns:a16="http://schemas.microsoft.com/office/drawing/2014/main" id="{3ADD4479-394D-5284-333D-15EC1496C3E5}"/>
              </a:ext>
            </a:extLst>
          </p:cNvPr>
          <p:cNvSpPr txBox="1"/>
          <p:nvPr/>
        </p:nvSpPr>
        <p:spPr>
          <a:xfrm>
            <a:off x="2272289" y="1982563"/>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TERRA</a:t>
            </a:r>
            <a:endParaRPr lang="en-IN" sz="1400" dirty="0">
              <a:solidFill>
                <a:schemeClr val="bg1"/>
              </a:solidFill>
              <a:cs typeface="Tahoma" pitchFamily="34" charset="0"/>
            </a:endParaRPr>
          </a:p>
        </p:txBody>
      </p:sp>
      <p:sp>
        <p:nvSpPr>
          <p:cNvPr id="42" name="TextBox 41">
            <a:extLst>
              <a:ext uri="{FF2B5EF4-FFF2-40B4-BE49-F238E27FC236}">
                <a16:creationId xmlns:a16="http://schemas.microsoft.com/office/drawing/2014/main" id="{BF31B888-450F-C926-4B96-189E01B5B219}"/>
              </a:ext>
            </a:extLst>
          </p:cNvPr>
          <p:cNvSpPr txBox="1"/>
          <p:nvPr/>
        </p:nvSpPr>
        <p:spPr>
          <a:xfrm>
            <a:off x="7895660" y="3748208"/>
            <a:ext cx="1370457" cy="332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TERRA</a:t>
            </a:r>
            <a:endParaRPr lang="en-IN" sz="1400" dirty="0">
              <a:solidFill>
                <a:schemeClr val="bg1"/>
              </a:solidFill>
              <a:cs typeface="Tahoma" pitchFamily="34" charset="0"/>
            </a:endParaRPr>
          </a:p>
        </p:txBody>
      </p:sp>
      <p:cxnSp>
        <p:nvCxnSpPr>
          <p:cNvPr id="54" name="Straight Arrow Connector 53">
            <a:extLst>
              <a:ext uri="{FF2B5EF4-FFF2-40B4-BE49-F238E27FC236}">
                <a16:creationId xmlns:a16="http://schemas.microsoft.com/office/drawing/2014/main" id="{20FB60AD-0C66-EB8E-7A9E-2BF9284E2D08}"/>
              </a:ext>
            </a:extLst>
          </p:cNvPr>
          <p:cNvCxnSpPr>
            <a:cxnSpLocks/>
          </p:cNvCxnSpPr>
          <p:nvPr/>
        </p:nvCxnSpPr>
        <p:spPr>
          <a:xfrm>
            <a:off x="7340543" y="391092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5AFC9B0-A3EB-3D37-2445-285AC5D4EFD0}"/>
              </a:ext>
            </a:extLst>
          </p:cNvPr>
          <p:cNvCxnSpPr/>
          <p:nvPr/>
        </p:nvCxnSpPr>
        <p:spPr>
          <a:xfrm>
            <a:off x="9501575" y="364766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19025C6-D715-7C43-4A80-8E17F1ED2631}"/>
              </a:ext>
            </a:extLst>
          </p:cNvPr>
          <p:cNvCxnSpPr/>
          <p:nvPr/>
        </p:nvCxnSpPr>
        <p:spPr>
          <a:xfrm>
            <a:off x="9501575" y="412925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9186B6C-B9AB-7CE0-F6A3-ED7E5B924C2E}"/>
              </a:ext>
            </a:extLst>
          </p:cNvPr>
          <p:cNvCxnSpPr>
            <a:cxnSpLocks/>
          </p:cNvCxnSpPr>
          <p:nvPr/>
        </p:nvCxnSpPr>
        <p:spPr>
          <a:xfrm flipV="1">
            <a:off x="9266117" y="3906666"/>
            <a:ext cx="25374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6DBE508-1B24-E84F-4918-AE6FA7A92645}"/>
              </a:ext>
            </a:extLst>
          </p:cNvPr>
          <p:cNvCxnSpPr>
            <a:cxnSpLocks/>
          </p:cNvCxnSpPr>
          <p:nvPr/>
        </p:nvCxnSpPr>
        <p:spPr>
          <a:xfrm flipV="1">
            <a:off x="9501575" y="3645995"/>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D265D12-3CE6-E937-8C01-D85728FBE291}"/>
              </a:ext>
            </a:extLst>
          </p:cNvPr>
          <p:cNvSpPr txBox="1"/>
          <p:nvPr/>
        </p:nvSpPr>
        <p:spPr>
          <a:xfrm>
            <a:off x="6614738" y="396091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pic>
        <p:nvPicPr>
          <p:cNvPr id="61" name="Graphic 60" descr="User with solid fill">
            <a:extLst>
              <a:ext uri="{FF2B5EF4-FFF2-40B4-BE49-F238E27FC236}">
                <a16:creationId xmlns:a16="http://schemas.microsoft.com/office/drawing/2014/main" id="{99EA1871-2D31-C0A0-6E1E-E75CAAA707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1520" y="3568959"/>
            <a:ext cx="484632" cy="484632"/>
          </a:xfrm>
          <a:prstGeom prst="rect">
            <a:avLst/>
          </a:prstGeom>
        </p:spPr>
      </p:pic>
      <p:sp>
        <p:nvSpPr>
          <p:cNvPr id="62" name="TextBox 61">
            <a:extLst>
              <a:ext uri="{FF2B5EF4-FFF2-40B4-BE49-F238E27FC236}">
                <a16:creationId xmlns:a16="http://schemas.microsoft.com/office/drawing/2014/main" id="{7335DF77-0E27-34A7-9899-A45AECB0C602}"/>
              </a:ext>
            </a:extLst>
          </p:cNvPr>
          <p:cNvSpPr txBox="1"/>
          <p:nvPr/>
        </p:nvSpPr>
        <p:spPr>
          <a:xfrm>
            <a:off x="10242239" y="3556784"/>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List of Prebuilt extractors</a:t>
            </a:r>
            <a:endParaRPr lang="en-IN" sz="1200" dirty="0">
              <a:solidFill>
                <a:srgbClr val="002240"/>
              </a:solidFill>
              <a:cs typeface="Tahoma" pitchFamily="34" charset="0"/>
            </a:endParaRPr>
          </a:p>
        </p:txBody>
      </p:sp>
      <p:sp>
        <p:nvSpPr>
          <p:cNvPr id="63" name="TextBox 62">
            <a:extLst>
              <a:ext uri="{FF2B5EF4-FFF2-40B4-BE49-F238E27FC236}">
                <a16:creationId xmlns:a16="http://schemas.microsoft.com/office/drawing/2014/main" id="{426609A1-848D-C17B-A7D0-FD93F058D9B1}"/>
              </a:ext>
            </a:extLst>
          </p:cNvPr>
          <p:cNvSpPr txBox="1"/>
          <p:nvPr/>
        </p:nvSpPr>
        <p:spPr>
          <a:xfrm>
            <a:off x="10229481" y="4072809"/>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Create Prebuilt Extractors</a:t>
            </a:r>
            <a:endParaRPr lang="en-IN" sz="1200" dirty="0">
              <a:solidFill>
                <a:srgbClr val="002240"/>
              </a:solidFill>
              <a:cs typeface="Tahoma" pitchFamily="34" charset="0"/>
            </a:endParaRPr>
          </a:p>
        </p:txBody>
      </p:sp>
      <p:sp>
        <p:nvSpPr>
          <p:cNvPr id="64" name="TextBox 63">
            <a:extLst>
              <a:ext uri="{FF2B5EF4-FFF2-40B4-BE49-F238E27FC236}">
                <a16:creationId xmlns:a16="http://schemas.microsoft.com/office/drawing/2014/main" id="{61D1590E-961E-412C-9956-BFFE63270D05}"/>
              </a:ext>
            </a:extLst>
          </p:cNvPr>
          <p:cNvSpPr txBox="1"/>
          <p:nvPr/>
        </p:nvSpPr>
        <p:spPr>
          <a:xfrm>
            <a:off x="4203959" y="1967879"/>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Datamart</a:t>
            </a:r>
            <a:endParaRPr lang="en-IN" sz="1400" dirty="0">
              <a:solidFill>
                <a:schemeClr val="bg1"/>
              </a:solidFill>
              <a:cs typeface="Tahoma" pitchFamily="34" charset="0"/>
            </a:endParaRPr>
          </a:p>
        </p:txBody>
      </p:sp>
      <p:cxnSp>
        <p:nvCxnSpPr>
          <p:cNvPr id="65" name="Straight Arrow Connector 64">
            <a:extLst>
              <a:ext uri="{FF2B5EF4-FFF2-40B4-BE49-F238E27FC236}">
                <a16:creationId xmlns:a16="http://schemas.microsoft.com/office/drawing/2014/main" id="{D0A4ADF1-93E9-3ADB-DEAF-DCDAA516A704}"/>
              </a:ext>
            </a:extLst>
          </p:cNvPr>
          <p:cNvCxnSpPr/>
          <p:nvPr/>
        </p:nvCxnSpPr>
        <p:spPr>
          <a:xfrm>
            <a:off x="9483287" y="291309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CE01B46E-FA85-2229-9AD7-6A7E2C5B2525}"/>
              </a:ext>
            </a:extLst>
          </p:cNvPr>
          <p:cNvSpPr txBox="1"/>
          <p:nvPr/>
        </p:nvSpPr>
        <p:spPr>
          <a:xfrm>
            <a:off x="10190422" y="2794252"/>
            <a:ext cx="1987860" cy="24895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Billing</a:t>
            </a:r>
            <a:endParaRPr lang="en-IN" sz="1200" dirty="0">
              <a:solidFill>
                <a:srgbClr val="002240"/>
              </a:solidFill>
              <a:cs typeface="Tahoma" pitchFamily="34" charset="0"/>
            </a:endParaRPr>
          </a:p>
        </p:txBody>
      </p:sp>
      <p:cxnSp>
        <p:nvCxnSpPr>
          <p:cNvPr id="69" name="Straight Arrow Connector 68">
            <a:extLst>
              <a:ext uri="{FF2B5EF4-FFF2-40B4-BE49-F238E27FC236}">
                <a16:creationId xmlns:a16="http://schemas.microsoft.com/office/drawing/2014/main" id="{C2B81905-993A-8839-EE2E-EC57A745F7B6}"/>
              </a:ext>
            </a:extLst>
          </p:cNvPr>
          <p:cNvCxnSpPr/>
          <p:nvPr/>
        </p:nvCxnSpPr>
        <p:spPr>
          <a:xfrm>
            <a:off x="9461570" y="152489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66A93D50-3E16-5731-6E46-A090AFCE8920}"/>
              </a:ext>
            </a:extLst>
          </p:cNvPr>
          <p:cNvSpPr txBox="1"/>
          <p:nvPr/>
        </p:nvSpPr>
        <p:spPr>
          <a:xfrm>
            <a:off x="10202233" y="1357122"/>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List of Accounts</a:t>
            </a:r>
            <a:endParaRPr lang="en-IN" sz="1200" dirty="0">
              <a:solidFill>
                <a:srgbClr val="002240"/>
              </a:solidFill>
              <a:cs typeface="Tahoma" pitchFamily="34" charset="0"/>
            </a:endParaRPr>
          </a:p>
        </p:txBody>
      </p:sp>
      <p:sp>
        <p:nvSpPr>
          <p:cNvPr id="72" name="TextBox 71">
            <a:extLst>
              <a:ext uri="{FF2B5EF4-FFF2-40B4-BE49-F238E27FC236}">
                <a16:creationId xmlns:a16="http://schemas.microsoft.com/office/drawing/2014/main" id="{7B7B4A4E-A209-BD50-C0BE-D1EEF6BA6CDA}"/>
              </a:ext>
            </a:extLst>
          </p:cNvPr>
          <p:cNvSpPr txBox="1"/>
          <p:nvPr/>
        </p:nvSpPr>
        <p:spPr>
          <a:xfrm>
            <a:off x="1462851" y="4766507"/>
            <a:ext cx="959559" cy="432150"/>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a:t>
            </a:r>
            <a:endParaRPr lang="en-IN" sz="1200" dirty="0">
              <a:solidFill>
                <a:srgbClr val="002240"/>
              </a:solidFill>
              <a:cs typeface="Tahoma" pitchFamily="34" charset="0"/>
            </a:endParaRPr>
          </a:p>
        </p:txBody>
      </p:sp>
      <p:sp>
        <p:nvSpPr>
          <p:cNvPr id="74" name="TextBox 73">
            <a:extLst>
              <a:ext uri="{FF2B5EF4-FFF2-40B4-BE49-F238E27FC236}">
                <a16:creationId xmlns:a16="http://schemas.microsoft.com/office/drawing/2014/main" id="{4798369A-0D61-4B52-8B85-C5F1D86DC59F}"/>
              </a:ext>
            </a:extLst>
          </p:cNvPr>
          <p:cNvSpPr txBox="1"/>
          <p:nvPr/>
        </p:nvSpPr>
        <p:spPr>
          <a:xfrm>
            <a:off x="338139" y="497921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pic>
        <p:nvPicPr>
          <p:cNvPr id="75" name="Graphic 74" descr="User with solid fill">
            <a:extLst>
              <a:ext uri="{FF2B5EF4-FFF2-40B4-BE49-F238E27FC236}">
                <a16:creationId xmlns:a16="http://schemas.microsoft.com/office/drawing/2014/main" id="{6D3AD800-CDB5-6DE1-D523-7C9DA18D5E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4921" y="4587258"/>
            <a:ext cx="484632" cy="484632"/>
          </a:xfrm>
          <a:prstGeom prst="rect">
            <a:avLst/>
          </a:prstGeom>
        </p:spPr>
      </p:pic>
      <p:cxnSp>
        <p:nvCxnSpPr>
          <p:cNvPr id="76" name="Straight Arrow Connector 75">
            <a:extLst>
              <a:ext uri="{FF2B5EF4-FFF2-40B4-BE49-F238E27FC236}">
                <a16:creationId xmlns:a16="http://schemas.microsoft.com/office/drawing/2014/main" id="{49589163-D6E1-61DA-865A-D48FF676599D}"/>
              </a:ext>
            </a:extLst>
          </p:cNvPr>
          <p:cNvCxnSpPr>
            <a:cxnSpLocks/>
          </p:cNvCxnSpPr>
          <p:nvPr/>
        </p:nvCxnSpPr>
        <p:spPr>
          <a:xfrm>
            <a:off x="933833" y="491207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DBDFEED8-7817-0376-9108-118F02C3375A}"/>
              </a:ext>
            </a:extLst>
          </p:cNvPr>
          <p:cNvSpPr txBox="1"/>
          <p:nvPr/>
        </p:nvSpPr>
        <p:spPr>
          <a:xfrm>
            <a:off x="2957519" y="4785299"/>
            <a:ext cx="1029265" cy="413339"/>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400">
                <a:solidFill>
                  <a:srgbClr val="002240"/>
                </a:solidFill>
                <a:cs typeface="Tahoma" pitchFamily="34" charset="0"/>
              </a:defRPr>
            </a:lvl1pPr>
          </a:lstStyle>
          <a:p>
            <a:r>
              <a:rPr lang="en-US" sz="1200" dirty="0"/>
              <a:t>Activation/</a:t>
            </a:r>
          </a:p>
          <a:p>
            <a:r>
              <a:rPr lang="en-US" sz="1200" dirty="0"/>
              <a:t>Deactivation</a:t>
            </a:r>
            <a:endParaRPr lang="en-IN" sz="1200" dirty="0"/>
          </a:p>
        </p:txBody>
      </p:sp>
      <p:cxnSp>
        <p:nvCxnSpPr>
          <p:cNvPr id="79" name="Straight Arrow Connector 78">
            <a:extLst>
              <a:ext uri="{FF2B5EF4-FFF2-40B4-BE49-F238E27FC236}">
                <a16:creationId xmlns:a16="http://schemas.microsoft.com/office/drawing/2014/main" id="{05E3A518-2291-E076-E6A1-B420AB3CD19E}"/>
              </a:ext>
            </a:extLst>
          </p:cNvPr>
          <p:cNvCxnSpPr>
            <a:cxnSpLocks/>
          </p:cNvCxnSpPr>
          <p:nvPr/>
        </p:nvCxnSpPr>
        <p:spPr>
          <a:xfrm>
            <a:off x="2422410" y="497921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54530B2C-E009-4662-5CCC-6F082B9CF6EF}"/>
              </a:ext>
            </a:extLst>
          </p:cNvPr>
          <p:cNvSpPr txBox="1"/>
          <p:nvPr/>
        </p:nvSpPr>
        <p:spPr>
          <a:xfrm>
            <a:off x="4438097" y="4714909"/>
            <a:ext cx="1188659" cy="653460"/>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Add Users/Remove Users</a:t>
            </a:r>
            <a:endParaRPr lang="en-IN" dirty="0"/>
          </a:p>
        </p:txBody>
      </p:sp>
      <p:cxnSp>
        <p:nvCxnSpPr>
          <p:cNvPr id="82" name="Straight Arrow Connector 81">
            <a:extLst>
              <a:ext uri="{FF2B5EF4-FFF2-40B4-BE49-F238E27FC236}">
                <a16:creationId xmlns:a16="http://schemas.microsoft.com/office/drawing/2014/main" id="{A9A8EA35-3A5A-056B-B50C-C5F47475F6F1}"/>
              </a:ext>
            </a:extLst>
          </p:cNvPr>
          <p:cNvCxnSpPr>
            <a:cxnSpLocks/>
          </p:cNvCxnSpPr>
          <p:nvPr/>
        </p:nvCxnSpPr>
        <p:spPr>
          <a:xfrm>
            <a:off x="3953465" y="49648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14F6F8D5-8E18-CAAA-EAF9-78F32BA6F7C0}"/>
              </a:ext>
            </a:extLst>
          </p:cNvPr>
          <p:cNvCxnSpPr>
            <a:cxnSpLocks/>
          </p:cNvCxnSpPr>
          <p:nvPr/>
        </p:nvCxnSpPr>
        <p:spPr>
          <a:xfrm>
            <a:off x="5691575" y="49648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641CDA63-B456-DEF4-4BFF-B87FE7CBA0B3}"/>
              </a:ext>
            </a:extLst>
          </p:cNvPr>
          <p:cNvSpPr txBox="1"/>
          <p:nvPr/>
        </p:nvSpPr>
        <p:spPr>
          <a:xfrm>
            <a:off x="6256669" y="4641908"/>
            <a:ext cx="1268843" cy="1068257"/>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Access to respective applications/</a:t>
            </a:r>
          </a:p>
          <a:p>
            <a:r>
              <a:rPr lang="en-US" dirty="0"/>
              <a:t>services</a:t>
            </a:r>
            <a:endParaRPr lang="en-IN" dirty="0"/>
          </a:p>
        </p:txBody>
      </p:sp>
    </p:spTree>
    <p:extLst>
      <p:ext uri="{BB962C8B-B14F-4D97-AF65-F5344CB8AC3E}">
        <p14:creationId xmlns:p14="http://schemas.microsoft.com/office/powerpoint/2010/main" val="3007389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72" name="TextBox 71">
            <a:extLst>
              <a:ext uri="{FF2B5EF4-FFF2-40B4-BE49-F238E27FC236}">
                <a16:creationId xmlns:a16="http://schemas.microsoft.com/office/drawing/2014/main" id="{7B7B4A4E-A209-BD50-C0BE-D1EEF6BA6CDA}"/>
              </a:ext>
            </a:extLst>
          </p:cNvPr>
          <p:cNvSpPr txBox="1"/>
          <p:nvPr/>
        </p:nvSpPr>
        <p:spPr>
          <a:xfrm>
            <a:off x="2102931" y="1694123"/>
            <a:ext cx="959559" cy="432150"/>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 tenant account</a:t>
            </a:r>
            <a:endParaRPr lang="en-IN" sz="1200" dirty="0">
              <a:solidFill>
                <a:srgbClr val="002240"/>
              </a:solidFill>
              <a:cs typeface="Tahoma" pitchFamily="34" charset="0"/>
            </a:endParaRPr>
          </a:p>
        </p:txBody>
      </p:sp>
      <p:sp>
        <p:nvSpPr>
          <p:cNvPr id="74" name="TextBox 73">
            <a:extLst>
              <a:ext uri="{FF2B5EF4-FFF2-40B4-BE49-F238E27FC236}">
                <a16:creationId xmlns:a16="http://schemas.microsoft.com/office/drawing/2014/main" id="{4798369A-0D61-4B52-8B85-C5F1D86DC59F}"/>
              </a:ext>
            </a:extLst>
          </p:cNvPr>
          <p:cNvSpPr txBox="1"/>
          <p:nvPr/>
        </p:nvSpPr>
        <p:spPr>
          <a:xfrm>
            <a:off x="978219" y="19068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pic>
        <p:nvPicPr>
          <p:cNvPr id="75" name="Graphic 74" descr="User with solid fill">
            <a:extLst>
              <a:ext uri="{FF2B5EF4-FFF2-40B4-BE49-F238E27FC236}">
                <a16:creationId xmlns:a16="http://schemas.microsoft.com/office/drawing/2014/main" id="{6D3AD800-CDB5-6DE1-D523-7C9DA18D5E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35001" y="1514874"/>
            <a:ext cx="484632" cy="484632"/>
          </a:xfrm>
          <a:prstGeom prst="rect">
            <a:avLst/>
          </a:prstGeom>
        </p:spPr>
      </p:pic>
      <p:cxnSp>
        <p:nvCxnSpPr>
          <p:cNvPr id="76" name="Straight Arrow Connector 75">
            <a:extLst>
              <a:ext uri="{FF2B5EF4-FFF2-40B4-BE49-F238E27FC236}">
                <a16:creationId xmlns:a16="http://schemas.microsoft.com/office/drawing/2014/main" id="{49589163-D6E1-61DA-865A-D48FF676599D}"/>
              </a:ext>
            </a:extLst>
          </p:cNvPr>
          <p:cNvCxnSpPr>
            <a:cxnSpLocks/>
          </p:cNvCxnSpPr>
          <p:nvPr/>
        </p:nvCxnSpPr>
        <p:spPr>
          <a:xfrm>
            <a:off x="1573913" y="183969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DBDFEED8-7817-0376-9108-118F02C3375A}"/>
              </a:ext>
            </a:extLst>
          </p:cNvPr>
          <p:cNvSpPr txBox="1"/>
          <p:nvPr/>
        </p:nvSpPr>
        <p:spPr>
          <a:xfrm>
            <a:off x="3597599" y="1712915"/>
            <a:ext cx="1029265" cy="413339"/>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400">
                <a:solidFill>
                  <a:srgbClr val="002240"/>
                </a:solidFill>
                <a:cs typeface="Tahoma" pitchFamily="34" charset="0"/>
              </a:defRPr>
            </a:lvl1pPr>
          </a:lstStyle>
          <a:p>
            <a:r>
              <a:rPr lang="en-US" sz="1200" dirty="0"/>
              <a:t>Activation/</a:t>
            </a:r>
          </a:p>
          <a:p>
            <a:r>
              <a:rPr lang="en-US" sz="1200" dirty="0"/>
              <a:t>Deactivation</a:t>
            </a:r>
            <a:endParaRPr lang="en-IN" sz="1200" dirty="0"/>
          </a:p>
        </p:txBody>
      </p:sp>
      <p:cxnSp>
        <p:nvCxnSpPr>
          <p:cNvPr id="79" name="Straight Arrow Connector 78">
            <a:extLst>
              <a:ext uri="{FF2B5EF4-FFF2-40B4-BE49-F238E27FC236}">
                <a16:creationId xmlns:a16="http://schemas.microsoft.com/office/drawing/2014/main" id="{05E3A518-2291-E076-E6A1-B420AB3CD19E}"/>
              </a:ext>
            </a:extLst>
          </p:cNvPr>
          <p:cNvCxnSpPr>
            <a:cxnSpLocks/>
          </p:cNvCxnSpPr>
          <p:nvPr/>
        </p:nvCxnSpPr>
        <p:spPr>
          <a:xfrm>
            <a:off x="3062490" y="190683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54530B2C-E009-4662-5CCC-6F082B9CF6EF}"/>
              </a:ext>
            </a:extLst>
          </p:cNvPr>
          <p:cNvSpPr txBox="1"/>
          <p:nvPr/>
        </p:nvSpPr>
        <p:spPr>
          <a:xfrm>
            <a:off x="5078177" y="1642525"/>
            <a:ext cx="1188659" cy="653460"/>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Add Users/Remove Users</a:t>
            </a:r>
            <a:endParaRPr lang="en-IN" dirty="0"/>
          </a:p>
        </p:txBody>
      </p:sp>
      <p:cxnSp>
        <p:nvCxnSpPr>
          <p:cNvPr id="82" name="Straight Arrow Connector 81">
            <a:extLst>
              <a:ext uri="{FF2B5EF4-FFF2-40B4-BE49-F238E27FC236}">
                <a16:creationId xmlns:a16="http://schemas.microsoft.com/office/drawing/2014/main" id="{A9A8EA35-3A5A-056B-B50C-C5F47475F6F1}"/>
              </a:ext>
            </a:extLst>
          </p:cNvPr>
          <p:cNvCxnSpPr>
            <a:cxnSpLocks/>
          </p:cNvCxnSpPr>
          <p:nvPr/>
        </p:nvCxnSpPr>
        <p:spPr>
          <a:xfrm>
            <a:off x="4593545" y="189241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14F6F8D5-8E18-CAAA-EAF9-78F32BA6F7C0}"/>
              </a:ext>
            </a:extLst>
          </p:cNvPr>
          <p:cNvCxnSpPr>
            <a:cxnSpLocks/>
          </p:cNvCxnSpPr>
          <p:nvPr/>
        </p:nvCxnSpPr>
        <p:spPr>
          <a:xfrm>
            <a:off x="6331655" y="189241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641CDA63-B456-DEF4-4BFF-B87FE7CBA0B3}"/>
              </a:ext>
            </a:extLst>
          </p:cNvPr>
          <p:cNvSpPr txBox="1"/>
          <p:nvPr/>
        </p:nvSpPr>
        <p:spPr>
          <a:xfrm>
            <a:off x="6896749" y="1569524"/>
            <a:ext cx="1268843" cy="1068257"/>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Access to respective applications/</a:t>
            </a:r>
          </a:p>
          <a:p>
            <a:r>
              <a:rPr lang="en-US" dirty="0"/>
              <a:t>services</a:t>
            </a:r>
            <a:endParaRPr lang="en-IN" dirty="0"/>
          </a:p>
        </p:txBody>
      </p:sp>
      <p:sp>
        <p:nvSpPr>
          <p:cNvPr id="35" name="Rectangle: Rounded Corners 34">
            <a:extLst>
              <a:ext uri="{FF2B5EF4-FFF2-40B4-BE49-F238E27FC236}">
                <a16:creationId xmlns:a16="http://schemas.microsoft.com/office/drawing/2014/main" id="{07ED0D7F-FAF6-8529-8B25-0F59ECF4619E}"/>
              </a:ext>
            </a:extLst>
          </p:cNvPr>
          <p:cNvSpPr/>
          <p:nvPr/>
        </p:nvSpPr>
        <p:spPr>
          <a:xfrm>
            <a:off x="3778411" y="365760"/>
            <a:ext cx="3472781" cy="41333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Account Creation &amp; Access</a:t>
            </a:r>
            <a:endParaRPr lang="en-IN" dirty="0"/>
          </a:p>
        </p:txBody>
      </p:sp>
      <p:sp>
        <p:nvSpPr>
          <p:cNvPr id="36" name="Rectangle: Rounded Corners 35">
            <a:extLst>
              <a:ext uri="{FF2B5EF4-FFF2-40B4-BE49-F238E27FC236}">
                <a16:creationId xmlns:a16="http://schemas.microsoft.com/office/drawing/2014/main" id="{FA590002-1218-ADDB-5E37-D87423455850}"/>
              </a:ext>
            </a:extLst>
          </p:cNvPr>
          <p:cNvSpPr/>
          <p:nvPr/>
        </p:nvSpPr>
        <p:spPr>
          <a:xfrm>
            <a:off x="3778410" y="3047735"/>
            <a:ext cx="4295742" cy="41333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Monitoring (Overall and Account wise)</a:t>
            </a:r>
            <a:endParaRPr lang="en-IN" dirty="0"/>
          </a:p>
        </p:txBody>
      </p:sp>
      <p:sp>
        <p:nvSpPr>
          <p:cNvPr id="37" name="TextBox 36">
            <a:extLst>
              <a:ext uri="{FF2B5EF4-FFF2-40B4-BE49-F238E27FC236}">
                <a16:creationId xmlns:a16="http://schemas.microsoft.com/office/drawing/2014/main" id="{ABFF1018-237E-5659-7FD6-FACE5A550DB7}"/>
              </a:ext>
            </a:extLst>
          </p:cNvPr>
          <p:cNvSpPr txBox="1"/>
          <p:nvPr/>
        </p:nvSpPr>
        <p:spPr>
          <a:xfrm>
            <a:off x="2139507" y="4093746"/>
            <a:ext cx="959559" cy="432150"/>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Account Wise Statistics</a:t>
            </a:r>
            <a:endParaRPr lang="en-IN" sz="1200" dirty="0">
              <a:solidFill>
                <a:srgbClr val="002240"/>
              </a:solidFill>
              <a:cs typeface="Tahoma" pitchFamily="34" charset="0"/>
            </a:endParaRPr>
          </a:p>
        </p:txBody>
      </p:sp>
      <p:sp>
        <p:nvSpPr>
          <p:cNvPr id="38" name="TextBox 37">
            <a:extLst>
              <a:ext uri="{FF2B5EF4-FFF2-40B4-BE49-F238E27FC236}">
                <a16:creationId xmlns:a16="http://schemas.microsoft.com/office/drawing/2014/main" id="{337072F0-3B4A-A4B7-846A-E51F0CFB3944}"/>
              </a:ext>
            </a:extLst>
          </p:cNvPr>
          <p:cNvSpPr txBox="1"/>
          <p:nvPr/>
        </p:nvSpPr>
        <p:spPr>
          <a:xfrm>
            <a:off x="1014795" y="4306454"/>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pic>
        <p:nvPicPr>
          <p:cNvPr id="59" name="Graphic 58" descr="User with solid fill">
            <a:extLst>
              <a:ext uri="{FF2B5EF4-FFF2-40B4-BE49-F238E27FC236}">
                <a16:creationId xmlns:a16="http://schemas.microsoft.com/office/drawing/2014/main" id="{B739B820-AD76-167C-B8B2-0DBD1829DC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71577" y="3914497"/>
            <a:ext cx="484632" cy="484632"/>
          </a:xfrm>
          <a:prstGeom prst="rect">
            <a:avLst/>
          </a:prstGeom>
        </p:spPr>
      </p:pic>
      <p:cxnSp>
        <p:nvCxnSpPr>
          <p:cNvPr id="67" name="Straight Arrow Connector 66">
            <a:extLst>
              <a:ext uri="{FF2B5EF4-FFF2-40B4-BE49-F238E27FC236}">
                <a16:creationId xmlns:a16="http://schemas.microsoft.com/office/drawing/2014/main" id="{85E19C09-B883-B762-DD45-DCEE4FFE9D1D}"/>
              </a:ext>
            </a:extLst>
          </p:cNvPr>
          <p:cNvCxnSpPr>
            <a:cxnSpLocks/>
          </p:cNvCxnSpPr>
          <p:nvPr/>
        </p:nvCxnSpPr>
        <p:spPr>
          <a:xfrm>
            <a:off x="1610489" y="4239318"/>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8014BE2-6DE4-8B62-A01F-60C038E93F5A}"/>
              </a:ext>
            </a:extLst>
          </p:cNvPr>
          <p:cNvSpPr txBox="1"/>
          <p:nvPr/>
        </p:nvSpPr>
        <p:spPr>
          <a:xfrm>
            <a:off x="3634175" y="4112537"/>
            <a:ext cx="1326464" cy="1456155"/>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400">
                <a:solidFill>
                  <a:srgbClr val="002240"/>
                </a:solidFill>
                <a:cs typeface="Tahoma" pitchFamily="34" charset="0"/>
              </a:defRPr>
            </a:lvl1pPr>
          </a:lstStyle>
          <a:p>
            <a:r>
              <a:rPr lang="en-US" sz="1200" dirty="0"/>
              <a:t>Select a particular account to go in detail</a:t>
            </a:r>
            <a:endParaRPr lang="en-IN" sz="1200" dirty="0"/>
          </a:p>
        </p:txBody>
      </p:sp>
      <p:cxnSp>
        <p:nvCxnSpPr>
          <p:cNvPr id="71" name="Straight Arrow Connector 70">
            <a:extLst>
              <a:ext uri="{FF2B5EF4-FFF2-40B4-BE49-F238E27FC236}">
                <a16:creationId xmlns:a16="http://schemas.microsoft.com/office/drawing/2014/main" id="{004DC423-0C8E-2FF4-009D-2C31435A7EC8}"/>
              </a:ext>
            </a:extLst>
          </p:cNvPr>
          <p:cNvCxnSpPr>
            <a:cxnSpLocks/>
          </p:cNvCxnSpPr>
          <p:nvPr/>
        </p:nvCxnSpPr>
        <p:spPr>
          <a:xfrm>
            <a:off x="3099066" y="4306454"/>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7B681B74-D311-15F8-AD8C-4CC6C1C1CCAC}"/>
              </a:ext>
            </a:extLst>
          </p:cNvPr>
          <p:cNvSpPr txBox="1"/>
          <p:nvPr/>
        </p:nvSpPr>
        <p:spPr>
          <a:xfrm>
            <a:off x="5456716" y="4093746"/>
            <a:ext cx="1253478" cy="653460"/>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Select Extractors Health Check Tab</a:t>
            </a:r>
            <a:endParaRPr lang="en-IN" dirty="0"/>
          </a:p>
        </p:txBody>
      </p:sp>
      <p:cxnSp>
        <p:nvCxnSpPr>
          <p:cNvPr id="78" name="Straight Arrow Connector 77">
            <a:extLst>
              <a:ext uri="{FF2B5EF4-FFF2-40B4-BE49-F238E27FC236}">
                <a16:creationId xmlns:a16="http://schemas.microsoft.com/office/drawing/2014/main" id="{46F6ABD7-EC16-09A8-68F7-52E93D86B121}"/>
              </a:ext>
            </a:extLst>
          </p:cNvPr>
          <p:cNvCxnSpPr>
            <a:cxnSpLocks/>
          </p:cNvCxnSpPr>
          <p:nvPr/>
        </p:nvCxnSpPr>
        <p:spPr>
          <a:xfrm>
            <a:off x="4972084" y="4343640"/>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7C34AE3D-297C-EE6C-F99B-F4E5B6192656}"/>
              </a:ext>
            </a:extLst>
          </p:cNvPr>
          <p:cNvCxnSpPr>
            <a:cxnSpLocks/>
          </p:cNvCxnSpPr>
          <p:nvPr/>
        </p:nvCxnSpPr>
        <p:spPr>
          <a:xfrm>
            <a:off x="6710194" y="4343640"/>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35F29BDD-E817-B1D4-7714-C00D0FF663A3}"/>
              </a:ext>
            </a:extLst>
          </p:cNvPr>
          <p:cNvSpPr txBox="1"/>
          <p:nvPr/>
        </p:nvSpPr>
        <p:spPr>
          <a:xfrm>
            <a:off x="7275288" y="4020746"/>
            <a:ext cx="2161320" cy="578686"/>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Provides the Health check on the Extractors running</a:t>
            </a:r>
            <a:endParaRPr lang="en-IN" dirty="0"/>
          </a:p>
        </p:txBody>
      </p:sp>
      <p:sp>
        <p:nvSpPr>
          <p:cNvPr id="86" name="TextBox 85">
            <a:extLst>
              <a:ext uri="{FF2B5EF4-FFF2-40B4-BE49-F238E27FC236}">
                <a16:creationId xmlns:a16="http://schemas.microsoft.com/office/drawing/2014/main" id="{DCE54373-0C5D-3E2F-BF3E-69D22633E144}"/>
              </a:ext>
            </a:extLst>
          </p:cNvPr>
          <p:cNvSpPr txBox="1"/>
          <p:nvPr/>
        </p:nvSpPr>
        <p:spPr>
          <a:xfrm>
            <a:off x="5461404" y="4838084"/>
            <a:ext cx="1188659" cy="653460"/>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Select Pipelines Health Check tab</a:t>
            </a:r>
            <a:endParaRPr lang="en-IN" dirty="0"/>
          </a:p>
        </p:txBody>
      </p:sp>
      <p:cxnSp>
        <p:nvCxnSpPr>
          <p:cNvPr id="87" name="Straight Arrow Connector 86">
            <a:extLst>
              <a:ext uri="{FF2B5EF4-FFF2-40B4-BE49-F238E27FC236}">
                <a16:creationId xmlns:a16="http://schemas.microsoft.com/office/drawing/2014/main" id="{3E50364A-6488-C767-6899-7B787EADF68D}"/>
              </a:ext>
            </a:extLst>
          </p:cNvPr>
          <p:cNvCxnSpPr>
            <a:cxnSpLocks/>
          </p:cNvCxnSpPr>
          <p:nvPr/>
        </p:nvCxnSpPr>
        <p:spPr>
          <a:xfrm>
            <a:off x="4976772" y="5087978"/>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D9E50153-91D6-5DF2-6685-9A546F519F13}"/>
              </a:ext>
            </a:extLst>
          </p:cNvPr>
          <p:cNvCxnSpPr>
            <a:cxnSpLocks/>
          </p:cNvCxnSpPr>
          <p:nvPr/>
        </p:nvCxnSpPr>
        <p:spPr>
          <a:xfrm>
            <a:off x="6710194" y="5160978"/>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1898F290-AA12-78A8-95E0-A57394407394}"/>
              </a:ext>
            </a:extLst>
          </p:cNvPr>
          <p:cNvSpPr txBox="1"/>
          <p:nvPr/>
        </p:nvSpPr>
        <p:spPr>
          <a:xfrm>
            <a:off x="7275288" y="4838084"/>
            <a:ext cx="2161320" cy="578686"/>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Provides the Health check on the Pipelines running</a:t>
            </a:r>
            <a:endParaRPr lang="en-IN" dirty="0"/>
          </a:p>
        </p:txBody>
      </p:sp>
    </p:spTree>
    <p:extLst>
      <p:ext uri="{BB962C8B-B14F-4D97-AF65-F5344CB8AC3E}">
        <p14:creationId xmlns:p14="http://schemas.microsoft.com/office/powerpoint/2010/main" val="3671056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772344"/>
            <a:ext cx="4841748" cy="3031354"/>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2280852"/>
            <a:ext cx="4368547" cy="1276246"/>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124462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98976" y="106495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3760" y="772344"/>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6281" y="1229544"/>
            <a:ext cx="1136143" cy="617335"/>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rgbClr val="002240"/>
                </a:solidFill>
                <a:cs typeface="Tahoma" pitchFamily="34" charset="0"/>
              </a:rPr>
              <a:t>Acct Manager</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81806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5" name="TextBox 4">
            <a:extLst>
              <a:ext uri="{FF2B5EF4-FFF2-40B4-BE49-F238E27FC236}">
                <a16:creationId xmlns:a16="http://schemas.microsoft.com/office/drawing/2014/main" id="{25E5E917-F4CC-06B2-7F70-AE31453ABE99}"/>
              </a:ext>
            </a:extLst>
          </p:cNvPr>
          <p:cNvSpPr txBox="1"/>
          <p:nvPr/>
        </p:nvSpPr>
        <p:spPr>
          <a:xfrm>
            <a:off x="1553731" y="1441135"/>
            <a:ext cx="1370457" cy="30538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Project Account </a:t>
            </a:r>
            <a:endParaRPr lang="en-IN" sz="1400" dirty="0">
              <a:solidFill>
                <a:schemeClr val="bg1"/>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792260" y="2343358"/>
            <a:ext cx="2300859" cy="33387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Statistics</a:t>
            </a:r>
            <a:endParaRPr lang="en-IN" sz="1600" dirty="0">
              <a:cs typeface="Tahoma" pitchFamily="34" charset="0"/>
            </a:endParaRPr>
          </a:p>
        </p:txBody>
      </p:sp>
      <p:sp>
        <p:nvSpPr>
          <p:cNvPr id="13" name="TextBox 12">
            <a:extLst>
              <a:ext uri="{FF2B5EF4-FFF2-40B4-BE49-F238E27FC236}">
                <a16:creationId xmlns:a16="http://schemas.microsoft.com/office/drawing/2014/main" id="{D3422962-8E9A-1A37-E9E1-11024CB8C23E}"/>
              </a:ext>
            </a:extLst>
          </p:cNvPr>
          <p:cNvSpPr txBox="1"/>
          <p:nvPr/>
        </p:nvSpPr>
        <p:spPr>
          <a:xfrm>
            <a:off x="8049203" y="1425013"/>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Project Account </a:t>
            </a:r>
            <a:endParaRPr lang="en-IN" sz="1400" dirty="0">
              <a:solidFill>
                <a:schemeClr val="bg1"/>
              </a:solidFill>
              <a:cs typeface="Tahoma" pitchFamily="34" charset="0"/>
            </a:endParaRPr>
          </a:p>
        </p:txBody>
      </p:sp>
      <p:cxnSp>
        <p:nvCxnSpPr>
          <p:cNvPr id="15" name="Straight Arrow Connector 14">
            <a:extLst>
              <a:ext uri="{FF2B5EF4-FFF2-40B4-BE49-F238E27FC236}">
                <a16:creationId xmlns:a16="http://schemas.microsoft.com/office/drawing/2014/main" id="{D8906AE6-5DE6-8A92-487F-5F627FBCD5BB}"/>
              </a:ext>
            </a:extLst>
          </p:cNvPr>
          <p:cNvCxnSpPr>
            <a:cxnSpLocks/>
          </p:cNvCxnSpPr>
          <p:nvPr/>
        </p:nvCxnSpPr>
        <p:spPr>
          <a:xfrm>
            <a:off x="7494086" y="158772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 with solid fill">
            <a:extLst>
              <a:ext uri="{FF2B5EF4-FFF2-40B4-BE49-F238E27FC236}">
                <a16:creationId xmlns:a16="http://schemas.microsoft.com/office/drawing/2014/main" id="{64505726-C6E1-0FB8-5A5C-9002574094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08870" y="1295120"/>
            <a:ext cx="484632" cy="484632"/>
          </a:xfrm>
          <a:prstGeom prst="rect">
            <a:avLst/>
          </a:prstGeom>
        </p:spPr>
      </p:pic>
      <p:cxnSp>
        <p:nvCxnSpPr>
          <p:cNvPr id="32" name="Straight Arrow Connector 31">
            <a:extLst>
              <a:ext uri="{FF2B5EF4-FFF2-40B4-BE49-F238E27FC236}">
                <a16:creationId xmlns:a16="http://schemas.microsoft.com/office/drawing/2014/main" id="{999FC199-FB3F-7598-2C7F-51496D98E797}"/>
              </a:ext>
            </a:extLst>
          </p:cNvPr>
          <p:cNvCxnSpPr/>
          <p:nvPr/>
        </p:nvCxnSpPr>
        <p:spPr>
          <a:xfrm>
            <a:off x="9655118" y="133361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4F52362-F02C-9E74-E8C6-32015FD63DCC}"/>
              </a:ext>
            </a:extLst>
          </p:cNvPr>
          <p:cNvCxnSpPr/>
          <p:nvPr/>
        </p:nvCxnSpPr>
        <p:spPr>
          <a:xfrm>
            <a:off x="9655118" y="181520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D7E6764-2812-0034-0C03-9D4F192DF1CB}"/>
              </a:ext>
            </a:extLst>
          </p:cNvPr>
          <p:cNvCxnSpPr>
            <a:stCxn id="13" idx="3"/>
          </p:cNvCxnSpPr>
          <p:nvPr/>
        </p:nvCxnSpPr>
        <p:spPr>
          <a:xfrm>
            <a:off x="9419660" y="1577705"/>
            <a:ext cx="253746" cy="10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7422B8-8E68-99FA-B286-5C09F7926924}"/>
              </a:ext>
            </a:extLst>
          </p:cNvPr>
          <p:cNvCxnSpPr>
            <a:cxnSpLocks/>
          </p:cNvCxnSpPr>
          <p:nvPr/>
        </p:nvCxnSpPr>
        <p:spPr>
          <a:xfrm flipV="1">
            <a:off x="9655118" y="1331944"/>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29BD638-4BAD-5F86-28C9-B3912110D37F}"/>
              </a:ext>
            </a:extLst>
          </p:cNvPr>
          <p:cNvSpPr txBox="1"/>
          <p:nvPr/>
        </p:nvSpPr>
        <p:spPr>
          <a:xfrm>
            <a:off x="10368349" y="1165844"/>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a:t>
            </a:r>
            <a:endParaRPr lang="en-IN" sz="1200" dirty="0">
              <a:solidFill>
                <a:srgbClr val="002240"/>
              </a:solidFill>
              <a:cs typeface="Tahoma" pitchFamily="34" charset="0"/>
            </a:endParaRPr>
          </a:p>
        </p:txBody>
      </p:sp>
      <p:sp>
        <p:nvSpPr>
          <p:cNvPr id="44" name="TextBox 43">
            <a:extLst>
              <a:ext uri="{FF2B5EF4-FFF2-40B4-BE49-F238E27FC236}">
                <a16:creationId xmlns:a16="http://schemas.microsoft.com/office/drawing/2014/main" id="{363C94F5-79EB-C25B-A064-7046D16DF0CA}"/>
              </a:ext>
            </a:extLst>
          </p:cNvPr>
          <p:cNvSpPr txBox="1"/>
          <p:nvPr/>
        </p:nvSpPr>
        <p:spPr>
          <a:xfrm>
            <a:off x="10343965" y="1723785"/>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Subscription/Access</a:t>
            </a:r>
            <a:endParaRPr lang="en-IN" sz="1200" dirty="0">
              <a:solidFill>
                <a:srgbClr val="002240"/>
              </a:solidFill>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488371" y="270273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A39DE47-E4C7-A5CB-D7BA-C45999AB251A}"/>
              </a:ext>
            </a:extLst>
          </p:cNvPr>
          <p:cNvCxnSpPr/>
          <p:nvPr/>
        </p:nvCxnSpPr>
        <p:spPr>
          <a:xfrm>
            <a:off x="9649403" y="244862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0636AA2-6F53-3A56-074D-83AD4964B716}"/>
              </a:ext>
            </a:extLst>
          </p:cNvPr>
          <p:cNvCxnSpPr/>
          <p:nvPr/>
        </p:nvCxnSpPr>
        <p:spPr>
          <a:xfrm>
            <a:off x="9649403" y="293020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4E77D04-AA2B-9C15-C95A-320377583BA4}"/>
              </a:ext>
            </a:extLst>
          </p:cNvPr>
          <p:cNvCxnSpPr>
            <a:cxnSpLocks/>
          </p:cNvCxnSpPr>
          <p:nvPr/>
        </p:nvCxnSpPr>
        <p:spPr>
          <a:xfrm>
            <a:off x="9413945" y="2692713"/>
            <a:ext cx="253746" cy="10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0694299-0104-0931-56FF-D69BB06E5DD8}"/>
              </a:ext>
            </a:extLst>
          </p:cNvPr>
          <p:cNvCxnSpPr>
            <a:cxnSpLocks/>
          </p:cNvCxnSpPr>
          <p:nvPr/>
        </p:nvCxnSpPr>
        <p:spPr>
          <a:xfrm flipV="1">
            <a:off x="9649403" y="2446952"/>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5FA625B-DD26-4AFA-16C9-E30DCD9B46C9}"/>
              </a:ext>
            </a:extLst>
          </p:cNvPr>
          <p:cNvSpPr txBox="1"/>
          <p:nvPr/>
        </p:nvSpPr>
        <p:spPr>
          <a:xfrm>
            <a:off x="10362634" y="2280852"/>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 of Project Level Accts</a:t>
            </a:r>
            <a:endParaRPr lang="en-IN" sz="1200" dirty="0">
              <a:solidFill>
                <a:srgbClr val="002240"/>
              </a:solidFill>
              <a:cs typeface="Tahoma" pitchFamily="34" charset="0"/>
            </a:endParaRPr>
          </a:p>
        </p:txBody>
      </p:sp>
      <p:sp>
        <p:nvSpPr>
          <p:cNvPr id="52" name="TextBox 51">
            <a:extLst>
              <a:ext uri="{FF2B5EF4-FFF2-40B4-BE49-F238E27FC236}">
                <a16:creationId xmlns:a16="http://schemas.microsoft.com/office/drawing/2014/main" id="{99B141DC-2C1F-0B62-175F-2D95DD15BCD5}"/>
              </a:ext>
            </a:extLst>
          </p:cNvPr>
          <p:cNvSpPr txBox="1"/>
          <p:nvPr/>
        </p:nvSpPr>
        <p:spPr>
          <a:xfrm>
            <a:off x="10356538" y="2756497"/>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Activation/Deactivation Project Level Accts</a:t>
            </a:r>
            <a:endParaRPr lang="en-IN" sz="1200" dirty="0">
              <a:solidFill>
                <a:srgbClr val="002240"/>
              </a:solidFill>
              <a:cs typeface="Tahoma" pitchFamily="34" charset="0"/>
            </a:endParaRPr>
          </a:p>
        </p:txBody>
      </p:sp>
      <p:sp>
        <p:nvSpPr>
          <p:cNvPr id="53" name="TextBox 52">
            <a:extLst>
              <a:ext uri="{FF2B5EF4-FFF2-40B4-BE49-F238E27FC236}">
                <a16:creationId xmlns:a16="http://schemas.microsoft.com/office/drawing/2014/main" id="{8C58ED42-29A7-5FA4-BFAF-B7977276492D}"/>
              </a:ext>
            </a:extLst>
          </p:cNvPr>
          <p:cNvSpPr txBox="1"/>
          <p:nvPr/>
        </p:nvSpPr>
        <p:spPr>
          <a:xfrm>
            <a:off x="10331776" y="1419528"/>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Activation/Deactivation</a:t>
            </a:r>
            <a:endParaRPr lang="en-IN" sz="12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19348" y="2360772"/>
            <a:ext cx="484632" cy="484632"/>
          </a:xfrm>
          <a:prstGeom prst="rect">
            <a:avLst/>
          </a:prstGeom>
        </p:spPr>
      </p:pic>
      <p:cxnSp>
        <p:nvCxnSpPr>
          <p:cNvPr id="21" name="Straight Arrow Connector 20">
            <a:extLst>
              <a:ext uri="{FF2B5EF4-FFF2-40B4-BE49-F238E27FC236}">
                <a16:creationId xmlns:a16="http://schemas.microsoft.com/office/drawing/2014/main" id="{264DE8B2-E19C-F2A7-A14D-25FFA81981CF}"/>
              </a:ext>
            </a:extLst>
          </p:cNvPr>
          <p:cNvCxnSpPr/>
          <p:nvPr/>
        </p:nvCxnSpPr>
        <p:spPr>
          <a:xfrm>
            <a:off x="9652070" y="157440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1A36FEA-9FFB-C0B6-73F8-4EABDC8B2A4C}"/>
              </a:ext>
            </a:extLst>
          </p:cNvPr>
          <p:cNvSpPr txBox="1"/>
          <p:nvPr/>
        </p:nvSpPr>
        <p:spPr>
          <a:xfrm>
            <a:off x="8043488" y="3502300"/>
            <a:ext cx="1370457" cy="332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TERRA</a:t>
            </a:r>
            <a:endParaRPr lang="en-IN" sz="1400" dirty="0">
              <a:solidFill>
                <a:schemeClr val="bg1"/>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7488371" y="3665014"/>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91E3175-AFC7-CB52-B406-3031E88E133A}"/>
              </a:ext>
            </a:extLst>
          </p:cNvPr>
          <p:cNvCxnSpPr/>
          <p:nvPr/>
        </p:nvCxnSpPr>
        <p:spPr>
          <a:xfrm>
            <a:off x="9649403" y="357549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A7C8169-E535-CD43-3088-F9890A8F5672}"/>
              </a:ext>
            </a:extLst>
          </p:cNvPr>
          <p:cNvCxnSpPr/>
          <p:nvPr/>
        </p:nvCxnSpPr>
        <p:spPr>
          <a:xfrm>
            <a:off x="9649403" y="405707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7572FC4-0D0C-CAF3-4748-B3A5E633E0FE}"/>
              </a:ext>
            </a:extLst>
          </p:cNvPr>
          <p:cNvCxnSpPr>
            <a:cxnSpLocks/>
          </p:cNvCxnSpPr>
          <p:nvPr/>
        </p:nvCxnSpPr>
        <p:spPr>
          <a:xfrm flipV="1">
            <a:off x="9413945" y="3834494"/>
            <a:ext cx="25374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CEC4C03-0D61-CAEF-209B-27240A36DF0A}"/>
              </a:ext>
            </a:extLst>
          </p:cNvPr>
          <p:cNvCxnSpPr>
            <a:cxnSpLocks/>
          </p:cNvCxnSpPr>
          <p:nvPr/>
        </p:nvCxnSpPr>
        <p:spPr>
          <a:xfrm flipV="1">
            <a:off x="9649403" y="3573823"/>
            <a:ext cx="0" cy="1008563"/>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53DEF3D-1E5A-9965-DD01-C0042DC07D82}"/>
              </a:ext>
            </a:extLst>
          </p:cNvPr>
          <p:cNvSpPr txBox="1"/>
          <p:nvPr/>
        </p:nvSpPr>
        <p:spPr>
          <a:xfrm>
            <a:off x="10307770" y="3407723"/>
            <a:ext cx="1275193" cy="399960"/>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List of Prebuilt Extractors</a:t>
            </a:r>
            <a:endParaRPr lang="en-IN" sz="1200" dirty="0">
              <a:solidFill>
                <a:srgbClr val="002240"/>
              </a:solidFill>
              <a:cs typeface="Tahoma" pitchFamily="34" charset="0"/>
            </a:endParaRPr>
          </a:p>
        </p:txBody>
      </p:sp>
      <p:sp>
        <p:nvSpPr>
          <p:cNvPr id="30" name="TextBox 29">
            <a:extLst>
              <a:ext uri="{FF2B5EF4-FFF2-40B4-BE49-F238E27FC236}">
                <a16:creationId xmlns:a16="http://schemas.microsoft.com/office/drawing/2014/main" id="{39E4D5FE-70E1-2320-1D14-9CF3133DCFF5}"/>
              </a:ext>
            </a:extLst>
          </p:cNvPr>
          <p:cNvSpPr txBox="1"/>
          <p:nvPr/>
        </p:nvSpPr>
        <p:spPr>
          <a:xfrm>
            <a:off x="10356538" y="3938232"/>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Create Extractors</a:t>
            </a:r>
            <a:endParaRPr lang="en-IN" sz="1200" dirty="0">
              <a:solidFill>
                <a:srgbClr val="002240"/>
              </a:solidFill>
              <a:cs typeface="Tahoma" pitchFamily="34" charset="0"/>
            </a:endParaRPr>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19348" y="3323051"/>
            <a:ext cx="484632" cy="484632"/>
          </a:xfrm>
          <a:prstGeom prst="rect">
            <a:avLst/>
          </a:prstGeom>
        </p:spPr>
      </p:pic>
      <p:sp>
        <p:nvSpPr>
          <p:cNvPr id="35" name="TextBox 34">
            <a:extLst>
              <a:ext uri="{FF2B5EF4-FFF2-40B4-BE49-F238E27FC236}">
                <a16:creationId xmlns:a16="http://schemas.microsoft.com/office/drawing/2014/main" id="{EB02B749-1C49-16BD-35D1-24C1D4754922}"/>
              </a:ext>
            </a:extLst>
          </p:cNvPr>
          <p:cNvSpPr txBox="1"/>
          <p:nvPr/>
        </p:nvSpPr>
        <p:spPr>
          <a:xfrm>
            <a:off x="3153931" y="1461004"/>
            <a:ext cx="1370457" cy="30538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Other Activities</a:t>
            </a:r>
            <a:endParaRPr lang="en-IN" sz="1400" dirty="0">
              <a:solidFill>
                <a:schemeClr val="bg1"/>
              </a:solidFill>
              <a:cs typeface="Tahoma" pitchFamily="34" charset="0"/>
            </a:endParaRPr>
          </a:p>
        </p:txBody>
      </p:sp>
      <p:sp>
        <p:nvSpPr>
          <p:cNvPr id="37" name="TextBox 36">
            <a:extLst>
              <a:ext uri="{FF2B5EF4-FFF2-40B4-BE49-F238E27FC236}">
                <a16:creationId xmlns:a16="http://schemas.microsoft.com/office/drawing/2014/main" id="{56F387F9-30B4-E559-9A9F-2161C4D57A21}"/>
              </a:ext>
            </a:extLst>
          </p:cNvPr>
          <p:cNvSpPr txBox="1"/>
          <p:nvPr/>
        </p:nvSpPr>
        <p:spPr>
          <a:xfrm>
            <a:off x="2333807" y="1909797"/>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TERRA</a:t>
            </a:r>
            <a:endParaRPr lang="en-IN" sz="1400" dirty="0">
              <a:solidFill>
                <a:schemeClr val="bg1"/>
              </a:solidFill>
              <a:cs typeface="Tahoma" pitchFamily="34" charset="0"/>
            </a:endParaRPr>
          </a:p>
        </p:txBody>
      </p:sp>
      <p:sp>
        <p:nvSpPr>
          <p:cNvPr id="38" name="TextBox 37">
            <a:extLst>
              <a:ext uri="{FF2B5EF4-FFF2-40B4-BE49-F238E27FC236}">
                <a16:creationId xmlns:a16="http://schemas.microsoft.com/office/drawing/2014/main" id="{572D1D7C-7C4A-0A65-1E8A-39F94988C549}"/>
              </a:ext>
            </a:extLst>
          </p:cNvPr>
          <p:cNvSpPr txBox="1"/>
          <p:nvPr/>
        </p:nvSpPr>
        <p:spPr>
          <a:xfrm>
            <a:off x="6546171" y="1685265"/>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rgbClr val="002240"/>
                </a:solidFill>
                <a:cs typeface="Tahoma" pitchFamily="34" charset="0"/>
              </a:rPr>
              <a:t>Acct Manager</a:t>
            </a:r>
            <a:endParaRPr lang="en-IN" sz="1300" dirty="0">
              <a:solidFill>
                <a:srgbClr val="002240"/>
              </a:solidFill>
              <a:cs typeface="Tahoma" pitchFamily="34" charset="0"/>
            </a:endParaRPr>
          </a:p>
        </p:txBody>
      </p:sp>
      <p:sp>
        <p:nvSpPr>
          <p:cNvPr id="41" name="TextBox 40">
            <a:extLst>
              <a:ext uri="{FF2B5EF4-FFF2-40B4-BE49-F238E27FC236}">
                <a16:creationId xmlns:a16="http://schemas.microsoft.com/office/drawing/2014/main" id="{B12FCFD5-0533-C490-07B5-07D1E434818D}"/>
              </a:ext>
            </a:extLst>
          </p:cNvPr>
          <p:cNvSpPr txBox="1"/>
          <p:nvPr/>
        </p:nvSpPr>
        <p:spPr>
          <a:xfrm>
            <a:off x="6543123" y="2715489"/>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rgbClr val="002240"/>
                </a:solidFill>
                <a:cs typeface="Tahoma" pitchFamily="34" charset="0"/>
              </a:rPr>
              <a:t>Acct Manager</a:t>
            </a:r>
            <a:endParaRPr lang="en-IN" sz="1300" dirty="0">
              <a:solidFill>
                <a:srgbClr val="002240"/>
              </a:solidFill>
              <a:cs typeface="Tahoma" pitchFamily="34" charset="0"/>
            </a:endParaRPr>
          </a:p>
        </p:txBody>
      </p:sp>
      <p:sp>
        <p:nvSpPr>
          <p:cNvPr id="42" name="TextBox 41">
            <a:extLst>
              <a:ext uri="{FF2B5EF4-FFF2-40B4-BE49-F238E27FC236}">
                <a16:creationId xmlns:a16="http://schemas.microsoft.com/office/drawing/2014/main" id="{CCF06F88-0795-B8E3-28DF-20525E935926}"/>
              </a:ext>
            </a:extLst>
          </p:cNvPr>
          <p:cNvSpPr txBox="1"/>
          <p:nvPr/>
        </p:nvSpPr>
        <p:spPr>
          <a:xfrm>
            <a:off x="6524835" y="3730473"/>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rgbClr val="002240"/>
                </a:solidFill>
                <a:cs typeface="Tahoma" pitchFamily="34" charset="0"/>
              </a:rPr>
              <a:t>Acct Manager</a:t>
            </a:r>
            <a:endParaRPr lang="en-IN" sz="1300" dirty="0">
              <a:solidFill>
                <a:srgbClr val="002240"/>
              </a:solidFill>
              <a:cs typeface="Tahoma" pitchFamily="34" charset="0"/>
            </a:endParaRPr>
          </a:p>
        </p:txBody>
      </p:sp>
      <p:sp>
        <p:nvSpPr>
          <p:cNvPr id="54" name="TextBox 53">
            <a:extLst>
              <a:ext uri="{FF2B5EF4-FFF2-40B4-BE49-F238E27FC236}">
                <a16:creationId xmlns:a16="http://schemas.microsoft.com/office/drawing/2014/main" id="{68709DCC-AECC-95F6-8959-D68DE1AE3B2A}"/>
              </a:ext>
            </a:extLst>
          </p:cNvPr>
          <p:cNvSpPr txBox="1"/>
          <p:nvPr/>
        </p:nvSpPr>
        <p:spPr>
          <a:xfrm>
            <a:off x="8003660" y="2529961"/>
            <a:ext cx="1370457" cy="332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Other Activities</a:t>
            </a:r>
            <a:endParaRPr lang="en-IN" sz="1400" dirty="0">
              <a:solidFill>
                <a:schemeClr val="bg1"/>
              </a:solidFill>
              <a:cs typeface="Tahoma" pitchFamily="34" charset="0"/>
            </a:endParaRPr>
          </a:p>
        </p:txBody>
      </p:sp>
      <p:cxnSp>
        <p:nvCxnSpPr>
          <p:cNvPr id="55" name="Straight Arrow Connector 54">
            <a:extLst>
              <a:ext uri="{FF2B5EF4-FFF2-40B4-BE49-F238E27FC236}">
                <a16:creationId xmlns:a16="http://schemas.microsoft.com/office/drawing/2014/main" id="{1B193FB1-8B19-9151-1B34-9623C5AB6560}"/>
              </a:ext>
            </a:extLst>
          </p:cNvPr>
          <p:cNvCxnSpPr/>
          <p:nvPr/>
        </p:nvCxnSpPr>
        <p:spPr>
          <a:xfrm>
            <a:off x="9649403" y="458238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581FAA6-6A43-F0E5-ED4D-DC551814E6B4}"/>
              </a:ext>
            </a:extLst>
          </p:cNvPr>
          <p:cNvSpPr txBox="1"/>
          <p:nvPr/>
        </p:nvSpPr>
        <p:spPr>
          <a:xfrm>
            <a:off x="4050227" y="1950996"/>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Datamart</a:t>
            </a:r>
            <a:endParaRPr lang="en-IN" sz="1400" dirty="0">
              <a:solidFill>
                <a:schemeClr val="bg1"/>
              </a:solidFill>
              <a:cs typeface="Tahoma" pitchFamily="34" charset="0"/>
            </a:endParaRPr>
          </a:p>
        </p:txBody>
      </p:sp>
      <p:sp>
        <p:nvSpPr>
          <p:cNvPr id="59" name="TextBox 58">
            <a:extLst>
              <a:ext uri="{FF2B5EF4-FFF2-40B4-BE49-F238E27FC236}">
                <a16:creationId xmlns:a16="http://schemas.microsoft.com/office/drawing/2014/main" id="{F8DA1D82-D2CD-67B3-E47F-265396713E91}"/>
              </a:ext>
            </a:extLst>
          </p:cNvPr>
          <p:cNvSpPr txBox="1"/>
          <p:nvPr/>
        </p:nvSpPr>
        <p:spPr>
          <a:xfrm>
            <a:off x="8043488" y="5062254"/>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Datamart</a:t>
            </a:r>
            <a:endParaRPr lang="en-IN" sz="1400" dirty="0">
              <a:solidFill>
                <a:schemeClr val="bg1"/>
              </a:solidFill>
              <a:cs typeface="Tahoma" pitchFamily="34" charset="0"/>
            </a:endParaRPr>
          </a:p>
        </p:txBody>
      </p:sp>
      <p:cxnSp>
        <p:nvCxnSpPr>
          <p:cNvPr id="60" name="Straight Arrow Connector 59">
            <a:extLst>
              <a:ext uri="{FF2B5EF4-FFF2-40B4-BE49-F238E27FC236}">
                <a16:creationId xmlns:a16="http://schemas.microsoft.com/office/drawing/2014/main" id="{AC8FFD21-14A1-497E-25B1-969754E1B710}"/>
              </a:ext>
            </a:extLst>
          </p:cNvPr>
          <p:cNvCxnSpPr>
            <a:cxnSpLocks/>
          </p:cNvCxnSpPr>
          <p:nvPr/>
        </p:nvCxnSpPr>
        <p:spPr>
          <a:xfrm>
            <a:off x="7510102" y="519368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c 60" descr="User with solid fill">
            <a:extLst>
              <a:ext uri="{FF2B5EF4-FFF2-40B4-BE49-F238E27FC236}">
                <a16:creationId xmlns:a16="http://schemas.microsoft.com/office/drawing/2014/main" id="{C2C1878E-9D3F-1028-9651-52D438A24F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1079" y="4851719"/>
            <a:ext cx="484632" cy="484632"/>
          </a:xfrm>
          <a:prstGeom prst="rect">
            <a:avLst/>
          </a:prstGeom>
        </p:spPr>
      </p:pic>
      <p:sp>
        <p:nvSpPr>
          <p:cNvPr id="62" name="TextBox 61">
            <a:extLst>
              <a:ext uri="{FF2B5EF4-FFF2-40B4-BE49-F238E27FC236}">
                <a16:creationId xmlns:a16="http://schemas.microsoft.com/office/drawing/2014/main" id="{A1DED3B5-8D5C-3A60-4EE6-F1D80B0E4EF6}"/>
              </a:ext>
            </a:extLst>
          </p:cNvPr>
          <p:cNvSpPr txBox="1"/>
          <p:nvPr/>
        </p:nvSpPr>
        <p:spPr>
          <a:xfrm>
            <a:off x="6546566" y="5259141"/>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rgbClr val="002240"/>
                </a:solidFill>
                <a:cs typeface="Tahoma" pitchFamily="34" charset="0"/>
              </a:rPr>
              <a:t>Acct Manager</a:t>
            </a:r>
            <a:endParaRPr lang="en-IN" sz="1300" dirty="0">
              <a:solidFill>
                <a:srgbClr val="002240"/>
              </a:solidFill>
              <a:cs typeface="Tahoma" pitchFamily="34" charset="0"/>
            </a:endParaRPr>
          </a:p>
        </p:txBody>
      </p:sp>
      <p:cxnSp>
        <p:nvCxnSpPr>
          <p:cNvPr id="64" name="Straight Arrow Connector 63">
            <a:extLst>
              <a:ext uri="{FF2B5EF4-FFF2-40B4-BE49-F238E27FC236}">
                <a16:creationId xmlns:a16="http://schemas.microsoft.com/office/drawing/2014/main" id="{7F200403-D3C7-3A5E-539E-6A2D64BA1D1A}"/>
              </a:ext>
            </a:extLst>
          </p:cNvPr>
          <p:cNvCxnSpPr/>
          <p:nvPr/>
        </p:nvCxnSpPr>
        <p:spPr>
          <a:xfrm>
            <a:off x="9709982" y="498124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CA444AE-42F1-105E-A5AB-A0AB7DFF1809}"/>
              </a:ext>
            </a:extLst>
          </p:cNvPr>
          <p:cNvCxnSpPr/>
          <p:nvPr/>
        </p:nvCxnSpPr>
        <p:spPr>
          <a:xfrm>
            <a:off x="9709982" y="546283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CEC88B5-A090-C3E3-9F2D-2AFA773EE747}"/>
              </a:ext>
            </a:extLst>
          </p:cNvPr>
          <p:cNvCxnSpPr>
            <a:cxnSpLocks/>
          </p:cNvCxnSpPr>
          <p:nvPr/>
        </p:nvCxnSpPr>
        <p:spPr>
          <a:xfrm flipV="1">
            <a:off x="9474524" y="5240247"/>
            <a:ext cx="25374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8E3E20B-B806-2C5F-85CF-119A81D14874}"/>
              </a:ext>
            </a:extLst>
          </p:cNvPr>
          <p:cNvCxnSpPr>
            <a:cxnSpLocks/>
          </p:cNvCxnSpPr>
          <p:nvPr/>
        </p:nvCxnSpPr>
        <p:spPr>
          <a:xfrm flipV="1">
            <a:off x="9709982" y="4979576"/>
            <a:ext cx="0" cy="1008563"/>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7954089-8CF3-D3AD-37EC-A93416C05649}"/>
              </a:ext>
            </a:extLst>
          </p:cNvPr>
          <p:cNvSpPr txBox="1"/>
          <p:nvPr/>
        </p:nvSpPr>
        <p:spPr>
          <a:xfrm>
            <a:off x="10368350" y="4813476"/>
            <a:ext cx="814762" cy="387823"/>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Raw</a:t>
            </a:r>
            <a:endParaRPr lang="en-IN" sz="1200" dirty="0">
              <a:solidFill>
                <a:srgbClr val="002240"/>
              </a:solidFill>
              <a:cs typeface="Tahoma" pitchFamily="34" charset="0"/>
            </a:endParaRPr>
          </a:p>
        </p:txBody>
      </p:sp>
      <p:cxnSp>
        <p:nvCxnSpPr>
          <p:cNvPr id="69" name="Straight Arrow Connector 68">
            <a:extLst>
              <a:ext uri="{FF2B5EF4-FFF2-40B4-BE49-F238E27FC236}">
                <a16:creationId xmlns:a16="http://schemas.microsoft.com/office/drawing/2014/main" id="{544AD65E-72E6-CFCB-5F13-ABF55E1DD6E1}"/>
              </a:ext>
            </a:extLst>
          </p:cNvPr>
          <p:cNvCxnSpPr/>
          <p:nvPr/>
        </p:nvCxnSpPr>
        <p:spPr>
          <a:xfrm>
            <a:off x="9709982" y="598813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618906DA-5D0A-AFBF-7449-26F725326145}"/>
              </a:ext>
            </a:extLst>
          </p:cNvPr>
          <p:cNvSpPr txBox="1"/>
          <p:nvPr/>
        </p:nvSpPr>
        <p:spPr>
          <a:xfrm>
            <a:off x="10365682" y="5312833"/>
            <a:ext cx="814762" cy="387823"/>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Semi Crated</a:t>
            </a:r>
            <a:endParaRPr lang="en-IN" sz="1200" dirty="0">
              <a:solidFill>
                <a:srgbClr val="002240"/>
              </a:solidFill>
              <a:cs typeface="Tahoma" pitchFamily="34" charset="0"/>
            </a:endParaRPr>
          </a:p>
        </p:txBody>
      </p:sp>
      <p:sp>
        <p:nvSpPr>
          <p:cNvPr id="71" name="TextBox 70">
            <a:extLst>
              <a:ext uri="{FF2B5EF4-FFF2-40B4-BE49-F238E27FC236}">
                <a16:creationId xmlns:a16="http://schemas.microsoft.com/office/drawing/2014/main" id="{120E4122-AF66-C40D-FD63-84FBBABA83CB}"/>
              </a:ext>
            </a:extLst>
          </p:cNvPr>
          <p:cNvSpPr txBox="1"/>
          <p:nvPr/>
        </p:nvSpPr>
        <p:spPr>
          <a:xfrm>
            <a:off x="10372158" y="5811642"/>
            <a:ext cx="814762" cy="387823"/>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Fully</a:t>
            </a:r>
          </a:p>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Curated</a:t>
            </a:r>
            <a:endParaRPr lang="en-IN" sz="1200" dirty="0">
              <a:solidFill>
                <a:srgbClr val="002240"/>
              </a:solidFill>
              <a:cs typeface="Tahoma" pitchFamily="34" charset="0"/>
            </a:endParaRPr>
          </a:p>
        </p:txBody>
      </p:sp>
    </p:spTree>
    <p:extLst>
      <p:ext uri="{BB962C8B-B14F-4D97-AF65-F5344CB8AC3E}">
        <p14:creationId xmlns:p14="http://schemas.microsoft.com/office/powerpoint/2010/main" val="333322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360864"/>
            <a:ext cx="4841748" cy="258960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1869372"/>
            <a:ext cx="4368547" cy="918386"/>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2" imgH="623" progId="TCLayout.ActiveDocument.1">
                  <p:embed/>
                </p:oleObj>
              </mc:Choice>
              <mc:Fallback>
                <p:oleObj name="think-cell Slide" r:id="rId3"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83314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98976" y="65347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3760" y="360864"/>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52001" y="818064"/>
            <a:ext cx="1136143" cy="617335"/>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rgbClr val="002240"/>
                </a:solidFill>
                <a:cs typeface="Tahoma" pitchFamily="34" charset="0"/>
              </a:rPr>
              <a:t>Tenant (Project Level)</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40658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646797" y="1876350"/>
            <a:ext cx="2373259" cy="329354"/>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Specific Project Statistics</a:t>
            </a:r>
            <a:endParaRPr lang="en-IN" sz="1600" dirty="0">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531793" y="116234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A39DE47-E4C7-A5CB-D7BA-C45999AB251A}"/>
              </a:ext>
            </a:extLst>
          </p:cNvPr>
          <p:cNvCxnSpPr/>
          <p:nvPr/>
        </p:nvCxnSpPr>
        <p:spPr>
          <a:xfrm>
            <a:off x="9692825" y="90823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0636AA2-6F53-3A56-074D-83AD4964B716}"/>
              </a:ext>
            </a:extLst>
          </p:cNvPr>
          <p:cNvCxnSpPr/>
          <p:nvPr/>
        </p:nvCxnSpPr>
        <p:spPr>
          <a:xfrm>
            <a:off x="9692825" y="138981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4E77D04-AA2B-9C15-C95A-320377583BA4}"/>
              </a:ext>
            </a:extLst>
          </p:cNvPr>
          <p:cNvCxnSpPr>
            <a:cxnSpLocks/>
          </p:cNvCxnSpPr>
          <p:nvPr/>
        </p:nvCxnSpPr>
        <p:spPr>
          <a:xfrm>
            <a:off x="9457367" y="1152320"/>
            <a:ext cx="253746" cy="1002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0694299-0104-0931-56FF-D69BB06E5DD8}"/>
              </a:ext>
            </a:extLst>
          </p:cNvPr>
          <p:cNvCxnSpPr>
            <a:cxnSpLocks/>
          </p:cNvCxnSpPr>
          <p:nvPr/>
        </p:nvCxnSpPr>
        <p:spPr>
          <a:xfrm flipV="1">
            <a:off x="9692825" y="906559"/>
            <a:ext cx="0" cy="457126"/>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5FA625B-DD26-4AFA-16C9-E30DCD9B46C9}"/>
              </a:ext>
            </a:extLst>
          </p:cNvPr>
          <p:cNvSpPr txBox="1"/>
          <p:nvPr/>
        </p:nvSpPr>
        <p:spPr>
          <a:xfrm>
            <a:off x="10406056" y="740459"/>
            <a:ext cx="1472184" cy="295160"/>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Creation/Deletion of Project Level Accts</a:t>
            </a:r>
            <a:endParaRPr lang="en-IN" sz="1200" dirty="0">
              <a:solidFill>
                <a:srgbClr val="002240"/>
              </a:solidFill>
              <a:cs typeface="Tahoma" pitchFamily="34" charset="0"/>
            </a:endParaRPr>
          </a:p>
        </p:txBody>
      </p:sp>
      <p:sp>
        <p:nvSpPr>
          <p:cNvPr id="52" name="TextBox 51">
            <a:extLst>
              <a:ext uri="{FF2B5EF4-FFF2-40B4-BE49-F238E27FC236}">
                <a16:creationId xmlns:a16="http://schemas.microsoft.com/office/drawing/2014/main" id="{99B141DC-2C1F-0B62-175F-2D95DD15BCD5}"/>
              </a:ext>
            </a:extLst>
          </p:cNvPr>
          <p:cNvSpPr txBox="1"/>
          <p:nvPr/>
        </p:nvSpPr>
        <p:spPr>
          <a:xfrm>
            <a:off x="10356538" y="1191035"/>
            <a:ext cx="1792219" cy="301615"/>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Activation/Deactivation Project Level Accts</a:t>
            </a:r>
            <a:endParaRPr lang="en-IN" sz="12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62770" y="820379"/>
            <a:ext cx="484632" cy="484632"/>
          </a:xfrm>
          <a:prstGeom prst="rect">
            <a:avLst/>
          </a:prstGeom>
        </p:spPr>
      </p:pic>
      <p:sp>
        <p:nvSpPr>
          <p:cNvPr id="22" name="TextBox 21">
            <a:extLst>
              <a:ext uri="{FF2B5EF4-FFF2-40B4-BE49-F238E27FC236}">
                <a16:creationId xmlns:a16="http://schemas.microsoft.com/office/drawing/2014/main" id="{B1A36FEA-9FFB-C0B6-73F8-4EABDC8B2A4C}"/>
              </a:ext>
            </a:extLst>
          </p:cNvPr>
          <p:cNvSpPr txBox="1"/>
          <p:nvPr/>
        </p:nvSpPr>
        <p:spPr>
          <a:xfrm>
            <a:off x="1483595" y="3913101"/>
            <a:ext cx="1370457" cy="332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TERRA</a:t>
            </a:r>
            <a:endParaRPr lang="en-IN" sz="1400" dirty="0">
              <a:solidFill>
                <a:schemeClr val="bg1"/>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928478" y="407581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91E3175-AFC7-CB52-B406-3031E88E133A}"/>
              </a:ext>
            </a:extLst>
          </p:cNvPr>
          <p:cNvCxnSpPr/>
          <p:nvPr/>
        </p:nvCxnSpPr>
        <p:spPr>
          <a:xfrm>
            <a:off x="3140583" y="334773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A7C8169-E535-CD43-3088-F9890A8F5672}"/>
              </a:ext>
            </a:extLst>
          </p:cNvPr>
          <p:cNvCxnSpPr/>
          <p:nvPr/>
        </p:nvCxnSpPr>
        <p:spPr>
          <a:xfrm>
            <a:off x="3140583" y="410363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7572FC4-0D0C-CAF3-4748-B3A5E633E0FE}"/>
              </a:ext>
            </a:extLst>
          </p:cNvPr>
          <p:cNvCxnSpPr>
            <a:cxnSpLocks/>
          </p:cNvCxnSpPr>
          <p:nvPr/>
        </p:nvCxnSpPr>
        <p:spPr>
          <a:xfrm flipV="1">
            <a:off x="2863196" y="4103635"/>
            <a:ext cx="25374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CEC4C03-0D61-CAEF-209B-27240A36DF0A}"/>
              </a:ext>
            </a:extLst>
          </p:cNvPr>
          <p:cNvCxnSpPr>
            <a:cxnSpLocks/>
          </p:cNvCxnSpPr>
          <p:nvPr/>
        </p:nvCxnSpPr>
        <p:spPr>
          <a:xfrm flipH="1" flipV="1">
            <a:off x="3149727" y="3364348"/>
            <a:ext cx="15392" cy="1493469"/>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53DEF3D-1E5A-9965-DD01-C0042DC07D82}"/>
              </a:ext>
            </a:extLst>
          </p:cNvPr>
          <p:cNvSpPr txBox="1"/>
          <p:nvPr/>
        </p:nvSpPr>
        <p:spPr>
          <a:xfrm>
            <a:off x="5732714" y="2995785"/>
            <a:ext cx="2248739" cy="278348"/>
          </a:xfrm>
          <a:prstGeom prst="rect">
            <a:avLst/>
          </a:prstGeom>
          <a:noFill/>
          <a:ln>
            <a:solidFill>
              <a:schemeClr val="tx2"/>
            </a:solidFill>
          </a:ln>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List of Prebuilt Extractors</a:t>
            </a:r>
            <a:endParaRPr lang="en-IN" dirty="0"/>
          </a:p>
        </p:txBody>
      </p:sp>
      <p:sp>
        <p:nvSpPr>
          <p:cNvPr id="30" name="TextBox 29">
            <a:extLst>
              <a:ext uri="{FF2B5EF4-FFF2-40B4-BE49-F238E27FC236}">
                <a16:creationId xmlns:a16="http://schemas.microsoft.com/office/drawing/2014/main" id="{39E4D5FE-70E1-2320-1D14-9CF3133DCFF5}"/>
              </a:ext>
            </a:extLst>
          </p:cNvPr>
          <p:cNvSpPr txBox="1"/>
          <p:nvPr/>
        </p:nvSpPr>
        <p:spPr>
          <a:xfrm>
            <a:off x="5728853" y="3271133"/>
            <a:ext cx="2270888" cy="529957"/>
          </a:xfrm>
          <a:prstGeom prst="rect">
            <a:avLst/>
          </a:prstGeom>
          <a:noFill/>
          <a:ln>
            <a:solidFill>
              <a:schemeClr val="tx2"/>
            </a:solidFill>
          </a:ln>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List of Custom Extractors Created</a:t>
            </a:r>
          </a:p>
          <a:p>
            <a:r>
              <a:rPr lang="en-US" dirty="0"/>
              <a:t>/Create Custom Extractors</a:t>
            </a:r>
            <a:endParaRPr lang="en-IN" dirty="0"/>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9455" y="3733852"/>
            <a:ext cx="484632" cy="484632"/>
          </a:xfrm>
          <a:prstGeom prst="rect">
            <a:avLst/>
          </a:prstGeom>
        </p:spPr>
      </p:pic>
      <p:sp>
        <p:nvSpPr>
          <p:cNvPr id="35" name="TextBox 34">
            <a:extLst>
              <a:ext uri="{FF2B5EF4-FFF2-40B4-BE49-F238E27FC236}">
                <a16:creationId xmlns:a16="http://schemas.microsoft.com/office/drawing/2014/main" id="{EB02B749-1C49-16BD-35D1-24C1D4754922}"/>
              </a:ext>
            </a:extLst>
          </p:cNvPr>
          <p:cNvSpPr txBox="1"/>
          <p:nvPr/>
        </p:nvSpPr>
        <p:spPr>
          <a:xfrm>
            <a:off x="4717347" y="1020708"/>
            <a:ext cx="1370457" cy="30538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bg1"/>
                </a:solidFill>
                <a:cs typeface="Tahoma" pitchFamily="34" charset="0"/>
              </a:rPr>
              <a:t>Other Activities</a:t>
            </a:r>
            <a:endParaRPr lang="en-IN" sz="1400" dirty="0">
              <a:solidFill>
                <a:schemeClr val="bg1"/>
              </a:solidFill>
              <a:cs typeface="Tahoma" pitchFamily="34" charset="0"/>
            </a:endParaRPr>
          </a:p>
        </p:txBody>
      </p:sp>
      <p:sp>
        <p:nvSpPr>
          <p:cNvPr id="54" name="TextBox 53">
            <a:extLst>
              <a:ext uri="{FF2B5EF4-FFF2-40B4-BE49-F238E27FC236}">
                <a16:creationId xmlns:a16="http://schemas.microsoft.com/office/drawing/2014/main" id="{68709DCC-AECC-95F6-8959-D68DE1AE3B2A}"/>
              </a:ext>
            </a:extLst>
          </p:cNvPr>
          <p:cNvSpPr txBox="1"/>
          <p:nvPr/>
        </p:nvSpPr>
        <p:spPr>
          <a:xfrm>
            <a:off x="8047082" y="989568"/>
            <a:ext cx="1370457" cy="332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Other Activities</a:t>
            </a:r>
            <a:endParaRPr lang="en-IN" sz="1400" dirty="0">
              <a:solidFill>
                <a:schemeClr val="bg1"/>
              </a:solidFill>
              <a:cs typeface="Tahoma" pitchFamily="34" charset="0"/>
            </a:endParaRPr>
          </a:p>
        </p:txBody>
      </p:sp>
      <p:cxnSp>
        <p:nvCxnSpPr>
          <p:cNvPr id="55" name="Straight Arrow Connector 54">
            <a:extLst>
              <a:ext uri="{FF2B5EF4-FFF2-40B4-BE49-F238E27FC236}">
                <a16:creationId xmlns:a16="http://schemas.microsoft.com/office/drawing/2014/main" id="{1B193FB1-8B19-9151-1B34-9623C5AB6560}"/>
              </a:ext>
            </a:extLst>
          </p:cNvPr>
          <p:cNvCxnSpPr/>
          <p:nvPr/>
        </p:nvCxnSpPr>
        <p:spPr>
          <a:xfrm>
            <a:off x="3177157" y="487583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340927C-020F-BE23-14AC-1ECA199484A8}"/>
              </a:ext>
            </a:extLst>
          </p:cNvPr>
          <p:cNvSpPr txBox="1"/>
          <p:nvPr/>
        </p:nvSpPr>
        <p:spPr>
          <a:xfrm>
            <a:off x="6637966" y="1173399"/>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Tenant</a:t>
            </a:r>
          </a:p>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t>
            </a:r>
            <a:r>
              <a:rPr lang="en-US" sz="1100" dirty="0" err="1">
                <a:solidFill>
                  <a:srgbClr val="002240"/>
                </a:solidFill>
                <a:cs typeface="Tahoma" pitchFamily="34" charset="0"/>
              </a:rPr>
              <a:t>Proj</a:t>
            </a:r>
            <a:r>
              <a:rPr lang="en-US" sz="1100" dirty="0">
                <a:solidFill>
                  <a:srgbClr val="002240"/>
                </a:solidFill>
                <a:cs typeface="Tahoma" pitchFamily="34" charset="0"/>
              </a:rPr>
              <a:t> Level)</a:t>
            </a:r>
            <a:endParaRPr lang="en-IN" sz="1100" dirty="0">
              <a:solidFill>
                <a:srgbClr val="002240"/>
              </a:solidFill>
              <a:cs typeface="Tahoma" pitchFamily="34" charset="0"/>
            </a:endParaRPr>
          </a:p>
        </p:txBody>
      </p:sp>
      <p:sp>
        <p:nvSpPr>
          <p:cNvPr id="6" name="TextBox 5">
            <a:extLst>
              <a:ext uri="{FF2B5EF4-FFF2-40B4-BE49-F238E27FC236}">
                <a16:creationId xmlns:a16="http://schemas.microsoft.com/office/drawing/2014/main" id="{AE665F8F-659B-E10C-7702-BA423C63EEB2}"/>
              </a:ext>
            </a:extLst>
          </p:cNvPr>
          <p:cNvSpPr txBox="1"/>
          <p:nvPr/>
        </p:nvSpPr>
        <p:spPr>
          <a:xfrm>
            <a:off x="27698" y="4102572"/>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Tenant</a:t>
            </a:r>
          </a:p>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t>
            </a:r>
            <a:r>
              <a:rPr lang="en-US" sz="1100" dirty="0" err="1">
                <a:solidFill>
                  <a:srgbClr val="002240"/>
                </a:solidFill>
                <a:cs typeface="Tahoma" pitchFamily="34" charset="0"/>
              </a:rPr>
              <a:t>Proj</a:t>
            </a:r>
            <a:r>
              <a:rPr lang="en-US" sz="1100" dirty="0">
                <a:solidFill>
                  <a:srgbClr val="002240"/>
                </a:solidFill>
                <a:cs typeface="Tahoma" pitchFamily="34" charset="0"/>
              </a:rPr>
              <a:t> Level)</a:t>
            </a:r>
            <a:endParaRPr lang="en-IN" sz="1100" dirty="0">
              <a:solidFill>
                <a:srgbClr val="002240"/>
              </a:solidFill>
              <a:cs typeface="Tahoma" pitchFamily="34" charset="0"/>
            </a:endParaRPr>
          </a:p>
        </p:txBody>
      </p:sp>
      <p:cxnSp>
        <p:nvCxnSpPr>
          <p:cNvPr id="28" name="Straight Arrow Connector 27">
            <a:extLst>
              <a:ext uri="{FF2B5EF4-FFF2-40B4-BE49-F238E27FC236}">
                <a16:creationId xmlns:a16="http://schemas.microsoft.com/office/drawing/2014/main" id="{926AD1E8-CA3E-B7FC-6A34-1AE3D84E113D}"/>
              </a:ext>
            </a:extLst>
          </p:cNvPr>
          <p:cNvCxnSpPr>
            <a:cxnSpLocks/>
          </p:cNvCxnSpPr>
          <p:nvPr/>
        </p:nvCxnSpPr>
        <p:spPr>
          <a:xfrm>
            <a:off x="7985199" y="3369570"/>
            <a:ext cx="459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8D7371D-80AB-9974-C1A9-0D8995141213}"/>
              </a:ext>
            </a:extLst>
          </p:cNvPr>
          <p:cNvSpPr txBox="1"/>
          <p:nvPr/>
        </p:nvSpPr>
        <p:spPr>
          <a:xfrm>
            <a:off x="5728853" y="3955822"/>
            <a:ext cx="2372762" cy="509963"/>
          </a:xfrm>
          <a:prstGeom prst="rect">
            <a:avLst/>
          </a:prstGeom>
          <a:noFill/>
          <a:ln>
            <a:solidFill>
              <a:schemeClr val="tx2"/>
            </a:solidFill>
          </a:ln>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List of Pipelines Created/</a:t>
            </a:r>
          </a:p>
          <a:p>
            <a:r>
              <a:rPr lang="en-US" dirty="0"/>
              <a:t>Create Pipelines</a:t>
            </a:r>
          </a:p>
        </p:txBody>
      </p:sp>
      <p:sp>
        <p:nvSpPr>
          <p:cNvPr id="58" name="TextBox 57">
            <a:extLst>
              <a:ext uri="{FF2B5EF4-FFF2-40B4-BE49-F238E27FC236}">
                <a16:creationId xmlns:a16="http://schemas.microsoft.com/office/drawing/2014/main" id="{B3CAC199-8956-D433-330F-67F567740960}"/>
              </a:ext>
            </a:extLst>
          </p:cNvPr>
          <p:cNvSpPr txBox="1"/>
          <p:nvPr/>
        </p:nvSpPr>
        <p:spPr>
          <a:xfrm>
            <a:off x="5730905" y="4660165"/>
            <a:ext cx="2372762" cy="525508"/>
          </a:xfrm>
          <a:prstGeom prst="rect">
            <a:avLst/>
          </a:prstGeom>
          <a:noFill/>
          <a:ln>
            <a:solidFill>
              <a:schemeClr val="tx2"/>
            </a:solidFill>
          </a:ln>
        </p:spPr>
        <p:txBody>
          <a:bodyPr wrap="square" rtlCol="0">
            <a:noAutofit/>
          </a:bodyPr>
          <a:lstStyle/>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List of DQ rules Created/</a:t>
            </a:r>
          </a:p>
          <a:p>
            <a:pPr marL="3175">
              <a:spcBef>
                <a:spcPts val="600"/>
              </a:spcBef>
              <a:spcAft>
                <a:spcPts val="600"/>
              </a:spcAft>
              <a:buClr>
                <a:srgbClr val="303030">
                  <a:lumMod val="50000"/>
                  <a:lumOff val="50000"/>
                </a:srgbClr>
              </a:buClr>
            </a:pPr>
            <a:r>
              <a:rPr lang="en-US" sz="1200" dirty="0">
                <a:solidFill>
                  <a:srgbClr val="002240"/>
                </a:solidFill>
                <a:cs typeface="Tahoma" pitchFamily="34" charset="0"/>
              </a:rPr>
              <a:t>Create DQ rules</a:t>
            </a:r>
          </a:p>
        </p:txBody>
      </p:sp>
      <p:sp>
        <p:nvSpPr>
          <p:cNvPr id="60" name="TextBox 59">
            <a:extLst>
              <a:ext uri="{FF2B5EF4-FFF2-40B4-BE49-F238E27FC236}">
                <a16:creationId xmlns:a16="http://schemas.microsoft.com/office/drawing/2014/main" id="{94FDF2F9-3E33-D6F4-F283-495F63AABA1C}"/>
              </a:ext>
            </a:extLst>
          </p:cNvPr>
          <p:cNvSpPr txBox="1"/>
          <p:nvPr/>
        </p:nvSpPr>
        <p:spPr>
          <a:xfrm>
            <a:off x="3914773" y="3262458"/>
            <a:ext cx="1068707" cy="23747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Extractors</a:t>
            </a:r>
            <a:endParaRPr lang="en-IN" sz="1300" dirty="0">
              <a:solidFill>
                <a:schemeClr val="tx2"/>
              </a:solidFill>
              <a:cs typeface="Tahoma" pitchFamily="34" charset="0"/>
            </a:endParaRPr>
          </a:p>
        </p:txBody>
      </p:sp>
      <p:sp>
        <p:nvSpPr>
          <p:cNvPr id="61" name="TextBox 60">
            <a:extLst>
              <a:ext uri="{FF2B5EF4-FFF2-40B4-BE49-F238E27FC236}">
                <a16:creationId xmlns:a16="http://schemas.microsoft.com/office/drawing/2014/main" id="{4A6B9038-F668-F6A6-9354-680E0422B4C8}"/>
              </a:ext>
            </a:extLst>
          </p:cNvPr>
          <p:cNvSpPr txBox="1"/>
          <p:nvPr/>
        </p:nvSpPr>
        <p:spPr>
          <a:xfrm>
            <a:off x="3920869" y="4036650"/>
            <a:ext cx="1068707" cy="23747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Pipelines</a:t>
            </a:r>
            <a:endParaRPr lang="en-IN" sz="1300" dirty="0">
              <a:solidFill>
                <a:schemeClr val="tx2"/>
              </a:solidFill>
              <a:cs typeface="Tahoma" pitchFamily="34" charset="0"/>
            </a:endParaRPr>
          </a:p>
        </p:txBody>
      </p:sp>
      <p:sp>
        <p:nvSpPr>
          <p:cNvPr id="62" name="TextBox 61">
            <a:extLst>
              <a:ext uri="{FF2B5EF4-FFF2-40B4-BE49-F238E27FC236}">
                <a16:creationId xmlns:a16="http://schemas.microsoft.com/office/drawing/2014/main" id="{461D0C42-93B0-989A-4650-7050AA6BCB4B}"/>
              </a:ext>
            </a:extLst>
          </p:cNvPr>
          <p:cNvSpPr txBox="1"/>
          <p:nvPr/>
        </p:nvSpPr>
        <p:spPr>
          <a:xfrm>
            <a:off x="3939003" y="4748462"/>
            <a:ext cx="1068707" cy="23747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DQ</a:t>
            </a:r>
            <a:endParaRPr lang="en-IN" sz="1300" dirty="0">
              <a:solidFill>
                <a:schemeClr val="tx2"/>
              </a:solidFill>
              <a:cs typeface="Tahoma" pitchFamily="34" charset="0"/>
            </a:endParaRPr>
          </a:p>
        </p:txBody>
      </p:sp>
      <p:cxnSp>
        <p:nvCxnSpPr>
          <p:cNvPr id="64" name="Straight Arrow Connector 63">
            <a:extLst>
              <a:ext uri="{FF2B5EF4-FFF2-40B4-BE49-F238E27FC236}">
                <a16:creationId xmlns:a16="http://schemas.microsoft.com/office/drawing/2014/main" id="{D81A0E8D-8614-981B-50B0-75FFFA47BD07}"/>
              </a:ext>
            </a:extLst>
          </p:cNvPr>
          <p:cNvCxnSpPr>
            <a:cxnSpLocks/>
          </p:cNvCxnSpPr>
          <p:nvPr/>
        </p:nvCxnSpPr>
        <p:spPr>
          <a:xfrm>
            <a:off x="5073240" y="3362574"/>
            <a:ext cx="459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8528232-6848-B055-94E3-F82292B40E03}"/>
              </a:ext>
            </a:extLst>
          </p:cNvPr>
          <p:cNvCxnSpPr>
            <a:cxnSpLocks/>
          </p:cNvCxnSpPr>
          <p:nvPr/>
        </p:nvCxnSpPr>
        <p:spPr>
          <a:xfrm>
            <a:off x="5118059" y="4196585"/>
            <a:ext cx="459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2C54BC9-3FFF-ACF4-7C52-047B62097E3A}"/>
              </a:ext>
            </a:extLst>
          </p:cNvPr>
          <p:cNvCxnSpPr>
            <a:cxnSpLocks/>
          </p:cNvCxnSpPr>
          <p:nvPr/>
        </p:nvCxnSpPr>
        <p:spPr>
          <a:xfrm>
            <a:off x="5110421" y="4913670"/>
            <a:ext cx="45948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E7C2673-36D5-3AE0-E236-743D231A6CA3}"/>
              </a:ext>
            </a:extLst>
          </p:cNvPr>
          <p:cNvSpPr txBox="1"/>
          <p:nvPr/>
        </p:nvSpPr>
        <p:spPr>
          <a:xfrm>
            <a:off x="8526154" y="3012042"/>
            <a:ext cx="2643985" cy="686443"/>
          </a:xfrm>
          <a:prstGeom prst="rect">
            <a:avLst/>
          </a:prstGeom>
          <a:noFill/>
          <a:ln>
            <a:solidFill>
              <a:schemeClr val="tx2"/>
            </a:solidFill>
          </a:ln>
        </p:spPr>
        <p:txBody>
          <a:bodyPr wrap="square" rtlCol="0">
            <a:noAutofit/>
          </a:bodyPr>
          <a:lstStyle>
            <a:defPPr>
              <a:defRPr lang="en-US"/>
            </a:defPPr>
            <a:lvl1pPr marL="3175">
              <a:spcBef>
                <a:spcPts val="600"/>
              </a:spcBef>
              <a:spcAft>
                <a:spcPts val="600"/>
              </a:spcAft>
              <a:buClr>
                <a:srgbClr val="303030">
                  <a:lumMod val="50000"/>
                  <a:lumOff val="50000"/>
                </a:srgbClr>
              </a:buClr>
              <a:defRPr sz="1200">
                <a:solidFill>
                  <a:srgbClr val="002240"/>
                </a:solidFill>
                <a:cs typeface="Tahoma" pitchFamily="34" charset="0"/>
              </a:defRPr>
            </a:lvl1pPr>
          </a:lstStyle>
          <a:p>
            <a:r>
              <a:rPr lang="en-US" dirty="0"/>
              <a:t>Enter Source Connection/Target Details</a:t>
            </a:r>
          </a:p>
          <a:p>
            <a:r>
              <a:rPr lang="en-IN" dirty="0"/>
              <a:t>Enter Schedule Details &amp; Save</a:t>
            </a:r>
          </a:p>
        </p:txBody>
      </p:sp>
      <p:sp>
        <p:nvSpPr>
          <p:cNvPr id="68" name="TextBox 67">
            <a:extLst>
              <a:ext uri="{FF2B5EF4-FFF2-40B4-BE49-F238E27FC236}">
                <a16:creationId xmlns:a16="http://schemas.microsoft.com/office/drawing/2014/main" id="{D67FC4A4-FB3C-FEE0-0FAB-7F9981649531}"/>
              </a:ext>
            </a:extLst>
          </p:cNvPr>
          <p:cNvSpPr txBox="1"/>
          <p:nvPr/>
        </p:nvSpPr>
        <p:spPr>
          <a:xfrm>
            <a:off x="1624761" y="1027865"/>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TERRA</a:t>
            </a:r>
            <a:endParaRPr lang="en-IN" sz="1400" dirty="0">
              <a:solidFill>
                <a:schemeClr val="bg1"/>
              </a:solidFill>
              <a:cs typeface="Tahoma" pitchFamily="34" charset="0"/>
            </a:endParaRPr>
          </a:p>
        </p:txBody>
      </p:sp>
      <p:sp>
        <p:nvSpPr>
          <p:cNvPr id="69" name="TextBox 68">
            <a:extLst>
              <a:ext uri="{FF2B5EF4-FFF2-40B4-BE49-F238E27FC236}">
                <a16:creationId xmlns:a16="http://schemas.microsoft.com/office/drawing/2014/main" id="{87F09A3B-7DE2-1DCE-BC3B-18762F71334F}"/>
              </a:ext>
            </a:extLst>
          </p:cNvPr>
          <p:cNvSpPr txBox="1"/>
          <p:nvPr/>
        </p:nvSpPr>
        <p:spPr>
          <a:xfrm>
            <a:off x="3209247" y="1063948"/>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Datamart</a:t>
            </a:r>
            <a:endParaRPr lang="en-IN" sz="1400" dirty="0">
              <a:solidFill>
                <a:schemeClr val="bg1"/>
              </a:solidFill>
              <a:cs typeface="Tahoma" pitchFamily="34" charset="0"/>
            </a:endParaRPr>
          </a:p>
        </p:txBody>
      </p:sp>
      <p:sp>
        <p:nvSpPr>
          <p:cNvPr id="71" name="TextBox 70">
            <a:extLst>
              <a:ext uri="{FF2B5EF4-FFF2-40B4-BE49-F238E27FC236}">
                <a16:creationId xmlns:a16="http://schemas.microsoft.com/office/drawing/2014/main" id="{534FC38A-AE61-3328-B2E8-D2359DA47D53}"/>
              </a:ext>
            </a:extLst>
          </p:cNvPr>
          <p:cNvSpPr txBox="1"/>
          <p:nvPr/>
        </p:nvSpPr>
        <p:spPr>
          <a:xfrm>
            <a:off x="2139484" y="5454114"/>
            <a:ext cx="1370457" cy="24890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bg1"/>
                </a:solidFill>
                <a:cs typeface="Tahoma" pitchFamily="34" charset="0"/>
              </a:rPr>
              <a:t>Datamart</a:t>
            </a:r>
            <a:endParaRPr lang="en-IN" sz="1400" dirty="0">
              <a:solidFill>
                <a:schemeClr val="bg1"/>
              </a:solidFill>
              <a:cs typeface="Tahoma" pitchFamily="34" charset="0"/>
            </a:endParaRPr>
          </a:p>
        </p:txBody>
      </p:sp>
      <p:cxnSp>
        <p:nvCxnSpPr>
          <p:cNvPr id="72" name="Straight Arrow Connector 71">
            <a:extLst>
              <a:ext uri="{FF2B5EF4-FFF2-40B4-BE49-F238E27FC236}">
                <a16:creationId xmlns:a16="http://schemas.microsoft.com/office/drawing/2014/main" id="{A4ECD488-28FF-085D-CDDC-3A587C29E5D4}"/>
              </a:ext>
            </a:extLst>
          </p:cNvPr>
          <p:cNvCxnSpPr>
            <a:cxnSpLocks/>
          </p:cNvCxnSpPr>
          <p:nvPr/>
        </p:nvCxnSpPr>
        <p:spPr>
          <a:xfrm>
            <a:off x="1606098" y="558554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Graphic 72" descr="User with solid fill">
            <a:extLst>
              <a:ext uri="{FF2B5EF4-FFF2-40B4-BE49-F238E27FC236}">
                <a16:creationId xmlns:a16="http://schemas.microsoft.com/office/drawing/2014/main" id="{B18BA272-7220-C010-D457-85ACFABBFE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7075" y="5243579"/>
            <a:ext cx="484632" cy="484632"/>
          </a:xfrm>
          <a:prstGeom prst="rect">
            <a:avLst/>
          </a:prstGeom>
        </p:spPr>
      </p:pic>
      <p:sp>
        <p:nvSpPr>
          <p:cNvPr id="74" name="TextBox 73">
            <a:extLst>
              <a:ext uri="{FF2B5EF4-FFF2-40B4-BE49-F238E27FC236}">
                <a16:creationId xmlns:a16="http://schemas.microsoft.com/office/drawing/2014/main" id="{B5D704AF-F94C-82E4-2229-193B1BD1CD8D}"/>
              </a:ext>
            </a:extLst>
          </p:cNvPr>
          <p:cNvSpPr txBox="1"/>
          <p:nvPr/>
        </p:nvSpPr>
        <p:spPr>
          <a:xfrm>
            <a:off x="642562" y="5651001"/>
            <a:ext cx="1136143" cy="301616"/>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Tenant </a:t>
            </a:r>
          </a:p>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t>
            </a:r>
            <a:r>
              <a:rPr lang="en-US" sz="1100" dirty="0" err="1">
                <a:solidFill>
                  <a:srgbClr val="002240"/>
                </a:solidFill>
                <a:cs typeface="Tahoma" pitchFamily="34" charset="0"/>
              </a:rPr>
              <a:t>Proj</a:t>
            </a:r>
            <a:r>
              <a:rPr lang="en-US" sz="1100" dirty="0">
                <a:solidFill>
                  <a:srgbClr val="002240"/>
                </a:solidFill>
                <a:cs typeface="Tahoma" pitchFamily="34" charset="0"/>
              </a:rPr>
              <a:t> Level)</a:t>
            </a:r>
            <a:endParaRPr lang="en-IN" sz="1100" dirty="0">
              <a:solidFill>
                <a:srgbClr val="002240"/>
              </a:solidFill>
              <a:cs typeface="Tahoma" pitchFamily="34" charset="0"/>
            </a:endParaRPr>
          </a:p>
        </p:txBody>
      </p:sp>
      <p:cxnSp>
        <p:nvCxnSpPr>
          <p:cNvPr id="75" name="Straight Arrow Connector 74">
            <a:extLst>
              <a:ext uri="{FF2B5EF4-FFF2-40B4-BE49-F238E27FC236}">
                <a16:creationId xmlns:a16="http://schemas.microsoft.com/office/drawing/2014/main" id="{06EAAD66-F5A1-F82B-5B3F-DB1C66EE3978}"/>
              </a:ext>
            </a:extLst>
          </p:cNvPr>
          <p:cNvCxnSpPr/>
          <p:nvPr/>
        </p:nvCxnSpPr>
        <p:spPr>
          <a:xfrm>
            <a:off x="3805978" y="537310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CEF2320-E210-F148-E190-22A14988E76B}"/>
              </a:ext>
            </a:extLst>
          </p:cNvPr>
          <p:cNvCxnSpPr/>
          <p:nvPr/>
        </p:nvCxnSpPr>
        <p:spPr>
          <a:xfrm>
            <a:off x="3805978" y="58546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1696FA3-0E58-ACA7-4040-6F9ABAC5D1A3}"/>
              </a:ext>
            </a:extLst>
          </p:cNvPr>
          <p:cNvCxnSpPr>
            <a:cxnSpLocks/>
          </p:cNvCxnSpPr>
          <p:nvPr/>
        </p:nvCxnSpPr>
        <p:spPr>
          <a:xfrm flipV="1">
            <a:off x="3570520" y="5632107"/>
            <a:ext cx="25374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70CE35D-CF9A-681C-423E-D1C4B547104B}"/>
              </a:ext>
            </a:extLst>
          </p:cNvPr>
          <p:cNvCxnSpPr>
            <a:cxnSpLocks/>
          </p:cNvCxnSpPr>
          <p:nvPr/>
        </p:nvCxnSpPr>
        <p:spPr>
          <a:xfrm flipV="1">
            <a:off x="3805978" y="5371436"/>
            <a:ext cx="0" cy="1008563"/>
          </a:xfrm>
          <a:prstGeom prst="line">
            <a:avLst/>
          </a:prstGeom>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C82A02C2-3A73-BCEF-0F9F-91C13EC5C085}"/>
              </a:ext>
            </a:extLst>
          </p:cNvPr>
          <p:cNvSpPr txBox="1"/>
          <p:nvPr/>
        </p:nvSpPr>
        <p:spPr>
          <a:xfrm>
            <a:off x="4464346" y="5205336"/>
            <a:ext cx="814762" cy="387823"/>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Raw</a:t>
            </a:r>
            <a:endParaRPr lang="en-IN" sz="1200" dirty="0">
              <a:solidFill>
                <a:srgbClr val="002240"/>
              </a:solidFill>
              <a:cs typeface="Tahoma" pitchFamily="34" charset="0"/>
            </a:endParaRPr>
          </a:p>
        </p:txBody>
      </p:sp>
      <p:cxnSp>
        <p:nvCxnSpPr>
          <p:cNvPr id="80" name="Straight Arrow Connector 79">
            <a:extLst>
              <a:ext uri="{FF2B5EF4-FFF2-40B4-BE49-F238E27FC236}">
                <a16:creationId xmlns:a16="http://schemas.microsoft.com/office/drawing/2014/main" id="{3876F78C-3F7B-F2BE-9A15-714D08C1CE08}"/>
              </a:ext>
            </a:extLst>
          </p:cNvPr>
          <p:cNvCxnSpPr/>
          <p:nvPr/>
        </p:nvCxnSpPr>
        <p:spPr>
          <a:xfrm>
            <a:off x="3805978" y="637999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0630799B-7A9E-9EE8-9667-F1896C490197}"/>
              </a:ext>
            </a:extLst>
          </p:cNvPr>
          <p:cNvSpPr txBox="1"/>
          <p:nvPr/>
        </p:nvSpPr>
        <p:spPr>
          <a:xfrm>
            <a:off x="4461677" y="5704693"/>
            <a:ext cx="1267169" cy="387823"/>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Semi Curated</a:t>
            </a:r>
            <a:endParaRPr lang="en-IN" sz="1200" dirty="0">
              <a:solidFill>
                <a:srgbClr val="002240"/>
              </a:solidFill>
              <a:cs typeface="Tahoma" pitchFamily="34" charset="0"/>
            </a:endParaRPr>
          </a:p>
        </p:txBody>
      </p:sp>
      <p:sp>
        <p:nvSpPr>
          <p:cNvPr id="82" name="TextBox 81">
            <a:extLst>
              <a:ext uri="{FF2B5EF4-FFF2-40B4-BE49-F238E27FC236}">
                <a16:creationId xmlns:a16="http://schemas.microsoft.com/office/drawing/2014/main" id="{7D4660AD-D195-4DDC-0B04-A355D2895901}"/>
              </a:ext>
            </a:extLst>
          </p:cNvPr>
          <p:cNvSpPr txBox="1"/>
          <p:nvPr/>
        </p:nvSpPr>
        <p:spPr>
          <a:xfrm>
            <a:off x="4468153" y="6203502"/>
            <a:ext cx="1109389" cy="387823"/>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rgbClr val="002240"/>
                </a:solidFill>
                <a:cs typeface="Tahoma" pitchFamily="34" charset="0"/>
              </a:rPr>
              <a:t>Fully Curated</a:t>
            </a:r>
            <a:endParaRPr lang="en-IN" sz="1200" dirty="0">
              <a:solidFill>
                <a:srgbClr val="002240"/>
              </a:solidFill>
              <a:cs typeface="Tahoma" pitchFamily="34" charset="0"/>
            </a:endParaRPr>
          </a:p>
        </p:txBody>
      </p:sp>
    </p:spTree>
    <p:extLst>
      <p:ext uri="{BB962C8B-B14F-4D97-AF65-F5344CB8AC3E}">
        <p14:creationId xmlns:p14="http://schemas.microsoft.com/office/powerpoint/2010/main" val="1190513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Object 28" hidden="1"/>
          <p:cNvGraphicFramePr>
            <a:graphicFrameLocks noChangeAspect="1"/>
          </p:cNvGraphicFramePr>
          <p:nvPr>
            <p:custDataLst>
              <p:tags r:id="rId1"/>
            </p:custDataLst>
            <p:extLst>
              <p:ext uri="{D42A27DB-BD31-4B8C-83A1-F6EECF244321}">
                <p14:modId xmlns:p14="http://schemas.microsoft.com/office/powerpoint/2010/main" val="4000258378"/>
              </p:ext>
            </p:ext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29" name="Object 28" hidden="1"/>
                      <p:cNvPicPr/>
                      <p:nvPr/>
                    </p:nvPicPr>
                    <p:blipFill>
                      <a:blip r:embed="rId4"/>
                      <a:stretch>
                        <a:fillRect/>
                      </a:stretch>
                    </p:blipFill>
                    <p:spPr>
                      <a:xfrm>
                        <a:off x="1525589" y="1589"/>
                        <a:ext cx="1587" cy="1587"/>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CCA8752-D866-75B8-BC10-2BF230E6AC7E}"/>
              </a:ext>
            </a:extLst>
          </p:cNvPr>
          <p:cNvSpPr>
            <a:spLocks noGrp="1"/>
          </p:cNvSpPr>
          <p:nvPr>
            <p:ph type="title"/>
          </p:nvPr>
        </p:nvSpPr>
        <p:spPr/>
        <p:txBody>
          <a:bodyPr/>
          <a:lstStyle/>
          <a:p>
            <a:r>
              <a:rPr lang="en-US"/>
              <a:t>Trinity PowerPoint Resources</a:t>
            </a:r>
            <a:endParaRPr lang="en-IN"/>
          </a:p>
        </p:txBody>
      </p:sp>
      <p:sp>
        <p:nvSpPr>
          <p:cNvPr id="32" name="Text Placeholder 5"/>
          <p:cNvSpPr>
            <a:spLocks noGrp="1"/>
          </p:cNvSpPr>
          <p:nvPr>
            <p:ph type="body" sz="quarter" idx="14"/>
          </p:nvPr>
        </p:nvSpPr>
        <p:spPr/>
        <p:txBody>
          <a:bodyPr/>
          <a:lstStyle/>
          <a:p>
            <a:r>
              <a:rPr lang="en-US"/>
              <a:t>Open hyperlinks directly in read or presentation mode OR right-click and select “Open Link” OR Hold Ctrl + left-click</a:t>
            </a:r>
          </a:p>
        </p:txBody>
      </p:sp>
      <p:sp>
        <p:nvSpPr>
          <p:cNvPr id="2" name="Oval 1">
            <a:hlinkClick r:id="rId5"/>
            <a:extLst>
              <a:ext uri="{FF2B5EF4-FFF2-40B4-BE49-F238E27FC236}">
                <a16:creationId xmlns:a16="http://schemas.microsoft.com/office/drawing/2014/main" id="{E476C834-3681-02AA-4A46-4A9AF1D936CF}"/>
              </a:ext>
            </a:extLst>
          </p:cNvPr>
          <p:cNvSpPr/>
          <p:nvPr/>
        </p:nvSpPr>
        <p:spPr>
          <a:xfrm>
            <a:off x="6389795" y="2430895"/>
            <a:ext cx="2006988" cy="2006988"/>
          </a:xfrm>
          <a:prstGeom prst="ellipse">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Q&amp;D</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Design Studio</a:t>
            </a:r>
          </a:p>
        </p:txBody>
      </p:sp>
      <p:sp>
        <p:nvSpPr>
          <p:cNvPr id="8" name="Oval 7">
            <a:hlinkClick r:id="rId6"/>
            <a:extLst>
              <a:ext uri="{FF2B5EF4-FFF2-40B4-BE49-F238E27FC236}">
                <a16:creationId xmlns:a16="http://schemas.microsoft.com/office/drawing/2014/main" id="{FD6FBF4B-CFFC-5E87-C745-C12BE06095DC}"/>
              </a:ext>
            </a:extLst>
          </p:cNvPr>
          <p:cNvSpPr/>
          <p:nvPr/>
        </p:nvSpPr>
        <p:spPr>
          <a:xfrm>
            <a:off x="3716194" y="2430895"/>
            <a:ext cx="2006988" cy="2006988"/>
          </a:xfrm>
          <a:prstGeom prst="ellipse">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PowerPoint</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Resource</a:t>
            </a:r>
            <a:b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b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Hub 2.0</a:t>
            </a:r>
          </a:p>
        </p:txBody>
      </p:sp>
    </p:spTree>
    <p:extLst>
      <p:ext uri="{BB962C8B-B14F-4D97-AF65-F5344CB8AC3E}">
        <p14:creationId xmlns:p14="http://schemas.microsoft.com/office/powerpoint/2010/main" val="10411593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665</TotalTime>
  <Words>2553</Words>
  <Application>Microsoft Office PowerPoint</Application>
  <PresentationFormat>Widescreen</PresentationFormat>
  <Paragraphs>571</Paragraphs>
  <Slides>23</Slides>
  <Notes>13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Calibri</vt:lpstr>
      <vt:lpstr>Courier New</vt:lpstr>
      <vt:lpstr>Tahoma</vt:lpstr>
      <vt:lpstr>Trinity Template 3.0</vt:lpstr>
      <vt:lpstr>think-cell Slide</vt:lpstr>
      <vt:lpstr>28 Point Title 1.2 Character Spacing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26 point title with 1.2 point character spacing 16 point takeaway with 1.2 point character spacing in Blue, allows for title and takeaway format and 2-line takeaways</vt:lpstr>
      <vt:lpstr>Agenda Slide</vt:lpstr>
      <vt:lpstr>PowerPoint Presentation</vt:lpstr>
      <vt:lpstr>Guidance for Proposal Terms These terms should be included in all proposals going forward</vt:lpstr>
      <vt:lpstr>PowerPoint Presentation</vt:lpstr>
      <vt:lpstr>PowerPoint Presentation</vt:lpstr>
      <vt:lpstr>PowerPoint Presentation</vt:lpstr>
      <vt:lpstr>PowerPoint Presentation</vt:lpstr>
      <vt:lpstr>PowerPoint Presentation</vt:lpstr>
      <vt:lpstr>Trinity PowerPoint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dc:creator>
  <cp:lastModifiedBy>Jayaprakash Loganathan</cp:lastModifiedBy>
  <cp:revision>7</cp:revision>
  <dcterms:created xsi:type="dcterms:W3CDTF">2024-06-05T18:19:58Z</dcterms:created>
  <dcterms:modified xsi:type="dcterms:W3CDTF">2024-06-06T18:44:38Z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